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1059"/>
  </p:normalViewPr>
  <p:slideViewPr>
    <p:cSldViewPr snapToGrid="0" snapToObjects="1">
      <p:cViewPr>
        <p:scale>
          <a:sx n="130" d="100"/>
          <a:sy n="130" d="100"/>
        </p:scale>
        <p:origin x="1664" y="5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0153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Frame the topic: AuthN (who are you?), AuthZ (what can you do?), and SSO (prove it once). Identity is the new perimeter in Zero Trust. Credential compromise is the most common initial access vector in breaches.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The deck covers all three topics together since they form an integrated security domain: authentication proves identity, authorization uses that identity to make access decisions, and SSO federates that identity across all applications.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01: Executive Summary. Transition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identity compromise is the primary breach vector and the root cause of most post-exploitation lateral movement. SSO is not just convenience — it is the centralized enforcement point for all authentication controls. Getting SSO right means MFA, device trust, and risk policies are enforced consistently across all applications.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02: Core Concepts. Transition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the distinction between AuthN (identity verification) and AuthZ (access decision). OAuth 2.0 is NOT an authentication protocol — it is a delegated authorization framework. OIDC is the identity layer added on top of OAuth 2.0. A common mistake is using OAuth 2.0 access tokens to verify identity — always use OIDC ID tokens for identity claims.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03: MFA &amp; Passwordless. Transition slide.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message: NIST SP 800-63B recognizes two phishing-resistant authenticator classes: FIDO2/WebAuthn (hardware keys, Windows Hello, Touch ID) and PKI-based authenticators (PIV/CAC smart cards, PIV-I). TOTP, push notifications, and SMS are all susceptible to AiTM (adversary-in-the-middle) proxies like Evilginx, which can intercept and relay MFA codes in real-time. Organizations deploying only TOTP or push MFA still have an exploitable gap. OMB M-22-09 mandates phishing-resistant MFA for all federal agency staff by 2024.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04: SSO Architecture. Transition slide.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key point: all authentication flows go through the IdP. No application should have its own local authentication that bypasses the IdP. The IdP is the single enforcement point for MFA, device trust, and conditional access. SCIM provisioning ensures users are created and removed in all applications automatically when onboarded or offboarded.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 Trust does not eliminate trust — it relocates it. Trust is no longer granted by network location (inside = trusted). Instead, it is evaluated dynamically at the IdP on every request using multiple signals: who is the user, is their device managed and compliant, what is their sign-in risk score, where are they connecting from, and what token scope does the application require. Only after all signals pass does the IdP issue a short-lived, scoped token. Even then, internal resource servers must validate the token and enforce their own authorization — not assume that a valid token grants full access.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to choose: SAML 2.0 for enterprise SaaS applications that require it (most pre-2015 SaaS). OIDC for all new development. OIDC is simpler to implement, debuggable (JSON vs XML), and natively supports mobile and API use cases. Key mistake: using the OAuth 2.0 Access Token as proof of identity — it is NOT an identity assertion. Always use the OIDC ID Token for identity claims.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 lifecycle is the most misunderstood part of OIDC implementation. Key mistakes: (1) Using the OAuth Access Token to verify user identity — always use the ID Token. (2) Not validating the nonce in the ID Token — enables replay attacks. (3) Storing tokens in localStorage — XSS accessible. Use HttpOnly cookies or memory-only storage. (4) Not implementing Refresh Token rotation — a stolen refresh token without rotation grants perpetual access. (5) Not integrating with CAEP/CAE — without it, a compromised account's tokens remain valid until TTL expiry.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 validation is the most critical security control on the resource server side. Self-contained JWT validation is the default in OAuth 2.0 / OIDC — it relies on signature verification, not revocation. The revocation gap (token valid until exp even after account lockout) is real and must be addressed with short TTLs and CAEP/CAE integration. Token introspection is the correct mechanism for opaque tokens and high-security scenarios requiring real-time validity. Always validate the alg header — reject 'none' and ensure RS256 or ES256 only.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05: Authorization Models. Transition slide.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guidance: Most enterprises use RBAC as the baseline and layer ABAC for specific high-sensitivity data or cloud-native environments. OPA is the standard for Kubernetes admission control and microservices. The trend is toward externalized authorization (authz decoupled from application code) with a centralized policy engine, which enables consistent enforcement across all services without code changes.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identity control plane is the security backbone of the enterprise. Each layer has distinct responsibilities: IGA owns the lifecycle; IdP owns authentication and federation; authz engines own access decisions; session/token management controls dwell time; resource servers enforce the final check. The most common architectural failure is collapsing these layers — e.g., letting applications make their own auth decisions, or using access tokens as identity assertions. Keep these concerns separated. The layered model also maps directly to NIST SP 800-63, NIST SP 800-53 IA/AC families, and Zero Trust (NIST SP 800-207) principles.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06: Zero Trust Integration. Transition slide.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 Trust identity guidance: The key shift is from 'authenticate once, trust forever' to 'authenticate every request with current context.' CAE is the critical enabler: without it, a compromised session token remains valid until expiry even if the account is locked. Short token lifetimes combined with CAE close this gap substantially.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identity attack kill chain shows that every stage of a modern breach has an identity component. Attackers don't break in — they log in. Initial compromise is increasingly via credential theft or phishing rather than vulnerability exploitation, because identity paths are often less monitored than network paths. The most high-impact control at each stage: (1) FIDO2 MFA blocks initial compromise via AiTM proxies. (2) CAEP/CAE revocation limits dwell time after credential access. (3) Tier-0 ADFS/DC protection prevents Golden SAML at privilege escalation. (4) DPoP limits value of stolen OAuth tokens. (5) IGA access reviews catch rogue accounts and unauthorized OAuth consent.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 security is increasingly identity-centric. The OAuth 2.0 framework provides the correct model: Authorization Server issues scoped tokens, resource servers validate them. Key mistakes: (1) Using long-lived API keys instead of short-lived OAuth tokens — API keys cannot be scoped, revoked efficiently, or attributed to users. (2) Validating only the presence of a token, not its claims — always check iss, aud, scope, exp. (3) Not implementing sender-constraint for high-value APIs — DPoP and mTLS prevent token replay. Client Credentials is the correct flow for M2M — never issue client_credentials tokens with user-level scopes. Token Exchange (RFC 8693) solves the delegation problem in microservices without passing the original user token downstream.</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07: MITRE ATT&amp;CK. Transition slide.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Prioritize: T1621 (MFA Fatigue) and T1111 (AiTM phishing) are the most actively exploited in 2024. Both are defeated by FIDO2/WebAuthn. T1606.002 (Golden SAML) is a high-impact attack that compromises ADFS key material. protection requires treating the ADFS server as Tier 0 infrastructure equivalent to a domain controller. T1550.001 (OAuth token abuse) is increasingly seen in cloud-native breach scenarios.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Identity is the primary attack surface in modern cloud environments. These five attack paths account for the majority of identity-related breaches: (1) Credential theft is the most common initial access vector. (2) Token hijacking exploits the post-authentication trust window. (3) Token forgery, particularly Golden SAML, is high-impact and hard to detect. (4) MFA bypass via AiTM is increasingly common — only FIDO2 stops it. (5) OAuth app abuse is underestimated — malicious app consent is persistent and survives password resets. Each attack path has specific, high-confidence mitigations. Prioritize FIDO2 and DPoP implementation.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08: Vendor Landscape. Transition slide.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Gartner Magic Quadrant for Access Management 2023-2024: Microsoft and Okta are the clear leaders. Ping Identity was acquired by Thoma Bravo (private equity) in October 2022. Key decision criteria: (1) existing Microsoft vs. multi-cloud environment, (2) level of customization needed, (3) budget, (4) federation complexity, (5) developer API requirements. Note: AWS IAM Identity Center is excellent for AWS-centric shops but should not be the primary enterprise IdP — federate it to Entra ID or Okta.</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09: NIST Controls. Transition slide.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compliance notes: IA-2(1) is the most commonly cited finding in FedRAMP, StateRAMP, and DoD assessments — lack of phishing-resistant MFA for privileged accounts. NIST 800-63B AAL3 and OMB M-22-09 both explicitly require FIDO2/WebAuthn. Organizations using only TOTP or push MFA for privileged accounts will receive findings in government cloud assessments.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10: Roadmap. Transition slide.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caveat: MFA enforcement should be rolled out gradually — start with new users and high-risk groups (admins, executives, IT), then expand to all users. A hard cutover without communication and helpdesk readiness will generate support tickets and resistance. Phase 4 passkey rollout: passkeys are ready for enterprise now (all major platforms support them) but require user education since the UX is different from passwords.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Three decisions that make the biggest difference: (1) Choose FIDO2 over TOTP for privileged accounts — the attack difference is enormous. (2) Enforce SSO for ALL applications — no local auth bypass paths. (3) Enable CAE on all supported resources — the performance impact is negligible and the security benefit is significant. Questions to anticipate: 'Can we use SMS MFA?' — only as a fallback; it should not be the primary factor for any account. 'Does SSO create a single point of failure?' — yes, which is why IdP HA/DR must be Tier 0.</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7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B998B"/>
          </a:solidFill>
          <a:ln w="12700">
            <a:solidFill>
              <a:srgbClr val="1B998B"/>
            </a:solidFill>
            <a:prstDash val="solid"/>
          </a:ln>
        </p:spPr>
        <p:txBody>
          <a:bodyPr/>
          <a:lstStyle/>
          <a:p>
            <a:endParaRPr lang="en-US"/>
          </a:p>
        </p:txBody>
      </p:sp>
      <p:sp>
        <p:nvSpPr>
          <p:cNvPr id="3" name="Shape 1"/>
          <p:cNvSpPr/>
          <p:nvPr/>
        </p:nvSpPr>
        <p:spPr>
          <a:xfrm>
            <a:off x="0" y="73152"/>
            <a:ext cx="9144000" cy="36576"/>
          </a:xfrm>
          <a:prstGeom prst="rect">
            <a:avLst/>
          </a:prstGeom>
          <a:solidFill>
            <a:srgbClr val="F4A261"/>
          </a:solidFill>
          <a:ln w="12700">
            <a:solidFill>
              <a:srgbClr val="F4A261"/>
            </a:solidFill>
            <a:prstDash val="solid"/>
          </a:ln>
        </p:spPr>
        <p:txBody>
          <a:bodyPr/>
          <a:lstStyle/>
          <a:p>
            <a:endParaRPr lang="en-US"/>
          </a:p>
        </p:txBody>
      </p:sp>
      <p:sp>
        <p:nvSpPr>
          <p:cNvPr id="4" name="Text 2"/>
          <p:cNvSpPr/>
          <p:nvPr/>
        </p:nvSpPr>
        <p:spPr>
          <a:xfrm>
            <a:off x="548640" y="914400"/>
            <a:ext cx="8046720" cy="685800"/>
          </a:xfrm>
          <a:prstGeom prst="rect">
            <a:avLst/>
          </a:prstGeom>
          <a:noFill/>
          <a:ln/>
        </p:spPr>
        <p:txBody>
          <a:bodyPr wrap="square" lIns="0" tIns="0" rIns="0" bIns="0" rtlCol="0" anchor="ctr"/>
          <a:lstStyle/>
          <a:p>
            <a:pPr marL="0" indent="0" algn="l">
              <a:buNone/>
            </a:pPr>
            <a:r>
              <a:rPr lang="en-US" sz="3600" b="1" dirty="0">
                <a:solidFill>
                  <a:srgbClr val="FFFFFF"/>
                </a:solidFill>
                <a:latin typeface="Calibri" pitchFamily="34" charset="0"/>
                <a:ea typeface="Calibri" pitchFamily="34" charset="-122"/>
                <a:cs typeface="Calibri" pitchFamily="34" charset="-120"/>
              </a:rPr>
              <a:t>Authentication, Authorization</a:t>
            </a:r>
            <a:endParaRPr lang="en-US" sz="3600" dirty="0"/>
          </a:p>
        </p:txBody>
      </p:sp>
      <p:sp>
        <p:nvSpPr>
          <p:cNvPr id="5" name="Text 3"/>
          <p:cNvSpPr/>
          <p:nvPr/>
        </p:nvSpPr>
        <p:spPr>
          <a:xfrm>
            <a:off x="548640" y="1600200"/>
            <a:ext cx="8046720" cy="594360"/>
          </a:xfrm>
          <a:prstGeom prst="rect">
            <a:avLst/>
          </a:prstGeom>
          <a:noFill/>
          <a:ln/>
        </p:spPr>
        <p:txBody>
          <a:bodyPr wrap="square" lIns="0" tIns="0" rIns="0" bIns="0" rtlCol="0" anchor="ctr"/>
          <a:lstStyle/>
          <a:p>
            <a:pPr marL="0" indent="0" algn="l">
              <a:buNone/>
            </a:pPr>
            <a:r>
              <a:rPr lang="en-US" sz="3200" b="1" dirty="0">
                <a:solidFill>
                  <a:srgbClr val="1B998B"/>
                </a:solidFill>
                <a:latin typeface="Calibri" pitchFamily="34" charset="0"/>
                <a:ea typeface="Calibri" pitchFamily="34" charset="-122"/>
                <a:cs typeface="Calibri" pitchFamily="34" charset="-120"/>
              </a:rPr>
              <a:t>&amp; Single Sign-On</a:t>
            </a:r>
            <a:endParaRPr lang="en-US" sz="3200" dirty="0"/>
          </a:p>
        </p:txBody>
      </p:sp>
      <p:sp>
        <p:nvSpPr>
          <p:cNvPr id="6" name="Shape 4"/>
          <p:cNvSpPr/>
          <p:nvPr/>
        </p:nvSpPr>
        <p:spPr>
          <a:xfrm>
            <a:off x="548640" y="2331720"/>
            <a:ext cx="1143000" cy="347472"/>
          </a:xfrm>
          <a:prstGeom prst="rect">
            <a:avLst/>
          </a:prstGeom>
          <a:solidFill>
            <a:srgbClr val="1B998B"/>
          </a:solidFill>
          <a:ln w="12700">
            <a:solidFill>
              <a:srgbClr val="1B998B"/>
            </a:solidFill>
            <a:prstDash val="solid"/>
          </a:ln>
        </p:spPr>
        <p:txBody>
          <a:bodyPr/>
          <a:lstStyle/>
          <a:p>
            <a:endParaRPr lang="en-US"/>
          </a:p>
        </p:txBody>
      </p:sp>
      <p:sp>
        <p:nvSpPr>
          <p:cNvPr id="7" name="Text 5"/>
          <p:cNvSpPr/>
          <p:nvPr/>
        </p:nvSpPr>
        <p:spPr>
          <a:xfrm>
            <a:off x="548640" y="2331720"/>
            <a:ext cx="11430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AuthN</a:t>
            </a:r>
            <a:endParaRPr lang="en-US" sz="1400" dirty="0"/>
          </a:p>
        </p:txBody>
      </p:sp>
      <p:sp>
        <p:nvSpPr>
          <p:cNvPr id="8" name="Shape 6"/>
          <p:cNvSpPr/>
          <p:nvPr/>
        </p:nvSpPr>
        <p:spPr>
          <a:xfrm>
            <a:off x="1874520" y="2331720"/>
            <a:ext cx="1143000" cy="347472"/>
          </a:xfrm>
          <a:prstGeom prst="rect">
            <a:avLst/>
          </a:prstGeom>
          <a:solidFill>
            <a:srgbClr val="F4A261"/>
          </a:solidFill>
          <a:ln w="12700">
            <a:solidFill>
              <a:srgbClr val="F4A261"/>
            </a:solidFill>
            <a:prstDash val="solid"/>
          </a:ln>
        </p:spPr>
        <p:txBody>
          <a:bodyPr/>
          <a:lstStyle/>
          <a:p>
            <a:endParaRPr lang="en-US"/>
          </a:p>
        </p:txBody>
      </p:sp>
      <p:sp>
        <p:nvSpPr>
          <p:cNvPr id="9" name="Text 7"/>
          <p:cNvSpPr/>
          <p:nvPr/>
        </p:nvSpPr>
        <p:spPr>
          <a:xfrm>
            <a:off x="1874520" y="2331720"/>
            <a:ext cx="11430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AuthZ</a:t>
            </a:r>
            <a:endParaRPr lang="en-US" sz="1400" dirty="0"/>
          </a:p>
        </p:txBody>
      </p:sp>
      <p:sp>
        <p:nvSpPr>
          <p:cNvPr id="10" name="Shape 8"/>
          <p:cNvSpPr/>
          <p:nvPr/>
        </p:nvSpPr>
        <p:spPr>
          <a:xfrm>
            <a:off x="3200400" y="2331720"/>
            <a:ext cx="1143000" cy="347472"/>
          </a:xfrm>
          <a:prstGeom prst="rect">
            <a:avLst/>
          </a:prstGeom>
          <a:solidFill>
            <a:srgbClr val="0F4C75"/>
          </a:solidFill>
          <a:ln w="12700">
            <a:solidFill>
              <a:srgbClr val="0F4C75"/>
            </a:solidFill>
            <a:prstDash val="solid"/>
          </a:ln>
        </p:spPr>
        <p:txBody>
          <a:bodyPr/>
          <a:lstStyle/>
          <a:p>
            <a:endParaRPr lang="en-US"/>
          </a:p>
        </p:txBody>
      </p:sp>
      <p:sp>
        <p:nvSpPr>
          <p:cNvPr id="11" name="Text 9"/>
          <p:cNvSpPr/>
          <p:nvPr/>
        </p:nvSpPr>
        <p:spPr>
          <a:xfrm>
            <a:off x="3200400" y="2331720"/>
            <a:ext cx="11430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SSO</a:t>
            </a:r>
            <a:endParaRPr lang="en-US" sz="1400" dirty="0"/>
          </a:p>
        </p:txBody>
      </p:sp>
      <p:sp>
        <p:nvSpPr>
          <p:cNvPr id="12" name="Shape 10"/>
          <p:cNvSpPr/>
          <p:nvPr/>
        </p:nvSpPr>
        <p:spPr>
          <a:xfrm>
            <a:off x="548640" y="2816352"/>
            <a:ext cx="8046720" cy="0"/>
          </a:xfrm>
          <a:prstGeom prst="line">
            <a:avLst/>
          </a:prstGeom>
          <a:noFill/>
          <a:ln w="12700">
            <a:solidFill>
              <a:srgbClr val="8AAFC4"/>
            </a:solidFill>
            <a:prstDash val="dash"/>
          </a:ln>
        </p:spPr>
        <p:txBody>
          <a:bodyPr/>
          <a:lstStyle/>
          <a:p>
            <a:endParaRPr lang="en-US"/>
          </a:p>
        </p:txBody>
      </p:sp>
      <p:sp>
        <p:nvSpPr>
          <p:cNvPr id="13" name="Text 11"/>
          <p:cNvSpPr/>
          <p:nvPr/>
        </p:nvSpPr>
        <p:spPr>
          <a:xfrm>
            <a:off x="548640" y="2944368"/>
            <a:ext cx="8046720" cy="274320"/>
          </a:xfrm>
          <a:prstGeom prst="rect">
            <a:avLst/>
          </a:prstGeom>
          <a:noFill/>
          <a:ln/>
        </p:spPr>
        <p:txBody>
          <a:bodyPr wrap="square" lIns="0" tIns="0" rIns="0" bIns="0" rtlCol="0" anchor="ctr"/>
          <a:lstStyle/>
          <a:p>
            <a:pPr marL="0" indent="0">
              <a:buNone/>
            </a:pPr>
            <a:r>
              <a:rPr lang="en-US" sz="1200" b="1" dirty="0">
                <a:solidFill>
                  <a:srgbClr val="C9E4F0"/>
                </a:solidFill>
                <a:latin typeface="Calibri" pitchFamily="34" charset="0"/>
                <a:ea typeface="Calibri" pitchFamily="34" charset="-122"/>
                <a:cs typeface="Calibri" pitchFamily="34" charset="-120"/>
              </a:rPr>
              <a:t>Audience: </a:t>
            </a:r>
            <a:r>
              <a:rPr lang="en-US" sz="1200" dirty="0">
                <a:solidFill>
                  <a:srgbClr val="C9E4F0"/>
                </a:solidFill>
                <a:latin typeface="Calibri" pitchFamily="34" charset="0"/>
                <a:ea typeface="Calibri" pitchFamily="34" charset="-122"/>
                <a:cs typeface="Calibri" pitchFamily="34" charset="-120"/>
              </a:rPr>
              <a:t>Security Architecture</a:t>
            </a:r>
            <a:endParaRPr lang="en-US" sz="1200" dirty="0"/>
          </a:p>
        </p:txBody>
      </p:sp>
      <p:sp>
        <p:nvSpPr>
          <p:cNvPr id="14" name="Text 12"/>
          <p:cNvSpPr/>
          <p:nvPr/>
        </p:nvSpPr>
        <p:spPr>
          <a:xfrm>
            <a:off x="548640" y="3255264"/>
            <a:ext cx="8046720" cy="274320"/>
          </a:xfrm>
          <a:prstGeom prst="rect">
            <a:avLst/>
          </a:prstGeom>
          <a:noFill/>
          <a:ln/>
        </p:spPr>
        <p:txBody>
          <a:bodyPr wrap="square" lIns="0" tIns="0" rIns="0" bIns="0" rtlCol="0" anchor="ctr"/>
          <a:lstStyle/>
          <a:p>
            <a:pPr marL="0" indent="0">
              <a:buNone/>
            </a:pPr>
            <a:r>
              <a:rPr lang="en-US" sz="1200" b="1" dirty="0">
                <a:solidFill>
                  <a:srgbClr val="C9E4F0"/>
                </a:solidFill>
                <a:latin typeface="Calibri" pitchFamily="34" charset="0"/>
                <a:ea typeface="Calibri" pitchFamily="34" charset="-122"/>
                <a:cs typeface="Calibri" pitchFamily="34" charset="-120"/>
              </a:rPr>
              <a:t>Frameworks: </a:t>
            </a:r>
            <a:r>
              <a:rPr lang="en-US" sz="1200" dirty="0">
                <a:solidFill>
                  <a:srgbClr val="C9E4F0"/>
                </a:solidFill>
                <a:latin typeface="Calibri" pitchFamily="34" charset="0"/>
                <a:ea typeface="Calibri" pitchFamily="34" charset="-122"/>
                <a:cs typeface="Calibri" pitchFamily="34" charset="-120"/>
              </a:rPr>
              <a:t>NIST SP 800-53 Rev 5  |  NIST SP 800-63B  |  NIST SP 800-207 (Zero Trust)  |  MITRE ATT&amp;CK</a:t>
            </a:r>
            <a:endParaRPr lang="en-US" sz="1200" dirty="0"/>
          </a:p>
        </p:txBody>
      </p:sp>
      <p:sp>
        <p:nvSpPr>
          <p:cNvPr id="15" name="Text 13"/>
          <p:cNvSpPr/>
          <p:nvPr/>
        </p:nvSpPr>
        <p:spPr>
          <a:xfrm>
            <a:off x="548640" y="3566160"/>
            <a:ext cx="8046720" cy="274320"/>
          </a:xfrm>
          <a:prstGeom prst="rect">
            <a:avLst/>
          </a:prstGeom>
          <a:noFill/>
          <a:ln/>
        </p:spPr>
        <p:txBody>
          <a:bodyPr wrap="square" lIns="0" tIns="0" rIns="0" bIns="0" rtlCol="0" anchor="ctr"/>
          <a:lstStyle/>
          <a:p>
            <a:pPr marL="0" indent="0">
              <a:buNone/>
            </a:pPr>
            <a:r>
              <a:rPr lang="en-US" sz="1100" dirty="0">
                <a:solidFill>
                  <a:srgbClr val="8AAFC4"/>
                </a:solidFill>
                <a:latin typeface="Calibri" pitchFamily="34" charset="0"/>
                <a:ea typeface="Calibri" pitchFamily="34" charset="-122"/>
                <a:cs typeface="Calibri" pitchFamily="34" charset="-120"/>
              </a:rPr>
              <a:t>Eran Shpigelman  |  Version 1.0  |  March 2026</a:t>
            </a:r>
            <a:endParaRPr lang="en-US" sz="1100" dirty="0"/>
          </a:p>
        </p:txBody>
      </p:sp>
      <p:sp>
        <p:nvSpPr>
          <p:cNvPr id="16" name="Shape 14"/>
          <p:cNvSpPr/>
          <p:nvPr/>
        </p:nvSpPr>
        <p:spPr>
          <a:xfrm>
            <a:off x="0" y="4869180"/>
            <a:ext cx="9144000" cy="274320"/>
          </a:xfrm>
          <a:prstGeom prst="rect">
            <a:avLst/>
          </a:prstGeom>
          <a:solidFill>
            <a:srgbClr val="0A3050"/>
          </a:solidFill>
          <a:ln w="12700">
            <a:solidFill>
              <a:srgbClr val="0A3050"/>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75"/>
          </a:solidFill>
          <a:ln w="12700">
            <a:solidFill>
              <a:srgbClr val="0F4C75"/>
            </a:solidFill>
            <a:prstDash val="solid"/>
          </a:ln>
        </p:spPr>
        <p:txBody>
          <a:bodyPr/>
          <a:lstStyle/>
          <a:p>
            <a:endParaRPr lang="en-US"/>
          </a:p>
        </p:txBody>
      </p:sp>
      <p:sp>
        <p:nvSpPr>
          <p:cNvPr id="3" name="Text 1"/>
          <p:cNvSpPr/>
          <p:nvPr/>
        </p:nvSpPr>
        <p:spPr>
          <a:xfrm>
            <a:off x="457200" y="0"/>
            <a:ext cx="82296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Agenda</a:t>
            </a:r>
            <a:endParaRPr lang="en-US" sz="2200" dirty="0"/>
          </a:p>
        </p:txBody>
      </p:sp>
      <p:sp>
        <p:nvSpPr>
          <p:cNvPr id="4" name="Shape 2"/>
          <p:cNvSpPr/>
          <p:nvPr/>
        </p:nvSpPr>
        <p:spPr>
          <a:xfrm>
            <a:off x="365760" y="914400"/>
            <a:ext cx="402336" cy="402336"/>
          </a:xfrm>
          <a:prstGeom prst="rect">
            <a:avLst/>
          </a:prstGeom>
          <a:solidFill>
            <a:srgbClr val="0F4C75"/>
          </a:solidFill>
          <a:ln w="12700">
            <a:solidFill>
              <a:srgbClr val="0F4C75"/>
            </a:solidFill>
            <a:prstDash val="solid"/>
          </a:ln>
        </p:spPr>
        <p:txBody>
          <a:bodyPr/>
          <a:lstStyle/>
          <a:p>
            <a:endParaRPr lang="en-US"/>
          </a:p>
        </p:txBody>
      </p:sp>
      <p:sp>
        <p:nvSpPr>
          <p:cNvPr id="5" name="Text 3"/>
          <p:cNvSpPr/>
          <p:nvPr/>
        </p:nvSpPr>
        <p:spPr>
          <a:xfrm>
            <a:off x="365760" y="914400"/>
            <a:ext cx="402336" cy="402336"/>
          </a:xfrm>
          <a:prstGeom prst="rect">
            <a:avLst/>
          </a:prstGeom>
          <a:noFill/>
          <a:ln/>
        </p:spPr>
        <p:txBody>
          <a:bodyPr wrap="square" lIns="0" tIns="0" rIns="0" bIns="0" rtlCol="0" anchor="ctr"/>
          <a:lstStyle/>
          <a:p>
            <a:pPr marL="0" indent="0" algn="ctr">
              <a:buNone/>
            </a:pPr>
            <a:r>
              <a:rPr lang="en-US" sz="1200" b="1" dirty="0">
                <a:solidFill>
                  <a:srgbClr val="1B998B"/>
                </a:solidFill>
                <a:latin typeface="Calibri" pitchFamily="34" charset="0"/>
                <a:ea typeface="Calibri" pitchFamily="34" charset="-122"/>
                <a:cs typeface="Calibri" pitchFamily="34" charset="-120"/>
              </a:rPr>
              <a:t>01</a:t>
            </a:r>
            <a:endParaRPr lang="en-US" sz="1200" dirty="0"/>
          </a:p>
        </p:txBody>
      </p:sp>
      <p:sp>
        <p:nvSpPr>
          <p:cNvPr id="6" name="Text 4"/>
          <p:cNvSpPr/>
          <p:nvPr/>
        </p:nvSpPr>
        <p:spPr>
          <a:xfrm>
            <a:off x="868680" y="950976"/>
            <a:ext cx="3657600" cy="347472"/>
          </a:xfrm>
          <a:prstGeom prst="rect">
            <a:avLst/>
          </a:prstGeom>
          <a:noFill/>
          <a:ln/>
        </p:spPr>
        <p:txBody>
          <a:bodyPr wrap="square" lIns="0" tIns="0" rIns="0" bIns="0" rtlCol="0" anchor="ctr"/>
          <a:lstStyle/>
          <a:p>
            <a:pPr marL="0" indent="0">
              <a:buNone/>
            </a:pPr>
            <a:r>
              <a:rPr lang="en-US" sz="1250" dirty="0">
                <a:solidFill>
                  <a:srgbClr val="1A2E44"/>
                </a:solidFill>
                <a:latin typeface="Calibri" pitchFamily="34" charset="0"/>
                <a:ea typeface="Calibri" pitchFamily="34" charset="-122"/>
                <a:cs typeface="Calibri" pitchFamily="34" charset="-120"/>
              </a:rPr>
              <a:t>Executive Summary — Why Identity Is the New Perimeter</a:t>
            </a:r>
            <a:endParaRPr lang="en-US" sz="1250" dirty="0"/>
          </a:p>
        </p:txBody>
      </p:sp>
      <p:sp>
        <p:nvSpPr>
          <p:cNvPr id="7" name="Shape 5"/>
          <p:cNvSpPr/>
          <p:nvPr/>
        </p:nvSpPr>
        <p:spPr>
          <a:xfrm>
            <a:off x="365760" y="1572768"/>
            <a:ext cx="402336" cy="402336"/>
          </a:xfrm>
          <a:prstGeom prst="rect">
            <a:avLst/>
          </a:prstGeom>
          <a:solidFill>
            <a:srgbClr val="0F4C75"/>
          </a:solidFill>
          <a:ln w="12700">
            <a:solidFill>
              <a:srgbClr val="0F4C75"/>
            </a:solidFill>
            <a:prstDash val="solid"/>
          </a:ln>
        </p:spPr>
        <p:txBody>
          <a:bodyPr/>
          <a:lstStyle/>
          <a:p>
            <a:endParaRPr lang="en-US"/>
          </a:p>
        </p:txBody>
      </p:sp>
      <p:sp>
        <p:nvSpPr>
          <p:cNvPr id="8" name="Text 6"/>
          <p:cNvSpPr/>
          <p:nvPr/>
        </p:nvSpPr>
        <p:spPr>
          <a:xfrm>
            <a:off x="365760" y="1572768"/>
            <a:ext cx="402336" cy="402336"/>
          </a:xfrm>
          <a:prstGeom prst="rect">
            <a:avLst/>
          </a:prstGeom>
          <a:noFill/>
          <a:ln/>
        </p:spPr>
        <p:txBody>
          <a:bodyPr wrap="square" lIns="0" tIns="0" rIns="0" bIns="0" rtlCol="0" anchor="ctr"/>
          <a:lstStyle/>
          <a:p>
            <a:pPr marL="0" indent="0" algn="ctr">
              <a:buNone/>
            </a:pPr>
            <a:r>
              <a:rPr lang="en-US" sz="1200" b="1" dirty="0">
                <a:solidFill>
                  <a:srgbClr val="1B998B"/>
                </a:solidFill>
                <a:latin typeface="Calibri" pitchFamily="34" charset="0"/>
                <a:ea typeface="Calibri" pitchFamily="34" charset="-122"/>
                <a:cs typeface="Calibri" pitchFamily="34" charset="-120"/>
              </a:rPr>
              <a:t>02</a:t>
            </a:r>
            <a:endParaRPr lang="en-US" sz="1200" dirty="0"/>
          </a:p>
        </p:txBody>
      </p:sp>
      <p:sp>
        <p:nvSpPr>
          <p:cNvPr id="9" name="Text 7"/>
          <p:cNvSpPr/>
          <p:nvPr/>
        </p:nvSpPr>
        <p:spPr>
          <a:xfrm>
            <a:off x="868680" y="1609344"/>
            <a:ext cx="3657600" cy="347472"/>
          </a:xfrm>
          <a:prstGeom prst="rect">
            <a:avLst/>
          </a:prstGeom>
          <a:noFill/>
          <a:ln/>
        </p:spPr>
        <p:txBody>
          <a:bodyPr wrap="square" lIns="0" tIns="0" rIns="0" bIns="0" rtlCol="0" anchor="ctr"/>
          <a:lstStyle/>
          <a:p>
            <a:pPr marL="0" indent="0">
              <a:buNone/>
            </a:pPr>
            <a:r>
              <a:rPr lang="en-US" sz="1250" dirty="0">
                <a:solidFill>
                  <a:srgbClr val="1A2E44"/>
                </a:solidFill>
                <a:latin typeface="Calibri" pitchFamily="34" charset="0"/>
                <a:ea typeface="Calibri" pitchFamily="34" charset="-122"/>
                <a:cs typeface="Calibri" pitchFamily="34" charset="-120"/>
              </a:rPr>
              <a:t>Core Concepts: AuthN, AuthZ, SSO, OAuth 2.0</a:t>
            </a:r>
            <a:endParaRPr lang="en-US" sz="1250" dirty="0"/>
          </a:p>
        </p:txBody>
      </p:sp>
      <p:sp>
        <p:nvSpPr>
          <p:cNvPr id="10" name="Shape 8"/>
          <p:cNvSpPr/>
          <p:nvPr/>
        </p:nvSpPr>
        <p:spPr>
          <a:xfrm>
            <a:off x="365760" y="2231136"/>
            <a:ext cx="402336" cy="402336"/>
          </a:xfrm>
          <a:prstGeom prst="rect">
            <a:avLst/>
          </a:prstGeom>
          <a:solidFill>
            <a:srgbClr val="0F4C75"/>
          </a:solidFill>
          <a:ln w="12700">
            <a:solidFill>
              <a:srgbClr val="0F4C75"/>
            </a:solidFill>
            <a:prstDash val="solid"/>
          </a:ln>
        </p:spPr>
        <p:txBody>
          <a:bodyPr/>
          <a:lstStyle/>
          <a:p>
            <a:endParaRPr lang="en-US"/>
          </a:p>
        </p:txBody>
      </p:sp>
      <p:sp>
        <p:nvSpPr>
          <p:cNvPr id="11" name="Text 9"/>
          <p:cNvSpPr/>
          <p:nvPr/>
        </p:nvSpPr>
        <p:spPr>
          <a:xfrm>
            <a:off x="365760" y="2231136"/>
            <a:ext cx="402336" cy="402336"/>
          </a:xfrm>
          <a:prstGeom prst="rect">
            <a:avLst/>
          </a:prstGeom>
          <a:noFill/>
          <a:ln/>
        </p:spPr>
        <p:txBody>
          <a:bodyPr wrap="square" lIns="0" tIns="0" rIns="0" bIns="0" rtlCol="0" anchor="ctr"/>
          <a:lstStyle/>
          <a:p>
            <a:pPr marL="0" indent="0" algn="ctr">
              <a:buNone/>
            </a:pPr>
            <a:r>
              <a:rPr lang="en-US" sz="1200" b="1" dirty="0">
                <a:solidFill>
                  <a:srgbClr val="1B998B"/>
                </a:solidFill>
                <a:latin typeface="Calibri" pitchFamily="34" charset="0"/>
                <a:ea typeface="Calibri" pitchFamily="34" charset="-122"/>
                <a:cs typeface="Calibri" pitchFamily="34" charset="-120"/>
              </a:rPr>
              <a:t>03</a:t>
            </a:r>
            <a:endParaRPr lang="en-US" sz="1200" dirty="0"/>
          </a:p>
        </p:txBody>
      </p:sp>
      <p:sp>
        <p:nvSpPr>
          <p:cNvPr id="12" name="Text 10"/>
          <p:cNvSpPr/>
          <p:nvPr/>
        </p:nvSpPr>
        <p:spPr>
          <a:xfrm>
            <a:off x="868680" y="2267712"/>
            <a:ext cx="3657600" cy="347472"/>
          </a:xfrm>
          <a:prstGeom prst="rect">
            <a:avLst/>
          </a:prstGeom>
          <a:noFill/>
          <a:ln/>
        </p:spPr>
        <p:txBody>
          <a:bodyPr wrap="square" lIns="0" tIns="0" rIns="0" bIns="0" rtlCol="0" anchor="ctr"/>
          <a:lstStyle/>
          <a:p>
            <a:pPr marL="0" indent="0">
              <a:buNone/>
            </a:pPr>
            <a:r>
              <a:rPr lang="en-US" sz="1250" dirty="0">
                <a:solidFill>
                  <a:srgbClr val="1A2E44"/>
                </a:solidFill>
                <a:latin typeface="Calibri" pitchFamily="34" charset="0"/>
                <a:ea typeface="Calibri" pitchFamily="34" charset="-122"/>
                <a:cs typeface="Calibri" pitchFamily="34" charset="-120"/>
              </a:rPr>
              <a:t>MFA &amp; Passwordless Authentication Architecture</a:t>
            </a:r>
            <a:endParaRPr lang="en-US" sz="1250" dirty="0"/>
          </a:p>
        </p:txBody>
      </p:sp>
      <p:sp>
        <p:nvSpPr>
          <p:cNvPr id="13" name="Shape 11"/>
          <p:cNvSpPr/>
          <p:nvPr/>
        </p:nvSpPr>
        <p:spPr>
          <a:xfrm>
            <a:off x="365760" y="2889504"/>
            <a:ext cx="402336" cy="402336"/>
          </a:xfrm>
          <a:prstGeom prst="rect">
            <a:avLst/>
          </a:prstGeom>
          <a:solidFill>
            <a:srgbClr val="0F4C75"/>
          </a:solidFill>
          <a:ln w="12700">
            <a:solidFill>
              <a:srgbClr val="0F4C75"/>
            </a:solidFill>
            <a:prstDash val="solid"/>
          </a:ln>
        </p:spPr>
        <p:txBody>
          <a:bodyPr/>
          <a:lstStyle/>
          <a:p>
            <a:endParaRPr lang="en-US"/>
          </a:p>
        </p:txBody>
      </p:sp>
      <p:sp>
        <p:nvSpPr>
          <p:cNvPr id="14" name="Text 12"/>
          <p:cNvSpPr/>
          <p:nvPr/>
        </p:nvSpPr>
        <p:spPr>
          <a:xfrm>
            <a:off x="365760" y="2889504"/>
            <a:ext cx="402336" cy="402336"/>
          </a:xfrm>
          <a:prstGeom prst="rect">
            <a:avLst/>
          </a:prstGeom>
          <a:noFill/>
          <a:ln/>
        </p:spPr>
        <p:txBody>
          <a:bodyPr wrap="square" lIns="0" tIns="0" rIns="0" bIns="0" rtlCol="0" anchor="ctr"/>
          <a:lstStyle/>
          <a:p>
            <a:pPr marL="0" indent="0" algn="ctr">
              <a:buNone/>
            </a:pPr>
            <a:r>
              <a:rPr lang="en-US" sz="1200" b="1" dirty="0">
                <a:solidFill>
                  <a:srgbClr val="1B998B"/>
                </a:solidFill>
                <a:latin typeface="Calibri" pitchFamily="34" charset="0"/>
                <a:ea typeface="Calibri" pitchFamily="34" charset="-122"/>
                <a:cs typeface="Calibri" pitchFamily="34" charset="-120"/>
              </a:rPr>
              <a:t>04</a:t>
            </a:r>
            <a:endParaRPr lang="en-US" sz="1200" dirty="0"/>
          </a:p>
        </p:txBody>
      </p:sp>
      <p:sp>
        <p:nvSpPr>
          <p:cNvPr id="15" name="Text 13"/>
          <p:cNvSpPr/>
          <p:nvPr/>
        </p:nvSpPr>
        <p:spPr>
          <a:xfrm>
            <a:off x="868680" y="2926080"/>
            <a:ext cx="3657600" cy="347472"/>
          </a:xfrm>
          <a:prstGeom prst="rect">
            <a:avLst/>
          </a:prstGeom>
          <a:noFill/>
          <a:ln/>
        </p:spPr>
        <p:txBody>
          <a:bodyPr wrap="square" lIns="0" tIns="0" rIns="0" bIns="0" rtlCol="0" anchor="ctr"/>
          <a:lstStyle/>
          <a:p>
            <a:pPr marL="0" indent="0">
              <a:buNone/>
            </a:pPr>
            <a:r>
              <a:rPr lang="en-US" sz="1250" dirty="0">
                <a:solidFill>
                  <a:srgbClr val="1A2E44"/>
                </a:solidFill>
                <a:latin typeface="Calibri" pitchFamily="34" charset="0"/>
                <a:ea typeface="Calibri" pitchFamily="34" charset="-122"/>
                <a:cs typeface="Calibri" pitchFamily="34" charset="-120"/>
              </a:rPr>
              <a:t>Single Sign-On Architecture (SAML, OIDC, Kerberos)</a:t>
            </a:r>
            <a:endParaRPr lang="en-US" sz="1250" dirty="0"/>
          </a:p>
        </p:txBody>
      </p:sp>
      <p:sp>
        <p:nvSpPr>
          <p:cNvPr id="16" name="Shape 14"/>
          <p:cNvSpPr/>
          <p:nvPr/>
        </p:nvSpPr>
        <p:spPr>
          <a:xfrm>
            <a:off x="365760" y="3547872"/>
            <a:ext cx="402336" cy="402336"/>
          </a:xfrm>
          <a:prstGeom prst="rect">
            <a:avLst/>
          </a:prstGeom>
          <a:solidFill>
            <a:srgbClr val="0F4C75"/>
          </a:solidFill>
          <a:ln w="12700">
            <a:solidFill>
              <a:srgbClr val="0F4C75"/>
            </a:solidFill>
            <a:prstDash val="solid"/>
          </a:ln>
        </p:spPr>
        <p:txBody>
          <a:bodyPr/>
          <a:lstStyle/>
          <a:p>
            <a:endParaRPr lang="en-US"/>
          </a:p>
        </p:txBody>
      </p:sp>
      <p:sp>
        <p:nvSpPr>
          <p:cNvPr id="17" name="Text 15"/>
          <p:cNvSpPr/>
          <p:nvPr/>
        </p:nvSpPr>
        <p:spPr>
          <a:xfrm>
            <a:off x="365760" y="3547872"/>
            <a:ext cx="402336" cy="402336"/>
          </a:xfrm>
          <a:prstGeom prst="rect">
            <a:avLst/>
          </a:prstGeom>
          <a:noFill/>
          <a:ln/>
        </p:spPr>
        <p:txBody>
          <a:bodyPr wrap="square" lIns="0" tIns="0" rIns="0" bIns="0" rtlCol="0" anchor="ctr"/>
          <a:lstStyle/>
          <a:p>
            <a:pPr marL="0" indent="0" algn="ctr">
              <a:buNone/>
            </a:pPr>
            <a:r>
              <a:rPr lang="en-US" sz="1200" b="1" dirty="0">
                <a:solidFill>
                  <a:srgbClr val="1B998B"/>
                </a:solidFill>
                <a:latin typeface="Calibri" pitchFamily="34" charset="0"/>
                <a:ea typeface="Calibri" pitchFamily="34" charset="-122"/>
                <a:cs typeface="Calibri" pitchFamily="34" charset="-120"/>
              </a:rPr>
              <a:t>05</a:t>
            </a:r>
            <a:endParaRPr lang="en-US" sz="1200" dirty="0"/>
          </a:p>
        </p:txBody>
      </p:sp>
      <p:sp>
        <p:nvSpPr>
          <p:cNvPr id="18" name="Text 16"/>
          <p:cNvSpPr/>
          <p:nvPr/>
        </p:nvSpPr>
        <p:spPr>
          <a:xfrm>
            <a:off x="868680" y="3584448"/>
            <a:ext cx="3657600" cy="347472"/>
          </a:xfrm>
          <a:prstGeom prst="rect">
            <a:avLst/>
          </a:prstGeom>
          <a:noFill/>
          <a:ln/>
        </p:spPr>
        <p:txBody>
          <a:bodyPr wrap="square" lIns="0" tIns="0" rIns="0" bIns="0" rtlCol="0" anchor="ctr"/>
          <a:lstStyle/>
          <a:p>
            <a:pPr marL="0" indent="0">
              <a:buNone/>
            </a:pPr>
            <a:r>
              <a:rPr lang="en-US" sz="1250" dirty="0">
                <a:solidFill>
                  <a:srgbClr val="1A2E44"/>
                </a:solidFill>
                <a:latin typeface="Calibri" pitchFamily="34" charset="0"/>
                <a:ea typeface="Calibri" pitchFamily="34" charset="-122"/>
                <a:cs typeface="Calibri" pitchFamily="34" charset="-120"/>
              </a:rPr>
              <a:t>Authorization Models (RBAC, ABAC, OPA)</a:t>
            </a:r>
            <a:endParaRPr lang="en-US" sz="1250" dirty="0"/>
          </a:p>
        </p:txBody>
      </p:sp>
      <p:sp>
        <p:nvSpPr>
          <p:cNvPr id="19" name="Shape 17"/>
          <p:cNvSpPr/>
          <p:nvPr/>
        </p:nvSpPr>
        <p:spPr>
          <a:xfrm>
            <a:off x="4846320" y="914400"/>
            <a:ext cx="402336" cy="402336"/>
          </a:xfrm>
          <a:prstGeom prst="rect">
            <a:avLst/>
          </a:prstGeom>
          <a:solidFill>
            <a:srgbClr val="0F4C75"/>
          </a:solidFill>
          <a:ln w="12700">
            <a:solidFill>
              <a:srgbClr val="0F4C75"/>
            </a:solidFill>
            <a:prstDash val="solid"/>
          </a:ln>
        </p:spPr>
        <p:txBody>
          <a:bodyPr/>
          <a:lstStyle/>
          <a:p>
            <a:endParaRPr lang="en-US"/>
          </a:p>
        </p:txBody>
      </p:sp>
      <p:sp>
        <p:nvSpPr>
          <p:cNvPr id="20" name="Text 18"/>
          <p:cNvSpPr/>
          <p:nvPr/>
        </p:nvSpPr>
        <p:spPr>
          <a:xfrm>
            <a:off x="4846320" y="914400"/>
            <a:ext cx="402336" cy="402336"/>
          </a:xfrm>
          <a:prstGeom prst="rect">
            <a:avLst/>
          </a:prstGeom>
          <a:noFill/>
          <a:ln/>
        </p:spPr>
        <p:txBody>
          <a:bodyPr wrap="square" lIns="0" tIns="0" rIns="0" bIns="0" rtlCol="0" anchor="ctr"/>
          <a:lstStyle/>
          <a:p>
            <a:pPr marL="0" indent="0" algn="ctr">
              <a:buNone/>
            </a:pPr>
            <a:r>
              <a:rPr lang="en-US" sz="1200" b="1" dirty="0">
                <a:solidFill>
                  <a:srgbClr val="1B998B"/>
                </a:solidFill>
                <a:latin typeface="Calibri" pitchFamily="34" charset="0"/>
                <a:ea typeface="Calibri" pitchFamily="34" charset="-122"/>
                <a:cs typeface="Calibri" pitchFamily="34" charset="-120"/>
              </a:rPr>
              <a:t>06</a:t>
            </a:r>
            <a:endParaRPr lang="en-US" sz="1200" dirty="0"/>
          </a:p>
        </p:txBody>
      </p:sp>
      <p:sp>
        <p:nvSpPr>
          <p:cNvPr id="21" name="Text 19"/>
          <p:cNvSpPr/>
          <p:nvPr/>
        </p:nvSpPr>
        <p:spPr>
          <a:xfrm>
            <a:off x="5349240" y="950976"/>
            <a:ext cx="3657600" cy="347472"/>
          </a:xfrm>
          <a:prstGeom prst="rect">
            <a:avLst/>
          </a:prstGeom>
          <a:noFill/>
          <a:ln/>
        </p:spPr>
        <p:txBody>
          <a:bodyPr wrap="square" lIns="0" tIns="0" rIns="0" bIns="0" rtlCol="0" anchor="ctr"/>
          <a:lstStyle/>
          <a:p>
            <a:pPr marL="0" indent="0">
              <a:buNone/>
            </a:pPr>
            <a:r>
              <a:rPr lang="en-US" sz="1250" dirty="0">
                <a:solidFill>
                  <a:srgbClr val="1A2E44"/>
                </a:solidFill>
                <a:latin typeface="Calibri" pitchFamily="34" charset="0"/>
                <a:ea typeface="Calibri" pitchFamily="34" charset="-122"/>
                <a:cs typeface="Calibri" pitchFamily="34" charset="-120"/>
              </a:rPr>
              <a:t>Zero Trust Identity Integration</a:t>
            </a:r>
            <a:endParaRPr lang="en-US" sz="1250" dirty="0"/>
          </a:p>
        </p:txBody>
      </p:sp>
      <p:sp>
        <p:nvSpPr>
          <p:cNvPr id="22" name="Shape 20"/>
          <p:cNvSpPr/>
          <p:nvPr/>
        </p:nvSpPr>
        <p:spPr>
          <a:xfrm>
            <a:off x="4846320" y="1572768"/>
            <a:ext cx="402336" cy="402336"/>
          </a:xfrm>
          <a:prstGeom prst="rect">
            <a:avLst/>
          </a:prstGeom>
          <a:solidFill>
            <a:srgbClr val="0F4C75"/>
          </a:solidFill>
          <a:ln w="12700">
            <a:solidFill>
              <a:srgbClr val="0F4C75"/>
            </a:solidFill>
            <a:prstDash val="solid"/>
          </a:ln>
        </p:spPr>
        <p:txBody>
          <a:bodyPr/>
          <a:lstStyle/>
          <a:p>
            <a:endParaRPr lang="en-US"/>
          </a:p>
        </p:txBody>
      </p:sp>
      <p:sp>
        <p:nvSpPr>
          <p:cNvPr id="23" name="Text 21"/>
          <p:cNvSpPr/>
          <p:nvPr/>
        </p:nvSpPr>
        <p:spPr>
          <a:xfrm>
            <a:off x="4846320" y="1572768"/>
            <a:ext cx="402336" cy="402336"/>
          </a:xfrm>
          <a:prstGeom prst="rect">
            <a:avLst/>
          </a:prstGeom>
          <a:noFill/>
          <a:ln/>
        </p:spPr>
        <p:txBody>
          <a:bodyPr wrap="square" lIns="0" tIns="0" rIns="0" bIns="0" rtlCol="0" anchor="ctr"/>
          <a:lstStyle/>
          <a:p>
            <a:pPr marL="0" indent="0" algn="ctr">
              <a:buNone/>
            </a:pPr>
            <a:r>
              <a:rPr lang="en-US" sz="1200" b="1" dirty="0">
                <a:solidFill>
                  <a:srgbClr val="1B998B"/>
                </a:solidFill>
                <a:latin typeface="Calibri" pitchFamily="34" charset="0"/>
                <a:ea typeface="Calibri" pitchFamily="34" charset="-122"/>
                <a:cs typeface="Calibri" pitchFamily="34" charset="-120"/>
              </a:rPr>
              <a:t>07</a:t>
            </a:r>
            <a:endParaRPr lang="en-US" sz="1200" dirty="0"/>
          </a:p>
        </p:txBody>
      </p:sp>
      <p:sp>
        <p:nvSpPr>
          <p:cNvPr id="24" name="Text 22"/>
          <p:cNvSpPr/>
          <p:nvPr/>
        </p:nvSpPr>
        <p:spPr>
          <a:xfrm>
            <a:off x="5349240" y="1609344"/>
            <a:ext cx="3657600" cy="347472"/>
          </a:xfrm>
          <a:prstGeom prst="rect">
            <a:avLst/>
          </a:prstGeom>
          <a:noFill/>
          <a:ln/>
        </p:spPr>
        <p:txBody>
          <a:bodyPr wrap="square" lIns="0" tIns="0" rIns="0" bIns="0" rtlCol="0" anchor="ctr"/>
          <a:lstStyle/>
          <a:p>
            <a:pPr marL="0" indent="0">
              <a:buNone/>
            </a:pPr>
            <a:r>
              <a:rPr lang="en-US" sz="1250" dirty="0">
                <a:solidFill>
                  <a:srgbClr val="1A2E44"/>
                </a:solidFill>
                <a:latin typeface="Calibri" pitchFamily="34" charset="0"/>
                <a:ea typeface="Calibri" pitchFamily="34" charset="-122"/>
                <a:cs typeface="Calibri" pitchFamily="34" charset="-120"/>
              </a:rPr>
              <a:t>Attack Techniques &amp; Mitigations (MITRE ATT&amp;CK)</a:t>
            </a:r>
            <a:endParaRPr lang="en-US" sz="1250" dirty="0"/>
          </a:p>
        </p:txBody>
      </p:sp>
      <p:sp>
        <p:nvSpPr>
          <p:cNvPr id="25" name="Shape 23"/>
          <p:cNvSpPr/>
          <p:nvPr/>
        </p:nvSpPr>
        <p:spPr>
          <a:xfrm>
            <a:off x="4846320" y="2231136"/>
            <a:ext cx="402336" cy="402336"/>
          </a:xfrm>
          <a:prstGeom prst="rect">
            <a:avLst/>
          </a:prstGeom>
          <a:solidFill>
            <a:srgbClr val="0F4C75"/>
          </a:solidFill>
          <a:ln w="12700">
            <a:solidFill>
              <a:srgbClr val="0F4C75"/>
            </a:solidFill>
            <a:prstDash val="solid"/>
          </a:ln>
        </p:spPr>
        <p:txBody>
          <a:bodyPr/>
          <a:lstStyle/>
          <a:p>
            <a:endParaRPr lang="en-US"/>
          </a:p>
        </p:txBody>
      </p:sp>
      <p:sp>
        <p:nvSpPr>
          <p:cNvPr id="26" name="Text 24"/>
          <p:cNvSpPr/>
          <p:nvPr/>
        </p:nvSpPr>
        <p:spPr>
          <a:xfrm>
            <a:off x="4846320" y="2231136"/>
            <a:ext cx="402336" cy="402336"/>
          </a:xfrm>
          <a:prstGeom prst="rect">
            <a:avLst/>
          </a:prstGeom>
          <a:noFill/>
          <a:ln/>
        </p:spPr>
        <p:txBody>
          <a:bodyPr wrap="square" lIns="0" tIns="0" rIns="0" bIns="0" rtlCol="0" anchor="ctr"/>
          <a:lstStyle/>
          <a:p>
            <a:pPr marL="0" indent="0" algn="ctr">
              <a:buNone/>
            </a:pPr>
            <a:r>
              <a:rPr lang="en-US" sz="1200" b="1" dirty="0">
                <a:solidFill>
                  <a:srgbClr val="1B998B"/>
                </a:solidFill>
                <a:latin typeface="Calibri" pitchFamily="34" charset="0"/>
                <a:ea typeface="Calibri" pitchFamily="34" charset="-122"/>
                <a:cs typeface="Calibri" pitchFamily="34" charset="-120"/>
              </a:rPr>
              <a:t>08</a:t>
            </a:r>
            <a:endParaRPr lang="en-US" sz="1200" dirty="0"/>
          </a:p>
        </p:txBody>
      </p:sp>
      <p:sp>
        <p:nvSpPr>
          <p:cNvPr id="27" name="Text 25"/>
          <p:cNvSpPr/>
          <p:nvPr/>
        </p:nvSpPr>
        <p:spPr>
          <a:xfrm>
            <a:off x="5349240" y="2267712"/>
            <a:ext cx="3657600" cy="347472"/>
          </a:xfrm>
          <a:prstGeom prst="rect">
            <a:avLst/>
          </a:prstGeom>
          <a:noFill/>
          <a:ln/>
        </p:spPr>
        <p:txBody>
          <a:bodyPr wrap="square" lIns="0" tIns="0" rIns="0" bIns="0" rtlCol="0" anchor="ctr"/>
          <a:lstStyle/>
          <a:p>
            <a:pPr marL="0" indent="0">
              <a:buNone/>
            </a:pPr>
            <a:r>
              <a:rPr lang="en-US" sz="1250" dirty="0">
                <a:solidFill>
                  <a:srgbClr val="1A2E44"/>
                </a:solidFill>
                <a:latin typeface="Calibri" pitchFamily="34" charset="0"/>
                <a:ea typeface="Calibri" pitchFamily="34" charset="-122"/>
                <a:cs typeface="Calibri" pitchFamily="34" charset="-120"/>
              </a:rPr>
              <a:t>Vendor Landscape</a:t>
            </a:r>
            <a:endParaRPr lang="en-US" sz="1250" dirty="0"/>
          </a:p>
        </p:txBody>
      </p:sp>
      <p:sp>
        <p:nvSpPr>
          <p:cNvPr id="28" name="Shape 26"/>
          <p:cNvSpPr/>
          <p:nvPr/>
        </p:nvSpPr>
        <p:spPr>
          <a:xfrm>
            <a:off x="4846320" y="2889504"/>
            <a:ext cx="402336" cy="402336"/>
          </a:xfrm>
          <a:prstGeom prst="rect">
            <a:avLst/>
          </a:prstGeom>
          <a:solidFill>
            <a:srgbClr val="0F4C75"/>
          </a:solidFill>
          <a:ln w="12700">
            <a:solidFill>
              <a:srgbClr val="0F4C75"/>
            </a:solidFill>
            <a:prstDash val="solid"/>
          </a:ln>
        </p:spPr>
        <p:txBody>
          <a:bodyPr/>
          <a:lstStyle/>
          <a:p>
            <a:endParaRPr lang="en-US"/>
          </a:p>
        </p:txBody>
      </p:sp>
      <p:sp>
        <p:nvSpPr>
          <p:cNvPr id="29" name="Text 27"/>
          <p:cNvSpPr/>
          <p:nvPr/>
        </p:nvSpPr>
        <p:spPr>
          <a:xfrm>
            <a:off x="4846320" y="2889504"/>
            <a:ext cx="402336" cy="402336"/>
          </a:xfrm>
          <a:prstGeom prst="rect">
            <a:avLst/>
          </a:prstGeom>
          <a:noFill/>
          <a:ln/>
        </p:spPr>
        <p:txBody>
          <a:bodyPr wrap="square" lIns="0" tIns="0" rIns="0" bIns="0" rtlCol="0" anchor="ctr"/>
          <a:lstStyle/>
          <a:p>
            <a:pPr marL="0" indent="0" algn="ctr">
              <a:buNone/>
            </a:pPr>
            <a:r>
              <a:rPr lang="en-US" sz="1200" b="1" dirty="0">
                <a:solidFill>
                  <a:srgbClr val="1B998B"/>
                </a:solidFill>
                <a:latin typeface="Calibri" pitchFamily="34" charset="0"/>
                <a:ea typeface="Calibri" pitchFamily="34" charset="-122"/>
                <a:cs typeface="Calibri" pitchFamily="34" charset="-120"/>
              </a:rPr>
              <a:t>09</a:t>
            </a:r>
            <a:endParaRPr lang="en-US" sz="1200" dirty="0"/>
          </a:p>
        </p:txBody>
      </p:sp>
      <p:sp>
        <p:nvSpPr>
          <p:cNvPr id="30" name="Text 28"/>
          <p:cNvSpPr/>
          <p:nvPr/>
        </p:nvSpPr>
        <p:spPr>
          <a:xfrm>
            <a:off x="5349240" y="2926080"/>
            <a:ext cx="3657600" cy="347472"/>
          </a:xfrm>
          <a:prstGeom prst="rect">
            <a:avLst/>
          </a:prstGeom>
          <a:noFill/>
          <a:ln/>
        </p:spPr>
        <p:txBody>
          <a:bodyPr wrap="square" lIns="0" tIns="0" rIns="0" bIns="0" rtlCol="0" anchor="ctr"/>
          <a:lstStyle/>
          <a:p>
            <a:pPr marL="0" indent="0">
              <a:buNone/>
            </a:pPr>
            <a:r>
              <a:rPr lang="en-US" sz="1250" dirty="0">
                <a:solidFill>
                  <a:srgbClr val="1A2E44"/>
                </a:solidFill>
                <a:latin typeface="Calibri" pitchFamily="34" charset="0"/>
                <a:ea typeface="Calibri" pitchFamily="34" charset="-122"/>
                <a:cs typeface="Calibri" pitchFamily="34" charset="-120"/>
              </a:rPr>
              <a:t>NIST SP 800-53 &amp; 800-63B Control Mapping</a:t>
            </a:r>
            <a:endParaRPr lang="en-US" sz="1250" dirty="0"/>
          </a:p>
        </p:txBody>
      </p:sp>
      <p:sp>
        <p:nvSpPr>
          <p:cNvPr id="31" name="Shape 29"/>
          <p:cNvSpPr/>
          <p:nvPr/>
        </p:nvSpPr>
        <p:spPr>
          <a:xfrm>
            <a:off x="4846320" y="3547872"/>
            <a:ext cx="402336" cy="402336"/>
          </a:xfrm>
          <a:prstGeom prst="rect">
            <a:avLst/>
          </a:prstGeom>
          <a:solidFill>
            <a:srgbClr val="0F4C75"/>
          </a:solidFill>
          <a:ln w="12700">
            <a:solidFill>
              <a:srgbClr val="0F4C75"/>
            </a:solidFill>
            <a:prstDash val="solid"/>
          </a:ln>
        </p:spPr>
        <p:txBody>
          <a:bodyPr/>
          <a:lstStyle/>
          <a:p>
            <a:endParaRPr lang="en-US"/>
          </a:p>
        </p:txBody>
      </p:sp>
      <p:sp>
        <p:nvSpPr>
          <p:cNvPr id="32" name="Text 30"/>
          <p:cNvSpPr/>
          <p:nvPr/>
        </p:nvSpPr>
        <p:spPr>
          <a:xfrm>
            <a:off x="4846320" y="3547872"/>
            <a:ext cx="402336" cy="402336"/>
          </a:xfrm>
          <a:prstGeom prst="rect">
            <a:avLst/>
          </a:prstGeom>
          <a:noFill/>
          <a:ln/>
        </p:spPr>
        <p:txBody>
          <a:bodyPr wrap="square" lIns="0" tIns="0" rIns="0" bIns="0" rtlCol="0" anchor="ctr"/>
          <a:lstStyle/>
          <a:p>
            <a:pPr marL="0" indent="0" algn="ctr">
              <a:buNone/>
            </a:pPr>
            <a:r>
              <a:rPr lang="en-US" sz="1200" b="1" dirty="0">
                <a:solidFill>
                  <a:srgbClr val="1B998B"/>
                </a:solidFill>
                <a:latin typeface="Calibri" pitchFamily="34" charset="0"/>
                <a:ea typeface="Calibri" pitchFamily="34" charset="-122"/>
                <a:cs typeface="Calibri" pitchFamily="34" charset="-120"/>
              </a:rPr>
              <a:t>10</a:t>
            </a:r>
            <a:endParaRPr lang="en-US" sz="1200" dirty="0"/>
          </a:p>
        </p:txBody>
      </p:sp>
      <p:sp>
        <p:nvSpPr>
          <p:cNvPr id="33" name="Text 31"/>
          <p:cNvSpPr/>
          <p:nvPr/>
        </p:nvSpPr>
        <p:spPr>
          <a:xfrm>
            <a:off x="5349240" y="3584448"/>
            <a:ext cx="3657600" cy="347472"/>
          </a:xfrm>
          <a:prstGeom prst="rect">
            <a:avLst/>
          </a:prstGeom>
          <a:noFill/>
          <a:ln/>
        </p:spPr>
        <p:txBody>
          <a:bodyPr wrap="square" lIns="0" tIns="0" rIns="0" bIns="0" rtlCol="0" anchor="ctr"/>
          <a:lstStyle/>
          <a:p>
            <a:pPr marL="0" indent="0">
              <a:buNone/>
            </a:pPr>
            <a:r>
              <a:rPr lang="en-US" sz="1250" dirty="0">
                <a:solidFill>
                  <a:srgbClr val="1A2E44"/>
                </a:solidFill>
                <a:latin typeface="Calibri" pitchFamily="34" charset="0"/>
                <a:ea typeface="Calibri" pitchFamily="34" charset="-122"/>
                <a:cs typeface="Calibri" pitchFamily="34" charset="-120"/>
              </a:rPr>
              <a:t>Implementation Roadmap</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75"/>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98B"/>
          </a:solidFill>
          <a:ln w="12700">
            <a:solidFill>
              <a:srgbClr val="1B998B"/>
            </a:solidFill>
            <a:prstDash val="solid"/>
          </a:ln>
        </p:spPr>
        <p:txBody>
          <a:bodyPr/>
          <a:lstStyle/>
          <a:p>
            <a:endParaRPr lang="en-US"/>
          </a:p>
        </p:txBody>
      </p:sp>
      <p:sp>
        <p:nvSpPr>
          <p:cNvPr id="3" name="Text 1"/>
          <p:cNvSpPr/>
          <p:nvPr/>
        </p:nvSpPr>
        <p:spPr>
          <a:xfrm>
            <a:off x="6858000" y="731520"/>
            <a:ext cx="2103120" cy="2560320"/>
          </a:xfrm>
          <a:prstGeom prst="rect">
            <a:avLst/>
          </a:prstGeom>
          <a:noFill/>
          <a:ln/>
        </p:spPr>
        <p:txBody>
          <a:bodyPr wrap="square" lIns="0" tIns="0" rIns="0" bIns="0" rtlCol="0" anchor="ctr"/>
          <a:lstStyle/>
          <a:p>
            <a:pPr marL="0" indent="0" algn="r">
              <a:buNone/>
            </a:pPr>
            <a:r>
              <a:rPr lang="en-US" sz="14000" b="1" dirty="0">
                <a:solidFill>
                  <a:srgbClr val="1A4A66"/>
                </a:solidFill>
                <a:latin typeface="Calibri" pitchFamily="34" charset="0"/>
                <a:ea typeface="Calibri" pitchFamily="34" charset="-122"/>
                <a:cs typeface="Calibri" pitchFamily="34" charset="-120"/>
              </a:rPr>
              <a:t>01</a:t>
            </a:r>
            <a:endParaRPr lang="en-US" sz="14000" dirty="0"/>
          </a:p>
        </p:txBody>
      </p:sp>
      <p:sp>
        <p:nvSpPr>
          <p:cNvPr id="4" name="Text 2"/>
          <p:cNvSpPr/>
          <p:nvPr/>
        </p:nvSpPr>
        <p:spPr>
          <a:xfrm>
            <a:off x="320040" y="1600200"/>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Executive Summary</a:t>
            </a:r>
            <a:endParaRPr lang="en-US" sz="3000" dirty="0"/>
          </a:p>
        </p:txBody>
      </p:sp>
      <p:sp>
        <p:nvSpPr>
          <p:cNvPr id="5" name="Shape 3"/>
          <p:cNvSpPr/>
          <p:nvPr/>
        </p:nvSpPr>
        <p:spPr>
          <a:xfrm>
            <a:off x="320040" y="2468880"/>
            <a:ext cx="6217920" cy="0"/>
          </a:xfrm>
          <a:prstGeom prst="line">
            <a:avLst/>
          </a:prstGeom>
          <a:noFill/>
          <a:ln w="6350">
            <a:solidFill>
              <a:srgbClr val="8AAFC4"/>
            </a:solidFill>
            <a:prstDash val="solid"/>
          </a:ln>
        </p:spPr>
        <p:txBody>
          <a:bodyPr/>
          <a:lstStyle/>
          <a:p>
            <a:endParaRPr lang="en-US"/>
          </a:p>
        </p:txBody>
      </p:sp>
      <p:sp>
        <p:nvSpPr>
          <p:cNvPr id="6" name="Text 4"/>
          <p:cNvSpPr/>
          <p:nvPr/>
        </p:nvSpPr>
        <p:spPr>
          <a:xfrm>
            <a:off x="320040" y="2542032"/>
            <a:ext cx="6400800" cy="457200"/>
          </a:xfrm>
          <a:prstGeom prst="rect">
            <a:avLst/>
          </a:prstGeom>
          <a:noFill/>
          <a:ln/>
        </p:spPr>
        <p:txBody>
          <a:bodyPr wrap="square" lIns="0" tIns="0" rIns="0" bIns="0" rtlCol="0" anchor="ctr"/>
          <a:lstStyle/>
          <a:p>
            <a:pPr marL="0" indent="0">
              <a:buNone/>
            </a:pPr>
            <a:r>
              <a:rPr lang="en-US" sz="1400" i="1" dirty="0">
                <a:solidFill>
                  <a:srgbClr val="C9E4F0"/>
                </a:solidFill>
                <a:latin typeface="Calibri" pitchFamily="34" charset="0"/>
                <a:ea typeface="Calibri" pitchFamily="34" charset="-122"/>
                <a:cs typeface="Calibri" pitchFamily="34" charset="-120"/>
              </a:rPr>
              <a:t>Why identity is the new perimeter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75"/>
          </a:solidFill>
          <a:ln w="12700">
            <a:solidFill>
              <a:srgbClr val="0F4C75"/>
            </a:solidFill>
            <a:prstDash val="solid"/>
          </a:ln>
        </p:spPr>
        <p:txBody>
          <a:bodyPr/>
          <a:lstStyle/>
          <a:p>
            <a:endParaRPr lang="en-US"/>
          </a:p>
        </p:txBody>
      </p:sp>
      <p:sp>
        <p:nvSpPr>
          <p:cNvPr id="3" name="Text 1"/>
          <p:cNvSpPr/>
          <p:nvPr/>
        </p:nvSpPr>
        <p:spPr>
          <a:xfrm>
            <a:off x="457200" y="0"/>
            <a:ext cx="82296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Executive Summary</a:t>
            </a:r>
            <a:endParaRPr lang="en-US" sz="2200" dirty="0"/>
          </a:p>
        </p:txBody>
      </p:sp>
      <p:sp>
        <p:nvSpPr>
          <p:cNvPr id="4" name="Shape 2"/>
          <p:cNvSpPr/>
          <p:nvPr/>
        </p:nvSpPr>
        <p:spPr>
          <a:xfrm>
            <a:off x="320040" y="822960"/>
            <a:ext cx="2560320" cy="1463040"/>
          </a:xfrm>
          <a:prstGeom prst="rect">
            <a:avLst/>
          </a:prstGeom>
          <a:solidFill>
            <a:srgbClr val="0F4C75"/>
          </a:solidFill>
          <a:ln w="12700">
            <a:solidFill>
              <a:srgbClr val="0F4C75"/>
            </a:solidFill>
            <a:prstDash val="solid"/>
          </a:ln>
          <a:effectLst>
            <a:outerShdw blurRad="63500" dist="25400" dir="8100000" algn="bl" rotWithShape="0">
              <a:srgbClr val="000000">
                <a:alpha val="12000"/>
              </a:srgbClr>
            </a:outerShdw>
          </a:effectLst>
        </p:spPr>
        <p:txBody>
          <a:bodyPr/>
          <a:lstStyle/>
          <a:p>
            <a:endParaRPr lang="en-US"/>
          </a:p>
        </p:txBody>
      </p:sp>
      <p:sp>
        <p:nvSpPr>
          <p:cNvPr id="5" name="Text 3"/>
          <p:cNvSpPr/>
          <p:nvPr/>
        </p:nvSpPr>
        <p:spPr>
          <a:xfrm>
            <a:off x="320040" y="868680"/>
            <a:ext cx="2560320" cy="731520"/>
          </a:xfrm>
          <a:prstGeom prst="rect">
            <a:avLst/>
          </a:prstGeom>
          <a:noFill/>
          <a:ln/>
        </p:spPr>
        <p:txBody>
          <a:bodyPr wrap="square" lIns="0" tIns="0" rIns="0" bIns="0" rtlCol="0" anchor="ctr"/>
          <a:lstStyle/>
          <a:p>
            <a:pPr marL="0" indent="0" algn="ctr">
              <a:buNone/>
            </a:pPr>
            <a:r>
              <a:rPr lang="en-US" sz="3600" b="1" dirty="0">
                <a:solidFill>
                  <a:srgbClr val="1B998B"/>
                </a:solidFill>
                <a:latin typeface="Calibri" pitchFamily="34" charset="0"/>
                <a:ea typeface="Calibri" pitchFamily="34" charset="-122"/>
                <a:cs typeface="Calibri" pitchFamily="34" charset="-120"/>
              </a:rPr>
              <a:t>24%</a:t>
            </a:r>
            <a:endParaRPr lang="en-US" sz="3600" dirty="0"/>
          </a:p>
        </p:txBody>
      </p:sp>
      <p:sp>
        <p:nvSpPr>
          <p:cNvPr id="6" name="Text 4"/>
          <p:cNvSpPr/>
          <p:nvPr/>
        </p:nvSpPr>
        <p:spPr>
          <a:xfrm>
            <a:off x="320040" y="1600200"/>
            <a:ext cx="2560320" cy="502920"/>
          </a:xfrm>
          <a:prstGeom prst="rect">
            <a:avLst/>
          </a:prstGeom>
          <a:noFill/>
          <a:ln/>
        </p:spPr>
        <p:txBody>
          <a:bodyPr wrap="square" lIns="0" tIns="0" rIns="0" bIns="0" rtlCol="0" anchor="ctr"/>
          <a:lstStyle/>
          <a:p>
            <a:pPr marL="0" indent="0" algn="ctr">
              <a:buNone/>
            </a:pPr>
            <a:r>
              <a:rPr lang="en-US" sz="1100" dirty="0">
                <a:solidFill>
                  <a:srgbClr val="C9E4F0"/>
                </a:solidFill>
                <a:latin typeface="Calibri" pitchFamily="34" charset="0"/>
                <a:ea typeface="Calibri" pitchFamily="34" charset="-122"/>
                <a:cs typeface="Calibri" pitchFamily="34" charset="-120"/>
              </a:rPr>
              <a:t>of all breaches involved</a:t>
            </a:r>
            <a:endParaRPr lang="en-US" sz="1100" dirty="0"/>
          </a:p>
          <a:p>
            <a:pPr marL="0" indent="0" algn="ctr">
              <a:buNone/>
            </a:pPr>
            <a:r>
              <a:rPr lang="en-US" sz="1100" dirty="0">
                <a:solidFill>
                  <a:srgbClr val="C9E4F0"/>
                </a:solidFill>
                <a:latin typeface="Calibri" pitchFamily="34" charset="0"/>
                <a:ea typeface="Calibri" pitchFamily="34" charset="-122"/>
                <a:cs typeface="Calibri" pitchFamily="34" charset="-120"/>
              </a:rPr>
              <a:t>stolen credentials</a:t>
            </a:r>
            <a:endParaRPr lang="en-US" sz="1100" dirty="0"/>
          </a:p>
        </p:txBody>
      </p:sp>
      <p:sp>
        <p:nvSpPr>
          <p:cNvPr id="7" name="Text 5"/>
          <p:cNvSpPr/>
          <p:nvPr/>
        </p:nvSpPr>
        <p:spPr>
          <a:xfrm>
            <a:off x="320040" y="2103120"/>
            <a:ext cx="2560320" cy="182880"/>
          </a:xfrm>
          <a:prstGeom prst="rect">
            <a:avLst/>
          </a:prstGeom>
          <a:noFill/>
          <a:ln/>
        </p:spPr>
        <p:txBody>
          <a:bodyPr wrap="square" lIns="0" tIns="0" rIns="0" bIns="0" rtlCol="0" anchor="ctr"/>
          <a:lstStyle/>
          <a:p>
            <a:pPr marL="0" indent="0" algn="ctr">
              <a:buNone/>
            </a:pPr>
            <a:r>
              <a:rPr lang="en-US" sz="800" i="1" dirty="0">
                <a:solidFill>
                  <a:srgbClr val="8AAFC4"/>
                </a:solidFill>
                <a:latin typeface="Calibri" pitchFamily="34" charset="0"/>
                <a:ea typeface="Calibri" pitchFamily="34" charset="-122"/>
                <a:cs typeface="Calibri" pitchFamily="34" charset="-120"/>
              </a:rPr>
              <a:t>Verizon DBIR 2024</a:t>
            </a:r>
            <a:endParaRPr lang="en-US" sz="800" dirty="0"/>
          </a:p>
        </p:txBody>
      </p:sp>
      <p:sp>
        <p:nvSpPr>
          <p:cNvPr id="8" name="Shape 6"/>
          <p:cNvSpPr/>
          <p:nvPr/>
        </p:nvSpPr>
        <p:spPr>
          <a:xfrm>
            <a:off x="3154680" y="822960"/>
            <a:ext cx="2560320" cy="1463040"/>
          </a:xfrm>
          <a:prstGeom prst="rect">
            <a:avLst/>
          </a:prstGeom>
          <a:solidFill>
            <a:srgbClr val="0F4C75"/>
          </a:solidFill>
          <a:ln w="12700">
            <a:solidFill>
              <a:srgbClr val="0F4C75"/>
            </a:solidFill>
            <a:prstDash val="solid"/>
          </a:ln>
          <a:effectLst>
            <a:outerShdw blurRad="63500" dist="25400" dir="8100000" algn="bl" rotWithShape="0">
              <a:srgbClr val="000000">
                <a:alpha val="12000"/>
              </a:srgbClr>
            </a:outerShdw>
          </a:effectLst>
        </p:spPr>
        <p:txBody>
          <a:bodyPr/>
          <a:lstStyle/>
          <a:p>
            <a:endParaRPr lang="en-US"/>
          </a:p>
        </p:txBody>
      </p:sp>
      <p:sp>
        <p:nvSpPr>
          <p:cNvPr id="9" name="Text 7"/>
          <p:cNvSpPr/>
          <p:nvPr/>
        </p:nvSpPr>
        <p:spPr>
          <a:xfrm>
            <a:off x="3154680" y="868680"/>
            <a:ext cx="2560320" cy="731520"/>
          </a:xfrm>
          <a:prstGeom prst="rect">
            <a:avLst/>
          </a:prstGeom>
          <a:noFill/>
          <a:ln/>
        </p:spPr>
        <p:txBody>
          <a:bodyPr wrap="square" lIns="0" tIns="0" rIns="0" bIns="0" rtlCol="0" anchor="ctr"/>
          <a:lstStyle/>
          <a:p>
            <a:pPr marL="0" indent="0" algn="ctr">
              <a:buNone/>
            </a:pPr>
            <a:r>
              <a:rPr lang="en-US" sz="3600" b="1" dirty="0">
                <a:solidFill>
                  <a:srgbClr val="1B998B"/>
                </a:solidFill>
                <a:latin typeface="Calibri" pitchFamily="34" charset="0"/>
                <a:ea typeface="Calibri" pitchFamily="34" charset="-122"/>
                <a:cs typeface="Calibri" pitchFamily="34" charset="-120"/>
              </a:rPr>
              <a:t>#1</a:t>
            </a:r>
            <a:endParaRPr lang="en-US" sz="3600" dirty="0"/>
          </a:p>
        </p:txBody>
      </p:sp>
      <p:sp>
        <p:nvSpPr>
          <p:cNvPr id="10" name="Text 8"/>
          <p:cNvSpPr/>
          <p:nvPr/>
        </p:nvSpPr>
        <p:spPr>
          <a:xfrm>
            <a:off x="3154680" y="1600200"/>
            <a:ext cx="2560320" cy="502920"/>
          </a:xfrm>
          <a:prstGeom prst="rect">
            <a:avLst/>
          </a:prstGeom>
          <a:noFill/>
          <a:ln/>
        </p:spPr>
        <p:txBody>
          <a:bodyPr wrap="square" lIns="0" tIns="0" rIns="0" bIns="0" rtlCol="0" anchor="ctr"/>
          <a:lstStyle/>
          <a:p>
            <a:pPr marL="0" indent="0" algn="ctr">
              <a:buNone/>
            </a:pPr>
            <a:r>
              <a:rPr lang="en-US" sz="1100" dirty="0">
                <a:solidFill>
                  <a:srgbClr val="C9E4F0"/>
                </a:solidFill>
                <a:latin typeface="Calibri" pitchFamily="34" charset="0"/>
                <a:ea typeface="Calibri" pitchFamily="34" charset="-122"/>
                <a:cs typeface="Calibri" pitchFamily="34" charset="-120"/>
              </a:rPr>
              <a:t>initial access technique</a:t>
            </a:r>
            <a:endParaRPr lang="en-US" sz="1100" dirty="0"/>
          </a:p>
          <a:p>
            <a:pPr marL="0" indent="0" algn="ctr">
              <a:buNone/>
            </a:pPr>
            <a:r>
              <a:rPr lang="en-US" sz="1100" dirty="0">
                <a:solidFill>
                  <a:srgbClr val="C9E4F0"/>
                </a:solidFill>
                <a:latin typeface="Calibri" pitchFamily="34" charset="0"/>
                <a:ea typeface="Calibri" pitchFamily="34" charset="-122"/>
                <a:cs typeface="Calibri" pitchFamily="34" charset="-120"/>
              </a:rPr>
              <a:t>is phishing for credentials</a:t>
            </a:r>
            <a:endParaRPr lang="en-US" sz="1100" dirty="0"/>
          </a:p>
        </p:txBody>
      </p:sp>
      <p:sp>
        <p:nvSpPr>
          <p:cNvPr id="11" name="Text 9"/>
          <p:cNvSpPr/>
          <p:nvPr/>
        </p:nvSpPr>
        <p:spPr>
          <a:xfrm>
            <a:off x="3154680" y="2103120"/>
            <a:ext cx="2560320" cy="182880"/>
          </a:xfrm>
          <a:prstGeom prst="rect">
            <a:avLst/>
          </a:prstGeom>
          <a:noFill/>
          <a:ln/>
        </p:spPr>
        <p:txBody>
          <a:bodyPr wrap="square" lIns="0" tIns="0" rIns="0" bIns="0" rtlCol="0" anchor="ctr"/>
          <a:lstStyle/>
          <a:p>
            <a:pPr marL="0" indent="0" algn="ctr">
              <a:buNone/>
            </a:pPr>
            <a:r>
              <a:rPr lang="en-US" sz="800" i="1" dirty="0">
                <a:solidFill>
                  <a:srgbClr val="8AAFC4"/>
                </a:solidFill>
                <a:latin typeface="Calibri" pitchFamily="34" charset="0"/>
                <a:ea typeface="Calibri" pitchFamily="34" charset="-122"/>
                <a:cs typeface="Calibri" pitchFamily="34" charset="-120"/>
              </a:rPr>
              <a:t>IBM X-Force 2024</a:t>
            </a:r>
            <a:endParaRPr lang="en-US" sz="800" dirty="0"/>
          </a:p>
        </p:txBody>
      </p:sp>
      <p:sp>
        <p:nvSpPr>
          <p:cNvPr id="12" name="Shape 10"/>
          <p:cNvSpPr/>
          <p:nvPr/>
        </p:nvSpPr>
        <p:spPr>
          <a:xfrm>
            <a:off x="5989320" y="822960"/>
            <a:ext cx="2560320" cy="1463040"/>
          </a:xfrm>
          <a:prstGeom prst="rect">
            <a:avLst/>
          </a:prstGeom>
          <a:solidFill>
            <a:srgbClr val="0F4C75"/>
          </a:solidFill>
          <a:ln w="12700">
            <a:solidFill>
              <a:srgbClr val="0F4C75"/>
            </a:solidFill>
            <a:prstDash val="solid"/>
          </a:ln>
          <a:effectLst>
            <a:outerShdw blurRad="63500" dist="25400" dir="8100000" algn="bl" rotWithShape="0">
              <a:srgbClr val="000000">
                <a:alpha val="12000"/>
              </a:srgbClr>
            </a:outerShdw>
          </a:effectLst>
        </p:spPr>
        <p:txBody>
          <a:bodyPr/>
          <a:lstStyle/>
          <a:p>
            <a:endParaRPr lang="en-US"/>
          </a:p>
        </p:txBody>
      </p:sp>
      <p:sp>
        <p:nvSpPr>
          <p:cNvPr id="13" name="Text 11"/>
          <p:cNvSpPr/>
          <p:nvPr/>
        </p:nvSpPr>
        <p:spPr>
          <a:xfrm>
            <a:off x="5989320" y="868680"/>
            <a:ext cx="2560320" cy="731520"/>
          </a:xfrm>
          <a:prstGeom prst="rect">
            <a:avLst/>
          </a:prstGeom>
          <a:noFill/>
          <a:ln/>
        </p:spPr>
        <p:txBody>
          <a:bodyPr wrap="square" lIns="0" tIns="0" rIns="0" bIns="0" rtlCol="0" anchor="ctr"/>
          <a:lstStyle/>
          <a:p>
            <a:pPr marL="0" indent="0" algn="ctr">
              <a:buNone/>
            </a:pPr>
            <a:r>
              <a:rPr lang="en-US" sz="3600" b="1" dirty="0">
                <a:solidFill>
                  <a:srgbClr val="1B998B"/>
                </a:solidFill>
                <a:latin typeface="Calibri" pitchFamily="34" charset="0"/>
                <a:ea typeface="Calibri" pitchFamily="34" charset="-122"/>
                <a:cs typeface="Calibri" pitchFamily="34" charset="-120"/>
              </a:rPr>
              <a:t>80%+</a:t>
            </a:r>
            <a:endParaRPr lang="en-US" sz="3600" dirty="0"/>
          </a:p>
        </p:txBody>
      </p:sp>
      <p:sp>
        <p:nvSpPr>
          <p:cNvPr id="14" name="Text 12"/>
          <p:cNvSpPr/>
          <p:nvPr/>
        </p:nvSpPr>
        <p:spPr>
          <a:xfrm>
            <a:off x="5989320" y="1600200"/>
            <a:ext cx="2560320" cy="502920"/>
          </a:xfrm>
          <a:prstGeom prst="rect">
            <a:avLst/>
          </a:prstGeom>
          <a:noFill/>
          <a:ln/>
        </p:spPr>
        <p:txBody>
          <a:bodyPr wrap="square" lIns="0" tIns="0" rIns="0" bIns="0" rtlCol="0" anchor="ctr"/>
          <a:lstStyle/>
          <a:p>
            <a:pPr marL="0" indent="0" algn="ctr">
              <a:buNone/>
            </a:pPr>
            <a:r>
              <a:rPr lang="en-US" sz="1100" dirty="0">
                <a:solidFill>
                  <a:srgbClr val="C9E4F0"/>
                </a:solidFill>
                <a:latin typeface="Calibri" pitchFamily="34" charset="0"/>
                <a:ea typeface="Calibri" pitchFamily="34" charset="-122"/>
                <a:cs typeface="Calibri" pitchFamily="34" charset="-120"/>
              </a:rPr>
              <a:t>of orgs still allow</a:t>
            </a:r>
            <a:endParaRPr lang="en-US" sz="1100" dirty="0"/>
          </a:p>
          <a:p>
            <a:pPr marL="0" indent="0" algn="ctr">
              <a:buNone/>
            </a:pPr>
            <a:r>
              <a:rPr lang="en-US" sz="1100" dirty="0">
                <a:solidFill>
                  <a:srgbClr val="C9E4F0"/>
                </a:solidFill>
                <a:latin typeface="Calibri" pitchFamily="34" charset="0"/>
                <a:ea typeface="Calibri" pitchFamily="34" charset="-122"/>
                <a:cs typeface="Calibri" pitchFamily="34" charset="-120"/>
              </a:rPr>
              <a:t>legacy auth (Basic/NTLM)</a:t>
            </a:r>
            <a:endParaRPr lang="en-US" sz="1100" dirty="0"/>
          </a:p>
        </p:txBody>
      </p:sp>
      <p:sp>
        <p:nvSpPr>
          <p:cNvPr id="15" name="Text 13"/>
          <p:cNvSpPr/>
          <p:nvPr/>
        </p:nvSpPr>
        <p:spPr>
          <a:xfrm>
            <a:off x="5989320" y="2103120"/>
            <a:ext cx="2560320" cy="182880"/>
          </a:xfrm>
          <a:prstGeom prst="rect">
            <a:avLst/>
          </a:prstGeom>
          <a:noFill/>
          <a:ln/>
        </p:spPr>
        <p:txBody>
          <a:bodyPr wrap="square" lIns="0" tIns="0" rIns="0" bIns="0" rtlCol="0" anchor="ctr"/>
          <a:lstStyle/>
          <a:p>
            <a:pPr marL="0" indent="0" algn="ctr">
              <a:buNone/>
            </a:pPr>
            <a:r>
              <a:rPr lang="en-US" sz="800" i="1" dirty="0">
                <a:solidFill>
                  <a:srgbClr val="8AAFC4"/>
                </a:solidFill>
                <a:latin typeface="Calibri" pitchFamily="34" charset="0"/>
                <a:ea typeface="Calibri" pitchFamily="34" charset="-122"/>
                <a:cs typeface="Calibri" pitchFamily="34" charset="-120"/>
              </a:rPr>
              <a:t>Microsoft Security</a:t>
            </a:r>
            <a:endParaRPr lang="en-US" sz="800" dirty="0"/>
          </a:p>
        </p:txBody>
      </p:sp>
      <p:sp>
        <p:nvSpPr>
          <p:cNvPr id="16" name="Text 14"/>
          <p:cNvSpPr/>
          <p:nvPr/>
        </p:nvSpPr>
        <p:spPr>
          <a:xfrm>
            <a:off x="320040" y="2514600"/>
            <a:ext cx="8503920" cy="320040"/>
          </a:xfrm>
          <a:prstGeom prst="rect">
            <a:avLst/>
          </a:prstGeom>
          <a:noFill/>
          <a:ln/>
        </p:spPr>
        <p:txBody>
          <a:bodyPr wrap="square" lIns="0" tIns="0" rIns="0" bIns="0" rtlCol="0" anchor="ctr"/>
          <a:lstStyle/>
          <a:p>
            <a:pPr marL="0" indent="0">
              <a:buNone/>
            </a:pPr>
            <a:r>
              <a:rPr lang="en-US" sz="1400" b="1" dirty="0">
                <a:solidFill>
                  <a:srgbClr val="0F4C75"/>
                </a:solidFill>
                <a:latin typeface="Calibri" pitchFamily="34" charset="0"/>
                <a:ea typeface="Calibri" pitchFamily="34" charset="-122"/>
                <a:cs typeface="Calibri" pitchFamily="34" charset="-120"/>
              </a:rPr>
              <a:t>The Strategic Shift to Identity-Centric Security</a:t>
            </a:r>
            <a:endParaRPr lang="en-US" sz="1400" dirty="0"/>
          </a:p>
        </p:txBody>
      </p:sp>
      <p:sp>
        <p:nvSpPr>
          <p:cNvPr id="17" name="Shape 15"/>
          <p:cNvSpPr/>
          <p:nvPr/>
        </p:nvSpPr>
        <p:spPr>
          <a:xfrm>
            <a:off x="320040" y="2834640"/>
            <a:ext cx="8503920" cy="0"/>
          </a:xfrm>
          <a:prstGeom prst="line">
            <a:avLst/>
          </a:prstGeom>
          <a:noFill/>
          <a:ln w="12700">
            <a:solidFill>
              <a:srgbClr val="C9E4F0"/>
            </a:solidFill>
            <a:prstDash val="solid"/>
          </a:ln>
        </p:spPr>
        <p:txBody>
          <a:bodyPr/>
          <a:lstStyle/>
          <a:p>
            <a:endParaRPr lang="en-US"/>
          </a:p>
        </p:txBody>
      </p:sp>
      <p:sp>
        <p:nvSpPr>
          <p:cNvPr id="18" name="Text 16"/>
          <p:cNvSpPr/>
          <p:nvPr/>
        </p:nvSpPr>
        <p:spPr>
          <a:xfrm>
            <a:off x="320040" y="2907792"/>
            <a:ext cx="8503920" cy="420624"/>
          </a:xfrm>
          <a:prstGeom prst="rect">
            <a:avLst/>
          </a:prstGeom>
          <a:noFill/>
          <a:ln/>
        </p:spPr>
        <p:txBody>
          <a:bodyPr wrap="square" lIns="0" tIns="0" rIns="0" bIns="0" rtlCol="0" anchor="ctr"/>
          <a:lstStyle/>
          <a:p>
            <a:pPr marL="0" indent="0">
              <a:buNone/>
            </a:pPr>
            <a:r>
              <a:rPr lang="en-US" sz="1150" b="1" dirty="0">
                <a:solidFill>
                  <a:srgbClr val="1B998B"/>
                </a:solidFill>
                <a:latin typeface="Calibri" pitchFamily="34" charset="0"/>
                <a:ea typeface="Calibri" pitchFamily="34" charset="-122"/>
                <a:cs typeface="Calibri" pitchFamily="34" charset="-120"/>
              </a:rPr>
              <a:t>▸ </a:t>
            </a:r>
            <a:r>
              <a:rPr lang="en-US" sz="1150" dirty="0">
                <a:solidFill>
                  <a:srgbClr val="4B6076"/>
                </a:solidFill>
                <a:latin typeface="Calibri" pitchFamily="34" charset="0"/>
                <a:ea typeface="Calibri" pitchFamily="34" charset="-122"/>
                <a:cs typeface="Calibri" pitchFamily="34" charset="-120"/>
              </a:rPr>
              <a:t>Identity is the new control plane. In Zero Trust (NIST SP 800-207), every request is authenticated and authorized regardless of network location. Perimeter trust is dead.</a:t>
            </a:r>
            <a:endParaRPr lang="en-US" sz="1150" dirty="0"/>
          </a:p>
        </p:txBody>
      </p:sp>
      <p:sp>
        <p:nvSpPr>
          <p:cNvPr id="19" name="Text 17"/>
          <p:cNvSpPr/>
          <p:nvPr/>
        </p:nvSpPr>
        <p:spPr>
          <a:xfrm>
            <a:off x="320040" y="3383280"/>
            <a:ext cx="8503920" cy="420624"/>
          </a:xfrm>
          <a:prstGeom prst="rect">
            <a:avLst/>
          </a:prstGeom>
          <a:noFill/>
          <a:ln/>
        </p:spPr>
        <p:txBody>
          <a:bodyPr wrap="square" lIns="0" tIns="0" rIns="0" bIns="0" rtlCol="0" anchor="ctr"/>
          <a:lstStyle/>
          <a:p>
            <a:pPr marL="0" indent="0">
              <a:buNone/>
            </a:pPr>
            <a:r>
              <a:rPr lang="en-US" sz="1150" b="1" dirty="0">
                <a:solidFill>
                  <a:srgbClr val="1B998B"/>
                </a:solidFill>
                <a:latin typeface="Calibri" pitchFamily="34" charset="0"/>
                <a:ea typeface="Calibri" pitchFamily="34" charset="-122"/>
                <a:cs typeface="Calibri" pitchFamily="34" charset="-120"/>
              </a:rPr>
              <a:t>▸ </a:t>
            </a:r>
            <a:r>
              <a:rPr lang="en-US" sz="1150" dirty="0">
                <a:solidFill>
                  <a:srgbClr val="4B6076"/>
                </a:solidFill>
                <a:latin typeface="Calibri" pitchFamily="34" charset="0"/>
                <a:ea typeface="Calibri" pitchFamily="34" charset="-122"/>
                <a:cs typeface="Calibri" pitchFamily="34" charset="-120"/>
              </a:rPr>
              <a:t>SSO centralizes authentication, eliminates password sprawl, and creates a single enforcement point for MFA, device trust, and risk-based access policies.</a:t>
            </a:r>
            <a:endParaRPr lang="en-US" sz="1150" dirty="0"/>
          </a:p>
        </p:txBody>
      </p:sp>
      <p:sp>
        <p:nvSpPr>
          <p:cNvPr id="20" name="Text 18"/>
          <p:cNvSpPr/>
          <p:nvPr/>
        </p:nvSpPr>
        <p:spPr>
          <a:xfrm>
            <a:off x="320040" y="3858768"/>
            <a:ext cx="8503920" cy="420624"/>
          </a:xfrm>
          <a:prstGeom prst="rect">
            <a:avLst/>
          </a:prstGeom>
          <a:noFill/>
          <a:ln/>
        </p:spPr>
        <p:txBody>
          <a:bodyPr wrap="square" lIns="0" tIns="0" rIns="0" bIns="0" rtlCol="0" anchor="ctr"/>
          <a:lstStyle/>
          <a:p>
            <a:pPr marL="0" indent="0">
              <a:buNone/>
            </a:pPr>
            <a:r>
              <a:rPr lang="en-US" sz="1150" b="1" dirty="0">
                <a:solidFill>
                  <a:srgbClr val="1B998B"/>
                </a:solidFill>
                <a:latin typeface="Calibri" pitchFamily="34" charset="0"/>
                <a:ea typeface="Calibri" pitchFamily="34" charset="-122"/>
                <a:cs typeface="Calibri" pitchFamily="34" charset="-120"/>
              </a:rPr>
              <a:t>▸ </a:t>
            </a:r>
            <a:r>
              <a:rPr lang="en-US" sz="1150" dirty="0">
                <a:solidFill>
                  <a:srgbClr val="4B6076"/>
                </a:solidFill>
                <a:latin typeface="Calibri" pitchFamily="34" charset="0"/>
                <a:ea typeface="Calibri" pitchFamily="34" charset="-122"/>
                <a:cs typeface="Calibri" pitchFamily="34" charset="-120"/>
              </a:rPr>
              <a:t>Phishing-resistant MFA (FIDO2/WebAuthn) is the only control that prevents AiTM (adversary-in-the-middle) phishing attacks that bypass TOTP and push MFA.</a:t>
            </a:r>
            <a:endParaRPr lang="en-US" sz="1150" dirty="0"/>
          </a:p>
        </p:txBody>
      </p:sp>
      <p:sp>
        <p:nvSpPr>
          <p:cNvPr id="21" name="Text 19"/>
          <p:cNvSpPr/>
          <p:nvPr/>
        </p:nvSpPr>
        <p:spPr>
          <a:xfrm>
            <a:off x="320040" y="4334256"/>
            <a:ext cx="8503920" cy="420624"/>
          </a:xfrm>
          <a:prstGeom prst="rect">
            <a:avLst/>
          </a:prstGeom>
          <a:noFill/>
          <a:ln/>
        </p:spPr>
        <p:txBody>
          <a:bodyPr wrap="square" lIns="0" tIns="0" rIns="0" bIns="0" rtlCol="0" anchor="ctr"/>
          <a:lstStyle/>
          <a:p>
            <a:pPr marL="0" indent="0">
              <a:buNone/>
            </a:pPr>
            <a:r>
              <a:rPr lang="en-US" sz="1150" b="1" dirty="0">
                <a:solidFill>
                  <a:srgbClr val="1B998B"/>
                </a:solidFill>
                <a:latin typeface="Calibri" pitchFamily="34" charset="0"/>
                <a:ea typeface="Calibri" pitchFamily="34" charset="-122"/>
                <a:cs typeface="Calibri" pitchFamily="34" charset="-120"/>
              </a:rPr>
              <a:t>▸ </a:t>
            </a:r>
            <a:r>
              <a:rPr lang="en-US" sz="1150" dirty="0">
                <a:solidFill>
                  <a:srgbClr val="4B6076"/>
                </a:solidFill>
                <a:latin typeface="Calibri" pitchFamily="34" charset="0"/>
                <a:ea typeface="Calibri" pitchFamily="34" charset="-122"/>
                <a:cs typeface="Calibri" pitchFamily="34" charset="-120"/>
              </a:rPr>
              <a:t>Authorization must be externalized from applications (OPA, ABAC) to enable consistent, auditable enforcement of least privilege across all services.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4C75"/>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98B"/>
          </a:solidFill>
          <a:ln w="12700">
            <a:solidFill>
              <a:srgbClr val="1B998B"/>
            </a:solidFill>
            <a:prstDash val="solid"/>
          </a:ln>
        </p:spPr>
        <p:txBody>
          <a:bodyPr/>
          <a:lstStyle/>
          <a:p>
            <a:endParaRPr lang="en-US"/>
          </a:p>
        </p:txBody>
      </p:sp>
      <p:sp>
        <p:nvSpPr>
          <p:cNvPr id="3" name="Text 1"/>
          <p:cNvSpPr/>
          <p:nvPr/>
        </p:nvSpPr>
        <p:spPr>
          <a:xfrm>
            <a:off x="6858000" y="731520"/>
            <a:ext cx="2103120" cy="2560320"/>
          </a:xfrm>
          <a:prstGeom prst="rect">
            <a:avLst/>
          </a:prstGeom>
          <a:noFill/>
          <a:ln/>
        </p:spPr>
        <p:txBody>
          <a:bodyPr wrap="square" lIns="0" tIns="0" rIns="0" bIns="0" rtlCol="0" anchor="ctr"/>
          <a:lstStyle/>
          <a:p>
            <a:pPr marL="0" indent="0" algn="r">
              <a:buNone/>
            </a:pPr>
            <a:r>
              <a:rPr lang="en-US" sz="14000" b="1" dirty="0">
                <a:solidFill>
                  <a:srgbClr val="1A4A66"/>
                </a:solidFill>
                <a:latin typeface="Calibri" pitchFamily="34" charset="0"/>
                <a:ea typeface="Calibri" pitchFamily="34" charset="-122"/>
                <a:cs typeface="Calibri" pitchFamily="34" charset="-120"/>
              </a:rPr>
              <a:t>02</a:t>
            </a:r>
            <a:endParaRPr lang="en-US" sz="14000" dirty="0"/>
          </a:p>
        </p:txBody>
      </p:sp>
      <p:sp>
        <p:nvSpPr>
          <p:cNvPr id="4" name="Text 2"/>
          <p:cNvSpPr/>
          <p:nvPr/>
        </p:nvSpPr>
        <p:spPr>
          <a:xfrm>
            <a:off x="320040" y="1600200"/>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Core Concepts</a:t>
            </a:r>
            <a:endParaRPr lang="en-US" sz="3000" dirty="0"/>
          </a:p>
        </p:txBody>
      </p:sp>
      <p:sp>
        <p:nvSpPr>
          <p:cNvPr id="5" name="Shape 3"/>
          <p:cNvSpPr/>
          <p:nvPr/>
        </p:nvSpPr>
        <p:spPr>
          <a:xfrm>
            <a:off x="320040" y="2468880"/>
            <a:ext cx="6217920" cy="0"/>
          </a:xfrm>
          <a:prstGeom prst="line">
            <a:avLst/>
          </a:prstGeom>
          <a:noFill/>
          <a:ln w="6350">
            <a:solidFill>
              <a:srgbClr val="8AAFC4"/>
            </a:solidFill>
            <a:prstDash val="solid"/>
          </a:ln>
        </p:spPr>
        <p:txBody>
          <a:bodyPr/>
          <a:lstStyle/>
          <a:p>
            <a:endParaRPr lang="en-US"/>
          </a:p>
        </p:txBody>
      </p:sp>
      <p:sp>
        <p:nvSpPr>
          <p:cNvPr id="6" name="Text 4"/>
          <p:cNvSpPr/>
          <p:nvPr/>
        </p:nvSpPr>
        <p:spPr>
          <a:xfrm>
            <a:off x="320040" y="2542032"/>
            <a:ext cx="6400800" cy="457200"/>
          </a:xfrm>
          <a:prstGeom prst="rect">
            <a:avLst/>
          </a:prstGeom>
          <a:noFill/>
          <a:ln/>
        </p:spPr>
        <p:txBody>
          <a:bodyPr wrap="square" lIns="0" tIns="0" rIns="0" bIns="0" rtlCol="0" anchor="ctr"/>
          <a:lstStyle/>
          <a:p>
            <a:pPr marL="0" indent="0">
              <a:buNone/>
            </a:pPr>
            <a:r>
              <a:rPr lang="en-US" sz="1400" i="1" dirty="0">
                <a:solidFill>
                  <a:srgbClr val="C9E4F0"/>
                </a:solidFill>
                <a:latin typeface="Calibri" pitchFamily="34" charset="0"/>
                <a:ea typeface="Calibri" pitchFamily="34" charset="-122"/>
                <a:cs typeface="Calibri" pitchFamily="34" charset="-120"/>
              </a:rPr>
              <a:t>AuthN vs AuthZ vs SSO vs OAuth 2.0</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75"/>
          </a:solidFill>
          <a:ln w="12700">
            <a:solidFill>
              <a:srgbClr val="0F4C75"/>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Core Concepts: AuthN vs AuthZ vs SSO</a:t>
            </a:r>
            <a:endParaRPr lang="en-US" sz="2000" dirty="0"/>
          </a:p>
        </p:txBody>
      </p:sp>
      <p:sp>
        <p:nvSpPr>
          <p:cNvPr id="4" name="Shape 2"/>
          <p:cNvSpPr/>
          <p:nvPr/>
        </p:nvSpPr>
        <p:spPr>
          <a:xfrm>
            <a:off x="228600" y="804672"/>
            <a:ext cx="2697480" cy="192024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5" name="Shape 3"/>
          <p:cNvSpPr/>
          <p:nvPr/>
        </p:nvSpPr>
        <p:spPr>
          <a:xfrm>
            <a:off x="228600" y="804672"/>
            <a:ext cx="2697480" cy="475488"/>
          </a:xfrm>
          <a:prstGeom prst="rect">
            <a:avLst/>
          </a:prstGeom>
          <a:solidFill>
            <a:srgbClr val="0F4C75"/>
          </a:solidFill>
          <a:ln w="12700">
            <a:solidFill>
              <a:srgbClr val="0F4C75"/>
            </a:solidFill>
            <a:prstDash val="solid"/>
          </a:ln>
        </p:spPr>
        <p:txBody>
          <a:bodyPr/>
          <a:lstStyle/>
          <a:p>
            <a:endParaRPr lang="en-US"/>
          </a:p>
        </p:txBody>
      </p:sp>
      <p:sp>
        <p:nvSpPr>
          <p:cNvPr id="6" name="Text 4"/>
          <p:cNvSpPr/>
          <p:nvPr/>
        </p:nvSpPr>
        <p:spPr>
          <a:xfrm>
            <a:off x="301752" y="804672"/>
            <a:ext cx="2551176"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Authentication (AuthN)</a:t>
            </a:r>
            <a:endParaRPr lang="en-US" sz="1100" dirty="0"/>
          </a:p>
        </p:txBody>
      </p:sp>
      <p:sp>
        <p:nvSpPr>
          <p:cNvPr id="7" name="Text 5"/>
          <p:cNvSpPr/>
          <p:nvPr/>
        </p:nvSpPr>
        <p:spPr>
          <a:xfrm>
            <a:off x="301752" y="1060704"/>
            <a:ext cx="2551176" cy="201168"/>
          </a:xfrm>
          <a:prstGeom prst="rect">
            <a:avLst/>
          </a:prstGeom>
          <a:noFill/>
          <a:ln/>
        </p:spPr>
        <p:txBody>
          <a:bodyPr wrap="square" lIns="0" tIns="0" rIns="0" bIns="0" rtlCol="0" anchor="ctr"/>
          <a:lstStyle/>
          <a:p>
            <a:pPr marL="0" indent="0">
              <a:buNone/>
            </a:pPr>
            <a:r>
              <a:rPr lang="en-US" sz="950" i="1" dirty="0">
                <a:solidFill>
                  <a:srgbClr val="D6EAF8"/>
                </a:solidFill>
                <a:latin typeface="Calibri" pitchFamily="34" charset="0"/>
                <a:ea typeface="Calibri" pitchFamily="34" charset="-122"/>
                <a:cs typeface="Calibri" pitchFamily="34" charset="-120"/>
              </a:rPr>
              <a:t>Who are you?</a:t>
            </a:r>
            <a:endParaRPr lang="en-US" sz="950" dirty="0"/>
          </a:p>
        </p:txBody>
      </p:sp>
      <p:sp>
        <p:nvSpPr>
          <p:cNvPr id="8" name="Text 6"/>
          <p:cNvSpPr/>
          <p:nvPr/>
        </p:nvSpPr>
        <p:spPr>
          <a:xfrm>
            <a:off x="320040" y="1325880"/>
            <a:ext cx="2514600" cy="320040"/>
          </a:xfrm>
          <a:prstGeom prst="rect">
            <a:avLst/>
          </a:prstGeom>
          <a:noFill/>
          <a:ln/>
        </p:spPr>
        <p:txBody>
          <a:bodyPr wrap="square" lIns="0" tIns="0" rIns="0" bIns="0" rtlCol="0" anchor="ctr"/>
          <a:lstStyle/>
          <a:p>
            <a:pPr marL="0" indent="0">
              <a:buNone/>
            </a:pPr>
            <a:r>
              <a:rPr lang="en-US" sz="950" b="1" dirty="0">
                <a:solidFill>
                  <a:srgbClr val="0F4C75"/>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Verifies identity via credentials</a:t>
            </a:r>
            <a:endParaRPr lang="en-US" sz="950" dirty="0"/>
          </a:p>
        </p:txBody>
      </p:sp>
      <p:sp>
        <p:nvSpPr>
          <p:cNvPr id="9" name="Text 7"/>
          <p:cNvSpPr/>
          <p:nvPr/>
        </p:nvSpPr>
        <p:spPr>
          <a:xfrm>
            <a:off x="320040" y="1673352"/>
            <a:ext cx="2514600" cy="320040"/>
          </a:xfrm>
          <a:prstGeom prst="rect">
            <a:avLst/>
          </a:prstGeom>
          <a:noFill/>
          <a:ln/>
        </p:spPr>
        <p:txBody>
          <a:bodyPr wrap="square" lIns="0" tIns="0" rIns="0" bIns="0" rtlCol="0" anchor="ctr"/>
          <a:lstStyle/>
          <a:p>
            <a:pPr marL="0" indent="0">
              <a:buNone/>
            </a:pPr>
            <a:r>
              <a:rPr lang="en-US" sz="950" b="1" dirty="0">
                <a:solidFill>
                  <a:srgbClr val="0F4C75"/>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Factors: Know / Have / Are</a:t>
            </a:r>
            <a:endParaRPr lang="en-US" sz="950" dirty="0"/>
          </a:p>
        </p:txBody>
      </p:sp>
      <p:sp>
        <p:nvSpPr>
          <p:cNvPr id="10" name="Text 8"/>
          <p:cNvSpPr/>
          <p:nvPr/>
        </p:nvSpPr>
        <p:spPr>
          <a:xfrm>
            <a:off x="320040" y="2020824"/>
            <a:ext cx="2514600" cy="320040"/>
          </a:xfrm>
          <a:prstGeom prst="rect">
            <a:avLst/>
          </a:prstGeom>
          <a:noFill/>
          <a:ln/>
        </p:spPr>
        <p:txBody>
          <a:bodyPr wrap="square" lIns="0" tIns="0" rIns="0" bIns="0" rtlCol="0" anchor="ctr"/>
          <a:lstStyle/>
          <a:p>
            <a:pPr marL="0" indent="0">
              <a:buNone/>
            </a:pPr>
            <a:r>
              <a:rPr lang="en-US" sz="950" b="1" dirty="0">
                <a:solidFill>
                  <a:srgbClr val="0F4C75"/>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Auth: Kerberos, FIDO2/WebAuthn | Federation: SAML, OIDC</a:t>
            </a:r>
            <a:endParaRPr lang="en-US" sz="950" dirty="0"/>
          </a:p>
        </p:txBody>
      </p:sp>
      <p:sp>
        <p:nvSpPr>
          <p:cNvPr id="11" name="Text 9"/>
          <p:cNvSpPr/>
          <p:nvPr/>
        </p:nvSpPr>
        <p:spPr>
          <a:xfrm>
            <a:off x="320040" y="2368296"/>
            <a:ext cx="2514600" cy="320040"/>
          </a:xfrm>
          <a:prstGeom prst="rect">
            <a:avLst/>
          </a:prstGeom>
          <a:noFill/>
          <a:ln/>
        </p:spPr>
        <p:txBody>
          <a:bodyPr wrap="square" lIns="0" tIns="0" rIns="0" bIns="0" rtlCol="0" anchor="ctr"/>
          <a:lstStyle/>
          <a:p>
            <a:pPr marL="0" indent="0">
              <a:buNone/>
            </a:pPr>
            <a:r>
              <a:rPr lang="en-US" sz="950" b="1" dirty="0">
                <a:solidFill>
                  <a:srgbClr val="0F4C75"/>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Output: Verified identity token/session</a:t>
            </a:r>
            <a:endParaRPr lang="en-US" sz="950" dirty="0"/>
          </a:p>
        </p:txBody>
      </p:sp>
      <p:sp>
        <p:nvSpPr>
          <p:cNvPr id="12" name="Shape 10"/>
          <p:cNvSpPr/>
          <p:nvPr/>
        </p:nvSpPr>
        <p:spPr>
          <a:xfrm>
            <a:off x="3127248" y="804672"/>
            <a:ext cx="2697480" cy="192024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13" name="Shape 11"/>
          <p:cNvSpPr/>
          <p:nvPr/>
        </p:nvSpPr>
        <p:spPr>
          <a:xfrm>
            <a:off x="3127248" y="804672"/>
            <a:ext cx="2697480" cy="475488"/>
          </a:xfrm>
          <a:prstGeom prst="rect">
            <a:avLst/>
          </a:prstGeom>
          <a:solidFill>
            <a:srgbClr val="1B998B"/>
          </a:solidFill>
          <a:ln w="12700">
            <a:solidFill>
              <a:srgbClr val="1B998B"/>
            </a:solidFill>
            <a:prstDash val="solid"/>
          </a:ln>
        </p:spPr>
        <p:txBody>
          <a:bodyPr/>
          <a:lstStyle/>
          <a:p>
            <a:endParaRPr lang="en-US"/>
          </a:p>
        </p:txBody>
      </p:sp>
      <p:sp>
        <p:nvSpPr>
          <p:cNvPr id="14" name="Text 12"/>
          <p:cNvSpPr/>
          <p:nvPr/>
        </p:nvSpPr>
        <p:spPr>
          <a:xfrm>
            <a:off x="3200400" y="804672"/>
            <a:ext cx="2551176"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Authorization (AuthZ)</a:t>
            </a:r>
            <a:endParaRPr lang="en-US" sz="1100" dirty="0"/>
          </a:p>
        </p:txBody>
      </p:sp>
      <p:sp>
        <p:nvSpPr>
          <p:cNvPr id="15" name="Text 13"/>
          <p:cNvSpPr/>
          <p:nvPr/>
        </p:nvSpPr>
        <p:spPr>
          <a:xfrm>
            <a:off x="3200400" y="1060704"/>
            <a:ext cx="2551176" cy="201168"/>
          </a:xfrm>
          <a:prstGeom prst="rect">
            <a:avLst/>
          </a:prstGeom>
          <a:noFill/>
          <a:ln/>
        </p:spPr>
        <p:txBody>
          <a:bodyPr wrap="square" lIns="0" tIns="0" rIns="0" bIns="0" rtlCol="0" anchor="ctr"/>
          <a:lstStyle/>
          <a:p>
            <a:pPr marL="0" indent="0">
              <a:buNone/>
            </a:pPr>
            <a:r>
              <a:rPr lang="en-US" sz="950" i="1" dirty="0">
                <a:solidFill>
                  <a:srgbClr val="D6EAF8"/>
                </a:solidFill>
                <a:latin typeface="Calibri" pitchFamily="34" charset="0"/>
                <a:ea typeface="Calibri" pitchFamily="34" charset="-122"/>
                <a:cs typeface="Calibri" pitchFamily="34" charset="-120"/>
              </a:rPr>
              <a:t>What can you do?</a:t>
            </a:r>
            <a:endParaRPr lang="en-US" sz="950" dirty="0"/>
          </a:p>
        </p:txBody>
      </p:sp>
      <p:sp>
        <p:nvSpPr>
          <p:cNvPr id="16" name="Text 14"/>
          <p:cNvSpPr/>
          <p:nvPr/>
        </p:nvSpPr>
        <p:spPr>
          <a:xfrm>
            <a:off x="3218688" y="1325880"/>
            <a:ext cx="2514600" cy="320040"/>
          </a:xfrm>
          <a:prstGeom prst="rect">
            <a:avLst/>
          </a:prstGeom>
          <a:noFill/>
          <a:ln/>
        </p:spPr>
        <p:txBody>
          <a:bodyPr wrap="square" lIns="0" tIns="0" rIns="0" bIns="0" rtlCol="0" anchor="ctr"/>
          <a:lstStyle/>
          <a:p>
            <a:pPr marL="0" indent="0">
              <a:buNone/>
            </a:pPr>
            <a:r>
              <a:rPr lang="en-US" sz="950" b="1" dirty="0">
                <a:solidFill>
                  <a:srgbClr val="1B998B"/>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Controls access to resources</a:t>
            </a:r>
            <a:endParaRPr lang="en-US" sz="950" dirty="0"/>
          </a:p>
        </p:txBody>
      </p:sp>
      <p:sp>
        <p:nvSpPr>
          <p:cNvPr id="17" name="Text 15"/>
          <p:cNvSpPr/>
          <p:nvPr/>
        </p:nvSpPr>
        <p:spPr>
          <a:xfrm>
            <a:off x="3218688" y="1673352"/>
            <a:ext cx="2514600" cy="320040"/>
          </a:xfrm>
          <a:prstGeom prst="rect">
            <a:avLst/>
          </a:prstGeom>
          <a:noFill/>
          <a:ln/>
        </p:spPr>
        <p:txBody>
          <a:bodyPr wrap="square" lIns="0" tIns="0" rIns="0" bIns="0" rtlCol="0" anchor="ctr"/>
          <a:lstStyle/>
          <a:p>
            <a:pPr marL="0" indent="0">
              <a:buNone/>
            </a:pPr>
            <a:r>
              <a:rPr lang="en-US" sz="950" b="1" dirty="0">
                <a:solidFill>
                  <a:srgbClr val="1B998B"/>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Models: RBAC, ABAC, OPA (Policy-as-Code)</a:t>
            </a:r>
            <a:endParaRPr lang="en-US" sz="950" dirty="0"/>
          </a:p>
        </p:txBody>
      </p:sp>
      <p:sp>
        <p:nvSpPr>
          <p:cNvPr id="18" name="Text 16"/>
          <p:cNvSpPr/>
          <p:nvPr/>
        </p:nvSpPr>
        <p:spPr>
          <a:xfrm>
            <a:off x="3218688" y="2020824"/>
            <a:ext cx="2514600" cy="320040"/>
          </a:xfrm>
          <a:prstGeom prst="rect">
            <a:avLst/>
          </a:prstGeom>
          <a:noFill/>
          <a:ln/>
        </p:spPr>
        <p:txBody>
          <a:bodyPr wrap="square" lIns="0" tIns="0" rIns="0" bIns="0" rtlCol="0" anchor="ctr"/>
          <a:lstStyle/>
          <a:p>
            <a:pPr marL="0" indent="0">
              <a:buNone/>
            </a:pPr>
            <a:r>
              <a:rPr lang="en-US" sz="950" b="1" dirty="0">
                <a:solidFill>
                  <a:srgbClr val="1B998B"/>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Enforced at application or API gateway</a:t>
            </a:r>
            <a:endParaRPr lang="en-US" sz="950" dirty="0"/>
          </a:p>
        </p:txBody>
      </p:sp>
      <p:sp>
        <p:nvSpPr>
          <p:cNvPr id="19" name="Text 17"/>
          <p:cNvSpPr/>
          <p:nvPr/>
        </p:nvSpPr>
        <p:spPr>
          <a:xfrm>
            <a:off x="3218688" y="2368296"/>
            <a:ext cx="2514600" cy="320040"/>
          </a:xfrm>
          <a:prstGeom prst="rect">
            <a:avLst/>
          </a:prstGeom>
          <a:noFill/>
          <a:ln/>
        </p:spPr>
        <p:txBody>
          <a:bodyPr wrap="square" lIns="0" tIns="0" rIns="0" bIns="0" rtlCol="0" anchor="ctr"/>
          <a:lstStyle/>
          <a:p>
            <a:pPr marL="0" indent="0">
              <a:buNone/>
            </a:pPr>
            <a:r>
              <a:rPr lang="en-US" sz="950" b="1" dirty="0">
                <a:solidFill>
                  <a:srgbClr val="1B998B"/>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Output: Allow/Deny decision</a:t>
            </a:r>
            <a:endParaRPr lang="en-US" sz="950" dirty="0"/>
          </a:p>
        </p:txBody>
      </p:sp>
      <p:sp>
        <p:nvSpPr>
          <p:cNvPr id="20" name="Shape 18"/>
          <p:cNvSpPr/>
          <p:nvPr/>
        </p:nvSpPr>
        <p:spPr>
          <a:xfrm>
            <a:off x="6025896" y="804672"/>
            <a:ext cx="2697480" cy="192024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21" name="Shape 19"/>
          <p:cNvSpPr/>
          <p:nvPr/>
        </p:nvSpPr>
        <p:spPr>
          <a:xfrm>
            <a:off x="6025896" y="804672"/>
            <a:ext cx="2697480" cy="475488"/>
          </a:xfrm>
          <a:prstGeom prst="rect">
            <a:avLst/>
          </a:prstGeom>
          <a:solidFill>
            <a:srgbClr val="1A5276"/>
          </a:solidFill>
          <a:ln w="12700">
            <a:solidFill>
              <a:srgbClr val="1A5276"/>
            </a:solidFill>
            <a:prstDash val="solid"/>
          </a:ln>
        </p:spPr>
        <p:txBody>
          <a:bodyPr/>
          <a:lstStyle/>
          <a:p>
            <a:endParaRPr lang="en-US"/>
          </a:p>
        </p:txBody>
      </p:sp>
      <p:sp>
        <p:nvSpPr>
          <p:cNvPr id="22" name="Text 20"/>
          <p:cNvSpPr/>
          <p:nvPr/>
        </p:nvSpPr>
        <p:spPr>
          <a:xfrm>
            <a:off x="6099048" y="804672"/>
            <a:ext cx="2551176"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Single Sign-On (SSO)</a:t>
            </a:r>
            <a:endParaRPr lang="en-US" sz="1100" dirty="0"/>
          </a:p>
        </p:txBody>
      </p:sp>
      <p:sp>
        <p:nvSpPr>
          <p:cNvPr id="23" name="Text 21"/>
          <p:cNvSpPr/>
          <p:nvPr/>
        </p:nvSpPr>
        <p:spPr>
          <a:xfrm>
            <a:off x="6099048" y="1060704"/>
            <a:ext cx="2551176" cy="201168"/>
          </a:xfrm>
          <a:prstGeom prst="rect">
            <a:avLst/>
          </a:prstGeom>
          <a:noFill/>
          <a:ln/>
        </p:spPr>
        <p:txBody>
          <a:bodyPr wrap="square" lIns="0" tIns="0" rIns="0" bIns="0" rtlCol="0" anchor="ctr"/>
          <a:lstStyle/>
          <a:p>
            <a:pPr marL="0" indent="0">
              <a:buNone/>
            </a:pPr>
            <a:r>
              <a:rPr lang="en-US" sz="950" i="1" dirty="0">
                <a:solidFill>
                  <a:srgbClr val="D6EAF8"/>
                </a:solidFill>
                <a:latin typeface="Calibri" pitchFamily="34" charset="0"/>
                <a:ea typeface="Calibri" pitchFamily="34" charset="-122"/>
                <a:cs typeface="Calibri" pitchFamily="34" charset="-120"/>
              </a:rPr>
              <a:t>Prove it once, access everything</a:t>
            </a:r>
            <a:endParaRPr lang="en-US" sz="950" dirty="0"/>
          </a:p>
        </p:txBody>
      </p:sp>
      <p:sp>
        <p:nvSpPr>
          <p:cNvPr id="24" name="Text 22"/>
          <p:cNvSpPr/>
          <p:nvPr/>
        </p:nvSpPr>
        <p:spPr>
          <a:xfrm>
            <a:off x="6117336" y="1325880"/>
            <a:ext cx="2514600" cy="320040"/>
          </a:xfrm>
          <a:prstGeom prst="rect">
            <a:avLst/>
          </a:prstGeom>
          <a:noFill/>
          <a:ln/>
        </p:spPr>
        <p:txBody>
          <a:bodyPr wrap="square" lIns="0" tIns="0" rIns="0" bIns="0" rtlCol="0" anchor="ctr"/>
          <a:lstStyle/>
          <a:p>
            <a:pPr marL="0" indent="0">
              <a:buNone/>
            </a:pPr>
            <a:r>
              <a:rPr lang="en-US" sz="950" b="1" dirty="0">
                <a:solidFill>
                  <a:srgbClr val="1A5276"/>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Central IdP authenticates once</a:t>
            </a:r>
            <a:endParaRPr lang="en-US" sz="950" dirty="0"/>
          </a:p>
        </p:txBody>
      </p:sp>
      <p:sp>
        <p:nvSpPr>
          <p:cNvPr id="25" name="Text 23"/>
          <p:cNvSpPr/>
          <p:nvPr/>
        </p:nvSpPr>
        <p:spPr>
          <a:xfrm>
            <a:off x="6117336" y="1673352"/>
            <a:ext cx="2514600" cy="320040"/>
          </a:xfrm>
          <a:prstGeom prst="rect">
            <a:avLst/>
          </a:prstGeom>
          <a:noFill/>
          <a:ln/>
        </p:spPr>
        <p:txBody>
          <a:bodyPr wrap="square" lIns="0" tIns="0" rIns="0" bIns="0" rtlCol="0" anchor="ctr"/>
          <a:lstStyle/>
          <a:p>
            <a:pPr marL="0" indent="0">
              <a:buNone/>
            </a:pPr>
            <a:r>
              <a:rPr lang="en-US" sz="950" b="1" dirty="0">
                <a:solidFill>
                  <a:srgbClr val="1A5276"/>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Issues tokens/assertions to SPs</a:t>
            </a:r>
            <a:endParaRPr lang="en-US" sz="950" dirty="0"/>
          </a:p>
        </p:txBody>
      </p:sp>
      <p:sp>
        <p:nvSpPr>
          <p:cNvPr id="26" name="Text 24"/>
          <p:cNvSpPr/>
          <p:nvPr/>
        </p:nvSpPr>
        <p:spPr>
          <a:xfrm>
            <a:off x="6117336" y="2020824"/>
            <a:ext cx="2514600" cy="320040"/>
          </a:xfrm>
          <a:prstGeom prst="rect">
            <a:avLst/>
          </a:prstGeom>
          <a:noFill/>
          <a:ln/>
        </p:spPr>
        <p:txBody>
          <a:bodyPr wrap="square" lIns="0" tIns="0" rIns="0" bIns="0" rtlCol="0" anchor="ctr"/>
          <a:lstStyle/>
          <a:p>
            <a:pPr marL="0" indent="0">
              <a:buNone/>
            </a:pPr>
            <a:r>
              <a:rPr lang="en-US" sz="950" b="1" dirty="0">
                <a:solidFill>
                  <a:srgbClr val="1A5276"/>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Protocols: SAML 2.0, OIDC, Kerberos</a:t>
            </a:r>
            <a:endParaRPr lang="en-US" sz="950" dirty="0"/>
          </a:p>
        </p:txBody>
      </p:sp>
      <p:sp>
        <p:nvSpPr>
          <p:cNvPr id="27" name="Text 25"/>
          <p:cNvSpPr/>
          <p:nvPr/>
        </p:nvSpPr>
        <p:spPr>
          <a:xfrm>
            <a:off x="6117336" y="2368296"/>
            <a:ext cx="2514600" cy="320040"/>
          </a:xfrm>
          <a:prstGeom prst="rect">
            <a:avLst/>
          </a:prstGeom>
          <a:noFill/>
          <a:ln/>
        </p:spPr>
        <p:txBody>
          <a:bodyPr wrap="square" lIns="0" tIns="0" rIns="0" bIns="0" rtlCol="0" anchor="ctr"/>
          <a:lstStyle/>
          <a:p>
            <a:pPr marL="0" indent="0">
              <a:buNone/>
            </a:pPr>
            <a:r>
              <a:rPr lang="en-US" sz="950" b="1" dirty="0">
                <a:solidFill>
                  <a:srgbClr val="1A5276"/>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Central MFA and policy enforcement</a:t>
            </a:r>
            <a:endParaRPr lang="en-US" sz="950" dirty="0"/>
          </a:p>
        </p:txBody>
      </p:sp>
      <p:sp>
        <p:nvSpPr>
          <p:cNvPr id="28" name="Shape 26"/>
          <p:cNvSpPr/>
          <p:nvPr/>
        </p:nvSpPr>
        <p:spPr>
          <a:xfrm>
            <a:off x="228600" y="2907792"/>
            <a:ext cx="2697480" cy="192024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29" name="Shape 27"/>
          <p:cNvSpPr/>
          <p:nvPr/>
        </p:nvSpPr>
        <p:spPr>
          <a:xfrm>
            <a:off x="228600" y="2907792"/>
            <a:ext cx="2697480" cy="475488"/>
          </a:xfrm>
          <a:prstGeom prst="rect">
            <a:avLst/>
          </a:prstGeom>
          <a:solidFill>
            <a:srgbClr val="6B3FA0"/>
          </a:solidFill>
          <a:ln w="12700">
            <a:solidFill>
              <a:srgbClr val="6B3FA0"/>
            </a:solidFill>
            <a:prstDash val="solid"/>
          </a:ln>
        </p:spPr>
        <p:txBody>
          <a:bodyPr/>
          <a:lstStyle/>
          <a:p>
            <a:endParaRPr lang="en-US"/>
          </a:p>
        </p:txBody>
      </p:sp>
      <p:sp>
        <p:nvSpPr>
          <p:cNvPr id="30" name="Text 28"/>
          <p:cNvSpPr/>
          <p:nvPr/>
        </p:nvSpPr>
        <p:spPr>
          <a:xfrm>
            <a:off x="301752" y="2907792"/>
            <a:ext cx="2551176"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OAuth 2.0</a:t>
            </a:r>
            <a:endParaRPr lang="en-US" sz="1100" dirty="0"/>
          </a:p>
        </p:txBody>
      </p:sp>
      <p:sp>
        <p:nvSpPr>
          <p:cNvPr id="31" name="Text 29"/>
          <p:cNvSpPr/>
          <p:nvPr/>
        </p:nvSpPr>
        <p:spPr>
          <a:xfrm>
            <a:off x="301752" y="3163824"/>
            <a:ext cx="2551176" cy="201168"/>
          </a:xfrm>
          <a:prstGeom prst="rect">
            <a:avLst/>
          </a:prstGeom>
          <a:noFill/>
          <a:ln/>
        </p:spPr>
        <p:txBody>
          <a:bodyPr wrap="square" lIns="0" tIns="0" rIns="0" bIns="0" rtlCol="0" anchor="ctr"/>
          <a:lstStyle/>
          <a:p>
            <a:pPr marL="0" indent="0">
              <a:buNone/>
            </a:pPr>
            <a:r>
              <a:rPr lang="en-US" sz="950" i="1" dirty="0">
                <a:solidFill>
                  <a:srgbClr val="D6EAF8"/>
                </a:solidFill>
                <a:latin typeface="Calibri" pitchFamily="34" charset="0"/>
                <a:ea typeface="Calibri" pitchFamily="34" charset="-122"/>
                <a:cs typeface="Calibri" pitchFamily="34" charset="-120"/>
              </a:rPr>
              <a:t>Delegated authorization</a:t>
            </a:r>
            <a:endParaRPr lang="en-US" sz="950" dirty="0"/>
          </a:p>
        </p:txBody>
      </p:sp>
      <p:sp>
        <p:nvSpPr>
          <p:cNvPr id="32" name="Text 30"/>
          <p:cNvSpPr/>
          <p:nvPr/>
        </p:nvSpPr>
        <p:spPr>
          <a:xfrm>
            <a:off x="320040" y="3429000"/>
            <a:ext cx="2514600" cy="320040"/>
          </a:xfrm>
          <a:prstGeom prst="rect">
            <a:avLst/>
          </a:prstGeom>
          <a:noFill/>
          <a:ln/>
        </p:spPr>
        <p:txBody>
          <a:bodyPr wrap="square" lIns="0" tIns="0" rIns="0" bIns="0" rtlCol="0" anchor="ctr"/>
          <a:lstStyle/>
          <a:p>
            <a:pPr marL="0" indent="0">
              <a:buNone/>
            </a:pPr>
            <a:r>
              <a:rPr lang="en-US" sz="950" b="1" dirty="0">
                <a:solidFill>
                  <a:srgbClr val="6B3FA0"/>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Authorization delegation framework</a:t>
            </a:r>
            <a:endParaRPr lang="en-US" sz="950" dirty="0"/>
          </a:p>
        </p:txBody>
      </p:sp>
      <p:sp>
        <p:nvSpPr>
          <p:cNvPr id="33" name="Text 31"/>
          <p:cNvSpPr/>
          <p:nvPr/>
        </p:nvSpPr>
        <p:spPr>
          <a:xfrm>
            <a:off x="320040" y="3776472"/>
            <a:ext cx="2514600" cy="320040"/>
          </a:xfrm>
          <a:prstGeom prst="rect">
            <a:avLst/>
          </a:prstGeom>
          <a:noFill/>
          <a:ln/>
        </p:spPr>
        <p:txBody>
          <a:bodyPr wrap="square" lIns="0" tIns="0" rIns="0" bIns="0" rtlCol="0" anchor="ctr"/>
          <a:lstStyle/>
          <a:p>
            <a:pPr marL="0" indent="0">
              <a:buNone/>
            </a:pPr>
            <a:r>
              <a:rPr lang="en-US" sz="950" b="1" dirty="0">
                <a:solidFill>
                  <a:srgbClr val="6B3FA0"/>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Not an authentication protocol</a:t>
            </a:r>
            <a:endParaRPr lang="en-US" sz="950" dirty="0"/>
          </a:p>
        </p:txBody>
      </p:sp>
      <p:sp>
        <p:nvSpPr>
          <p:cNvPr id="34" name="Text 32"/>
          <p:cNvSpPr/>
          <p:nvPr/>
        </p:nvSpPr>
        <p:spPr>
          <a:xfrm>
            <a:off x="320040" y="4123944"/>
            <a:ext cx="2514600" cy="320040"/>
          </a:xfrm>
          <a:prstGeom prst="rect">
            <a:avLst/>
          </a:prstGeom>
          <a:noFill/>
          <a:ln/>
        </p:spPr>
        <p:txBody>
          <a:bodyPr wrap="square" lIns="0" tIns="0" rIns="0" bIns="0" rtlCol="0" anchor="ctr"/>
          <a:lstStyle/>
          <a:p>
            <a:pPr marL="0" indent="0">
              <a:buNone/>
            </a:pPr>
            <a:r>
              <a:rPr lang="en-US" sz="950" b="1" dirty="0">
                <a:solidFill>
                  <a:srgbClr val="6B3FA0"/>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Client gets limited resource access</a:t>
            </a:r>
            <a:endParaRPr lang="en-US" sz="950" dirty="0"/>
          </a:p>
        </p:txBody>
      </p:sp>
      <p:sp>
        <p:nvSpPr>
          <p:cNvPr id="35" name="Text 33"/>
          <p:cNvSpPr/>
          <p:nvPr/>
        </p:nvSpPr>
        <p:spPr>
          <a:xfrm>
            <a:off x="320040" y="4471416"/>
            <a:ext cx="2514600" cy="320040"/>
          </a:xfrm>
          <a:prstGeom prst="rect">
            <a:avLst/>
          </a:prstGeom>
          <a:noFill/>
          <a:ln/>
        </p:spPr>
        <p:txBody>
          <a:bodyPr wrap="square" lIns="0" tIns="0" rIns="0" bIns="0" rtlCol="0" anchor="ctr"/>
          <a:lstStyle/>
          <a:p>
            <a:pPr marL="0" indent="0">
              <a:buNone/>
            </a:pPr>
            <a:r>
              <a:rPr lang="en-US" sz="950" b="1" dirty="0">
                <a:solidFill>
                  <a:srgbClr val="6B3FA0"/>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Flows: Auth Code + PKCE, Client Creds</a:t>
            </a:r>
            <a:endParaRPr lang="en-US" sz="950" dirty="0"/>
          </a:p>
        </p:txBody>
      </p:sp>
      <p:sp>
        <p:nvSpPr>
          <p:cNvPr id="36" name="Shape 34"/>
          <p:cNvSpPr/>
          <p:nvPr/>
        </p:nvSpPr>
        <p:spPr>
          <a:xfrm>
            <a:off x="3127248" y="2907792"/>
            <a:ext cx="2697480" cy="192024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37" name="Shape 35"/>
          <p:cNvSpPr/>
          <p:nvPr/>
        </p:nvSpPr>
        <p:spPr>
          <a:xfrm>
            <a:off x="3127248" y="2907792"/>
            <a:ext cx="2697480" cy="475488"/>
          </a:xfrm>
          <a:prstGeom prst="rect">
            <a:avLst/>
          </a:prstGeom>
          <a:solidFill>
            <a:srgbClr val="C0392B"/>
          </a:solidFill>
          <a:ln w="12700">
            <a:solidFill>
              <a:srgbClr val="C0392B"/>
            </a:solidFill>
            <a:prstDash val="solid"/>
          </a:ln>
        </p:spPr>
        <p:txBody>
          <a:bodyPr/>
          <a:lstStyle/>
          <a:p>
            <a:endParaRPr lang="en-US"/>
          </a:p>
        </p:txBody>
      </p:sp>
      <p:sp>
        <p:nvSpPr>
          <p:cNvPr id="38" name="Text 36"/>
          <p:cNvSpPr/>
          <p:nvPr/>
        </p:nvSpPr>
        <p:spPr>
          <a:xfrm>
            <a:off x="3200400" y="2907792"/>
            <a:ext cx="2551176"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AAL Levels (NIST 800-63B)</a:t>
            </a:r>
            <a:endParaRPr lang="en-US" sz="1100" dirty="0"/>
          </a:p>
        </p:txBody>
      </p:sp>
      <p:sp>
        <p:nvSpPr>
          <p:cNvPr id="39" name="Text 37"/>
          <p:cNvSpPr/>
          <p:nvPr/>
        </p:nvSpPr>
        <p:spPr>
          <a:xfrm>
            <a:off x="3200400" y="3163824"/>
            <a:ext cx="2551176" cy="201168"/>
          </a:xfrm>
          <a:prstGeom prst="rect">
            <a:avLst/>
          </a:prstGeom>
          <a:noFill/>
          <a:ln/>
        </p:spPr>
        <p:txBody>
          <a:bodyPr wrap="square" lIns="0" tIns="0" rIns="0" bIns="0" rtlCol="0" anchor="ctr"/>
          <a:lstStyle/>
          <a:p>
            <a:pPr marL="0" indent="0">
              <a:buNone/>
            </a:pPr>
            <a:r>
              <a:rPr lang="en-US" sz="950" i="1" dirty="0">
                <a:solidFill>
                  <a:srgbClr val="D6EAF8"/>
                </a:solidFill>
                <a:latin typeface="Calibri" pitchFamily="34" charset="0"/>
                <a:ea typeface="Calibri" pitchFamily="34" charset="-122"/>
                <a:cs typeface="Calibri" pitchFamily="34" charset="-120"/>
              </a:rPr>
              <a:t>Authentication assurance</a:t>
            </a:r>
            <a:endParaRPr lang="en-US" sz="950" dirty="0"/>
          </a:p>
        </p:txBody>
      </p:sp>
      <p:sp>
        <p:nvSpPr>
          <p:cNvPr id="40" name="Text 38"/>
          <p:cNvSpPr/>
          <p:nvPr/>
        </p:nvSpPr>
        <p:spPr>
          <a:xfrm>
            <a:off x="3218688" y="3429000"/>
            <a:ext cx="2514600" cy="320040"/>
          </a:xfrm>
          <a:prstGeom prst="rect">
            <a:avLst/>
          </a:prstGeom>
          <a:noFill/>
          <a:ln/>
        </p:spPr>
        <p:txBody>
          <a:bodyPr wrap="square" lIns="0" tIns="0" rIns="0" bIns="0" rtlCol="0" anchor="ctr"/>
          <a:lstStyle/>
          <a:p>
            <a:pPr marL="0" indent="0">
              <a:buNone/>
            </a:pPr>
            <a:r>
              <a:rPr lang="en-US" sz="950" b="1" dirty="0">
                <a:solidFill>
                  <a:srgbClr val="C0392B"/>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AAL1: Password only (low-risk apps)</a:t>
            </a:r>
            <a:endParaRPr lang="en-US" sz="950" dirty="0"/>
          </a:p>
        </p:txBody>
      </p:sp>
      <p:sp>
        <p:nvSpPr>
          <p:cNvPr id="41" name="Text 39"/>
          <p:cNvSpPr/>
          <p:nvPr/>
        </p:nvSpPr>
        <p:spPr>
          <a:xfrm>
            <a:off x="3218688" y="3776472"/>
            <a:ext cx="2514600" cy="320040"/>
          </a:xfrm>
          <a:prstGeom prst="rect">
            <a:avLst/>
          </a:prstGeom>
          <a:noFill/>
          <a:ln/>
        </p:spPr>
        <p:txBody>
          <a:bodyPr wrap="square" lIns="0" tIns="0" rIns="0" bIns="0" rtlCol="0" anchor="ctr"/>
          <a:lstStyle/>
          <a:p>
            <a:pPr marL="0" indent="0">
              <a:buNone/>
            </a:pPr>
            <a:r>
              <a:rPr lang="en-US" sz="950" b="1" dirty="0">
                <a:solidFill>
                  <a:srgbClr val="C0392B"/>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AAL2: MFA — TOTP or push + password</a:t>
            </a:r>
            <a:endParaRPr lang="en-US" sz="950" dirty="0"/>
          </a:p>
        </p:txBody>
      </p:sp>
      <p:sp>
        <p:nvSpPr>
          <p:cNvPr id="42" name="Text 40"/>
          <p:cNvSpPr/>
          <p:nvPr/>
        </p:nvSpPr>
        <p:spPr>
          <a:xfrm>
            <a:off x="3218688" y="4123944"/>
            <a:ext cx="2514600" cy="320040"/>
          </a:xfrm>
          <a:prstGeom prst="rect">
            <a:avLst/>
          </a:prstGeom>
          <a:noFill/>
          <a:ln/>
        </p:spPr>
        <p:txBody>
          <a:bodyPr wrap="square" lIns="0" tIns="0" rIns="0" bIns="0" rtlCol="0" anchor="ctr"/>
          <a:lstStyle/>
          <a:p>
            <a:pPr marL="0" indent="0">
              <a:buNone/>
            </a:pPr>
            <a:r>
              <a:rPr lang="en-US" sz="950" b="1" dirty="0">
                <a:solidFill>
                  <a:srgbClr val="C0392B"/>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AAL3: FIDO2 hardware key OR PIV/smart card (phishing-resistant, hardware-bound)</a:t>
            </a:r>
            <a:endParaRPr lang="en-US" sz="950" dirty="0"/>
          </a:p>
        </p:txBody>
      </p:sp>
      <p:sp>
        <p:nvSpPr>
          <p:cNvPr id="43" name="Text 41"/>
          <p:cNvSpPr/>
          <p:nvPr/>
        </p:nvSpPr>
        <p:spPr>
          <a:xfrm>
            <a:off x="3218688" y="4471416"/>
            <a:ext cx="2514600" cy="320040"/>
          </a:xfrm>
          <a:prstGeom prst="rect">
            <a:avLst/>
          </a:prstGeom>
          <a:noFill/>
          <a:ln/>
        </p:spPr>
        <p:txBody>
          <a:bodyPr wrap="square" lIns="0" tIns="0" rIns="0" bIns="0" rtlCol="0" anchor="ctr"/>
          <a:lstStyle/>
          <a:p>
            <a:pPr marL="0" indent="0">
              <a:buNone/>
            </a:pPr>
            <a:r>
              <a:rPr lang="en-US" sz="950" b="1" dirty="0">
                <a:solidFill>
                  <a:srgbClr val="C0392B"/>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AAL3 recommended for privileged and high-risk accounts in high-assurance environments</a:t>
            </a:r>
            <a:endParaRPr lang="en-US" sz="950" dirty="0"/>
          </a:p>
        </p:txBody>
      </p:sp>
      <p:sp>
        <p:nvSpPr>
          <p:cNvPr id="44" name="Shape 42"/>
          <p:cNvSpPr/>
          <p:nvPr/>
        </p:nvSpPr>
        <p:spPr>
          <a:xfrm>
            <a:off x="6025896" y="2907792"/>
            <a:ext cx="2697480" cy="192024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45" name="Shape 43"/>
          <p:cNvSpPr/>
          <p:nvPr/>
        </p:nvSpPr>
        <p:spPr>
          <a:xfrm>
            <a:off x="6025896" y="2907792"/>
            <a:ext cx="2697480" cy="475488"/>
          </a:xfrm>
          <a:prstGeom prst="rect">
            <a:avLst/>
          </a:prstGeom>
          <a:solidFill>
            <a:srgbClr val="145A32"/>
          </a:solidFill>
          <a:ln w="12700">
            <a:solidFill>
              <a:srgbClr val="145A32"/>
            </a:solidFill>
            <a:prstDash val="solid"/>
          </a:ln>
        </p:spPr>
        <p:txBody>
          <a:bodyPr/>
          <a:lstStyle/>
          <a:p>
            <a:endParaRPr lang="en-US"/>
          </a:p>
        </p:txBody>
      </p:sp>
      <p:sp>
        <p:nvSpPr>
          <p:cNvPr id="46" name="Text 44"/>
          <p:cNvSpPr/>
          <p:nvPr/>
        </p:nvSpPr>
        <p:spPr>
          <a:xfrm>
            <a:off x="6099048" y="2907792"/>
            <a:ext cx="2551176"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Zero Trust Identity</a:t>
            </a:r>
            <a:endParaRPr lang="en-US" sz="1100" dirty="0"/>
          </a:p>
        </p:txBody>
      </p:sp>
      <p:sp>
        <p:nvSpPr>
          <p:cNvPr id="47" name="Text 45"/>
          <p:cNvSpPr/>
          <p:nvPr/>
        </p:nvSpPr>
        <p:spPr>
          <a:xfrm>
            <a:off x="6099048" y="3163824"/>
            <a:ext cx="2551176" cy="201168"/>
          </a:xfrm>
          <a:prstGeom prst="rect">
            <a:avLst/>
          </a:prstGeom>
          <a:noFill/>
          <a:ln/>
        </p:spPr>
        <p:txBody>
          <a:bodyPr wrap="square" lIns="0" tIns="0" rIns="0" bIns="0" rtlCol="0" anchor="ctr"/>
          <a:lstStyle/>
          <a:p>
            <a:pPr marL="0" indent="0">
              <a:buNone/>
            </a:pPr>
            <a:r>
              <a:rPr lang="en-US" sz="950" i="1" dirty="0">
                <a:solidFill>
                  <a:srgbClr val="D6EAF8"/>
                </a:solidFill>
                <a:latin typeface="Calibri" pitchFamily="34" charset="0"/>
                <a:ea typeface="Calibri" pitchFamily="34" charset="-122"/>
                <a:cs typeface="Calibri" pitchFamily="34" charset="-120"/>
              </a:rPr>
              <a:t>Never trust, always verify</a:t>
            </a:r>
            <a:endParaRPr lang="en-US" sz="950" dirty="0"/>
          </a:p>
        </p:txBody>
      </p:sp>
      <p:sp>
        <p:nvSpPr>
          <p:cNvPr id="48" name="Text 46"/>
          <p:cNvSpPr/>
          <p:nvPr/>
        </p:nvSpPr>
        <p:spPr>
          <a:xfrm>
            <a:off x="6117336" y="3429000"/>
            <a:ext cx="2514600" cy="320040"/>
          </a:xfrm>
          <a:prstGeom prst="rect">
            <a:avLst/>
          </a:prstGeom>
          <a:noFill/>
          <a:ln/>
        </p:spPr>
        <p:txBody>
          <a:bodyPr wrap="square" lIns="0" tIns="0" rIns="0" bIns="0" rtlCol="0" anchor="ctr"/>
          <a:lstStyle/>
          <a:p>
            <a:pPr marL="0" indent="0">
              <a:buNone/>
            </a:pPr>
            <a:r>
              <a:rPr lang="en-US" sz="950" b="1" dirty="0">
                <a:solidFill>
                  <a:srgbClr val="145A32"/>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No implicit trust after authentication</a:t>
            </a:r>
            <a:endParaRPr lang="en-US" sz="950" dirty="0"/>
          </a:p>
        </p:txBody>
      </p:sp>
      <p:sp>
        <p:nvSpPr>
          <p:cNvPr id="49" name="Text 47"/>
          <p:cNvSpPr/>
          <p:nvPr/>
        </p:nvSpPr>
        <p:spPr>
          <a:xfrm>
            <a:off x="6117336" y="3776472"/>
            <a:ext cx="2514600" cy="320040"/>
          </a:xfrm>
          <a:prstGeom prst="rect">
            <a:avLst/>
          </a:prstGeom>
          <a:noFill/>
          <a:ln/>
        </p:spPr>
        <p:txBody>
          <a:bodyPr wrap="square" lIns="0" tIns="0" rIns="0" bIns="0" rtlCol="0" anchor="ctr"/>
          <a:lstStyle/>
          <a:p>
            <a:pPr marL="0" indent="0">
              <a:buNone/>
            </a:pPr>
            <a:r>
              <a:rPr lang="en-US" sz="950" b="1" dirty="0">
                <a:solidFill>
                  <a:srgbClr val="145A32"/>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Continuous policy re-evaluation</a:t>
            </a:r>
            <a:endParaRPr lang="en-US" sz="950" dirty="0"/>
          </a:p>
        </p:txBody>
      </p:sp>
      <p:sp>
        <p:nvSpPr>
          <p:cNvPr id="50" name="Text 48"/>
          <p:cNvSpPr/>
          <p:nvPr/>
        </p:nvSpPr>
        <p:spPr>
          <a:xfrm>
            <a:off x="6117336" y="4123944"/>
            <a:ext cx="2514600" cy="320040"/>
          </a:xfrm>
          <a:prstGeom prst="rect">
            <a:avLst/>
          </a:prstGeom>
          <a:noFill/>
          <a:ln/>
        </p:spPr>
        <p:txBody>
          <a:bodyPr wrap="square" lIns="0" tIns="0" rIns="0" bIns="0" rtlCol="0" anchor="ctr"/>
          <a:lstStyle/>
          <a:p>
            <a:pPr marL="0" indent="0">
              <a:buNone/>
            </a:pPr>
            <a:r>
              <a:rPr lang="en-US" sz="950" b="1" dirty="0">
                <a:solidFill>
                  <a:srgbClr val="145A32"/>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Device posture + identity + context</a:t>
            </a:r>
            <a:endParaRPr lang="en-US" sz="950" dirty="0"/>
          </a:p>
        </p:txBody>
      </p:sp>
      <p:sp>
        <p:nvSpPr>
          <p:cNvPr id="51" name="Text 49"/>
          <p:cNvSpPr/>
          <p:nvPr/>
        </p:nvSpPr>
        <p:spPr>
          <a:xfrm>
            <a:off x="6117336" y="4471416"/>
            <a:ext cx="2514600" cy="320040"/>
          </a:xfrm>
          <a:prstGeom prst="rect">
            <a:avLst/>
          </a:prstGeom>
          <a:noFill/>
          <a:ln/>
        </p:spPr>
        <p:txBody>
          <a:bodyPr wrap="square" lIns="0" tIns="0" rIns="0" bIns="0" rtlCol="0" anchor="ctr"/>
          <a:lstStyle/>
          <a:p>
            <a:pPr marL="0" indent="0">
              <a:buNone/>
            </a:pPr>
            <a:r>
              <a:rPr lang="en-US" sz="950" b="1" dirty="0">
                <a:solidFill>
                  <a:srgbClr val="145A32"/>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CAE: re-evaluate sessions on security events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4C75"/>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98B"/>
          </a:solidFill>
          <a:ln w="12700">
            <a:solidFill>
              <a:srgbClr val="1B998B"/>
            </a:solidFill>
            <a:prstDash val="solid"/>
          </a:ln>
        </p:spPr>
        <p:txBody>
          <a:bodyPr/>
          <a:lstStyle/>
          <a:p>
            <a:endParaRPr lang="en-US"/>
          </a:p>
        </p:txBody>
      </p:sp>
      <p:sp>
        <p:nvSpPr>
          <p:cNvPr id="3" name="Text 1"/>
          <p:cNvSpPr/>
          <p:nvPr/>
        </p:nvSpPr>
        <p:spPr>
          <a:xfrm>
            <a:off x="6858000" y="731520"/>
            <a:ext cx="2103120" cy="2560320"/>
          </a:xfrm>
          <a:prstGeom prst="rect">
            <a:avLst/>
          </a:prstGeom>
          <a:noFill/>
          <a:ln/>
        </p:spPr>
        <p:txBody>
          <a:bodyPr wrap="square" lIns="0" tIns="0" rIns="0" bIns="0" rtlCol="0" anchor="ctr"/>
          <a:lstStyle/>
          <a:p>
            <a:pPr marL="0" indent="0" algn="r">
              <a:buNone/>
            </a:pPr>
            <a:r>
              <a:rPr lang="en-US" sz="14000" b="1" dirty="0">
                <a:solidFill>
                  <a:srgbClr val="1A4A66"/>
                </a:solidFill>
                <a:latin typeface="Calibri" pitchFamily="34" charset="0"/>
                <a:ea typeface="Calibri" pitchFamily="34" charset="-122"/>
                <a:cs typeface="Calibri" pitchFamily="34" charset="-120"/>
              </a:rPr>
              <a:t>03</a:t>
            </a:r>
            <a:endParaRPr lang="en-US" sz="14000" dirty="0"/>
          </a:p>
        </p:txBody>
      </p:sp>
      <p:sp>
        <p:nvSpPr>
          <p:cNvPr id="4" name="Text 2"/>
          <p:cNvSpPr/>
          <p:nvPr/>
        </p:nvSpPr>
        <p:spPr>
          <a:xfrm>
            <a:off x="320040" y="1600200"/>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MFA &amp; Passwordless</a:t>
            </a:r>
            <a:endParaRPr lang="en-US" sz="3000" dirty="0"/>
          </a:p>
        </p:txBody>
      </p:sp>
      <p:sp>
        <p:nvSpPr>
          <p:cNvPr id="5" name="Shape 3"/>
          <p:cNvSpPr/>
          <p:nvPr/>
        </p:nvSpPr>
        <p:spPr>
          <a:xfrm>
            <a:off x="320040" y="2468880"/>
            <a:ext cx="6217920" cy="0"/>
          </a:xfrm>
          <a:prstGeom prst="line">
            <a:avLst/>
          </a:prstGeom>
          <a:noFill/>
          <a:ln w="6350">
            <a:solidFill>
              <a:srgbClr val="8AAFC4"/>
            </a:solidFill>
            <a:prstDash val="solid"/>
          </a:ln>
        </p:spPr>
        <p:txBody>
          <a:bodyPr/>
          <a:lstStyle/>
          <a:p>
            <a:endParaRPr lang="en-US"/>
          </a:p>
        </p:txBody>
      </p:sp>
      <p:sp>
        <p:nvSpPr>
          <p:cNvPr id="6" name="Text 4"/>
          <p:cNvSpPr/>
          <p:nvPr/>
        </p:nvSpPr>
        <p:spPr>
          <a:xfrm>
            <a:off x="320040" y="2542032"/>
            <a:ext cx="6400800" cy="457200"/>
          </a:xfrm>
          <a:prstGeom prst="rect">
            <a:avLst/>
          </a:prstGeom>
          <a:noFill/>
          <a:ln/>
        </p:spPr>
        <p:txBody>
          <a:bodyPr wrap="square" lIns="0" tIns="0" rIns="0" bIns="0" rtlCol="0" anchor="ctr"/>
          <a:lstStyle/>
          <a:p>
            <a:pPr marL="0" indent="0">
              <a:buNone/>
            </a:pPr>
            <a:r>
              <a:rPr lang="en-US" sz="1400" i="1" dirty="0">
                <a:solidFill>
                  <a:srgbClr val="C9E4F0"/>
                </a:solidFill>
                <a:latin typeface="Calibri" pitchFamily="34" charset="0"/>
                <a:ea typeface="Calibri" pitchFamily="34" charset="-122"/>
                <a:cs typeface="Calibri" pitchFamily="34" charset="-120"/>
              </a:rPr>
              <a:t>Factor comparison and phishing-resistant authentication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75"/>
          </a:solidFill>
          <a:ln w="12700">
            <a:solidFill>
              <a:srgbClr val="0F4C75"/>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MFA &amp; Passwordless: Factor Comparison</a:t>
            </a:r>
            <a:endParaRPr lang="en-US" sz="2000" dirty="0"/>
          </a:p>
        </p:txBody>
      </p:sp>
      <p:sp>
        <p:nvSpPr>
          <p:cNvPr id="4" name="Shape 2"/>
          <p:cNvSpPr/>
          <p:nvPr/>
        </p:nvSpPr>
        <p:spPr>
          <a:xfrm>
            <a:off x="182880" y="749808"/>
            <a:ext cx="1645920" cy="520065"/>
          </a:xfrm>
          <a:prstGeom prst="rect">
            <a:avLst/>
          </a:prstGeom>
          <a:solidFill>
            <a:srgbClr val="0F4C75"/>
          </a:solidFill>
          <a:ln w="6350">
            <a:solidFill>
              <a:srgbClr val="D1DDE8"/>
            </a:solidFill>
            <a:prstDash val="solid"/>
          </a:ln>
        </p:spPr>
        <p:txBody>
          <a:bodyPr/>
          <a:lstStyle/>
          <a:p>
            <a:endParaRPr lang="en-US"/>
          </a:p>
        </p:txBody>
      </p:sp>
      <p:sp>
        <p:nvSpPr>
          <p:cNvPr id="5" name="Text 3"/>
          <p:cNvSpPr/>
          <p:nvPr/>
        </p:nvSpPr>
        <p:spPr>
          <a:xfrm>
            <a:off x="219456" y="768096"/>
            <a:ext cx="1572768" cy="483489"/>
          </a:xfrm>
          <a:prstGeom prst="rect">
            <a:avLst/>
          </a:prstGeom>
          <a:noFill/>
          <a:ln/>
        </p:spPr>
        <p:txBody>
          <a:bodyPr wrap="square" lIns="0" tIns="0" rIns="0" bIns="0" rtlCol="0" anchor="ctr"/>
          <a:lstStyle/>
          <a:p>
            <a:pPr marL="0" indent="0">
              <a:buNone/>
            </a:pPr>
            <a:r>
              <a:rPr lang="en-US" sz="1000" b="1" dirty="0">
                <a:solidFill>
                  <a:srgbClr val="1B998B"/>
                </a:solidFill>
                <a:latin typeface="Calibri" pitchFamily="34" charset="0"/>
                <a:ea typeface="Calibri" pitchFamily="34" charset="-122"/>
                <a:cs typeface="Calibri" pitchFamily="34" charset="-120"/>
              </a:rPr>
              <a:t>Factor</a:t>
            </a:r>
            <a:endParaRPr lang="en-US" sz="1000" dirty="0"/>
          </a:p>
        </p:txBody>
      </p:sp>
      <p:sp>
        <p:nvSpPr>
          <p:cNvPr id="6" name="Shape 4"/>
          <p:cNvSpPr/>
          <p:nvPr/>
        </p:nvSpPr>
        <p:spPr>
          <a:xfrm>
            <a:off x="1847088" y="749808"/>
            <a:ext cx="640080" cy="520065"/>
          </a:xfrm>
          <a:prstGeom prst="rect">
            <a:avLst/>
          </a:prstGeom>
          <a:solidFill>
            <a:srgbClr val="0F4C75"/>
          </a:solidFill>
          <a:ln w="6350">
            <a:solidFill>
              <a:srgbClr val="D1DDE8"/>
            </a:solidFill>
            <a:prstDash val="solid"/>
          </a:ln>
        </p:spPr>
        <p:txBody>
          <a:bodyPr/>
          <a:lstStyle/>
          <a:p>
            <a:endParaRPr lang="en-US"/>
          </a:p>
        </p:txBody>
      </p:sp>
      <p:sp>
        <p:nvSpPr>
          <p:cNvPr id="7" name="Text 5"/>
          <p:cNvSpPr/>
          <p:nvPr/>
        </p:nvSpPr>
        <p:spPr>
          <a:xfrm>
            <a:off x="1883664" y="768096"/>
            <a:ext cx="566928" cy="483489"/>
          </a:xfrm>
          <a:prstGeom prst="rect">
            <a:avLst/>
          </a:prstGeom>
          <a:noFill/>
          <a:ln/>
        </p:spPr>
        <p:txBody>
          <a:bodyPr wrap="square" lIns="0" tIns="0" rIns="0" bIns="0" rtlCol="0" anchor="ctr"/>
          <a:lstStyle/>
          <a:p>
            <a:pPr marL="0" indent="0">
              <a:buNone/>
            </a:pPr>
            <a:r>
              <a:rPr lang="en-US" sz="1000" b="1" dirty="0">
                <a:solidFill>
                  <a:srgbClr val="1B998B"/>
                </a:solidFill>
                <a:latin typeface="Calibri" pitchFamily="34" charset="0"/>
                <a:ea typeface="Calibri" pitchFamily="34" charset="-122"/>
                <a:cs typeface="Calibri" pitchFamily="34" charset="-120"/>
              </a:rPr>
              <a:t>AAL</a:t>
            </a:r>
            <a:endParaRPr lang="en-US" sz="1000" dirty="0"/>
          </a:p>
        </p:txBody>
      </p:sp>
      <p:sp>
        <p:nvSpPr>
          <p:cNvPr id="8" name="Shape 6"/>
          <p:cNvSpPr/>
          <p:nvPr/>
        </p:nvSpPr>
        <p:spPr>
          <a:xfrm>
            <a:off x="2505456" y="749808"/>
            <a:ext cx="1371600" cy="520065"/>
          </a:xfrm>
          <a:prstGeom prst="rect">
            <a:avLst/>
          </a:prstGeom>
          <a:solidFill>
            <a:srgbClr val="0F4C75"/>
          </a:solidFill>
          <a:ln w="6350">
            <a:solidFill>
              <a:srgbClr val="D1DDE8"/>
            </a:solidFill>
            <a:prstDash val="solid"/>
          </a:ln>
        </p:spPr>
        <p:txBody>
          <a:bodyPr/>
          <a:lstStyle/>
          <a:p>
            <a:endParaRPr lang="en-US"/>
          </a:p>
        </p:txBody>
      </p:sp>
      <p:sp>
        <p:nvSpPr>
          <p:cNvPr id="9" name="Text 7"/>
          <p:cNvSpPr/>
          <p:nvPr/>
        </p:nvSpPr>
        <p:spPr>
          <a:xfrm>
            <a:off x="2542032" y="768096"/>
            <a:ext cx="1298448" cy="483489"/>
          </a:xfrm>
          <a:prstGeom prst="rect">
            <a:avLst/>
          </a:prstGeom>
          <a:noFill/>
          <a:ln/>
        </p:spPr>
        <p:txBody>
          <a:bodyPr wrap="square" lIns="0" tIns="0" rIns="0" bIns="0" rtlCol="0" anchor="ctr"/>
          <a:lstStyle/>
          <a:p>
            <a:pPr marL="0" indent="0">
              <a:buNone/>
            </a:pPr>
            <a:r>
              <a:rPr lang="en-US" sz="1000" b="1" dirty="0">
                <a:solidFill>
                  <a:srgbClr val="1B998B"/>
                </a:solidFill>
                <a:latin typeface="Calibri" pitchFamily="34" charset="0"/>
                <a:ea typeface="Calibri" pitchFamily="34" charset="-122"/>
                <a:cs typeface="Calibri" pitchFamily="34" charset="-120"/>
              </a:rPr>
              <a:t>Phishing-Resistant?</a:t>
            </a:r>
            <a:endParaRPr lang="en-US" sz="1000" dirty="0"/>
          </a:p>
        </p:txBody>
      </p:sp>
      <p:sp>
        <p:nvSpPr>
          <p:cNvPr id="10" name="Shape 8"/>
          <p:cNvSpPr/>
          <p:nvPr/>
        </p:nvSpPr>
        <p:spPr>
          <a:xfrm>
            <a:off x="3895344" y="749808"/>
            <a:ext cx="1005840" cy="520065"/>
          </a:xfrm>
          <a:prstGeom prst="rect">
            <a:avLst/>
          </a:prstGeom>
          <a:solidFill>
            <a:srgbClr val="0F4C75"/>
          </a:solidFill>
          <a:ln w="6350">
            <a:solidFill>
              <a:srgbClr val="D1DDE8"/>
            </a:solidFill>
            <a:prstDash val="solid"/>
          </a:ln>
        </p:spPr>
        <p:txBody>
          <a:bodyPr/>
          <a:lstStyle/>
          <a:p>
            <a:endParaRPr lang="en-US"/>
          </a:p>
        </p:txBody>
      </p:sp>
      <p:sp>
        <p:nvSpPr>
          <p:cNvPr id="11" name="Text 9"/>
          <p:cNvSpPr/>
          <p:nvPr/>
        </p:nvSpPr>
        <p:spPr>
          <a:xfrm>
            <a:off x="3931920" y="768096"/>
            <a:ext cx="932688" cy="483489"/>
          </a:xfrm>
          <a:prstGeom prst="rect">
            <a:avLst/>
          </a:prstGeom>
          <a:noFill/>
          <a:ln/>
        </p:spPr>
        <p:txBody>
          <a:bodyPr wrap="square" lIns="0" tIns="0" rIns="0" bIns="0" rtlCol="0" anchor="ctr"/>
          <a:lstStyle/>
          <a:p>
            <a:pPr marL="0" indent="0">
              <a:buNone/>
            </a:pPr>
            <a:r>
              <a:rPr lang="en-US" sz="1000" b="1" dirty="0">
                <a:solidFill>
                  <a:srgbClr val="1B998B"/>
                </a:solidFill>
                <a:latin typeface="Calibri" pitchFamily="34" charset="0"/>
                <a:ea typeface="Calibri" pitchFamily="34" charset="-122"/>
                <a:cs typeface="Calibri" pitchFamily="34" charset="-120"/>
              </a:rPr>
              <a:t>UX Impact</a:t>
            </a:r>
            <a:endParaRPr lang="en-US" sz="1000" dirty="0"/>
          </a:p>
        </p:txBody>
      </p:sp>
      <p:sp>
        <p:nvSpPr>
          <p:cNvPr id="12" name="Shape 10"/>
          <p:cNvSpPr/>
          <p:nvPr/>
        </p:nvSpPr>
        <p:spPr>
          <a:xfrm>
            <a:off x="4919472" y="749808"/>
            <a:ext cx="3840480" cy="520065"/>
          </a:xfrm>
          <a:prstGeom prst="rect">
            <a:avLst/>
          </a:prstGeom>
          <a:solidFill>
            <a:srgbClr val="0F4C75"/>
          </a:solidFill>
          <a:ln w="6350">
            <a:solidFill>
              <a:srgbClr val="D1DDE8"/>
            </a:solidFill>
            <a:prstDash val="solid"/>
          </a:ln>
        </p:spPr>
        <p:txBody>
          <a:bodyPr/>
          <a:lstStyle/>
          <a:p>
            <a:endParaRPr lang="en-US"/>
          </a:p>
        </p:txBody>
      </p:sp>
      <p:sp>
        <p:nvSpPr>
          <p:cNvPr id="13" name="Text 11"/>
          <p:cNvSpPr/>
          <p:nvPr/>
        </p:nvSpPr>
        <p:spPr>
          <a:xfrm>
            <a:off x="4956048" y="768096"/>
            <a:ext cx="3767328" cy="483489"/>
          </a:xfrm>
          <a:prstGeom prst="rect">
            <a:avLst/>
          </a:prstGeom>
          <a:noFill/>
          <a:ln/>
        </p:spPr>
        <p:txBody>
          <a:bodyPr wrap="square" lIns="0" tIns="0" rIns="0" bIns="0" rtlCol="0" anchor="ctr"/>
          <a:lstStyle/>
          <a:p>
            <a:pPr marL="0" indent="0">
              <a:buNone/>
            </a:pPr>
            <a:r>
              <a:rPr lang="en-US" sz="1000" b="1" dirty="0">
                <a:solidFill>
                  <a:srgbClr val="1B998B"/>
                </a:solidFill>
                <a:latin typeface="Calibri" pitchFamily="34" charset="0"/>
                <a:ea typeface="Calibri" pitchFamily="34" charset="-122"/>
                <a:cs typeface="Calibri" pitchFamily="34" charset="-120"/>
              </a:rPr>
              <a:t>Recommended Use</a:t>
            </a:r>
            <a:endParaRPr lang="en-US" sz="1000" dirty="0"/>
          </a:p>
        </p:txBody>
      </p:sp>
      <p:sp>
        <p:nvSpPr>
          <p:cNvPr id="14" name="Shape 12"/>
          <p:cNvSpPr/>
          <p:nvPr/>
        </p:nvSpPr>
        <p:spPr>
          <a:xfrm>
            <a:off x="182880" y="1269873"/>
            <a:ext cx="1645920" cy="520065"/>
          </a:xfrm>
          <a:prstGeom prst="rect">
            <a:avLst/>
          </a:prstGeom>
          <a:solidFill>
            <a:srgbClr val="FFFFFF"/>
          </a:solidFill>
          <a:ln w="6350">
            <a:solidFill>
              <a:srgbClr val="D1DDE8"/>
            </a:solidFill>
            <a:prstDash val="solid"/>
          </a:ln>
        </p:spPr>
        <p:txBody>
          <a:bodyPr/>
          <a:lstStyle/>
          <a:p>
            <a:endParaRPr lang="en-US"/>
          </a:p>
        </p:txBody>
      </p:sp>
      <p:sp>
        <p:nvSpPr>
          <p:cNvPr id="15" name="Text 13"/>
          <p:cNvSpPr/>
          <p:nvPr/>
        </p:nvSpPr>
        <p:spPr>
          <a:xfrm>
            <a:off x="219456" y="1288161"/>
            <a:ext cx="157276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FIDO2/WebAuthn</a:t>
            </a:r>
            <a:endParaRPr lang="en-US" sz="850" dirty="0"/>
          </a:p>
          <a:p>
            <a:pPr marL="0" indent="0">
              <a:buNone/>
            </a:pPr>
            <a:r>
              <a:rPr lang="en-US" sz="850" dirty="0">
                <a:solidFill>
                  <a:srgbClr val="1A2E44"/>
                </a:solidFill>
                <a:latin typeface="Calibri" pitchFamily="34" charset="0"/>
                <a:ea typeface="Calibri" pitchFamily="34" charset="-122"/>
                <a:cs typeface="Calibri" pitchFamily="34" charset="-120"/>
              </a:rPr>
              <a:t>(Hardware Key)</a:t>
            </a:r>
            <a:endParaRPr lang="en-US" sz="850" dirty="0"/>
          </a:p>
        </p:txBody>
      </p:sp>
      <p:sp>
        <p:nvSpPr>
          <p:cNvPr id="16" name="Shape 14"/>
          <p:cNvSpPr/>
          <p:nvPr/>
        </p:nvSpPr>
        <p:spPr>
          <a:xfrm>
            <a:off x="1847088" y="1269873"/>
            <a:ext cx="640080" cy="520065"/>
          </a:xfrm>
          <a:prstGeom prst="rect">
            <a:avLst/>
          </a:prstGeom>
          <a:solidFill>
            <a:srgbClr val="FFFFFF"/>
          </a:solidFill>
          <a:ln w="6350">
            <a:solidFill>
              <a:srgbClr val="D1DDE8"/>
            </a:solidFill>
            <a:prstDash val="solid"/>
          </a:ln>
        </p:spPr>
        <p:txBody>
          <a:bodyPr/>
          <a:lstStyle/>
          <a:p>
            <a:endParaRPr lang="en-US"/>
          </a:p>
        </p:txBody>
      </p:sp>
      <p:sp>
        <p:nvSpPr>
          <p:cNvPr id="17" name="Text 15"/>
          <p:cNvSpPr/>
          <p:nvPr/>
        </p:nvSpPr>
        <p:spPr>
          <a:xfrm>
            <a:off x="1883664" y="1288161"/>
            <a:ext cx="56692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AAL3</a:t>
            </a:r>
            <a:endParaRPr lang="en-US" sz="850" dirty="0"/>
          </a:p>
        </p:txBody>
      </p:sp>
      <p:sp>
        <p:nvSpPr>
          <p:cNvPr id="18" name="Shape 16"/>
          <p:cNvSpPr/>
          <p:nvPr/>
        </p:nvSpPr>
        <p:spPr>
          <a:xfrm>
            <a:off x="2505456" y="1269873"/>
            <a:ext cx="1371600" cy="520065"/>
          </a:xfrm>
          <a:prstGeom prst="rect">
            <a:avLst/>
          </a:prstGeom>
          <a:solidFill>
            <a:srgbClr val="FFFFFF"/>
          </a:solidFill>
          <a:ln w="6350">
            <a:solidFill>
              <a:srgbClr val="D1DDE8"/>
            </a:solidFill>
            <a:prstDash val="solid"/>
          </a:ln>
        </p:spPr>
        <p:txBody>
          <a:bodyPr/>
          <a:lstStyle/>
          <a:p>
            <a:endParaRPr lang="en-US"/>
          </a:p>
        </p:txBody>
      </p:sp>
      <p:sp>
        <p:nvSpPr>
          <p:cNvPr id="19" name="Text 17"/>
          <p:cNvSpPr/>
          <p:nvPr/>
        </p:nvSpPr>
        <p:spPr>
          <a:xfrm>
            <a:off x="2542032" y="1288161"/>
            <a:ext cx="1298448" cy="483489"/>
          </a:xfrm>
          <a:prstGeom prst="rect">
            <a:avLst/>
          </a:prstGeom>
          <a:noFill/>
          <a:ln/>
        </p:spPr>
        <p:txBody>
          <a:bodyPr wrap="square" lIns="0" tIns="0" rIns="0" bIns="0" rtlCol="0" anchor="ctr"/>
          <a:lstStyle/>
          <a:p>
            <a:pPr marL="0" indent="0">
              <a:buNone/>
            </a:pPr>
            <a:r>
              <a:rPr lang="en-US" sz="850" b="1" dirty="0">
                <a:solidFill>
                  <a:srgbClr val="0D9488"/>
                </a:solidFill>
                <a:latin typeface="Calibri" pitchFamily="34" charset="0"/>
                <a:ea typeface="Calibri" pitchFamily="34" charset="-122"/>
                <a:cs typeface="Calibri" pitchFamily="34" charset="-120"/>
              </a:rPr>
              <a:t>YES</a:t>
            </a:r>
            <a:endParaRPr lang="en-US" sz="850" dirty="0"/>
          </a:p>
        </p:txBody>
      </p:sp>
      <p:sp>
        <p:nvSpPr>
          <p:cNvPr id="20" name="Shape 18"/>
          <p:cNvSpPr/>
          <p:nvPr/>
        </p:nvSpPr>
        <p:spPr>
          <a:xfrm>
            <a:off x="3895344" y="1269873"/>
            <a:ext cx="1005840" cy="520065"/>
          </a:xfrm>
          <a:prstGeom prst="rect">
            <a:avLst/>
          </a:prstGeom>
          <a:solidFill>
            <a:srgbClr val="FFFFFF"/>
          </a:solidFill>
          <a:ln w="6350">
            <a:solidFill>
              <a:srgbClr val="D1DDE8"/>
            </a:solidFill>
            <a:prstDash val="solid"/>
          </a:ln>
        </p:spPr>
        <p:txBody>
          <a:bodyPr/>
          <a:lstStyle/>
          <a:p>
            <a:endParaRPr lang="en-US"/>
          </a:p>
        </p:txBody>
      </p:sp>
      <p:sp>
        <p:nvSpPr>
          <p:cNvPr id="21" name="Text 19"/>
          <p:cNvSpPr/>
          <p:nvPr/>
        </p:nvSpPr>
        <p:spPr>
          <a:xfrm>
            <a:off x="3931920" y="1288161"/>
            <a:ext cx="93268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Low (tap key)</a:t>
            </a:r>
            <a:endParaRPr lang="en-US" sz="850" dirty="0"/>
          </a:p>
        </p:txBody>
      </p:sp>
      <p:sp>
        <p:nvSpPr>
          <p:cNvPr id="22" name="Shape 20"/>
          <p:cNvSpPr/>
          <p:nvPr/>
        </p:nvSpPr>
        <p:spPr>
          <a:xfrm>
            <a:off x="4919472" y="1269873"/>
            <a:ext cx="3840480" cy="520065"/>
          </a:xfrm>
          <a:prstGeom prst="rect">
            <a:avLst/>
          </a:prstGeom>
          <a:solidFill>
            <a:srgbClr val="FFFFFF"/>
          </a:solidFill>
          <a:ln w="6350">
            <a:solidFill>
              <a:srgbClr val="D1DDE8"/>
            </a:solidFill>
            <a:prstDash val="solid"/>
          </a:ln>
        </p:spPr>
        <p:txBody>
          <a:bodyPr/>
          <a:lstStyle/>
          <a:p>
            <a:endParaRPr lang="en-US"/>
          </a:p>
        </p:txBody>
      </p:sp>
      <p:sp>
        <p:nvSpPr>
          <p:cNvPr id="23" name="Text 21"/>
          <p:cNvSpPr/>
          <p:nvPr/>
        </p:nvSpPr>
        <p:spPr>
          <a:xfrm>
            <a:off x="4956048" y="1288161"/>
            <a:ext cx="376732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All privileged accounts, executives, IT admins</a:t>
            </a:r>
            <a:endParaRPr lang="en-US" sz="850" dirty="0"/>
          </a:p>
        </p:txBody>
      </p:sp>
      <p:sp>
        <p:nvSpPr>
          <p:cNvPr id="24" name="Shape 22"/>
          <p:cNvSpPr/>
          <p:nvPr/>
        </p:nvSpPr>
        <p:spPr>
          <a:xfrm>
            <a:off x="182880" y="1789938"/>
            <a:ext cx="1645920" cy="520065"/>
          </a:xfrm>
          <a:prstGeom prst="rect">
            <a:avLst/>
          </a:prstGeom>
          <a:solidFill>
            <a:srgbClr val="EEF8F5"/>
          </a:solidFill>
          <a:ln w="6350">
            <a:solidFill>
              <a:srgbClr val="D1DDE8"/>
            </a:solidFill>
            <a:prstDash val="solid"/>
          </a:ln>
        </p:spPr>
        <p:txBody>
          <a:bodyPr/>
          <a:lstStyle/>
          <a:p>
            <a:endParaRPr lang="en-US"/>
          </a:p>
        </p:txBody>
      </p:sp>
      <p:sp>
        <p:nvSpPr>
          <p:cNvPr id="25" name="Text 23"/>
          <p:cNvSpPr/>
          <p:nvPr/>
        </p:nvSpPr>
        <p:spPr>
          <a:xfrm>
            <a:off x="219456" y="1808226"/>
            <a:ext cx="157276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Platform Authenticator</a:t>
            </a:r>
            <a:endParaRPr lang="en-US" sz="850" dirty="0"/>
          </a:p>
          <a:p>
            <a:pPr marL="0" indent="0">
              <a:buNone/>
            </a:pPr>
            <a:r>
              <a:rPr lang="en-US" sz="850" dirty="0">
                <a:solidFill>
                  <a:srgbClr val="1A2E44"/>
                </a:solidFill>
                <a:latin typeface="Calibri" pitchFamily="34" charset="0"/>
                <a:ea typeface="Calibri" pitchFamily="34" charset="-122"/>
                <a:cs typeface="Calibri" pitchFamily="34" charset="-120"/>
              </a:rPr>
              <a:t>(Windows Hello, Touch ID)</a:t>
            </a:r>
            <a:endParaRPr lang="en-US" sz="850" dirty="0"/>
          </a:p>
        </p:txBody>
      </p:sp>
      <p:sp>
        <p:nvSpPr>
          <p:cNvPr id="26" name="Shape 24"/>
          <p:cNvSpPr/>
          <p:nvPr/>
        </p:nvSpPr>
        <p:spPr>
          <a:xfrm>
            <a:off x="1847088" y="1789938"/>
            <a:ext cx="640080" cy="520065"/>
          </a:xfrm>
          <a:prstGeom prst="rect">
            <a:avLst/>
          </a:prstGeom>
          <a:solidFill>
            <a:srgbClr val="EEF8F5"/>
          </a:solidFill>
          <a:ln w="6350">
            <a:solidFill>
              <a:srgbClr val="D1DDE8"/>
            </a:solidFill>
            <a:prstDash val="solid"/>
          </a:ln>
        </p:spPr>
        <p:txBody>
          <a:bodyPr/>
          <a:lstStyle/>
          <a:p>
            <a:endParaRPr lang="en-US"/>
          </a:p>
        </p:txBody>
      </p:sp>
      <p:sp>
        <p:nvSpPr>
          <p:cNvPr id="27" name="Text 25"/>
          <p:cNvSpPr/>
          <p:nvPr/>
        </p:nvSpPr>
        <p:spPr>
          <a:xfrm>
            <a:off x="1883664" y="1808226"/>
            <a:ext cx="56692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AAL3</a:t>
            </a:r>
            <a:endParaRPr lang="en-US" sz="850" dirty="0"/>
          </a:p>
        </p:txBody>
      </p:sp>
      <p:sp>
        <p:nvSpPr>
          <p:cNvPr id="28" name="Shape 26"/>
          <p:cNvSpPr/>
          <p:nvPr/>
        </p:nvSpPr>
        <p:spPr>
          <a:xfrm>
            <a:off x="2505456" y="1789938"/>
            <a:ext cx="1371600" cy="520065"/>
          </a:xfrm>
          <a:prstGeom prst="rect">
            <a:avLst/>
          </a:prstGeom>
          <a:solidFill>
            <a:srgbClr val="EEF8F5"/>
          </a:solidFill>
          <a:ln w="6350">
            <a:solidFill>
              <a:srgbClr val="D1DDE8"/>
            </a:solidFill>
            <a:prstDash val="solid"/>
          </a:ln>
        </p:spPr>
        <p:txBody>
          <a:bodyPr/>
          <a:lstStyle/>
          <a:p>
            <a:endParaRPr lang="en-US"/>
          </a:p>
        </p:txBody>
      </p:sp>
      <p:sp>
        <p:nvSpPr>
          <p:cNvPr id="29" name="Text 27"/>
          <p:cNvSpPr/>
          <p:nvPr/>
        </p:nvSpPr>
        <p:spPr>
          <a:xfrm>
            <a:off x="2542032" y="1808226"/>
            <a:ext cx="1298448" cy="483489"/>
          </a:xfrm>
          <a:prstGeom prst="rect">
            <a:avLst/>
          </a:prstGeom>
          <a:noFill/>
          <a:ln/>
        </p:spPr>
        <p:txBody>
          <a:bodyPr wrap="square" lIns="0" tIns="0" rIns="0" bIns="0" rtlCol="0" anchor="ctr"/>
          <a:lstStyle/>
          <a:p>
            <a:pPr marL="0" indent="0">
              <a:buNone/>
            </a:pPr>
            <a:r>
              <a:rPr lang="en-US" sz="850" b="1" dirty="0">
                <a:solidFill>
                  <a:srgbClr val="0D9488"/>
                </a:solidFill>
                <a:latin typeface="Calibri" pitchFamily="34" charset="0"/>
                <a:ea typeface="Calibri" pitchFamily="34" charset="-122"/>
                <a:cs typeface="Calibri" pitchFamily="34" charset="-120"/>
              </a:rPr>
              <a:t>YES</a:t>
            </a:r>
            <a:endParaRPr lang="en-US" sz="850" dirty="0"/>
          </a:p>
        </p:txBody>
      </p:sp>
      <p:sp>
        <p:nvSpPr>
          <p:cNvPr id="30" name="Shape 28"/>
          <p:cNvSpPr/>
          <p:nvPr/>
        </p:nvSpPr>
        <p:spPr>
          <a:xfrm>
            <a:off x="3895344" y="1789938"/>
            <a:ext cx="1005840" cy="520065"/>
          </a:xfrm>
          <a:prstGeom prst="rect">
            <a:avLst/>
          </a:prstGeom>
          <a:solidFill>
            <a:srgbClr val="EEF8F5"/>
          </a:solidFill>
          <a:ln w="6350">
            <a:solidFill>
              <a:srgbClr val="D1DDE8"/>
            </a:solidFill>
            <a:prstDash val="solid"/>
          </a:ln>
        </p:spPr>
        <p:txBody>
          <a:bodyPr/>
          <a:lstStyle/>
          <a:p>
            <a:endParaRPr lang="en-US"/>
          </a:p>
        </p:txBody>
      </p:sp>
      <p:sp>
        <p:nvSpPr>
          <p:cNvPr id="31" name="Text 29"/>
          <p:cNvSpPr/>
          <p:nvPr/>
        </p:nvSpPr>
        <p:spPr>
          <a:xfrm>
            <a:off x="3931920" y="1808226"/>
            <a:ext cx="93268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Minimal (biometric)</a:t>
            </a:r>
            <a:endParaRPr lang="en-US" sz="850" dirty="0"/>
          </a:p>
        </p:txBody>
      </p:sp>
      <p:sp>
        <p:nvSpPr>
          <p:cNvPr id="32" name="Shape 30"/>
          <p:cNvSpPr/>
          <p:nvPr/>
        </p:nvSpPr>
        <p:spPr>
          <a:xfrm>
            <a:off x="4919472" y="1789938"/>
            <a:ext cx="3840480" cy="520065"/>
          </a:xfrm>
          <a:prstGeom prst="rect">
            <a:avLst/>
          </a:prstGeom>
          <a:solidFill>
            <a:srgbClr val="EEF8F5"/>
          </a:solidFill>
          <a:ln w="6350">
            <a:solidFill>
              <a:srgbClr val="D1DDE8"/>
            </a:solidFill>
            <a:prstDash val="solid"/>
          </a:ln>
        </p:spPr>
        <p:txBody>
          <a:bodyPr/>
          <a:lstStyle/>
          <a:p>
            <a:endParaRPr lang="en-US"/>
          </a:p>
        </p:txBody>
      </p:sp>
      <p:sp>
        <p:nvSpPr>
          <p:cNvPr id="33" name="Text 31"/>
          <p:cNvSpPr/>
          <p:nvPr/>
        </p:nvSpPr>
        <p:spPr>
          <a:xfrm>
            <a:off x="4956048" y="1808226"/>
            <a:ext cx="376732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All enterprise users — goal state for passwordless</a:t>
            </a:r>
            <a:endParaRPr lang="en-US" sz="850" dirty="0"/>
          </a:p>
        </p:txBody>
      </p:sp>
      <p:sp>
        <p:nvSpPr>
          <p:cNvPr id="34" name="Shape 32"/>
          <p:cNvSpPr/>
          <p:nvPr/>
        </p:nvSpPr>
        <p:spPr>
          <a:xfrm>
            <a:off x="182880" y="2310003"/>
            <a:ext cx="1645920" cy="520065"/>
          </a:xfrm>
          <a:prstGeom prst="rect">
            <a:avLst/>
          </a:prstGeom>
          <a:solidFill>
            <a:srgbClr val="FFFFFF"/>
          </a:solidFill>
          <a:ln w="6350">
            <a:solidFill>
              <a:srgbClr val="D1DDE8"/>
            </a:solidFill>
            <a:prstDash val="solid"/>
          </a:ln>
        </p:spPr>
        <p:txBody>
          <a:bodyPr/>
          <a:lstStyle/>
          <a:p>
            <a:endParaRPr lang="en-US"/>
          </a:p>
        </p:txBody>
      </p:sp>
      <p:sp>
        <p:nvSpPr>
          <p:cNvPr id="35" name="Text 33"/>
          <p:cNvSpPr/>
          <p:nvPr/>
        </p:nvSpPr>
        <p:spPr>
          <a:xfrm>
            <a:off x="219456" y="2328291"/>
            <a:ext cx="157276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Passkeys</a:t>
            </a:r>
            <a:endParaRPr lang="en-US" sz="850" dirty="0"/>
          </a:p>
          <a:p>
            <a:pPr marL="0" indent="0">
              <a:buNone/>
            </a:pPr>
            <a:r>
              <a:rPr lang="en-US" sz="850" dirty="0">
                <a:solidFill>
                  <a:srgbClr val="1A2E44"/>
                </a:solidFill>
                <a:latin typeface="Calibri" pitchFamily="34" charset="0"/>
                <a:ea typeface="Calibri" pitchFamily="34" charset="-122"/>
                <a:cs typeface="Calibri" pitchFamily="34" charset="-120"/>
              </a:rPr>
              <a:t>(Synced FIDO2)</a:t>
            </a:r>
            <a:endParaRPr lang="en-US" sz="850" dirty="0"/>
          </a:p>
        </p:txBody>
      </p:sp>
      <p:sp>
        <p:nvSpPr>
          <p:cNvPr id="36" name="Shape 34"/>
          <p:cNvSpPr/>
          <p:nvPr/>
        </p:nvSpPr>
        <p:spPr>
          <a:xfrm>
            <a:off x="1847088" y="2310003"/>
            <a:ext cx="640080" cy="520065"/>
          </a:xfrm>
          <a:prstGeom prst="rect">
            <a:avLst/>
          </a:prstGeom>
          <a:solidFill>
            <a:srgbClr val="FFFFFF"/>
          </a:solidFill>
          <a:ln w="6350">
            <a:solidFill>
              <a:srgbClr val="D1DDE8"/>
            </a:solidFill>
            <a:prstDash val="solid"/>
          </a:ln>
        </p:spPr>
        <p:txBody>
          <a:bodyPr/>
          <a:lstStyle/>
          <a:p>
            <a:endParaRPr lang="en-US"/>
          </a:p>
        </p:txBody>
      </p:sp>
      <p:sp>
        <p:nvSpPr>
          <p:cNvPr id="37" name="Text 35"/>
          <p:cNvSpPr/>
          <p:nvPr/>
        </p:nvSpPr>
        <p:spPr>
          <a:xfrm>
            <a:off x="1883664" y="2328291"/>
            <a:ext cx="56692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AAL2</a:t>
            </a:r>
            <a:endParaRPr lang="en-US" sz="850" dirty="0"/>
          </a:p>
        </p:txBody>
      </p:sp>
      <p:sp>
        <p:nvSpPr>
          <p:cNvPr id="38" name="Shape 36"/>
          <p:cNvSpPr/>
          <p:nvPr/>
        </p:nvSpPr>
        <p:spPr>
          <a:xfrm>
            <a:off x="2505456" y="2310003"/>
            <a:ext cx="1371600" cy="520065"/>
          </a:xfrm>
          <a:prstGeom prst="rect">
            <a:avLst/>
          </a:prstGeom>
          <a:solidFill>
            <a:srgbClr val="FFFFFF"/>
          </a:solidFill>
          <a:ln w="6350">
            <a:solidFill>
              <a:srgbClr val="D1DDE8"/>
            </a:solidFill>
            <a:prstDash val="solid"/>
          </a:ln>
        </p:spPr>
        <p:txBody>
          <a:bodyPr/>
          <a:lstStyle/>
          <a:p>
            <a:endParaRPr lang="en-US"/>
          </a:p>
        </p:txBody>
      </p:sp>
      <p:sp>
        <p:nvSpPr>
          <p:cNvPr id="39" name="Text 37"/>
          <p:cNvSpPr/>
          <p:nvPr/>
        </p:nvSpPr>
        <p:spPr>
          <a:xfrm>
            <a:off x="2542032" y="2328291"/>
            <a:ext cx="129844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Partially*</a:t>
            </a:r>
            <a:endParaRPr lang="en-US" sz="850" dirty="0"/>
          </a:p>
        </p:txBody>
      </p:sp>
      <p:sp>
        <p:nvSpPr>
          <p:cNvPr id="40" name="Shape 38"/>
          <p:cNvSpPr/>
          <p:nvPr/>
        </p:nvSpPr>
        <p:spPr>
          <a:xfrm>
            <a:off x="3895344" y="2310003"/>
            <a:ext cx="1005840" cy="520065"/>
          </a:xfrm>
          <a:prstGeom prst="rect">
            <a:avLst/>
          </a:prstGeom>
          <a:solidFill>
            <a:srgbClr val="FFFFFF"/>
          </a:solidFill>
          <a:ln w="6350">
            <a:solidFill>
              <a:srgbClr val="D1DDE8"/>
            </a:solidFill>
            <a:prstDash val="solid"/>
          </a:ln>
        </p:spPr>
        <p:txBody>
          <a:bodyPr/>
          <a:lstStyle/>
          <a:p>
            <a:endParaRPr lang="en-US"/>
          </a:p>
        </p:txBody>
      </p:sp>
      <p:sp>
        <p:nvSpPr>
          <p:cNvPr id="41" name="Text 39"/>
          <p:cNvSpPr/>
          <p:nvPr/>
        </p:nvSpPr>
        <p:spPr>
          <a:xfrm>
            <a:off x="3931920" y="2328291"/>
            <a:ext cx="93268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Very low (platform)</a:t>
            </a:r>
            <a:endParaRPr lang="en-US" sz="850" dirty="0"/>
          </a:p>
        </p:txBody>
      </p:sp>
      <p:sp>
        <p:nvSpPr>
          <p:cNvPr id="42" name="Shape 40"/>
          <p:cNvSpPr/>
          <p:nvPr/>
        </p:nvSpPr>
        <p:spPr>
          <a:xfrm>
            <a:off x="4919472" y="2310003"/>
            <a:ext cx="3840480" cy="520065"/>
          </a:xfrm>
          <a:prstGeom prst="rect">
            <a:avLst/>
          </a:prstGeom>
          <a:solidFill>
            <a:srgbClr val="FFFFFF"/>
          </a:solidFill>
          <a:ln w="6350">
            <a:solidFill>
              <a:srgbClr val="D1DDE8"/>
            </a:solidFill>
            <a:prstDash val="solid"/>
          </a:ln>
        </p:spPr>
        <p:txBody>
          <a:bodyPr/>
          <a:lstStyle/>
          <a:p>
            <a:endParaRPr lang="en-US"/>
          </a:p>
        </p:txBody>
      </p:sp>
      <p:sp>
        <p:nvSpPr>
          <p:cNvPr id="43" name="Text 41"/>
          <p:cNvSpPr/>
          <p:nvPr/>
        </p:nvSpPr>
        <p:spPr>
          <a:xfrm>
            <a:off x="4956048" y="2328291"/>
            <a:ext cx="376732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Consumer and enterprise passwordless. *Synced passkeys do not meet AAL3 (no hardware binding); phishing resistance depends on implementation and sync chain security</a:t>
            </a:r>
            <a:endParaRPr lang="en-US" sz="850" dirty="0"/>
          </a:p>
        </p:txBody>
      </p:sp>
      <p:sp>
        <p:nvSpPr>
          <p:cNvPr id="44" name="Shape 42"/>
          <p:cNvSpPr/>
          <p:nvPr/>
        </p:nvSpPr>
        <p:spPr>
          <a:xfrm>
            <a:off x="182880" y="2830068"/>
            <a:ext cx="1645920" cy="520065"/>
          </a:xfrm>
          <a:prstGeom prst="rect">
            <a:avLst/>
          </a:prstGeom>
          <a:solidFill>
            <a:srgbClr val="EEF8F5"/>
          </a:solidFill>
          <a:ln w="6350">
            <a:solidFill>
              <a:srgbClr val="D1DDE8"/>
            </a:solidFill>
            <a:prstDash val="solid"/>
          </a:ln>
        </p:spPr>
        <p:txBody>
          <a:bodyPr/>
          <a:lstStyle/>
          <a:p>
            <a:endParaRPr lang="en-US"/>
          </a:p>
        </p:txBody>
      </p:sp>
      <p:sp>
        <p:nvSpPr>
          <p:cNvPr id="45" name="Text 43"/>
          <p:cNvSpPr/>
          <p:nvPr/>
        </p:nvSpPr>
        <p:spPr>
          <a:xfrm>
            <a:off x="219456" y="2848356"/>
            <a:ext cx="157276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TOTP App</a:t>
            </a:r>
            <a:endParaRPr lang="en-US" sz="850" dirty="0"/>
          </a:p>
          <a:p>
            <a:pPr marL="0" indent="0">
              <a:buNone/>
            </a:pPr>
            <a:r>
              <a:rPr lang="en-US" sz="850" dirty="0">
                <a:solidFill>
                  <a:srgbClr val="1A2E44"/>
                </a:solidFill>
                <a:latin typeface="Calibri" pitchFamily="34" charset="0"/>
                <a:ea typeface="Calibri" pitchFamily="34" charset="-122"/>
                <a:cs typeface="Calibri" pitchFamily="34" charset="-120"/>
              </a:rPr>
              <a:t>(Authenticator, Duo)</a:t>
            </a:r>
            <a:endParaRPr lang="en-US" sz="850" dirty="0"/>
          </a:p>
        </p:txBody>
      </p:sp>
      <p:sp>
        <p:nvSpPr>
          <p:cNvPr id="46" name="Shape 44"/>
          <p:cNvSpPr/>
          <p:nvPr/>
        </p:nvSpPr>
        <p:spPr>
          <a:xfrm>
            <a:off x="1847088" y="2830068"/>
            <a:ext cx="640080" cy="520065"/>
          </a:xfrm>
          <a:prstGeom prst="rect">
            <a:avLst/>
          </a:prstGeom>
          <a:solidFill>
            <a:srgbClr val="EEF8F5"/>
          </a:solidFill>
          <a:ln w="6350">
            <a:solidFill>
              <a:srgbClr val="D1DDE8"/>
            </a:solidFill>
            <a:prstDash val="solid"/>
          </a:ln>
        </p:spPr>
        <p:txBody>
          <a:bodyPr/>
          <a:lstStyle/>
          <a:p>
            <a:endParaRPr lang="en-US"/>
          </a:p>
        </p:txBody>
      </p:sp>
      <p:sp>
        <p:nvSpPr>
          <p:cNvPr id="47" name="Text 45"/>
          <p:cNvSpPr/>
          <p:nvPr/>
        </p:nvSpPr>
        <p:spPr>
          <a:xfrm>
            <a:off x="1883664" y="2848356"/>
            <a:ext cx="56692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AAL2</a:t>
            </a:r>
            <a:endParaRPr lang="en-US" sz="850" dirty="0"/>
          </a:p>
        </p:txBody>
      </p:sp>
      <p:sp>
        <p:nvSpPr>
          <p:cNvPr id="48" name="Shape 46"/>
          <p:cNvSpPr/>
          <p:nvPr/>
        </p:nvSpPr>
        <p:spPr>
          <a:xfrm>
            <a:off x="2505456" y="2830068"/>
            <a:ext cx="1371600" cy="520065"/>
          </a:xfrm>
          <a:prstGeom prst="rect">
            <a:avLst/>
          </a:prstGeom>
          <a:solidFill>
            <a:srgbClr val="EEF8F5"/>
          </a:solidFill>
          <a:ln w="6350">
            <a:solidFill>
              <a:srgbClr val="D1DDE8"/>
            </a:solidFill>
            <a:prstDash val="solid"/>
          </a:ln>
        </p:spPr>
        <p:txBody>
          <a:bodyPr/>
          <a:lstStyle/>
          <a:p>
            <a:endParaRPr lang="en-US"/>
          </a:p>
        </p:txBody>
      </p:sp>
      <p:sp>
        <p:nvSpPr>
          <p:cNvPr id="49" name="Text 47"/>
          <p:cNvSpPr/>
          <p:nvPr/>
        </p:nvSpPr>
        <p:spPr>
          <a:xfrm>
            <a:off x="2542032" y="2848356"/>
            <a:ext cx="1298448" cy="483489"/>
          </a:xfrm>
          <a:prstGeom prst="rect">
            <a:avLst/>
          </a:prstGeom>
          <a:noFill/>
          <a:ln/>
        </p:spPr>
        <p:txBody>
          <a:bodyPr wrap="square" lIns="0" tIns="0" rIns="0" bIns="0" rtlCol="0" anchor="ctr"/>
          <a:lstStyle/>
          <a:p>
            <a:pPr marL="0" indent="0">
              <a:buNone/>
            </a:pPr>
            <a:r>
              <a:rPr lang="en-US" sz="850" b="1" dirty="0">
                <a:solidFill>
                  <a:srgbClr val="DC2626"/>
                </a:solidFill>
                <a:latin typeface="Calibri" pitchFamily="34" charset="0"/>
                <a:ea typeface="Calibri" pitchFamily="34" charset="-122"/>
                <a:cs typeface="Calibri" pitchFamily="34" charset="-120"/>
              </a:rPr>
              <a:t>NO</a:t>
            </a:r>
            <a:endParaRPr lang="en-US" sz="850" dirty="0"/>
          </a:p>
        </p:txBody>
      </p:sp>
      <p:sp>
        <p:nvSpPr>
          <p:cNvPr id="50" name="Shape 48"/>
          <p:cNvSpPr/>
          <p:nvPr/>
        </p:nvSpPr>
        <p:spPr>
          <a:xfrm>
            <a:off x="3895344" y="2830068"/>
            <a:ext cx="1005840" cy="520065"/>
          </a:xfrm>
          <a:prstGeom prst="rect">
            <a:avLst/>
          </a:prstGeom>
          <a:solidFill>
            <a:srgbClr val="EEF8F5"/>
          </a:solidFill>
          <a:ln w="6350">
            <a:solidFill>
              <a:srgbClr val="D1DDE8"/>
            </a:solidFill>
            <a:prstDash val="solid"/>
          </a:ln>
        </p:spPr>
        <p:txBody>
          <a:bodyPr/>
          <a:lstStyle/>
          <a:p>
            <a:endParaRPr lang="en-US"/>
          </a:p>
        </p:txBody>
      </p:sp>
      <p:sp>
        <p:nvSpPr>
          <p:cNvPr id="51" name="Text 49"/>
          <p:cNvSpPr/>
          <p:nvPr/>
        </p:nvSpPr>
        <p:spPr>
          <a:xfrm>
            <a:off x="3931920" y="2848356"/>
            <a:ext cx="93268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Low</a:t>
            </a:r>
            <a:endParaRPr lang="en-US" sz="850" dirty="0"/>
          </a:p>
        </p:txBody>
      </p:sp>
      <p:sp>
        <p:nvSpPr>
          <p:cNvPr id="52" name="Shape 50"/>
          <p:cNvSpPr/>
          <p:nvPr/>
        </p:nvSpPr>
        <p:spPr>
          <a:xfrm>
            <a:off x="4919472" y="2830068"/>
            <a:ext cx="3840480" cy="520065"/>
          </a:xfrm>
          <a:prstGeom prst="rect">
            <a:avLst/>
          </a:prstGeom>
          <a:solidFill>
            <a:srgbClr val="EEF8F5"/>
          </a:solidFill>
          <a:ln w="6350">
            <a:solidFill>
              <a:srgbClr val="D1DDE8"/>
            </a:solidFill>
            <a:prstDash val="solid"/>
          </a:ln>
        </p:spPr>
        <p:txBody>
          <a:bodyPr/>
          <a:lstStyle/>
          <a:p>
            <a:endParaRPr lang="en-US"/>
          </a:p>
        </p:txBody>
      </p:sp>
      <p:sp>
        <p:nvSpPr>
          <p:cNvPr id="53" name="Text 51"/>
          <p:cNvSpPr/>
          <p:nvPr/>
        </p:nvSpPr>
        <p:spPr>
          <a:xfrm>
            <a:off x="4956048" y="2848356"/>
            <a:ext cx="376732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General workforce; not for privileged or executives</a:t>
            </a:r>
            <a:endParaRPr lang="en-US" sz="850" dirty="0"/>
          </a:p>
        </p:txBody>
      </p:sp>
      <p:sp>
        <p:nvSpPr>
          <p:cNvPr id="54" name="Shape 52"/>
          <p:cNvSpPr/>
          <p:nvPr/>
        </p:nvSpPr>
        <p:spPr>
          <a:xfrm>
            <a:off x="182880" y="3350133"/>
            <a:ext cx="1645920" cy="520065"/>
          </a:xfrm>
          <a:prstGeom prst="rect">
            <a:avLst/>
          </a:prstGeom>
          <a:solidFill>
            <a:srgbClr val="FFFFFF"/>
          </a:solidFill>
          <a:ln w="6350">
            <a:solidFill>
              <a:srgbClr val="D1DDE8"/>
            </a:solidFill>
            <a:prstDash val="solid"/>
          </a:ln>
        </p:spPr>
        <p:txBody>
          <a:bodyPr/>
          <a:lstStyle/>
          <a:p>
            <a:endParaRPr lang="en-US"/>
          </a:p>
        </p:txBody>
      </p:sp>
      <p:sp>
        <p:nvSpPr>
          <p:cNvPr id="55" name="Text 53"/>
          <p:cNvSpPr/>
          <p:nvPr/>
        </p:nvSpPr>
        <p:spPr>
          <a:xfrm>
            <a:off x="219456" y="3368421"/>
            <a:ext cx="157276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Push Notification</a:t>
            </a:r>
            <a:endParaRPr lang="en-US" sz="850" dirty="0"/>
          </a:p>
          <a:p>
            <a:pPr marL="0" indent="0">
              <a:buNone/>
            </a:pPr>
            <a:r>
              <a:rPr lang="en-US" sz="850" dirty="0">
                <a:solidFill>
                  <a:srgbClr val="1A2E44"/>
                </a:solidFill>
                <a:latin typeface="Calibri" pitchFamily="34" charset="0"/>
                <a:ea typeface="Calibri" pitchFamily="34" charset="-122"/>
                <a:cs typeface="Calibri" pitchFamily="34" charset="-120"/>
              </a:rPr>
              <a:t>(w/ number matching)</a:t>
            </a:r>
            <a:endParaRPr lang="en-US" sz="850" dirty="0"/>
          </a:p>
        </p:txBody>
      </p:sp>
      <p:sp>
        <p:nvSpPr>
          <p:cNvPr id="56" name="Shape 54"/>
          <p:cNvSpPr/>
          <p:nvPr/>
        </p:nvSpPr>
        <p:spPr>
          <a:xfrm>
            <a:off x="1847088" y="3350133"/>
            <a:ext cx="640080" cy="520065"/>
          </a:xfrm>
          <a:prstGeom prst="rect">
            <a:avLst/>
          </a:prstGeom>
          <a:solidFill>
            <a:srgbClr val="FFFFFF"/>
          </a:solidFill>
          <a:ln w="6350">
            <a:solidFill>
              <a:srgbClr val="D1DDE8"/>
            </a:solidFill>
            <a:prstDash val="solid"/>
          </a:ln>
        </p:spPr>
        <p:txBody>
          <a:bodyPr/>
          <a:lstStyle/>
          <a:p>
            <a:endParaRPr lang="en-US"/>
          </a:p>
        </p:txBody>
      </p:sp>
      <p:sp>
        <p:nvSpPr>
          <p:cNvPr id="57" name="Text 55"/>
          <p:cNvSpPr/>
          <p:nvPr/>
        </p:nvSpPr>
        <p:spPr>
          <a:xfrm>
            <a:off x="1883664" y="3368421"/>
            <a:ext cx="56692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AAL2</a:t>
            </a:r>
            <a:endParaRPr lang="en-US" sz="850" dirty="0"/>
          </a:p>
        </p:txBody>
      </p:sp>
      <p:sp>
        <p:nvSpPr>
          <p:cNvPr id="58" name="Shape 56"/>
          <p:cNvSpPr/>
          <p:nvPr/>
        </p:nvSpPr>
        <p:spPr>
          <a:xfrm>
            <a:off x="2505456" y="3350133"/>
            <a:ext cx="1371600" cy="520065"/>
          </a:xfrm>
          <a:prstGeom prst="rect">
            <a:avLst/>
          </a:prstGeom>
          <a:solidFill>
            <a:srgbClr val="FFFFFF"/>
          </a:solidFill>
          <a:ln w="6350">
            <a:solidFill>
              <a:srgbClr val="D1DDE8"/>
            </a:solidFill>
            <a:prstDash val="solid"/>
          </a:ln>
        </p:spPr>
        <p:txBody>
          <a:bodyPr/>
          <a:lstStyle/>
          <a:p>
            <a:endParaRPr lang="en-US"/>
          </a:p>
        </p:txBody>
      </p:sp>
      <p:sp>
        <p:nvSpPr>
          <p:cNvPr id="59" name="Text 57"/>
          <p:cNvSpPr/>
          <p:nvPr/>
        </p:nvSpPr>
        <p:spPr>
          <a:xfrm>
            <a:off x="2542032" y="3368421"/>
            <a:ext cx="1298448" cy="483489"/>
          </a:xfrm>
          <a:prstGeom prst="rect">
            <a:avLst/>
          </a:prstGeom>
          <a:noFill/>
          <a:ln/>
        </p:spPr>
        <p:txBody>
          <a:bodyPr wrap="square" lIns="0" tIns="0" rIns="0" bIns="0" rtlCol="0" anchor="ctr"/>
          <a:lstStyle/>
          <a:p>
            <a:pPr marL="0" indent="0">
              <a:buNone/>
            </a:pPr>
            <a:r>
              <a:rPr lang="en-US" sz="850" b="1" dirty="0">
                <a:solidFill>
                  <a:srgbClr val="DC2626"/>
                </a:solidFill>
                <a:latin typeface="Calibri" pitchFamily="34" charset="0"/>
                <a:ea typeface="Calibri" pitchFamily="34" charset="-122"/>
                <a:cs typeface="Calibri" pitchFamily="34" charset="-120"/>
              </a:rPr>
              <a:t>NO</a:t>
            </a:r>
            <a:endParaRPr lang="en-US" sz="850" dirty="0"/>
          </a:p>
        </p:txBody>
      </p:sp>
      <p:sp>
        <p:nvSpPr>
          <p:cNvPr id="60" name="Shape 58"/>
          <p:cNvSpPr/>
          <p:nvPr/>
        </p:nvSpPr>
        <p:spPr>
          <a:xfrm>
            <a:off x="3895344" y="3350133"/>
            <a:ext cx="1005840" cy="520065"/>
          </a:xfrm>
          <a:prstGeom prst="rect">
            <a:avLst/>
          </a:prstGeom>
          <a:solidFill>
            <a:srgbClr val="FFFFFF"/>
          </a:solidFill>
          <a:ln w="6350">
            <a:solidFill>
              <a:srgbClr val="D1DDE8"/>
            </a:solidFill>
            <a:prstDash val="solid"/>
          </a:ln>
        </p:spPr>
        <p:txBody>
          <a:bodyPr/>
          <a:lstStyle/>
          <a:p>
            <a:endParaRPr lang="en-US"/>
          </a:p>
        </p:txBody>
      </p:sp>
      <p:sp>
        <p:nvSpPr>
          <p:cNvPr id="61" name="Text 59"/>
          <p:cNvSpPr/>
          <p:nvPr/>
        </p:nvSpPr>
        <p:spPr>
          <a:xfrm>
            <a:off x="3931920" y="3368421"/>
            <a:ext cx="93268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Minimal</a:t>
            </a:r>
            <a:endParaRPr lang="en-US" sz="850" dirty="0"/>
          </a:p>
        </p:txBody>
      </p:sp>
      <p:sp>
        <p:nvSpPr>
          <p:cNvPr id="62" name="Shape 60"/>
          <p:cNvSpPr/>
          <p:nvPr/>
        </p:nvSpPr>
        <p:spPr>
          <a:xfrm>
            <a:off x="4919472" y="3350133"/>
            <a:ext cx="3840480" cy="520065"/>
          </a:xfrm>
          <a:prstGeom prst="rect">
            <a:avLst/>
          </a:prstGeom>
          <a:solidFill>
            <a:srgbClr val="FFFFFF"/>
          </a:solidFill>
          <a:ln w="6350">
            <a:solidFill>
              <a:srgbClr val="D1DDE8"/>
            </a:solidFill>
            <a:prstDash val="solid"/>
          </a:ln>
        </p:spPr>
        <p:txBody>
          <a:bodyPr/>
          <a:lstStyle/>
          <a:p>
            <a:endParaRPr lang="en-US"/>
          </a:p>
        </p:txBody>
      </p:sp>
      <p:sp>
        <p:nvSpPr>
          <p:cNvPr id="63" name="Text 61"/>
          <p:cNvSpPr/>
          <p:nvPr/>
        </p:nvSpPr>
        <p:spPr>
          <a:xfrm>
            <a:off x="4956048" y="3368421"/>
            <a:ext cx="376732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General workforce; number matching required (blocks fatigue)</a:t>
            </a:r>
            <a:endParaRPr lang="en-US" sz="850" dirty="0"/>
          </a:p>
        </p:txBody>
      </p:sp>
      <p:sp>
        <p:nvSpPr>
          <p:cNvPr id="64" name="Shape 62"/>
          <p:cNvSpPr/>
          <p:nvPr/>
        </p:nvSpPr>
        <p:spPr>
          <a:xfrm>
            <a:off x="182880" y="3870198"/>
            <a:ext cx="1645920" cy="520065"/>
          </a:xfrm>
          <a:prstGeom prst="rect">
            <a:avLst/>
          </a:prstGeom>
          <a:solidFill>
            <a:srgbClr val="EEF8F5"/>
          </a:solidFill>
          <a:ln w="6350">
            <a:solidFill>
              <a:srgbClr val="D1DDE8"/>
            </a:solidFill>
            <a:prstDash val="solid"/>
          </a:ln>
        </p:spPr>
        <p:txBody>
          <a:bodyPr/>
          <a:lstStyle/>
          <a:p>
            <a:endParaRPr lang="en-US"/>
          </a:p>
        </p:txBody>
      </p:sp>
      <p:sp>
        <p:nvSpPr>
          <p:cNvPr id="65" name="Text 63"/>
          <p:cNvSpPr/>
          <p:nvPr/>
        </p:nvSpPr>
        <p:spPr>
          <a:xfrm>
            <a:off x="219456" y="3888486"/>
            <a:ext cx="157276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SMS OTP</a:t>
            </a:r>
            <a:endParaRPr lang="en-US" sz="850" dirty="0"/>
          </a:p>
        </p:txBody>
      </p:sp>
      <p:sp>
        <p:nvSpPr>
          <p:cNvPr id="66" name="Shape 64"/>
          <p:cNvSpPr/>
          <p:nvPr/>
        </p:nvSpPr>
        <p:spPr>
          <a:xfrm>
            <a:off x="1847088" y="3870198"/>
            <a:ext cx="640080" cy="520065"/>
          </a:xfrm>
          <a:prstGeom prst="rect">
            <a:avLst/>
          </a:prstGeom>
          <a:solidFill>
            <a:srgbClr val="EEF8F5"/>
          </a:solidFill>
          <a:ln w="6350">
            <a:solidFill>
              <a:srgbClr val="D1DDE8"/>
            </a:solidFill>
            <a:prstDash val="solid"/>
          </a:ln>
        </p:spPr>
        <p:txBody>
          <a:bodyPr/>
          <a:lstStyle/>
          <a:p>
            <a:endParaRPr lang="en-US"/>
          </a:p>
        </p:txBody>
      </p:sp>
      <p:sp>
        <p:nvSpPr>
          <p:cNvPr id="67" name="Text 65"/>
          <p:cNvSpPr/>
          <p:nvPr/>
        </p:nvSpPr>
        <p:spPr>
          <a:xfrm>
            <a:off x="1883664" y="3888486"/>
            <a:ext cx="56692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AAL2</a:t>
            </a:r>
            <a:endParaRPr lang="en-US" sz="850" dirty="0"/>
          </a:p>
        </p:txBody>
      </p:sp>
      <p:sp>
        <p:nvSpPr>
          <p:cNvPr id="68" name="Shape 66"/>
          <p:cNvSpPr/>
          <p:nvPr/>
        </p:nvSpPr>
        <p:spPr>
          <a:xfrm>
            <a:off x="2505456" y="3870198"/>
            <a:ext cx="1371600" cy="520065"/>
          </a:xfrm>
          <a:prstGeom prst="rect">
            <a:avLst/>
          </a:prstGeom>
          <a:solidFill>
            <a:srgbClr val="EEF8F5"/>
          </a:solidFill>
          <a:ln w="6350">
            <a:solidFill>
              <a:srgbClr val="D1DDE8"/>
            </a:solidFill>
            <a:prstDash val="solid"/>
          </a:ln>
        </p:spPr>
        <p:txBody>
          <a:bodyPr/>
          <a:lstStyle/>
          <a:p>
            <a:endParaRPr lang="en-US"/>
          </a:p>
        </p:txBody>
      </p:sp>
      <p:sp>
        <p:nvSpPr>
          <p:cNvPr id="69" name="Text 67"/>
          <p:cNvSpPr/>
          <p:nvPr/>
        </p:nvSpPr>
        <p:spPr>
          <a:xfrm>
            <a:off x="2542032" y="3888486"/>
            <a:ext cx="1298448" cy="483489"/>
          </a:xfrm>
          <a:prstGeom prst="rect">
            <a:avLst/>
          </a:prstGeom>
          <a:noFill/>
          <a:ln/>
        </p:spPr>
        <p:txBody>
          <a:bodyPr wrap="square" lIns="0" tIns="0" rIns="0" bIns="0" rtlCol="0" anchor="ctr"/>
          <a:lstStyle/>
          <a:p>
            <a:pPr marL="0" indent="0">
              <a:buNone/>
            </a:pPr>
            <a:r>
              <a:rPr lang="en-US" sz="850" b="1" dirty="0">
                <a:solidFill>
                  <a:srgbClr val="DC2626"/>
                </a:solidFill>
                <a:latin typeface="Calibri" pitchFamily="34" charset="0"/>
                <a:ea typeface="Calibri" pitchFamily="34" charset="-122"/>
                <a:cs typeface="Calibri" pitchFamily="34" charset="-120"/>
              </a:rPr>
              <a:t>NO</a:t>
            </a:r>
            <a:endParaRPr lang="en-US" sz="850" dirty="0"/>
          </a:p>
        </p:txBody>
      </p:sp>
      <p:sp>
        <p:nvSpPr>
          <p:cNvPr id="70" name="Shape 68"/>
          <p:cNvSpPr/>
          <p:nvPr/>
        </p:nvSpPr>
        <p:spPr>
          <a:xfrm>
            <a:off x="3895344" y="3870198"/>
            <a:ext cx="1005840" cy="520065"/>
          </a:xfrm>
          <a:prstGeom prst="rect">
            <a:avLst/>
          </a:prstGeom>
          <a:solidFill>
            <a:srgbClr val="EEF8F5"/>
          </a:solidFill>
          <a:ln w="6350">
            <a:solidFill>
              <a:srgbClr val="D1DDE8"/>
            </a:solidFill>
            <a:prstDash val="solid"/>
          </a:ln>
        </p:spPr>
        <p:txBody>
          <a:bodyPr/>
          <a:lstStyle/>
          <a:p>
            <a:endParaRPr lang="en-US"/>
          </a:p>
        </p:txBody>
      </p:sp>
      <p:sp>
        <p:nvSpPr>
          <p:cNvPr id="71" name="Text 69"/>
          <p:cNvSpPr/>
          <p:nvPr/>
        </p:nvSpPr>
        <p:spPr>
          <a:xfrm>
            <a:off x="3931920" y="3888486"/>
            <a:ext cx="93268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Low</a:t>
            </a:r>
            <a:endParaRPr lang="en-US" sz="850" dirty="0"/>
          </a:p>
        </p:txBody>
      </p:sp>
      <p:sp>
        <p:nvSpPr>
          <p:cNvPr id="72" name="Shape 70"/>
          <p:cNvSpPr/>
          <p:nvPr/>
        </p:nvSpPr>
        <p:spPr>
          <a:xfrm>
            <a:off x="4919472" y="3870198"/>
            <a:ext cx="3840480" cy="520065"/>
          </a:xfrm>
          <a:prstGeom prst="rect">
            <a:avLst/>
          </a:prstGeom>
          <a:solidFill>
            <a:srgbClr val="EEF8F5"/>
          </a:solidFill>
          <a:ln w="6350">
            <a:solidFill>
              <a:srgbClr val="D1DDE8"/>
            </a:solidFill>
            <a:prstDash val="solid"/>
          </a:ln>
        </p:spPr>
        <p:txBody>
          <a:bodyPr/>
          <a:lstStyle/>
          <a:p>
            <a:endParaRPr lang="en-US"/>
          </a:p>
        </p:txBody>
      </p:sp>
      <p:sp>
        <p:nvSpPr>
          <p:cNvPr id="73" name="Text 71"/>
          <p:cNvSpPr/>
          <p:nvPr/>
        </p:nvSpPr>
        <p:spPr>
          <a:xfrm>
            <a:off x="4956048" y="3888486"/>
            <a:ext cx="376732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Fallback only; not recommended for new implementations</a:t>
            </a:r>
            <a:endParaRPr lang="en-US" sz="850" dirty="0"/>
          </a:p>
        </p:txBody>
      </p:sp>
      <p:sp>
        <p:nvSpPr>
          <p:cNvPr id="74" name="Shape 72"/>
          <p:cNvSpPr/>
          <p:nvPr/>
        </p:nvSpPr>
        <p:spPr>
          <a:xfrm>
            <a:off x="182880" y="4390263"/>
            <a:ext cx="1645920" cy="520065"/>
          </a:xfrm>
          <a:prstGeom prst="rect">
            <a:avLst/>
          </a:prstGeom>
          <a:solidFill>
            <a:srgbClr val="FFFFFF"/>
          </a:solidFill>
          <a:ln w="6350">
            <a:solidFill>
              <a:srgbClr val="D1DDE8"/>
            </a:solidFill>
            <a:prstDash val="solid"/>
          </a:ln>
        </p:spPr>
        <p:txBody>
          <a:bodyPr/>
          <a:lstStyle/>
          <a:p>
            <a:endParaRPr lang="en-US"/>
          </a:p>
        </p:txBody>
      </p:sp>
      <p:sp>
        <p:nvSpPr>
          <p:cNvPr id="75" name="Text 73"/>
          <p:cNvSpPr/>
          <p:nvPr/>
        </p:nvSpPr>
        <p:spPr>
          <a:xfrm>
            <a:off x="219456" y="4408551"/>
            <a:ext cx="157276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Smart Card / PIV / CBA</a:t>
            </a:r>
            <a:endParaRPr lang="en-US" sz="850" dirty="0"/>
          </a:p>
        </p:txBody>
      </p:sp>
      <p:sp>
        <p:nvSpPr>
          <p:cNvPr id="76" name="Shape 74"/>
          <p:cNvSpPr/>
          <p:nvPr/>
        </p:nvSpPr>
        <p:spPr>
          <a:xfrm>
            <a:off x="1847088" y="4390263"/>
            <a:ext cx="640080" cy="520065"/>
          </a:xfrm>
          <a:prstGeom prst="rect">
            <a:avLst/>
          </a:prstGeom>
          <a:solidFill>
            <a:srgbClr val="FFFFFF"/>
          </a:solidFill>
          <a:ln w="6350">
            <a:solidFill>
              <a:srgbClr val="D1DDE8"/>
            </a:solidFill>
            <a:prstDash val="solid"/>
          </a:ln>
        </p:spPr>
        <p:txBody>
          <a:bodyPr/>
          <a:lstStyle/>
          <a:p>
            <a:endParaRPr lang="en-US"/>
          </a:p>
        </p:txBody>
      </p:sp>
      <p:sp>
        <p:nvSpPr>
          <p:cNvPr id="77" name="Text 75"/>
          <p:cNvSpPr/>
          <p:nvPr/>
        </p:nvSpPr>
        <p:spPr>
          <a:xfrm>
            <a:off x="1883664" y="4408551"/>
            <a:ext cx="56692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AAL3</a:t>
            </a:r>
            <a:endParaRPr lang="en-US" sz="850" dirty="0"/>
          </a:p>
        </p:txBody>
      </p:sp>
      <p:sp>
        <p:nvSpPr>
          <p:cNvPr id="78" name="Shape 76"/>
          <p:cNvSpPr/>
          <p:nvPr/>
        </p:nvSpPr>
        <p:spPr>
          <a:xfrm>
            <a:off x="2505456" y="4390263"/>
            <a:ext cx="1371600" cy="520065"/>
          </a:xfrm>
          <a:prstGeom prst="rect">
            <a:avLst/>
          </a:prstGeom>
          <a:solidFill>
            <a:srgbClr val="FFFFFF"/>
          </a:solidFill>
          <a:ln w="6350">
            <a:solidFill>
              <a:srgbClr val="D1DDE8"/>
            </a:solidFill>
            <a:prstDash val="solid"/>
          </a:ln>
        </p:spPr>
        <p:txBody>
          <a:bodyPr/>
          <a:lstStyle/>
          <a:p>
            <a:endParaRPr lang="en-US"/>
          </a:p>
        </p:txBody>
      </p:sp>
      <p:sp>
        <p:nvSpPr>
          <p:cNvPr id="79" name="Text 77"/>
          <p:cNvSpPr/>
          <p:nvPr/>
        </p:nvSpPr>
        <p:spPr>
          <a:xfrm>
            <a:off x="2542032" y="4408551"/>
            <a:ext cx="1298448" cy="483489"/>
          </a:xfrm>
          <a:prstGeom prst="rect">
            <a:avLst/>
          </a:prstGeom>
          <a:noFill/>
          <a:ln/>
        </p:spPr>
        <p:txBody>
          <a:bodyPr wrap="square" lIns="0" tIns="0" rIns="0" bIns="0" rtlCol="0" anchor="ctr"/>
          <a:lstStyle/>
          <a:p>
            <a:pPr marL="0" indent="0">
              <a:buNone/>
            </a:pPr>
            <a:r>
              <a:rPr lang="en-US" sz="850" b="1" dirty="0">
                <a:solidFill>
                  <a:srgbClr val="0D9488"/>
                </a:solidFill>
                <a:latin typeface="Calibri" pitchFamily="34" charset="0"/>
                <a:ea typeface="Calibri" pitchFamily="34" charset="-122"/>
                <a:cs typeface="Calibri" pitchFamily="34" charset="-120"/>
              </a:rPr>
              <a:t>YES</a:t>
            </a:r>
            <a:endParaRPr lang="en-US" sz="850" dirty="0"/>
          </a:p>
        </p:txBody>
      </p:sp>
      <p:sp>
        <p:nvSpPr>
          <p:cNvPr id="80" name="Shape 78"/>
          <p:cNvSpPr/>
          <p:nvPr/>
        </p:nvSpPr>
        <p:spPr>
          <a:xfrm>
            <a:off x="3895344" y="4390263"/>
            <a:ext cx="1005840" cy="520065"/>
          </a:xfrm>
          <a:prstGeom prst="rect">
            <a:avLst/>
          </a:prstGeom>
          <a:solidFill>
            <a:srgbClr val="FFFFFF"/>
          </a:solidFill>
          <a:ln w="6350">
            <a:solidFill>
              <a:srgbClr val="D1DDE8"/>
            </a:solidFill>
            <a:prstDash val="solid"/>
          </a:ln>
        </p:spPr>
        <p:txBody>
          <a:bodyPr/>
          <a:lstStyle/>
          <a:p>
            <a:endParaRPr lang="en-US"/>
          </a:p>
        </p:txBody>
      </p:sp>
      <p:sp>
        <p:nvSpPr>
          <p:cNvPr id="81" name="Text 79"/>
          <p:cNvSpPr/>
          <p:nvPr/>
        </p:nvSpPr>
        <p:spPr>
          <a:xfrm>
            <a:off x="3931920" y="4408551"/>
            <a:ext cx="93268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Moderate (card + PIN)</a:t>
            </a:r>
            <a:endParaRPr lang="en-US" sz="850" dirty="0"/>
          </a:p>
        </p:txBody>
      </p:sp>
      <p:sp>
        <p:nvSpPr>
          <p:cNvPr id="82" name="Shape 80"/>
          <p:cNvSpPr/>
          <p:nvPr/>
        </p:nvSpPr>
        <p:spPr>
          <a:xfrm>
            <a:off x="4919472" y="4390263"/>
            <a:ext cx="3840480" cy="520065"/>
          </a:xfrm>
          <a:prstGeom prst="rect">
            <a:avLst/>
          </a:prstGeom>
          <a:solidFill>
            <a:srgbClr val="FFFFFF"/>
          </a:solidFill>
          <a:ln w="6350">
            <a:solidFill>
              <a:srgbClr val="D1DDE8"/>
            </a:solidFill>
            <a:prstDash val="solid"/>
          </a:ln>
        </p:spPr>
        <p:txBody>
          <a:bodyPr/>
          <a:lstStyle/>
          <a:p>
            <a:endParaRPr lang="en-US"/>
          </a:p>
        </p:txBody>
      </p:sp>
      <p:sp>
        <p:nvSpPr>
          <p:cNvPr id="83" name="Text 81"/>
          <p:cNvSpPr/>
          <p:nvPr/>
        </p:nvSpPr>
        <p:spPr>
          <a:xfrm>
            <a:off x="4956048" y="4408551"/>
            <a:ext cx="3767328" cy="483489"/>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Government, defense, high-assurance environments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4C75"/>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98B"/>
          </a:solidFill>
          <a:ln w="12700">
            <a:solidFill>
              <a:srgbClr val="1B998B"/>
            </a:solidFill>
            <a:prstDash val="solid"/>
          </a:ln>
        </p:spPr>
        <p:txBody>
          <a:bodyPr/>
          <a:lstStyle/>
          <a:p>
            <a:endParaRPr lang="en-US"/>
          </a:p>
        </p:txBody>
      </p:sp>
      <p:sp>
        <p:nvSpPr>
          <p:cNvPr id="3" name="Text 1"/>
          <p:cNvSpPr/>
          <p:nvPr/>
        </p:nvSpPr>
        <p:spPr>
          <a:xfrm>
            <a:off x="6858000" y="731520"/>
            <a:ext cx="2103120" cy="2560320"/>
          </a:xfrm>
          <a:prstGeom prst="rect">
            <a:avLst/>
          </a:prstGeom>
          <a:noFill/>
          <a:ln/>
        </p:spPr>
        <p:txBody>
          <a:bodyPr wrap="square" lIns="0" tIns="0" rIns="0" bIns="0" rtlCol="0" anchor="ctr"/>
          <a:lstStyle/>
          <a:p>
            <a:pPr marL="0" indent="0" algn="r">
              <a:buNone/>
            </a:pPr>
            <a:r>
              <a:rPr lang="en-US" sz="14000" b="1" dirty="0">
                <a:solidFill>
                  <a:srgbClr val="1A4A66"/>
                </a:solidFill>
                <a:latin typeface="Calibri" pitchFamily="34" charset="0"/>
                <a:ea typeface="Calibri" pitchFamily="34" charset="-122"/>
                <a:cs typeface="Calibri" pitchFamily="34" charset="-120"/>
              </a:rPr>
              <a:t>04</a:t>
            </a:r>
            <a:endParaRPr lang="en-US" sz="14000" dirty="0"/>
          </a:p>
        </p:txBody>
      </p:sp>
      <p:sp>
        <p:nvSpPr>
          <p:cNvPr id="4" name="Text 2"/>
          <p:cNvSpPr/>
          <p:nvPr/>
        </p:nvSpPr>
        <p:spPr>
          <a:xfrm>
            <a:off x="320040" y="1600200"/>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SSO Architecture</a:t>
            </a:r>
            <a:endParaRPr lang="en-US" sz="3000" dirty="0"/>
          </a:p>
        </p:txBody>
      </p:sp>
      <p:sp>
        <p:nvSpPr>
          <p:cNvPr id="5" name="Shape 3"/>
          <p:cNvSpPr/>
          <p:nvPr/>
        </p:nvSpPr>
        <p:spPr>
          <a:xfrm>
            <a:off x="320040" y="2468880"/>
            <a:ext cx="6217920" cy="0"/>
          </a:xfrm>
          <a:prstGeom prst="line">
            <a:avLst/>
          </a:prstGeom>
          <a:noFill/>
          <a:ln w="6350">
            <a:solidFill>
              <a:srgbClr val="8AAFC4"/>
            </a:solidFill>
            <a:prstDash val="solid"/>
          </a:ln>
        </p:spPr>
        <p:txBody>
          <a:bodyPr/>
          <a:lstStyle/>
          <a:p>
            <a:endParaRPr lang="en-US"/>
          </a:p>
        </p:txBody>
      </p:sp>
      <p:sp>
        <p:nvSpPr>
          <p:cNvPr id="6" name="Text 4"/>
          <p:cNvSpPr/>
          <p:nvPr/>
        </p:nvSpPr>
        <p:spPr>
          <a:xfrm>
            <a:off x="320040" y="2542032"/>
            <a:ext cx="6400800" cy="457200"/>
          </a:xfrm>
          <a:prstGeom prst="rect">
            <a:avLst/>
          </a:prstGeom>
          <a:noFill/>
          <a:ln/>
        </p:spPr>
        <p:txBody>
          <a:bodyPr wrap="square" lIns="0" tIns="0" rIns="0" bIns="0" rtlCol="0" anchor="ctr"/>
          <a:lstStyle/>
          <a:p>
            <a:pPr marL="0" indent="0">
              <a:buNone/>
            </a:pPr>
            <a:r>
              <a:rPr lang="en-US" sz="1400" i="1" dirty="0">
                <a:solidFill>
                  <a:srgbClr val="C9E4F0"/>
                </a:solidFill>
                <a:latin typeface="Calibri" pitchFamily="34" charset="0"/>
                <a:ea typeface="Calibri" pitchFamily="34" charset="-122"/>
                <a:cs typeface="Calibri" pitchFamily="34" charset="-120"/>
              </a:rPr>
              <a:t>SAML 2.0, OIDC/OAuth 2.0, and Kerberos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75"/>
          </a:solidFill>
          <a:ln w="12700">
            <a:solidFill>
              <a:srgbClr val="0F4C75"/>
            </a:solidFill>
            <a:prstDash val="solid"/>
          </a:ln>
        </p:spPr>
        <p:txBody>
          <a:bodyPr/>
          <a:lstStyle/>
          <a:p>
            <a:endParaRPr lang="en-US"/>
          </a:p>
        </p:txBody>
      </p:sp>
      <p:sp>
        <p:nvSpPr>
          <p:cNvPr id="3" name="Text 1"/>
          <p:cNvSpPr/>
          <p:nvPr/>
        </p:nvSpPr>
        <p:spPr>
          <a:xfrm>
            <a:off x="457200" y="0"/>
            <a:ext cx="82296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SSO Reference Architecture</a:t>
            </a:r>
            <a:endParaRPr lang="en-US" sz="2200" dirty="0"/>
          </a:p>
        </p:txBody>
      </p:sp>
      <p:sp>
        <p:nvSpPr>
          <p:cNvPr id="4" name="Shape 2"/>
          <p:cNvSpPr/>
          <p:nvPr/>
        </p:nvSpPr>
        <p:spPr>
          <a:xfrm>
            <a:off x="182880" y="777240"/>
            <a:ext cx="8778240" cy="4160520"/>
          </a:xfrm>
          <a:prstGeom prst="rect">
            <a:avLst/>
          </a:prstGeom>
          <a:solidFill>
            <a:srgbClr val="EBF4F8"/>
          </a:solidFill>
          <a:ln w="12700">
            <a:solidFill>
              <a:srgbClr val="C9E4F0"/>
            </a:solidFill>
            <a:prstDash val="solid"/>
          </a:ln>
        </p:spPr>
        <p:txBody>
          <a:bodyPr/>
          <a:lstStyle/>
          <a:p>
            <a:endParaRPr lang="en-US"/>
          </a:p>
        </p:txBody>
      </p:sp>
      <p:sp>
        <p:nvSpPr>
          <p:cNvPr id="5" name="Shape 3"/>
          <p:cNvSpPr/>
          <p:nvPr/>
        </p:nvSpPr>
        <p:spPr>
          <a:xfrm>
            <a:off x="274320" y="841248"/>
            <a:ext cx="8595360" cy="457200"/>
          </a:xfrm>
          <a:prstGeom prst="rect">
            <a:avLst/>
          </a:prstGeom>
          <a:solidFill>
            <a:srgbClr val="0F4C75"/>
          </a:solidFill>
          <a:ln w="12700">
            <a:solidFill>
              <a:srgbClr val="0F4C75"/>
            </a:solidFill>
            <a:prstDash val="solid"/>
          </a:ln>
        </p:spPr>
        <p:txBody>
          <a:bodyPr/>
          <a:lstStyle/>
          <a:p>
            <a:endParaRPr lang="en-US"/>
          </a:p>
        </p:txBody>
      </p:sp>
      <p:sp>
        <p:nvSpPr>
          <p:cNvPr id="6" name="Text 4"/>
          <p:cNvSpPr/>
          <p:nvPr/>
        </p:nvSpPr>
        <p:spPr>
          <a:xfrm>
            <a:off x="274320" y="841248"/>
            <a:ext cx="8595360" cy="457200"/>
          </a:xfrm>
          <a:prstGeom prst="rect">
            <a:avLst/>
          </a:prstGeom>
          <a:noFill/>
          <a:ln/>
        </p:spPr>
        <p:txBody>
          <a:bodyPr wrap="square" lIns="0" tIns="0" rIns="0" bIns="0" rtlCol="0" anchor="ctr"/>
          <a:lstStyle/>
          <a:p>
            <a:pPr marL="0" indent="0" algn="ctr">
              <a:buNone/>
            </a:pPr>
            <a:r>
              <a:rPr lang="en-US" sz="1100" b="1" dirty="0">
                <a:solidFill>
                  <a:srgbClr val="1B998B"/>
                </a:solidFill>
                <a:latin typeface="Calibri" pitchFamily="34" charset="0"/>
                <a:ea typeface="Calibri" pitchFamily="34" charset="-122"/>
                <a:cs typeface="Calibri" pitchFamily="34" charset="-120"/>
              </a:rPr>
              <a:t>USER</a:t>
            </a:r>
            <a:endParaRPr lang="en-US" sz="1100" dirty="0"/>
          </a:p>
        </p:txBody>
      </p:sp>
      <p:sp>
        <p:nvSpPr>
          <p:cNvPr id="7" name="Shape 5"/>
          <p:cNvSpPr/>
          <p:nvPr/>
        </p:nvSpPr>
        <p:spPr>
          <a:xfrm>
            <a:off x="457200" y="1408176"/>
            <a:ext cx="1371600" cy="502920"/>
          </a:xfrm>
          <a:prstGeom prst="rect">
            <a:avLst/>
          </a:prstGeom>
          <a:solidFill>
            <a:srgbClr val="FFFFFF"/>
          </a:solidFill>
          <a:ln w="12700">
            <a:solidFill>
              <a:srgbClr val="8AAFC4"/>
            </a:solidFill>
            <a:prstDash val="solid"/>
          </a:ln>
          <a:effectLst>
            <a:outerShdw blurRad="63500" dist="25400" dir="8100000" algn="bl" rotWithShape="0">
              <a:srgbClr val="000000">
                <a:alpha val="12000"/>
              </a:srgbClr>
            </a:outerShdw>
          </a:effectLst>
        </p:spPr>
        <p:txBody>
          <a:bodyPr/>
          <a:lstStyle/>
          <a:p>
            <a:endParaRPr lang="en-US"/>
          </a:p>
        </p:txBody>
      </p:sp>
      <p:sp>
        <p:nvSpPr>
          <p:cNvPr id="8" name="Text 6"/>
          <p:cNvSpPr/>
          <p:nvPr/>
        </p:nvSpPr>
        <p:spPr>
          <a:xfrm>
            <a:off x="457200" y="1408176"/>
            <a:ext cx="1371600" cy="502920"/>
          </a:xfrm>
          <a:prstGeom prst="rect">
            <a:avLst/>
          </a:prstGeom>
          <a:noFill/>
          <a:ln/>
        </p:spPr>
        <p:txBody>
          <a:bodyPr wrap="square" lIns="0" tIns="0" rIns="0" bIns="0" rtlCol="0" anchor="ctr"/>
          <a:lstStyle/>
          <a:p>
            <a:pPr marL="0" indent="0" algn="ctr">
              <a:buNone/>
            </a:pPr>
            <a:r>
              <a:rPr lang="en-US" sz="900" dirty="0">
                <a:solidFill>
                  <a:srgbClr val="0F4C75"/>
                </a:solidFill>
                <a:latin typeface="Calibri" pitchFamily="34" charset="0"/>
                <a:ea typeface="Calibri" pitchFamily="34" charset="-122"/>
                <a:cs typeface="Calibri" pitchFamily="34" charset="-120"/>
              </a:rPr>
              <a:t>Browser</a:t>
            </a:r>
            <a:endParaRPr lang="en-US" sz="900" dirty="0"/>
          </a:p>
          <a:p>
            <a:pPr marL="0" indent="0" algn="ctr">
              <a:buNone/>
            </a:pPr>
            <a:r>
              <a:rPr lang="en-US" sz="900" dirty="0">
                <a:solidFill>
                  <a:srgbClr val="0F4C75"/>
                </a:solidFill>
                <a:latin typeface="Calibri" pitchFamily="34" charset="0"/>
                <a:ea typeface="Calibri" pitchFamily="34" charset="-122"/>
                <a:cs typeface="Calibri" pitchFamily="34" charset="-120"/>
              </a:rPr>
              <a:t>(Web App)</a:t>
            </a:r>
            <a:endParaRPr lang="en-US" sz="900" dirty="0"/>
          </a:p>
        </p:txBody>
      </p:sp>
      <p:sp>
        <p:nvSpPr>
          <p:cNvPr id="9" name="Shape 7"/>
          <p:cNvSpPr/>
          <p:nvPr/>
        </p:nvSpPr>
        <p:spPr>
          <a:xfrm>
            <a:off x="2084832" y="1408176"/>
            <a:ext cx="1371600" cy="502920"/>
          </a:xfrm>
          <a:prstGeom prst="rect">
            <a:avLst/>
          </a:prstGeom>
          <a:solidFill>
            <a:srgbClr val="FFFFFF"/>
          </a:solidFill>
          <a:ln w="12700">
            <a:solidFill>
              <a:srgbClr val="8AAFC4"/>
            </a:solidFill>
            <a:prstDash val="solid"/>
          </a:ln>
          <a:effectLst>
            <a:outerShdw blurRad="63500" dist="25400" dir="8100000" algn="bl" rotWithShape="0">
              <a:srgbClr val="000000">
                <a:alpha val="12000"/>
              </a:srgbClr>
            </a:outerShdw>
          </a:effectLst>
        </p:spPr>
        <p:txBody>
          <a:bodyPr/>
          <a:lstStyle/>
          <a:p>
            <a:endParaRPr lang="en-US"/>
          </a:p>
        </p:txBody>
      </p:sp>
      <p:sp>
        <p:nvSpPr>
          <p:cNvPr id="10" name="Text 8"/>
          <p:cNvSpPr/>
          <p:nvPr/>
        </p:nvSpPr>
        <p:spPr>
          <a:xfrm>
            <a:off x="2084832" y="1408176"/>
            <a:ext cx="1371600" cy="502920"/>
          </a:xfrm>
          <a:prstGeom prst="rect">
            <a:avLst/>
          </a:prstGeom>
          <a:noFill/>
          <a:ln/>
        </p:spPr>
        <p:txBody>
          <a:bodyPr wrap="square" lIns="0" tIns="0" rIns="0" bIns="0" rtlCol="0" anchor="ctr"/>
          <a:lstStyle/>
          <a:p>
            <a:pPr marL="0" indent="0" algn="ctr">
              <a:buNone/>
            </a:pPr>
            <a:r>
              <a:rPr lang="en-US" sz="900" dirty="0">
                <a:solidFill>
                  <a:srgbClr val="0F4C75"/>
                </a:solidFill>
                <a:latin typeface="Calibri" pitchFamily="34" charset="0"/>
                <a:ea typeface="Calibri" pitchFamily="34" charset="-122"/>
                <a:cs typeface="Calibri" pitchFamily="34" charset="-120"/>
              </a:rPr>
              <a:t>Mobile</a:t>
            </a:r>
            <a:endParaRPr lang="en-US" sz="900" dirty="0"/>
          </a:p>
          <a:p>
            <a:pPr marL="0" indent="0" algn="ctr">
              <a:buNone/>
            </a:pPr>
            <a:r>
              <a:rPr lang="en-US" sz="900" dirty="0">
                <a:solidFill>
                  <a:srgbClr val="0F4C75"/>
                </a:solidFill>
                <a:latin typeface="Calibri" pitchFamily="34" charset="0"/>
                <a:ea typeface="Calibri" pitchFamily="34" charset="-122"/>
                <a:cs typeface="Calibri" pitchFamily="34" charset="-120"/>
              </a:rPr>
              <a:t>App</a:t>
            </a:r>
            <a:endParaRPr lang="en-US" sz="900" dirty="0"/>
          </a:p>
        </p:txBody>
      </p:sp>
      <p:sp>
        <p:nvSpPr>
          <p:cNvPr id="11" name="Shape 9"/>
          <p:cNvSpPr/>
          <p:nvPr/>
        </p:nvSpPr>
        <p:spPr>
          <a:xfrm>
            <a:off x="3712464" y="1408176"/>
            <a:ext cx="1371600" cy="502920"/>
          </a:xfrm>
          <a:prstGeom prst="rect">
            <a:avLst/>
          </a:prstGeom>
          <a:solidFill>
            <a:srgbClr val="FFFFFF"/>
          </a:solidFill>
          <a:ln w="12700">
            <a:solidFill>
              <a:srgbClr val="8AAFC4"/>
            </a:solidFill>
            <a:prstDash val="solid"/>
          </a:ln>
          <a:effectLst>
            <a:outerShdw blurRad="63500" dist="25400" dir="8100000" algn="bl" rotWithShape="0">
              <a:srgbClr val="000000">
                <a:alpha val="12000"/>
              </a:srgbClr>
            </a:outerShdw>
          </a:effectLst>
        </p:spPr>
        <p:txBody>
          <a:bodyPr/>
          <a:lstStyle/>
          <a:p>
            <a:endParaRPr lang="en-US"/>
          </a:p>
        </p:txBody>
      </p:sp>
      <p:sp>
        <p:nvSpPr>
          <p:cNvPr id="12" name="Text 10"/>
          <p:cNvSpPr/>
          <p:nvPr/>
        </p:nvSpPr>
        <p:spPr>
          <a:xfrm>
            <a:off x="3712464" y="1408176"/>
            <a:ext cx="1371600" cy="502920"/>
          </a:xfrm>
          <a:prstGeom prst="rect">
            <a:avLst/>
          </a:prstGeom>
          <a:noFill/>
          <a:ln/>
        </p:spPr>
        <p:txBody>
          <a:bodyPr wrap="square" lIns="0" tIns="0" rIns="0" bIns="0" rtlCol="0" anchor="ctr"/>
          <a:lstStyle/>
          <a:p>
            <a:pPr marL="0" indent="0" algn="ctr">
              <a:buNone/>
            </a:pPr>
            <a:r>
              <a:rPr lang="en-US" sz="900" dirty="0">
                <a:solidFill>
                  <a:srgbClr val="0F4C75"/>
                </a:solidFill>
                <a:latin typeface="Calibri" pitchFamily="34" charset="0"/>
                <a:ea typeface="Calibri" pitchFamily="34" charset="-122"/>
                <a:cs typeface="Calibri" pitchFamily="34" charset="-120"/>
              </a:rPr>
              <a:t>Desktop</a:t>
            </a:r>
            <a:endParaRPr lang="en-US" sz="900" dirty="0"/>
          </a:p>
          <a:p>
            <a:pPr marL="0" indent="0" algn="ctr">
              <a:buNone/>
            </a:pPr>
            <a:r>
              <a:rPr lang="en-US" sz="900" dirty="0">
                <a:solidFill>
                  <a:srgbClr val="0F4C75"/>
                </a:solidFill>
                <a:latin typeface="Calibri" pitchFamily="34" charset="0"/>
                <a:ea typeface="Calibri" pitchFamily="34" charset="-122"/>
                <a:cs typeface="Calibri" pitchFamily="34" charset="-120"/>
              </a:rPr>
              <a:t>(Native)</a:t>
            </a:r>
            <a:endParaRPr lang="en-US" sz="900" dirty="0"/>
          </a:p>
        </p:txBody>
      </p:sp>
      <p:sp>
        <p:nvSpPr>
          <p:cNvPr id="13" name="Shape 11"/>
          <p:cNvSpPr/>
          <p:nvPr/>
        </p:nvSpPr>
        <p:spPr>
          <a:xfrm>
            <a:off x="5340096" y="1408176"/>
            <a:ext cx="1371600" cy="502920"/>
          </a:xfrm>
          <a:prstGeom prst="rect">
            <a:avLst/>
          </a:prstGeom>
          <a:solidFill>
            <a:srgbClr val="FFFFFF"/>
          </a:solidFill>
          <a:ln w="12700">
            <a:solidFill>
              <a:srgbClr val="8AAFC4"/>
            </a:solidFill>
            <a:prstDash val="solid"/>
          </a:ln>
          <a:effectLst>
            <a:outerShdw blurRad="63500" dist="25400" dir="8100000" algn="bl" rotWithShape="0">
              <a:srgbClr val="000000">
                <a:alpha val="12000"/>
              </a:srgbClr>
            </a:outerShdw>
          </a:effectLst>
        </p:spPr>
        <p:txBody>
          <a:bodyPr/>
          <a:lstStyle/>
          <a:p>
            <a:endParaRPr lang="en-US"/>
          </a:p>
        </p:txBody>
      </p:sp>
      <p:sp>
        <p:nvSpPr>
          <p:cNvPr id="14" name="Text 12"/>
          <p:cNvSpPr/>
          <p:nvPr/>
        </p:nvSpPr>
        <p:spPr>
          <a:xfrm>
            <a:off x="5340096" y="1408176"/>
            <a:ext cx="1371600" cy="502920"/>
          </a:xfrm>
          <a:prstGeom prst="rect">
            <a:avLst/>
          </a:prstGeom>
          <a:noFill/>
          <a:ln/>
        </p:spPr>
        <p:txBody>
          <a:bodyPr wrap="square" lIns="0" tIns="0" rIns="0" bIns="0" rtlCol="0" anchor="ctr"/>
          <a:lstStyle/>
          <a:p>
            <a:pPr marL="0" indent="0" algn="ctr">
              <a:buNone/>
            </a:pPr>
            <a:r>
              <a:rPr lang="en-US" sz="900" dirty="0">
                <a:solidFill>
                  <a:srgbClr val="0F4C75"/>
                </a:solidFill>
                <a:latin typeface="Calibri" pitchFamily="34" charset="0"/>
                <a:ea typeface="Calibri" pitchFamily="34" charset="-122"/>
                <a:cs typeface="Calibri" pitchFamily="34" charset="-120"/>
              </a:rPr>
              <a:t>API</a:t>
            </a:r>
            <a:endParaRPr lang="en-US" sz="900" dirty="0"/>
          </a:p>
          <a:p>
            <a:pPr marL="0" indent="0" algn="ctr">
              <a:buNone/>
            </a:pPr>
            <a:r>
              <a:rPr lang="en-US" sz="900" dirty="0">
                <a:solidFill>
                  <a:srgbClr val="0F4C75"/>
                </a:solidFill>
                <a:latin typeface="Calibri" pitchFamily="34" charset="0"/>
                <a:ea typeface="Calibri" pitchFamily="34" charset="-122"/>
                <a:cs typeface="Calibri" pitchFamily="34" charset="-120"/>
              </a:rPr>
              <a:t>Client</a:t>
            </a:r>
            <a:endParaRPr lang="en-US" sz="900" dirty="0"/>
          </a:p>
        </p:txBody>
      </p:sp>
      <p:sp>
        <p:nvSpPr>
          <p:cNvPr id="15" name="Shape 13"/>
          <p:cNvSpPr/>
          <p:nvPr/>
        </p:nvSpPr>
        <p:spPr>
          <a:xfrm>
            <a:off x="6967728" y="1408176"/>
            <a:ext cx="1371600" cy="502920"/>
          </a:xfrm>
          <a:prstGeom prst="rect">
            <a:avLst/>
          </a:prstGeom>
          <a:solidFill>
            <a:srgbClr val="FFFFFF"/>
          </a:solidFill>
          <a:ln w="12700">
            <a:solidFill>
              <a:srgbClr val="8AAFC4"/>
            </a:solidFill>
            <a:prstDash val="solid"/>
          </a:ln>
          <a:effectLst>
            <a:outerShdw blurRad="63500" dist="25400" dir="8100000" algn="bl" rotWithShape="0">
              <a:srgbClr val="000000">
                <a:alpha val="12000"/>
              </a:srgbClr>
            </a:outerShdw>
          </a:effectLst>
        </p:spPr>
        <p:txBody>
          <a:bodyPr/>
          <a:lstStyle/>
          <a:p>
            <a:endParaRPr lang="en-US"/>
          </a:p>
        </p:txBody>
      </p:sp>
      <p:sp>
        <p:nvSpPr>
          <p:cNvPr id="16" name="Text 14"/>
          <p:cNvSpPr/>
          <p:nvPr/>
        </p:nvSpPr>
        <p:spPr>
          <a:xfrm>
            <a:off x="6967728" y="1408176"/>
            <a:ext cx="1371600" cy="502920"/>
          </a:xfrm>
          <a:prstGeom prst="rect">
            <a:avLst/>
          </a:prstGeom>
          <a:noFill/>
          <a:ln/>
        </p:spPr>
        <p:txBody>
          <a:bodyPr wrap="square" lIns="0" tIns="0" rIns="0" bIns="0" rtlCol="0" anchor="ctr"/>
          <a:lstStyle/>
          <a:p>
            <a:pPr marL="0" indent="0" algn="ctr">
              <a:buNone/>
            </a:pPr>
            <a:r>
              <a:rPr lang="en-US" sz="900" dirty="0">
                <a:solidFill>
                  <a:srgbClr val="0F4C75"/>
                </a:solidFill>
                <a:latin typeface="Calibri" pitchFamily="34" charset="0"/>
                <a:ea typeface="Calibri" pitchFamily="34" charset="-122"/>
                <a:cs typeface="Calibri" pitchFamily="34" charset="-120"/>
              </a:rPr>
              <a:t>Service</a:t>
            </a:r>
            <a:endParaRPr lang="en-US" sz="900" dirty="0"/>
          </a:p>
          <a:p>
            <a:pPr marL="0" indent="0" algn="ctr">
              <a:buNone/>
            </a:pPr>
            <a:r>
              <a:rPr lang="en-US" sz="900" dirty="0">
                <a:solidFill>
                  <a:srgbClr val="0F4C75"/>
                </a:solidFill>
                <a:latin typeface="Calibri" pitchFamily="34" charset="0"/>
                <a:ea typeface="Calibri" pitchFamily="34" charset="-122"/>
                <a:cs typeface="Calibri" pitchFamily="34" charset="-120"/>
              </a:rPr>
              <a:t>Account</a:t>
            </a:r>
            <a:endParaRPr lang="en-US" sz="900" dirty="0"/>
          </a:p>
        </p:txBody>
      </p:sp>
      <p:sp>
        <p:nvSpPr>
          <p:cNvPr id="17" name="Shape 15"/>
          <p:cNvSpPr/>
          <p:nvPr/>
        </p:nvSpPr>
        <p:spPr>
          <a:xfrm>
            <a:off x="4572000" y="1920240"/>
            <a:ext cx="0" cy="228600"/>
          </a:xfrm>
          <a:prstGeom prst="line">
            <a:avLst/>
          </a:prstGeom>
          <a:noFill/>
          <a:ln w="25400">
            <a:solidFill>
              <a:srgbClr val="1B998B"/>
            </a:solidFill>
            <a:prstDash val="solid"/>
          </a:ln>
        </p:spPr>
        <p:txBody>
          <a:bodyPr/>
          <a:lstStyle/>
          <a:p>
            <a:endParaRPr lang="en-US"/>
          </a:p>
        </p:txBody>
      </p:sp>
      <p:sp>
        <p:nvSpPr>
          <p:cNvPr id="18" name="Text 16"/>
          <p:cNvSpPr/>
          <p:nvPr/>
        </p:nvSpPr>
        <p:spPr>
          <a:xfrm>
            <a:off x="2926080" y="1892808"/>
            <a:ext cx="3657600" cy="182880"/>
          </a:xfrm>
          <a:prstGeom prst="rect">
            <a:avLst/>
          </a:prstGeom>
          <a:noFill/>
          <a:ln/>
        </p:spPr>
        <p:txBody>
          <a:bodyPr wrap="square" lIns="0" tIns="0" rIns="0" bIns="0" rtlCol="0" anchor="ctr"/>
          <a:lstStyle/>
          <a:p>
            <a:pPr marL="0" indent="0" algn="ctr">
              <a:buNone/>
            </a:pPr>
            <a:r>
              <a:rPr lang="en-US" sz="800" i="1" dirty="0">
                <a:solidFill>
                  <a:srgbClr val="1B998B"/>
                </a:solidFill>
                <a:latin typeface="Calibri" pitchFamily="34" charset="0"/>
                <a:ea typeface="Calibri" pitchFamily="34" charset="-122"/>
                <a:cs typeface="Calibri" pitchFamily="34" charset="-120"/>
              </a:rPr>
              <a:t>Internal: Kerberos/AD  |  Federated: SAML 2.0, OIDC</a:t>
            </a:r>
            <a:endParaRPr lang="en-US" sz="800" dirty="0"/>
          </a:p>
        </p:txBody>
      </p:sp>
      <p:sp>
        <p:nvSpPr>
          <p:cNvPr id="19" name="Shape 17"/>
          <p:cNvSpPr/>
          <p:nvPr/>
        </p:nvSpPr>
        <p:spPr>
          <a:xfrm>
            <a:off x="731520" y="2167128"/>
            <a:ext cx="7680960" cy="822960"/>
          </a:xfrm>
          <a:prstGeom prst="rect">
            <a:avLst/>
          </a:prstGeom>
          <a:solidFill>
            <a:srgbClr val="0F4C75"/>
          </a:solidFill>
          <a:ln w="25400">
            <a:solidFill>
              <a:srgbClr val="1B998B"/>
            </a:solidFill>
            <a:prstDash val="solid"/>
          </a:ln>
          <a:effectLst>
            <a:outerShdw blurRad="63500" dist="25400" dir="8100000" algn="bl" rotWithShape="0">
              <a:srgbClr val="000000">
                <a:alpha val="12000"/>
              </a:srgbClr>
            </a:outerShdw>
          </a:effectLst>
        </p:spPr>
        <p:txBody>
          <a:bodyPr/>
          <a:lstStyle/>
          <a:p>
            <a:endParaRPr lang="en-US"/>
          </a:p>
        </p:txBody>
      </p:sp>
      <p:sp>
        <p:nvSpPr>
          <p:cNvPr id="20" name="Text 18"/>
          <p:cNvSpPr/>
          <p:nvPr/>
        </p:nvSpPr>
        <p:spPr>
          <a:xfrm>
            <a:off x="731520" y="2167128"/>
            <a:ext cx="7680960" cy="256032"/>
          </a:xfrm>
          <a:prstGeom prst="rect">
            <a:avLst/>
          </a:prstGeom>
          <a:noFill/>
          <a:ln/>
        </p:spPr>
        <p:txBody>
          <a:bodyPr wrap="square" lIns="0" tIns="0" rIns="0" bIns="0" rtlCol="0" anchor="ctr"/>
          <a:lstStyle/>
          <a:p>
            <a:pPr marL="0" indent="0" algn="ctr">
              <a:buNone/>
            </a:pPr>
            <a:r>
              <a:rPr lang="en-US" sz="1100" b="1" dirty="0">
                <a:solidFill>
                  <a:srgbClr val="1B998B"/>
                </a:solidFill>
                <a:latin typeface="Calibri" pitchFamily="34" charset="0"/>
                <a:ea typeface="Calibri" pitchFamily="34" charset="-122"/>
                <a:cs typeface="Calibri" pitchFamily="34" charset="-120"/>
              </a:rPr>
              <a:t>IDENTITY PROVIDER (IdP)</a:t>
            </a:r>
            <a:endParaRPr lang="en-US" sz="1100" dirty="0"/>
          </a:p>
        </p:txBody>
      </p:sp>
      <p:sp>
        <p:nvSpPr>
          <p:cNvPr id="21" name="Shape 19"/>
          <p:cNvSpPr/>
          <p:nvPr/>
        </p:nvSpPr>
        <p:spPr>
          <a:xfrm>
            <a:off x="868680" y="2468880"/>
            <a:ext cx="1353312" cy="429768"/>
          </a:xfrm>
          <a:prstGeom prst="rect">
            <a:avLst/>
          </a:prstGeom>
          <a:solidFill>
            <a:srgbClr val="0A3050"/>
          </a:solidFill>
          <a:ln w="12700">
            <a:solidFill>
              <a:srgbClr val="8AAFC4"/>
            </a:solidFill>
            <a:prstDash val="solid"/>
          </a:ln>
        </p:spPr>
        <p:txBody>
          <a:bodyPr/>
          <a:lstStyle/>
          <a:p>
            <a:endParaRPr lang="en-US"/>
          </a:p>
        </p:txBody>
      </p:sp>
      <p:sp>
        <p:nvSpPr>
          <p:cNvPr id="22" name="Text 20"/>
          <p:cNvSpPr/>
          <p:nvPr/>
        </p:nvSpPr>
        <p:spPr>
          <a:xfrm>
            <a:off x="868680" y="2468880"/>
            <a:ext cx="1353312" cy="429768"/>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Credential Vault</a:t>
            </a:r>
            <a:endParaRPr lang="en-US" sz="850" dirty="0"/>
          </a:p>
        </p:txBody>
      </p:sp>
      <p:sp>
        <p:nvSpPr>
          <p:cNvPr id="23" name="Shape 21"/>
          <p:cNvSpPr/>
          <p:nvPr/>
        </p:nvSpPr>
        <p:spPr>
          <a:xfrm>
            <a:off x="2368296" y="2468880"/>
            <a:ext cx="1353312" cy="429768"/>
          </a:xfrm>
          <a:prstGeom prst="rect">
            <a:avLst/>
          </a:prstGeom>
          <a:solidFill>
            <a:srgbClr val="0A3050"/>
          </a:solidFill>
          <a:ln w="12700">
            <a:solidFill>
              <a:srgbClr val="8AAFC4"/>
            </a:solidFill>
            <a:prstDash val="solid"/>
          </a:ln>
        </p:spPr>
        <p:txBody>
          <a:bodyPr/>
          <a:lstStyle/>
          <a:p>
            <a:endParaRPr lang="en-US"/>
          </a:p>
        </p:txBody>
      </p:sp>
      <p:sp>
        <p:nvSpPr>
          <p:cNvPr id="24" name="Text 22"/>
          <p:cNvSpPr/>
          <p:nvPr/>
        </p:nvSpPr>
        <p:spPr>
          <a:xfrm>
            <a:off x="2368296" y="2468880"/>
            <a:ext cx="1353312" cy="429768"/>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MFA Engine</a:t>
            </a:r>
            <a:endParaRPr lang="en-US" sz="850" dirty="0"/>
          </a:p>
        </p:txBody>
      </p:sp>
      <p:sp>
        <p:nvSpPr>
          <p:cNvPr id="25" name="Shape 23"/>
          <p:cNvSpPr/>
          <p:nvPr/>
        </p:nvSpPr>
        <p:spPr>
          <a:xfrm>
            <a:off x="3867912" y="2468880"/>
            <a:ext cx="1353312" cy="429768"/>
          </a:xfrm>
          <a:prstGeom prst="rect">
            <a:avLst/>
          </a:prstGeom>
          <a:solidFill>
            <a:srgbClr val="0A3050"/>
          </a:solidFill>
          <a:ln w="12700">
            <a:solidFill>
              <a:srgbClr val="8AAFC4"/>
            </a:solidFill>
            <a:prstDash val="solid"/>
          </a:ln>
        </p:spPr>
        <p:txBody>
          <a:bodyPr/>
          <a:lstStyle/>
          <a:p>
            <a:endParaRPr lang="en-US"/>
          </a:p>
        </p:txBody>
      </p:sp>
      <p:sp>
        <p:nvSpPr>
          <p:cNvPr id="26" name="Text 24"/>
          <p:cNvSpPr/>
          <p:nvPr/>
        </p:nvSpPr>
        <p:spPr>
          <a:xfrm>
            <a:off x="3867912" y="2468880"/>
            <a:ext cx="1353312" cy="429768"/>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SAML/OIDC</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Federation</a:t>
            </a:r>
            <a:endParaRPr lang="en-US" sz="850" dirty="0"/>
          </a:p>
        </p:txBody>
      </p:sp>
      <p:sp>
        <p:nvSpPr>
          <p:cNvPr id="27" name="Shape 25"/>
          <p:cNvSpPr/>
          <p:nvPr/>
        </p:nvSpPr>
        <p:spPr>
          <a:xfrm>
            <a:off x="5367528" y="2468880"/>
            <a:ext cx="1353312" cy="429768"/>
          </a:xfrm>
          <a:prstGeom prst="rect">
            <a:avLst/>
          </a:prstGeom>
          <a:solidFill>
            <a:srgbClr val="0A3050"/>
          </a:solidFill>
          <a:ln w="12700">
            <a:solidFill>
              <a:srgbClr val="8AAFC4"/>
            </a:solidFill>
            <a:prstDash val="solid"/>
          </a:ln>
        </p:spPr>
        <p:txBody>
          <a:bodyPr/>
          <a:lstStyle/>
          <a:p>
            <a:endParaRPr lang="en-US"/>
          </a:p>
        </p:txBody>
      </p:sp>
      <p:sp>
        <p:nvSpPr>
          <p:cNvPr id="28" name="Text 26"/>
          <p:cNvSpPr/>
          <p:nvPr/>
        </p:nvSpPr>
        <p:spPr>
          <a:xfrm>
            <a:off x="5367528" y="2468880"/>
            <a:ext cx="1353312" cy="429768"/>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Conditional</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Access Engine</a:t>
            </a:r>
            <a:endParaRPr lang="en-US" sz="850" dirty="0"/>
          </a:p>
        </p:txBody>
      </p:sp>
      <p:sp>
        <p:nvSpPr>
          <p:cNvPr id="29" name="Shape 27"/>
          <p:cNvSpPr/>
          <p:nvPr/>
        </p:nvSpPr>
        <p:spPr>
          <a:xfrm>
            <a:off x="6867144" y="2468880"/>
            <a:ext cx="1353312" cy="429768"/>
          </a:xfrm>
          <a:prstGeom prst="rect">
            <a:avLst/>
          </a:prstGeom>
          <a:solidFill>
            <a:srgbClr val="0A3050"/>
          </a:solidFill>
          <a:ln w="12700">
            <a:solidFill>
              <a:srgbClr val="8AAFC4"/>
            </a:solidFill>
            <a:prstDash val="solid"/>
          </a:ln>
        </p:spPr>
        <p:txBody>
          <a:bodyPr/>
          <a:lstStyle/>
          <a:p>
            <a:endParaRPr lang="en-US"/>
          </a:p>
        </p:txBody>
      </p:sp>
      <p:sp>
        <p:nvSpPr>
          <p:cNvPr id="30" name="Text 28"/>
          <p:cNvSpPr/>
          <p:nvPr/>
        </p:nvSpPr>
        <p:spPr>
          <a:xfrm>
            <a:off x="6867144" y="2468880"/>
            <a:ext cx="1353312" cy="429768"/>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SCIM</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Provisioning</a:t>
            </a:r>
            <a:endParaRPr lang="en-US" sz="850" dirty="0"/>
          </a:p>
        </p:txBody>
      </p:sp>
      <p:sp>
        <p:nvSpPr>
          <p:cNvPr id="31" name="Shape 29"/>
          <p:cNvSpPr/>
          <p:nvPr/>
        </p:nvSpPr>
        <p:spPr>
          <a:xfrm>
            <a:off x="4572000" y="3008376"/>
            <a:ext cx="0" cy="228600"/>
          </a:xfrm>
          <a:prstGeom prst="line">
            <a:avLst/>
          </a:prstGeom>
          <a:noFill/>
          <a:ln w="25400">
            <a:solidFill>
              <a:srgbClr val="1B998B"/>
            </a:solidFill>
            <a:prstDash val="solid"/>
          </a:ln>
        </p:spPr>
        <p:txBody>
          <a:bodyPr/>
          <a:lstStyle/>
          <a:p>
            <a:endParaRPr lang="en-US"/>
          </a:p>
        </p:txBody>
      </p:sp>
      <p:sp>
        <p:nvSpPr>
          <p:cNvPr id="32" name="Shape 30"/>
          <p:cNvSpPr/>
          <p:nvPr/>
        </p:nvSpPr>
        <p:spPr>
          <a:xfrm>
            <a:off x="274320" y="3255264"/>
            <a:ext cx="8595360" cy="411480"/>
          </a:xfrm>
          <a:prstGeom prst="rect">
            <a:avLst/>
          </a:prstGeom>
          <a:solidFill>
            <a:srgbClr val="E0EEF5"/>
          </a:solidFill>
          <a:ln w="12700">
            <a:solidFill>
              <a:srgbClr val="C9E4F0"/>
            </a:solidFill>
            <a:prstDash val="solid"/>
          </a:ln>
        </p:spPr>
        <p:txBody>
          <a:bodyPr/>
          <a:lstStyle/>
          <a:p>
            <a:endParaRPr lang="en-US"/>
          </a:p>
        </p:txBody>
      </p:sp>
      <p:sp>
        <p:nvSpPr>
          <p:cNvPr id="33" name="Text 31"/>
          <p:cNvSpPr/>
          <p:nvPr/>
        </p:nvSpPr>
        <p:spPr>
          <a:xfrm>
            <a:off x="274320" y="3255264"/>
            <a:ext cx="8595360" cy="411480"/>
          </a:xfrm>
          <a:prstGeom prst="rect">
            <a:avLst/>
          </a:prstGeom>
          <a:noFill/>
          <a:ln/>
        </p:spPr>
        <p:txBody>
          <a:bodyPr wrap="square" lIns="0" tIns="0" rIns="0" bIns="0" rtlCol="0" anchor="ctr"/>
          <a:lstStyle/>
          <a:p>
            <a:pPr marL="0" indent="0" algn="ctr">
              <a:buNone/>
            </a:pPr>
            <a:r>
              <a:rPr lang="en-US" sz="1100" b="1" dirty="0">
                <a:solidFill>
                  <a:srgbClr val="0F4C75"/>
                </a:solidFill>
                <a:latin typeface="Calibri" pitchFamily="34" charset="0"/>
                <a:ea typeface="Calibri" pitchFamily="34" charset="-122"/>
                <a:cs typeface="Calibri" pitchFamily="34" charset="-120"/>
              </a:rPr>
              <a:t>APPLICATIONS (Service Providers)</a:t>
            </a:r>
            <a:endParaRPr lang="en-US" sz="1100" dirty="0"/>
          </a:p>
        </p:txBody>
      </p:sp>
      <p:sp>
        <p:nvSpPr>
          <p:cNvPr id="34" name="Shape 32"/>
          <p:cNvSpPr/>
          <p:nvPr/>
        </p:nvSpPr>
        <p:spPr>
          <a:xfrm>
            <a:off x="457200" y="3749040"/>
            <a:ext cx="1371600" cy="502920"/>
          </a:xfrm>
          <a:prstGeom prst="rect">
            <a:avLst/>
          </a:prstGeom>
          <a:solidFill>
            <a:srgbClr val="FFFFFF"/>
          </a:solidFill>
          <a:ln w="12700">
            <a:solidFill>
              <a:srgbClr val="8AAFC4"/>
            </a:solidFill>
            <a:prstDash val="solid"/>
          </a:ln>
          <a:effectLst>
            <a:outerShdw blurRad="63500" dist="25400" dir="8100000" algn="bl" rotWithShape="0">
              <a:srgbClr val="000000">
                <a:alpha val="12000"/>
              </a:srgbClr>
            </a:outerShdw>
          </a:effectLst>
        </p:spPr>
        <p:txBody>
          <a:bodyPr/>
          <a:lstStyle/>
          <a:p>
            <a:endParaRPr lang="en-US"/>
          </a:p>
        </p:txBody>
      </p:sp>
      <p:sp>
        <p:nvSpPr>
          <p:cNvPr id="35" name="Text 33"/>
          <p:cNvSpPr/>
          <p:nvPr/>
        </p:nvSpPr>
        <p:spPr>
          <a:xfrm>
            <a:off x="457200" y="3749040"/>
            <a:ext cx="1371600" cy="502920"/>
          </a:xfrm>
          <a:prstGeom prst="rect">
            <a:avLst/>
          </a:prstGeom>
          <a:noFill/>
          <a:ln/>
        </p:spPr>
        <p:txBody>
          <a:bodyPr wrap="square" lIns="0" tIns="0" rIns="0" bIns="0" rtlCol="0" anchor="ctr"/>
          <a:lstStyle/>
          <a:p>
            <a:pPr marL="0" indent="0" algn="ctr">
              <a:buNone/>
            </a:pPr>
            <a:r>
              <a:rPr lang="en-US" sz="900" dirty="0">
                <a:solidFill>
                  <a:srgbClr val="0F4C75"/>
                </a:solidFill>
                <a:latin typeface="Calibri" pitchFamily="34" charset="0"/>
                <a:ea typeface="Calibri" pitchFamily="34" charset="-122"/>
                <a:cs typeface="Calibri" pitchFamily="34" charset="-120"/>
              </a:rPr>
              <a:t>SaaS Apps</a:t>
            </a:r>
            <a:endParaRPr lang="en-US" sz="900" dirty="0"/>
          </a:p>
          <a:p>
            <a:pPr marL="0" indent="0" algn="ctr">
              <a:buNone/>
            </a:pPr>
            <a:r>
              <a:rPr lang="en-US" sz="900" dirty="0">
                <a:solidFill>
                  <a:srgbClr val="0F4C75"/>
                </a:solidFill>
                <a:latin typeface="Calibri" pitchFamily="34" charset="0"/>
                <a:ea typeface="Calibri" pitchFamily="34" charset="-122"/>
                <a:cs typeface="Calibri" pitchFamily="34" charset="-120"/>
              </a:rPr>
              <a:t>(SAML)</a:t>
            </a:r>
            <a:endParaRPr lang="en-US" sz="900" dirty="0"/>
          </a:p>
        </p:txBody>
      </p:sp>
      <p:sp>
        <p:nvSpPr>
          <p:cNvPr id="36" name="Shape 34"/>
          <p:cNvSpPr/>
          <p:nvPr/>
        </p:nvSpPr>
        <p:spPr>
          <a:xfrm>
            <a:off x="2084832" y="3749040"/>
            <a:ext cx="1371600" cy="502920"/>
          </a:xfrm>
          <a:prstGeom prst="rect">
            <a:avLst/>
          </a:prstGeom>
          <a:solidFill>
            <a:srgbClr val="FFFFFF"/>
          </a:solidFill>
          <a:ln w="12700">
            <a:solidFill>
              <a:srgbClr val="8AAFC4"/>
            </a:solidFill>
            <a:prstDash val="solid"/>
          </a:ln>
          <a:effectLst>
            <a:outerShdw blurRad="63500" dist="25400" dir="8100000" algn="bl" rotWithShape="0">
              <a:srgbClr val="000000">
                <a:alpha val="12000"/>
              </a:srgbClr>
            </a:outerShdw>
          </a:effectLst>
        </p:spPr>
        <p:txBody>
          <a:bodyPr/>
          <a:lstStyle/>
          <a:p>
            <a:endParaRPr lang="en-US"/>
          </a:p>
        </p:txBody>
      </p:sp>
      <p:sp>
        <p:nvSpPr>
          <p:cNvPr id="37" name="Text 35"/>
          <p:cNvSpPr/>
          <p:nvPr/>
        </p:nvSpPr>
        <p:spPr>
          <a:xfrm>
            <a:off x="2084832" y="3749040"/>
            <a:ext cx="1371600" cy="502920"/>
          </a:xfrm>
          <a:prstGeom prst="rect">
            <a:avLst/>
          </a:prstGeom>
          <a:noFill/>
          <a:ln/>
        </p:spPr>
        <p:txBody>
          <a:bodyPr wrap="square" lIns="0" tIns="0" rIns="0" bIns="0" rtlCol="0" anchor="ctr"/>
          <a:lstStyle/>
          <a:p>
            <a:pPr marL="0" indent="0" algn="ctr">
              <a:buNone/>
            </a:pPr>
            <a:r>
              <a:rPr lang="en-US" sz="900" dirty="0">
                <a:solidFill>
                  <a:srgbClr val="0F4C75"/>
                </a:solidFill>
                <a:latin typeface="Calibri" pitchFamily="34" charset="0"/>
                <a:ea typeface="Calibri" pitchFamily="34" charset="-122"/>
                <a:cs typeface="Calibri" pitchFamily="34" charset="-120"/>
              </a:rPr>
              <a:t>Web Apps</a:t>
            </a:r>
            <a:endParaRPr lang="en-US" sz="900" dirty="0"/>
          </a:p>
          <a:p>
            <a:pPr marL="0" indent="0" algn="ctr">
              <a:buNone/>
            </a:pPr>
            <a:r>
              <a:rPr lang="en-US" sz="900" dirty="0">
                <a:solidFill>
                  <a:srgbClr val="0F4C75"/>
                </a:solidFill>
                <a:latin typeface="Calibri" pitchFamily="34" charset="0"/>
                <a:ea typeface="Calibri" pitchFamily="34" charset="-122"/>
                <a:cs typeface="Calibri" pitchFamily="34" charset="-120"/>
              </a:rPr>
              <a:t>(OIDC)</a:t>
            </a:r>
            <a:endParaRPr lang="en-US" sz="900" dirty="0"/>
          </a:p>
        </p:txBody>
      </p:sp>
      <p:sp>
        <p:nvSpPr>
          <p:cNvPr id="38" name="Shape 36"/>
          <p:cNvSpPr/>
          <p:nvPr/>
        </p:nvSpPr>
        <p:spPr>
          <a:xfrm>
            <a:off x="3712464" y="3749040"/>
            <a:ext cx="1371600" cy="502920"/>
          </a:xfrm>
          <a:prstGeom prst="rect">
            <a:avLst/>
          </a:prstGeom>
          <a:solidFill>
            <a:srgbClr val="FFFFFF"/>
          </a:solidFill>
          <a:ln w="12700">
            <a:solidFill>
              <a:srgbClr val="8AAFC4"/>
            </a:solidFill>
            <a:prstDash val="solid"/>
          </a:ln>
          <a:effectLst>
            <a:outerShdw blurRad="63500" dist="25400" dir="8100000" algn="bl" rotWithShape="0">
              <a:srgbClr val="000000">
                <a:alpha val="12000"/>
              </a:srgbClr>
            </a:outerShdw>
          </a:effectLst>
        </p:spPr>
        <p:txBody>
          <a:bodyPr/>
          <a:lstStyle/>
          <a:p>
            <a:endParaRPr lang="en-US"/>
          </a:p>
        </p:txBody>
      </p:sp>
      <p:sp>
        <p:nvSpPr>
          <p:cNvPr id="39" name="Text 37"/>
          <p:cNvSpPr/>
          <p:nvPr/>
        </p:nvSpPr>
        <p:spPr>
          <a:xfrm>
            <a:off x="3712464" y="3749040"/>
            <a:ext cx="1371600" cy="502920"/>
          </a:xfrm>
          <a:prstGeom prst="rect">
            <a:avLst/>
          </a:prstGeom>
          <a:noFill/>
          <a:ln/>
        </p:spPr>
        <p:txBody>
          <a:bodyPr wrap="square" lIns="0" tIns="0" rIns="0" bIns="0" rtlCol="0" anchor="ctr"/>
          <a:lstStyle/>
          <a:p>
            <a:pPr marL="0" indent="0" algn="ctr">
              <a:buNone/>
            </a:pPr>
            <a:r>
              <a:rPr lang="en-US" sz="900" dirty="0">
                <a:solidFill>
                  <a:srgbClr val="0F4C75"/>
                </a:solidFill>
                <a:latin typeface="Calibri" pitchFamily="34" charset="0"/>
                <a:ea typeface="Calibri" pitchFamily="34" charset="-122"/>
                <a:cs typeface="Calibri" pitchFamily="34" charset="-120"/>
              </a:rPr>
              <a:t>Cloud IAM</a:t>
            </a:r>
            <a:endParaRPr lang="en-US" sz="900" dirty="0"/>
          </a:p>
          <a:p>
            <a:pPr marL="0" indent="0" algn="ctr">
              <a:buNone/>
            </a:pPr>
            <a:r>
              <a:rPr lang="en-US" sz="900" dirty="0">
                <a:solidFill>
                  <a:srgbClr val="0F4C75"/>
                </a:solidFill>
                <a:latin typeface="Calibri" pitchFamily="34" charset="0"/>
                <a:ea typeface="Calibri" pitchFamily="34" charset="-122"/>
                <a:cs typeface="Calibri" pitchFamily="34" charset="-120"/>
              </a:rPr>
              <a:t>(AWS/Azure)</a:t>
            </a:r>
            <a:endParaRPr lang="en-US" sz="900" dirty="0"/>
          </a:p>
        </p:txBody>
      </p:sp>
      <p:sp>
        <p:nvSpPr>
          <p:cNvPr id="40" name="Shape 38"/>
          <p:cNvSpPr/>
          <p:nvPr/>
        </p:nvSpPr>
        <p:spPr>
          <a:xfrm>
            <a:off x="5340096" y="3749040"/>
            <a:ext cx="1371600" cy="502920"/>
          </a:xfrm>
          <a:prstGeom prst="rect">
            <a:avLst/>
          </a:prstGeom>
          <a:solidFill>
            <a:srgbClr val="FFFFFF"/>
          </a:solidFill>
          <a:ln w="12700">
            <a:solidFill>
              <a:srgbClr val="8AAFC4"/>
            </a:solidFill>
            <a:prstDash val="solid"/>
          </a:ln>
          <a:effectLst>
            <a:outerShdw blurRad="63500" dist="25400" dir="8100000" algn="bl" rotWithShape="0">
              <a:srgbClr val="000000">
                <a:alpha val="12000"/>
              </a:srgbClr>
            </a:outerShdw>
          </a:effectLst>
        </p:spPr>
        <p:txBody>
          <a:bodyPr/>
          <a:lstStyle/>
          <a:p>
            <a:endParaRPr lang="en-US"/>
          </a:p>
        </p:txBody>
      </p:sp>
      <p:sp>
        <p:nvSpPr>
          <p:cNvPr id="41" name="Text 39"/>
          <p:cNvSpPr/>
          <p:nvPr/>
        </p:nvSpPr>
        <p:spPr>
          <a:xfrm>
            <a:off x="5340096" y="3749040"/>
            <a:ext cx="1371600" cy="502920"/>
          </a:xfrm>
          <a:prstGeom prst="rect">
            <a:avLst/>
          </a:prstGeom>
          <a:noFill/>
          <a:ln/>
        </p:spPr>
        <p:txBody>
          <a:bodyPr wrap="square" lIns="0" tIns="0" rIns="0" bIns="0" rtlCol="0" anchor="ctr"/>
          <a:lstStyle/>
          <a:p>
            <a:pPr marL="0" indent="0" algn="ctr">
              <a:buNone/>
            </a:pPr>
            <a:r>
              <a:rPr lang="en-US" sz="900" dirty="0">
                <a:solidFill>
                  <a:srgbClr val="0F4C75"/>
                </a:solidFill>
                <a:latin typeface="Calibri" pitchFamily="34" charset="0"/>
                <a:ea typeface="Calibri" pitchFamily="34" charset="-122"/>
                <a:cs typeface="Calibri" pitchFamily="34" charset="-120"/>
              </a:rPr>
              <a:t>APIs</a:t>
            </a:r>
            <a:endParaRPr lang="en-US" sz="900" dirty="0"/>
          </a:p>
          <a:p>
            <a:pPr marL="0" indent="0" algn="ctr">
              <a:buNone/>
            </a:pPr>
            <a:r>
              <a:rPr lang="en-US" sz="900" dirty="0">
                <a:solidFill>
                  <a:srgbClr val="0F4C75"/>
                </a:solidFill>
                <a:latin typeface="Calibri" pitchFamily="34" charset="0"/>
                <a:ea typeface="Calibri" pitchFamily="34" charset="-122"/>
                <a:cs typeface="Calibri" pitchFamily="34" charset="-120"/>
              </a:rPr>
              <a:t>(OAuth 2.0)</a:t>
            </a:r>
            <a:endParaRPr lang="en-US" sz="900" dirty="0"/>
          </a:p>
        </p:txBody>
      </p:sp>
      <p:sp>
        <p:nvSpPr>
          <p:cNvPr id="42" name="Shape 40"/>
          <p:cNvSpPr/>
          <p:nvPr/>
        </p:nvSpPr>
        <p:spPr>
          <a:xfrm>
            <a:off x="6967728" y="3749040"/>
            <a:ext cx="1371600" cy="502920"/>
          </a:xfrm>
          <a:prstGeom prst="rect">
            <a:avLst/>
          </a:prstGeom>
          <a:solidFill>
            <a:srgbClr val="FFFFFF"/>
          </a:solidFill>
          <a:ln w="12700">
            <a:solidFill>
              <a:srgbClr val="8AAFC4"/>
            </a:solidFill>
            <a:prstDash val="solid"/>
          </a:ln>
          <a:effectLst>
            <a:outerShdw blurRad="63500" dist="25400" dir="8100000" algn="bl" rotWithShape="0">
              <a:srgbClr val="000000">
                <a:alpha val="12000"/>
              </a:srgbClr>
            </a:outerShdw>
          </a:effectLst>
        </p:spPr>
        <p:txBody>
          <a:bodyPr/>
          <a:lstStyle/>
          <a:p>
            <a:endParaRPr lang="en-US"/>
          </a:p>
        </p:txBody>
      </p:sp>
      <p:sp>
        <p:nvSpPr>
          <p:cNvPr id="43" name="Text 41"/>
          <p:cNvSpPr/>
          <p:nvPr/>
        </p:nvSpPr>
        <p:spPr>
          <a:xfrm>
            <a:off x="6967728" y="3749040"/>
            <a:ext cx="1371600" cy="502920"/>
          </a:xfrm>
          <a:prstGeom prst="rect">
            <a:avLst/>
          </a:prstGeom>
          <a:noFill/>
          <a:ln/>
        </p:spPr>
        <p:txBody>
          <a:bodyPr wrap="square" lIns="0" tIns="0" rIns="0" bIns="0" rtlCol="0" anchor="ctr"/>
          <a:lstStyle/>
          <a:p>
            <a:pPr marL="0" indent="0" algn="ctr">
              <a:buNone/>
            </a:pPr>
            <a:r>
              <a:rPr lang="en-US" sz="900" dirty="0">
                <a:solidFill>
                  <a:srgbClr val="0F4C75"/>
                </a:solidFill>
                <a:latin typeface="Calibri" pitchFamily="34" charset="0"/>
                <a:ea typeface="Calibri" pitchFamily="34" charset="-122"/>
                <a:cs typeface="Calibri" pitchFamily="34" charset="-120"/>
              </a:rPr>
              <a:t>On-Prem</a:t>
            </a:r>
            <a:endParaRPr lang="en-US" sz="900" dirty="0"/>
          </a:p>
          <a:p>
            <a:pPr marL="0" indent="0" algn="ctr">
              <a:buNone/>
            </a:pPr>
            <a:r>
              <a:rPr lang="en-US" sz="900" dirty="0">
                <a:solidFill>
                  <a:srgbClr val="0F4C75"/>
                </a:solidFill>
                <a:latin typeface="Calibri" pitchFamily="34" charset="0"/>
                <a:ea typeface="Calibri" pitchFamily="34" charset="-122"/>
                <a:cs typeface="Calibri" pitchFamily="34" charset="-120"/>
              </a:rPr>
              <a:t>(Kerberos)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4C75"/>
          </a:solidFill>
          <a:ln w="12700">
            <a:solidFill>
              <a:srgbClr val="0F4C75"/>
            </a:solidFill>
            <a:prstDash val="solid"/>
          </a:ln>
        </p:spPr>
        <p:txBody>
          <a:bodyPr/>
          <a:lstStyle/>
          <a:p>
            <a:endParaRPr lang="en-US"/>
          </a:p>
        </p:txBody>
      </p:sp>
      <p:sp>
        <p:nvSpPr>
          <p:cNvPr id="3" name="Text 1"/>
          <p:cNvSpPr/>
          <p:nvPr/>
        </p:nvSpPr>
        <p:spPr>
          <a:xfrm>
            <a:off x="365760" y="0"/>
            <a:ext cx="84124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Identity Trust Boundaries</a:t>
            </a:r>
            <a:endParaRPr lang="en-US" sz="2000" dirty="0"/>
          </a:p>
        </p:txBody>
      </p:sp>
      <p:grpSp>
        <p:nvGrpSpPr>
          <p:cNvPr id="33" name="Group 32">
            <a:extLst>
              <a:ext uri="{FF2B5EF4-FFF2-40B4-BE49-F238E27FC236}">
                <a16:creationId xmlns:a16="http://schemas.microsoft.com/office/drawing/2014/main" id="{AF63FF6B-77E1-01CA-6E74-B4D54200C0D4}"/>
              </a:ext>
            </a:extLst>
          </p:cNvPr>
          <p:cNvGrpSpPr/>
          <p:nvPr/>
        </p:nvGrpSpPr>
        <p:grpSpPr>
          <a:xfrm>
            <a:off x="228600" y="784797"/>
            <a:ext cx="8686800" cy="4255739"/>
            <a:chOff x="228600" y="777240"/>
            <a:chExt cx="8686800" cy="5074920"/>
          </a:xfrm>
        </p:grpSpPr>
        <p:sp>
          <p:nvSpPr>
            <p:cNvPr id="4" name="Shape 2"/>
            <p:cNvSpPr/>
            <p:nvPr/>
          </p:nvSpPr>
          <p:spPr>
            <a:xfrm>
              <a:off x="228600" y="777240"/>
              <a:ext cx="2743200" cy="4754880"/>
            </a:xfrm>
            <a:prstGeom prst="rect">
              <a:avLst/>
            </a:prstGeom>
            <a:solidFill>
              <a:srgbClr val="FDF2F2"/>
            </a:solidFill>
            <a:ln w="25400">
              <a:solidFill>
                <a:srgbClr val="C0392B"/>
              </a:solidFill>
              <a:prstDash val="solid"/>
            </a:ln>
            <a:effectLst>
              <a:outerShdw blurRad="63500" dist="25400" dir="8100000" algn="bl" rotWithShape="0">
                <a:srgbClr val="000000">
                  <a:alpha val="12000"/>
                </a:srgbClr>
              </a:outerShdw>
            </a:effectLst>
          </p:spPr>
          <p:txBody>
            <a:bodyPr/>
            <a:lstStyle/>
            <a:p>
              <a:endParaRPr lang="en-US"/>
            </a:p>
          </p:txBody>
        </p:sp>
        <p:sp>
          <p:nvSpPr>
            <p:cNvPr id="5" name="Shape 3"/>
            <p:cNvSpPr/>
            <p:nvPr/>
          </p:nvSpPr>
          <p:spPr>
            <a:xfrm>
              <a:off x="228600" y="777240"/>
              <a:ext cx="2743200" cy="502920"/>
            </a:xfrm>
            <a:prstGeom prst="rect">
              <a:avLst/>
            </a:prstGeom>
            <a:solidFill>
              <a:srgbClr val="C0392B"/>
            </a:solidFill>
            <a:ln w="12700">
              <a:solidFill>
                <a:srgbClr val="C0392B"/>
              </a:solidFill>
              <a:prstDash val="solid"/>
            </a:ln>
          </p:spPr>
          <p:txBody>
            <a:bodyPr/>
            <a:lstStyle/>
            <a:p>
              <a:endParaRPr lang="en-US"/>
            </a:p>
          </p:txBody>
        </p:sp>
        <p:sp>
          <p:nvSpPr>
            <p:cNvPr id="6" name="Text 4"/>
            <p:cNvSpPr/>
            <p:nvPr/>
          </p:nvSpPr>
          <p:spPr>
            <a:xfrm>
              <a:off x="301752" y="777240"/>
              <a:ext cx="2596896" cy="5029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INTERNET</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(Untrusted)</a:t>
              </a:r>
              <a:endParaRPr lang="en-US" sz="950" dirty="0"/>
            </a:p>
          </p:txBody>
        </p:sp>
        <p:sp>
          <p:nvSpPr>
            <p:cNvPr id="7" name="Text 5"/>
            <p:cNvSpPr/>
            <p:nvPr/>
          </p:nvSpPr>
          <p:spPr>
            <a:xfrm>
              <a:off x="365760" y="1417320"/>
              <a:ext cx="2468880" cy="457200"/>
            </a:xfrm>
            <a:prstGeom prst="rect">
              <a:avLst/>
            </a:prstGeom>
            <a:noFill/>
            <a:ln/>
          </p:spPr>
          <p:txBody>
            <a:bodyPr wrap="square" lIns="0" tIns="0" rIns="0" bIns="0" rtlCol="0" anchor="ctr"/>
            <a:lstStyle/>
            <a:p>
              <a:pPr marL="0" indent="0">
                <a:buNone/>
              </a:pPr>
              <a:r>
                <a:rPr lang="en-US" sz="950" dirty="0">
                  <a:solidFill>
                    <a:srgbClr val="1A2E44"/>
                  </a:solidFill>
                  <a:latin typeface="Calibri" pitchFamily="34" charset="0"/>
                  <a:ea typeface="Calibri" pitchFamily="34" charset="-122"/>
                  <a:cs typeface="Calibri" pitchFamily="34" charset="-120"/>
                </a:rPr>
                <a:t>▸  No implicit trust</a:t>
              </a:r>
              <a:endParaRPr lang="en-US" sz="950" dirty="0"/>
            </a:p>
          </p:txBody>
        </p:sp>
        <p:sp>
          <p:nvSpPr>
            <p:cNvPr id="8" name="Text 6"/>
            <p:cNvSpPr/>
            <p:nvPr/>
          </p:nvSpPr>
          <p:spPr>
            <a:xfrm>
              <a:off x="365760" y="1920240"/>
              <a:ext cx="2468880" cy="457200"/>
            </a:xfrm>
            <a:prstGeom prst="rect">
              <a:avLst/>
            </a:prstGeom>
            <a:noFill/>
            <a:ln/>
          </p:spPr>
          <p:txBody>
            <a:bodyPr wrap="square" lIns="0" tIns="0" rIns="0" bIns="0" rtlCol="0" anchor="ctr"/>
            <a:lstStyle/>
            <a:p>
              <a:pPr marL="0" indent="0">
                <a:buNone/>
              </a:pPr>
              <a:r>
                <a:rPr lang="en-US" sz="950" dirty="0">
                  <a:solidFill>
                    <a:srgbClr val="1A2E44"/>
                  </a:solidFill>
                  <a:latin typeface="Calibri" pitchFamily="34" charset="0"/>
                  <a:ea typeface="Calibri" pitchFamily="34" charset="-122"/>
                  <a:cs typeface="Calibri" pitchFamily="34" charset="-120"/>
                </a:rPr>
                <a:t>▸  No network-level access</a:t>
              </a:r>
              <a:endParaRPr lang="en-US" sz="950" dirty="0"/>
            </a:p>
          </p:txBody>
        </p:sp>
        <p:sp>
          <p:nvSpPr>
            <p:cNvPr id="9" name="Text 7"/>
            <p:cNvSpPr/>
            <p:nvPr/>
          </p:nvSpPr>
          <p:spPr>
            <a:xfrm>
              <a:off x="365760" y="2423160"/>
              <a:ext cx="2468880" cy="457200"/>
            </a:xfrm>
            <a:prstGeom prst="rect">
              <a:avLst/>
            </a:prstGeom>
            <a:noFill/>
            <a:ln/>
          </p:spPr>
          <p:txBody>
            <a:bodyPr wrap="square" lIns="0" tIns="0" rIns="0" bIns="0" rtlCol="0" anchor="ctr"/>
            <a:lstStyle/>
            <a:p>
              <a:pPr marL="0" indent="0">
                <a:buNone/>
              </a:pPr>
              <a:r>
                <a:rPr lang="en-US" sz="950" dirty="0">
                  <a:solidFill>
                    <a:srgbClr val="1A2E44"/>
                  </a:solidFill>
                  <a:latin typeface="Calibri" pitchFamily="34" charset="0"/>
                  <a:ea typeface="Calibri" pitchFamily="34" charset="-122"/>
                  <a:cs typeface="Calibri" pitchFamily="34" charset="-120"/>
                </a:rPr>
                <a:t>▸  Full IdP authentication required</a:t>
              </a:r>
              <a:endParaRPr lang="en-US" sz="950" dirty="0"/>
            </a:p>
          </p:txBody>
        </p:sp>
        <p:sp>
          <p:nvSpPr>
            <p:cNvPr id="10" name="Text 8"/>
            <p:cNvSpPr/>
            <p:nvPr/>
          </p:nvSpPr>
          <p:spPr>
            <a:xfrm>
              <a:off x="365760" y="2926080"/>
              <a:ext cx="2468880" cy="457200"/>
            </a:xfrm>
            <a:prstGeom prst="rect">
              <a:avLst/>
            </a:prstGeom>
            <a:noFill/>
            <a:ln/>
          </p:spPr>
          <p:txBody>
            <a:bodyPr wrap="square" lIns="0" tIns="0" rIns="0" bIns="0" rtlCol="0" anchor="ctr"/>
            <a:lstStyle/>
            <a:p>
              <a:pPr marL="0" indent="0">
                <a:buNone/>
              </a:pPr>
              <a:r>
                <a:rPr lang="en-US" sz="950" dirty="0">
                  <a:solidFill>
                    <a:srgbClr val="1A2E44"/>
                  </a:solidFill>
                  <a:latin typeface="Calibri" pitchFamily="34" charset="0"/>
                  <a:ea typeface="Calibri" pitchFamily="34" charset="-122"/>
                  <a:cs typeface="Calibri" pitchFamily="34" charset="-120"/>
                </a:rPr>
                <a:t>▸  Device posture: unknown</a:t>
              </a:r>
              <a:endParaRPr lang="en-US" sz="950" dirty="0"/>
            </a:p>
          </p:txBody>
        </p:sp>
        <p:sp>
          <p:nvSpPr>
            <p:cNvPr id="11" name="Shape 9"/>
            <p:cNvSpPr/>
            <p:nvPr/>
          </p:nvSpPr>
          <p:spPr>
            <a:xfrm>
              <a:off x="3154680" y="777240"/>
              <a:ext cx="2743200" cy="4754880"/>
            </a:xfrm>
            <a:prstGeom prst="rect">
              <a:avLst/>
            </a:prstGeom>
            <a:solidFill>
              <a:srgbClr val="EBF3FA"/>
            </a:solidFill>
            <a:ln w="25400">
              <a:solidFill>
                <a:srgbClr val="0F4C75"/>
              </a:solidFill>
              <a:prstDash val="solid"/>
            </a:ln>
            <a:effectLst>
              <a:outerShdw blurRad="63500" dist="25400" dir="8100000" algn="bl" rotWithShape="0">
                <a:srgbClr val="000000">
                  <a:alpha val="12000"/>
                </a:srgbClr>
              </a:outerShdw>
            </a:effectLst>
          </p:spPr>
          <p:txBody>
            <a:bodyPr/>
            <a:lstStyle/>
            <a:p>
              <a:endParaRPr lang="en-US"/>
            </a:p>
          </p:txBody>
        </p:sp>
        <p:sp>
          <p:nvSpPr>
            <p:cNvPr id="12" name="Shape 10"/>
            <p:cNvSpPr/>
            <p:nvPr/>
          </p:nvSpPr>
          <p:spPr>
            <a:xfrm>
              <a:off x="3154680" y="777240"/>
              <a:ext cx="2743200" cy="502920"/>
            </a:xfrm>
            <a:prstGeom prst="rect">
              <a:avLst/>
            </a:prstGeom>
            <a:solidFill>
              <a:srgbClr val="0F4C75"/>
            </a:solidFill>
            <a:ln w="12700">
              <a:solidFill>
                <a:srgbClr val="0F4C75"/>
              </a:solidFill>
              <a:prstDash val="solid"/>
            </a:ln>
          </p:spPr>
          <p:txBody>
            <a:bodyPr/>
            <a:lstStyle/>
            <a:p>
              <a:endParaRPr lang="en-US"/>
            </a:p>
          </p:txBody>
        </p:sp>
        <p:sp>
          <p:nvSpPr>
            <p:cNvPr id="13" name="Text 11"/>
            <p:cNvSpPr/>
            <p:nvPr/>
          </p:nvSpPr>
          <p:spPr>
            <a:xfrm>
              <a:off x="3227832" y="777240"/>
              <a:ext cx="2596896" cy="5029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IDENTITY PERIMETER</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(IdP Enforcement)</a:t>
              </a:r>
              <a:endParaRPr lang="en-US" sz="950" dirty="0"/>
            </a:p>
          </p:txBody>
        </p:sp>
        <p:sp>
          <p:nvSpPr>
            <p:cNvPr id="14" name="Text 12"/>
            <p:cNvSpPr/>
            <p:nvPr/>
          </p:nvSpPr>
          <p:spPr>
            <a:xfrm>
              <a:off x="3291840" y="1417320"/>
              <a:ext cx="2468880" cy="457200"/>
            </a:xfrm>
            <a:prstGeom prst="rect">
              <a:avLst/>
            </a:prstGeom>
            <a:noFill/>
            <a:ln/>
          </p:spPr>
          <p:txBody>
            <a:bodyPr wrap="square" lIns="0" tIns="0" rIns="0" bIns="0" rtlCol="0" anchor="ctr"/>
            <a:lstStyle/>
            <a:p>
              <a:pPr marL="0" indent="0">
                <a:buNone/>
              </a:pPr>
              <a:r>
                <a:rPr lang="en-US" sz="950" dirty="0">
                  <a:solidFill>
                    <a:srgbClr val="1A2E44"/>
                  </a:solidFill>
                  <a:latin typeface="Calibri" pitchFamily="34" charset="0"/>
                  <a:ea typeface="Calibri" pitchFamily="34" charset="-122"/>
                  <a:cs typeface="Calibri" pitchFamily="34" charset="-120"/>
                </a:rPr>
                <a:t>▸  Authenticates every request</a:t>
              </a:r>
              <a:endParaRPr lang="en-US" sz="950" dirty="0"/>
            </a:p>
          </p:txBody>
        </p:sp>
        <p:sp>
          <p:nvSpPr>
            <p:cNvPr id="15" name="Text 13"/>
            <p:cNvSpPr/>
            <p:nvPr/>
          </p:nvSpPr>
          <p:spPr>
            <a:xfrm>
              <a:off x="3291840" y="1920240"/>
              <a:ext cx="2468880" cy="457200"/>
            </a:xfrm>
            <a:prstGeom prst="rect">
              <a:avLst/>
            </a:prstGeom>
            <a:noFill/>
            <a:ln/>
          </p:spPr>
          <p:txBody>
            <a:bodyPr wrap="square" lIns="0" tIns="0" rIns="0" bIns="0" rtlCol="0" anchor="ctr"/>
            <a:lstStyle/>
            <a:p>
              <a:pPr marL="0" indent="0">
                <a:buNone/>
              </a:pPr>
              <a:r>
                <a:rPr lang="en-US" sz="950" dirty="0">
                  <a:solidFill>
                    <a:srgbClr val="1A2E44"/>
                  </a:solidFill>
                  <a:latin typeface="Calibri" pitchFamily="34" charset="0"/>
                  <a:ea typeface="Calibri" pitchFamily="34" charset="-122"/>
                  <a:cs typeface="Calibri" pitchFamily="34" charset="-120"/>
                </a:rPr>
                <a:t>▸  Evaluates: identity + device + context</a:t>
              </a:r>
              <a:endParaRPr lang="en-US" sz="950" dirty="0"/>
            </a:p>
          </p:txBody>
        </p:sp>
        <p:sp>
          <p:nvSpPr>
            <p:cNvPr id="16" name="Text 14"/>
            <p:cNvSpPr/>
            <p:nvPr/>
          </p:nvSpPr>
          <p:spPr>
            <a:xfrm>
              <a:off x="3291840" y="2423160"/>
              <a:ext cx="2468880" cy="457200"/>
            </a:xfrm>
            <a:prstGeom prst="rect">
              <a:avLst/>
            </a:prstGeom>
            <a:noFill/>
            <a:ln/>
          </p:spPr>
          <p:txBody>
            <a:bodyPr wrap="square" lIns="0" tIns="0" rIns="0" bIns="0" rtlCol="0" anchor="ctr"/>
            <a:lstStyle/>
            <a:p>
              <a:pPr marL="0" indent="0">
                <a:buNone/>
              </a:pPr>
              <a:r>
                <a:rPr lang="en-US" sz="950" dirty="0">
                  <a:solidFill>
                    <a:srgbClr val="1A2E44"/>
                  </a:solidFill>
                  <a:latin typeface="Calibri" pitchFamily="34" charset="0"/>
                  <a:ea typeface="Calibri" pitchFamily="34" charset="-122"/>
                  <a:cs typeface="Calibri" pitchFamily="34" charset="-120"/>
                </a:rPr>
                <a:t>▸  Enforces MFA + Conditional Access</a:t>
              </a:r>
              <a:endParaRPr lang="en-US" sz="950" dirty="0"/>
            </a:p>
          </p:txBody>
        </p:sp>
        <p:sp>
          <p:nvSpPr>
            <p:cNvPr id="17" name="Text 15"/>
            <p:cNvSpPr/>
            <p:nvPr/>
          </p:nvSpPr>
          <p:spPr>
            <a:xfrm>
              <a:off x="3291840" y="2926080"/>
              <a:ext cx="2468880" cy="457200"/>
            </a:xfrm>
            <a:prstGeom prst="rect">
              <a:avLst/>
            </a:prstGeom>
            <a:noFill/>
            <a:ln/>
          </p:spPr>
          <p:txBody>
            <a:bodyPr wrap="square" lIns="0" tIns="0" rIns="0" bIns="0" rtlCol="0" anchor="ctr"/>
            <a:lstStyle/>
            <a:p>
              <a:pPr marL="0" indent="0">
                <a:buNone/>
              </a:pPr>
              <a:r>
                <a:rPr lang="en-US" sz="950" dirty="0">
                  <a:solidFill>
                    <a:srgbClr val="1A2E44"/>
                  </a:solidFill>
                  <a:latin typeface="Calibri" pitchFamily="34" charset="0"/>
                  <a:ea typeface="Calibri" pitchFamily="34" charset="-122"/>
                  <a:cs typeface="Calibri" pitchFamily="34" charset="-120"/>
                </a:rPr>
                <a:t>▸  Issues short-lived tokens only</a:t>
              </a:r>
              <a:endParaRPr lang="en-US" sz="950" dirty="0"/>
            </a:p>
          </p:txBody>
        </p:sp>
        <p:sp>
          <p:nvSpPr>
            <p:cNvPr id="18" name="Text 16"/>
            <p:cNvSpPr/>
            <p:nvPr/>
          </p:nvSpPr>
          <p:spPr>
            <a:xfrm>
              <a:off x="3291840" y="3429000"/>
              <a:ext cx="2468880" cy="457200"/>
            </a:xfrm>
            <a:prstGeom prst="rect">
              <a:avLst/>
            </a:prstGeom>
            <a:noFill/>
            <a:ln/>
          </p:spPr>
          <p:txBody>
            <a:bodyPr wrap="square" lIns="0" tIns="0" rIns="0" bIns="0" rtlCol="0" anchor="ctr"/>
            <a:lstStyle/>
            <a:p>
              <a:pPr marL="0" indent="0">
                <a:buNone/>
              </a:pPr>
              <a:r>
                <a:rPr lang="en-US" sz="950" dirty="0">
                  <a:solidFill>
                    <a:srgbClr val="1A2E44"/>
                  </a:solidFill>
                  <a:latin typeface="Calibri" pitchFamily="34" charset="0"/>
                  <a:ea typeface="Calibri" pitchFamily="34" charset="-122"/>
                  <a:cs typeface="Calibri" pitchFamily="34" charset="-120"/>
                </a:rPr>
                <a:t>▸  CAEP events trigger revocation</a:t>
              </a:r>
              <a:endParaRPr lang="en-US" sz="950" dirty="0"/>
            </a:p>
          </p:txBody>
        </p:sp>
        <p:sp>
          <p:nvSpPr>
            <p:cNvPr id="19" name="Shape 17"/>
            <p:cNvSpPr/>
            <p:nvPr/>
          </p:nvSpPr>
          <p:spPr>
            <a:xfrm>
              <a:off x="6080760" y="777240"/>
              <a:ext cx="2743200" cy="4754880"/>
            </a:xfrm>
            <a:prstGeom prst="rect">
              <a:avLst/>
            </a:prstGeom>
            <a:solidFill>
              <a:srgbClr val="F0FBF4"/>
            </a:solidFill>
            <a:ln w="25400">
              <a:solidFill>
                <a:srgbClr val="1A6B3C"/>
              </a:solidFill>
              <a:prstDash val="solid"/>
            </a:ln>
            <a:effectLst>
              <a:outerShdw blurRad="63500" dist="25400" dir="8100000" algn="bl" rotWithShape="0">
                <a:srgbClr val="000000">
                  <a:alpha val="12000"/>
                </a:srgbClr>
              </a:outerShdw>
            </a:effectLst>
          </p:spPr>
          <p:txBody>
            <a:bodyPr/>
            <a:lstStyle/>
            <a:p>
              <a:endParaRPr lang="en-US"/>
            </a:p>
          </p:txBody>
        </p:sp>
        <p:sp>
          <p:nvSpPr>
            <p:cNvPr id="20" name="Shape 18"/>
            <p:cNvSpPr/>
            <p:nvPr/>
          </p:nvSpPr>
          <p:spPr>
            <a:xfrm>
              <a:off x="6080760" y="777240"/>
              <a:ext cx="2743200" cy="502920"/>
            </a:xfrm>
            <a:prstGeom prst="rect">
              <a:avLst/>
            </a:prstGeom>
            <a:solidFill>
              <a:srgbClr val="1A6B3C"/>
            </a:solidFill>
            <a:ln w="12700">
              <a:solidFill>
                <a:srgbClr val="1A6B3C"/>
              </a:solidFill>
              <a:prstDash val="solid"/>
            </a:ln>
          </p:spPr>
          <p:txBody>
            <a:bodyPr/>
            <a:lstStyle/>
            <a:p>
              <a:endParaRPr lang="en-US"/>
            </a:p>
          </p:txBody>
        </p:sp>
        <p:sp>
          <p:nvSpPr>
            <p:cNvPr id="21" name="Text 19"/>
            <p:cNvSpPr/>
            <p:nvPr/>
          </p:nvSpPr>
          <p:spPr>
            <a:xfrm>
              <a:off x="6153912" y="777240"/>
              <a:ext cx="2596896" cy="5029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INTERNAL RESOURCES</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(Post-Authentication)</a:t>
              </a:r>
              <a:endParaRPr lang="en-US" sz="950" dirty="0"/>
            </a:p>
          </p:txBody>
        </p:sp>
        <p:sp>
          <p:nvSpPr>
            <p:cNvPr id="22" name="Text 20"/>
            <p:cNvSpPr/>
            <p:nvPr/>
          </p:nvSpPr>
          <p:spPr>
            <a:xfrm>
              <a:off x="6217920" y="1417320"/>
              <a:ext cx="2468880" cy="457200"/>
            </a:xfrm>
            <a:prstGeom prst="rect">
              <a:avLst/>
            </a:prstGeom>
            <a:noFill/>
            <a:ln/>
          </p:spPr>
          <p:txBody>
            <a:bodyPr wrap="square" lIns="0" tIns="0" rIns="0" bIns="0" rtlCol="0" anchor="ctr"/>
            <a:lstStyle/>
            <a:p>
              <a:pPr marL="0" indent="0">
                <a:buNone/>
              </a:pPr>
              <a:r>
                <a:rPr lang="en-US" sz="950" dirty="0">
                  <a:solidFill>
                    <a:srgbClr val="1A2E44"/>
                  </a:solidFill>
                  <a:latin typeface="Calibri" pitchFamily="34" charset="0"/>
                  <a:ea typeface="Calibri" pitchFamily="34" charset="-122"/>
                  <a:cs typeface="Calibri" pitchFamily="34" charset="-120"/>
                </a:rPr>
                <a:t>▸  Access granted per token scope</a:t>
              </a:r>
              <a:endParaRPr lang="en-US" sz="950" dirty="0"/>
            </a:p>
          </p:txBody>
        </p:sp>
        <p:sp>
          <p:nvSpPr>
            <p:cNvPr id="23" name="Text 21"/>
            <p:cNvSpPr/>
            <p:nvPr/>
          </p:nvSpPr>
          <p:spPr>
            <a:xfrm>
              <a:off x="6217920" y="1920240"/>
              <a:ext cx="2468880" cy="457200"/>
            </a:xfrm>
            <a:prstGeom prst="rect">
              <a:avLst/>
            </a:prstGeom>
            <a:noFill/>
            <a:ln/>
          </p:spPr>
          <p:txBody>
            <a:bodyPr wrap="square" lIns="0" tIns="0" rIns="0" bIns="0" rtlCol="0" anchor="ctr"/>
            <a:lstStyle/>
            <a:p>
              <a:pPr marL="0" indent="0">
                <a:buNone/>
              </a:pPr>
              <a:r>
                <a:rPr lang="en-US" sz="950" dirty="0">
                  <a:solidFill>
                    <a:srgbClr val="1A2E44"/>
                  </a:solidFill>
                  <a:latin typeface="Calibri" pitchFamily="34" charset="0"/>
                  <a:ea typeface="Calibri" pitchFamily="34" charset="-122"/>
                  <a:cs typeface="Calibri" pitchFamily="34" charset="-120"/>
                </a:rPr>
                <a:t>▸  No elevated trust from network location</a:t>
              </a:r>
              <a:endParaRPr lang="en-US" sz="950" dirty="0"/>
            </a:p>
          </p:txBody>
        </p:sp>
        <p:sp>
          <p:nvSpPr>
            <p:cNvPr id="24" name="Text 22"/>
            <p:cNvSpPr/>
            <p:nvPr/>
          </p:nvSpPr>
          <p:spPr>
            <a:xfrm>
              <a:off x="6217920" y="2423160"/>
              <a:ext cx="2468880" cy="457200"/>
            </a:xfrm>
            <a:prstGeom prst="rect">
              <a:avLst/>
            </a:prstGeom>
            <a:noFill/>
            <a:ln/>
          </p:spPr>
          <p:txBody>
            <a:bodyPr wrap="square" lIns="0" tIns="0" rIns="0" bIns="0" rtlCol="0" anchor="ctr"/>
            <a:lstStyle/>
            <a:p>
              <a:pPr marL="0" indent="0">
                <a:buNone/>
              </a:pPr>
              <a:r>
                <a:rPr lang="en-US" sz="950" dirty="0">
                  <a:solidFill>
                    <a:srgbClr val="1A2E44"/>
                  </a:solidFill>
                  <a:latin typeface="Calibri" pitchFamily="34" charset="0"/>
                  <a:ea typeface="Calibri" pitchFamily="34" charset="-122"/>
                  <a:cs typeface="Calibri" pitchFamily="34" charset="-120"/>
                </a:rPr>
                <a:t>▸  RBAC/ABAC enforces least privilege</a:t>
              </a:r>
              <a:endParaRPr lang="en-US" sz="950" dirty="0"/>
            </a:p>
          </p:txBody>
        </p:sp>
        <p:sp>
          <p:nvSpPr>
            <p:cNvPr id="25" name="Text 23"/>
            <p:cNvSpPr/>
            <p:nvPr/>
          </p:nvSpPr>
          <p:spPr>
            <a:xfrm>
              <a:off x="6217920" y="2926080"/>
              <a:ext cx="2468880" cy="457200"/>
            </a:xfrm>
            <a:prstGeom prst="rect">
              <a:avLst/>
            </a:prstGeom>
            <a:noFill/>
            <a:ln/>
          </p:spPr>
          <p:txBody>
            <a:bodyPr wrap="square" lIns="0" tIns="0" rIns="0" bIns="0" rtlCol="0" anchor="ctr"/>
            <a:lstStyle/>
            <a:p>
              <a:pPr marL="0" indent="0">
                <a:buNone/>
              </a:pPr>
              <a:r>
                <a:rPr lang="en-US" sz="950" dirty="0">
                  <a:solidFill>
                    <a:srgbClr val="1A2E44"/>
                  </a:solidFill>
                  <a:latin typeface="Calibri" pitchFamily="34" charset="0"/>
                  <a:ea typeface="Calibri" pitchFamily="34" charset="-122"/>
                  <a:cs typeface="Calibri" pitchFamily="34" charset="-120"/>
                </a:rPr>
                <a:t>▸  Session audited to SIEM</a:t>
              </a:r>
              <a:endParaRPr lang="en-US" sz="950" dirty="0"/>
            </a:p>
          </p:txBody>
        </p:sp>
        <p:sp>
          <p:nvSpPr>
            <p:cNvPr id="26" name="Text 24"/>
            <p:cNvSpPr/>
            <p:nvPr/>
          </p:nvSpPr>
          <p:spPr>
            <a:xfrm>
              <a:off x="6217920" y="3429000"/>
              <a:ext cx="2468880" cy="457200"/>
            </a:xfrm>
            <a:prstGeom prst="rect">
              <a:avLst/>
            </a:prstGeom>
            <a:noFill/>
            <a:ln/>
          </p:spPr>
          <p:txBody>
            <a:bodyPr wrap="square" lIns="0" tIns="0" rIns="0" bIns="0" rtlCol="0" anchor="ctr"/>
            <a:lstStyle/>
            <a:p>
              <a:pPr marL="0" indent="0">
                <a:buNone/>
              </a:pPr>
              <a:r>
                <a:rPr lang="en-US" sz="950" dirty="0">
                  <a:solidFill>
                    <a:srgbClr val="1A2E44"/>
                  </a:solidFill>
                  <a:latin typeface="Calibri" pitchFamily="34" charset="0"/>
                  <a:ea typeface="Calibri" pitchFamily="34" charset="-122"/>
                  <a:cs typeface="Calibri" pitchFamily="34" charset="-120"/>
                </a:rPr>
                <a:t>▸  Zero standing admin privileges</a:t>
              </a:r>
              <a:endParaRPr lang="en-US" sz="950" dirty="0"/>
            </a:p>
          </p:txBody>
        </p:sp>
        <p:sp>
          <p:nvSpPr>
            <p:cNvPr id="27" name="Shape 25"/>
            <p:cNvSpPr/>
            <p:nvPr/>
          </p:nvSpPr>
          <p:spPr>
            <a:xfrm>
              <a:off x="2971800" y="3063240"/>
              <a:ext cx="182880" cy="0"/>
            </a:xfrm>
            <a:prstGeom prst="line">
              <a:avLst/>
            </a:prstGeom>
            <a:noFill/>
            <a:ln w="25400">
              <a:solidFill>
                <a:srgbClr val="0F4C75"/>
              </a:solidFill>
              <a:prstDash val="solid"/>
            </a:ln>
          </p:spPr>
          <p:txBody>
            <a:bodyPr/>
            <a:lstStyle/>
            <a:p>
              <a:endParaRPr lang="en-US"/>
            </a:p>
          </p:txBody>
        </p:sp>
        <p:sp>
          <p:nvSpPr>
            <p:cNvPr id="28" name="Text 26"/>
            <p:cNvSpPr/>
            <p:nvPr/>
          </p:nvSpPr>
          <p:spPr>
            <a:xfrm>
              <a:off x="2944368" y="2944368"/>
              <a:ext cx="256032" cy="256032"/>
            </a:xfrm>
            <a:prstGeom prst="rect">
              <a:avLst/>
            </a:prstGeom>
            <a:noFill/>
            <a:ln/>
          </p:spPr>
          <p:txBody>
            <a:bodyPr wrap="square" lIns="0" tIns="0" rIns="0" bIns="0" rtlCol="0" anchor="ctr"/>
            <a:lstStyle/>
            <a:p>
              <a:pPr marL="0" indent="0" algn="ctr">
                <a:buNone/>
              </a:pPr>
              <a:r>
                <a:rPr lang="en-US" sz="1600" b="1" dirty="0">
                  <a:solidFill>
                    <a:srgbClr val="0F4C75"/>
                  </a:solidFill>
                  <a:latin typeface="Calibri" pitchFamily="34" charset="0"/>
                  <a:ea typeface="Calibri" pitchFamily="34" charset="-122"/>
                  <a:cs typeface="Calibri" pitchFamily="34" charset="-120"/>
                </a:rPr>
                <a:t>→</a:t>
              </a:r>
              <a:endParaRPr lang="en-US" sz="1600" dirty="0"/>
            </a:p>
          </p:txBody>
        </p:sp>
        <p:sp>
          <p:nvSpPr>
            <p:cNvPr id="29" name="Shape 27"/>
            <p:cNvSpPr/>
            <p:nvPr/>
          </p:nvSpPr>
          <p:spPr>
            <a:xfrm>
              <a:off x="5897880" y="3063240"/>
              <a:ext cx="182880" cy="0"/>
            </a:xfrm>
            <a:prstGeom prst="line">
              <a:avLst/>
            </a:prstGeom>
            <a:noFill/>
            <a:ln w="25400">
              <a:solidFill>
                <a:srgbClr val="1A6B3C"/>
              </a:solidFill>
              <a:prstDash val="solid"/>
            </a:ln>
          </p:spPr>
          <p:txBody>
            <a:bodyPr/>
            <a:lstStyle/>
            <a:p>
              <a:endParaRPr lang="en-US"/>
            </a:p>
          </p:txBody>
        </p:sp>
        <p:sp>
          <p:nvSpPr>
            <p:cNvPr id="30" name="Text 28"/>
            <p:cNvSpPr/>
            <p:nvPr/>
          </p:nvSpPr>
          <p:spPr>
            <a:xfrm>
              <a:off x="5870448" y="2944368"/>
              <a:ext cx="256032" cy="256032"/>
            </a:xfrm>
            <a:prstGeom prst="rect">
              <a:avLst/>
            </a:prstGeom>
            <a:noFill/>
            <a:ln/>
          </p:spPr>
          <p:txBody>
            <a:bodyPr wrap="square" lIns="0" tIns="0" rIns="0" bIns="0" rtlCol="0" anchor="ctr"/>
            <a:lstStyle/>
            <a:p>
              <a:pPr marL="0" indent="0" algn="ctr">
                <a:buNone/>
              </a:pPr>
              <a:r>
                <a:rPr lang="en-US" sz="1600" b="1" dirty="0">
                  <a:solidFill>
                    <a:srgbClr val="1A6B3C"/>
                  </a:solidFill>
                  <a:latin typeface="Calibri" pitchFamily="34" charset="0"/>
                  <a:ea typeface="Calibri" pitchFamily="34" charset="-122"/>
                  <a:cs typeface="Calibri" pitchFamily="34" charset="-120"/>
                </a:rPr>
                <a:t>→</a:t>
              </a:r>
              <a:endParaRPr lang="en-US" sz="1600" dirty="0"/>
            </a:p>
          </p:txBody>
        </p:sp>
        <p:sp>
          <p:nvSpPr>
            <p:cNvPr id="31" name="Shape 29"/>
            <p:cNvSpPr/>
            <p:nvPr/>
          </p:nvSpPr>
          <p:spPr>
            <a:xfrm>
              <a:off x="228600" y="5596128"/>
              <a:ext cx="8686800" cy="256032"/>
            </a:xfrm>
            <a:prstGeom prst="rect">
              <a:avLst/>
            </a:prstGeom>
            <a:solidFill>
              <a:srgbClr val="0F4C75"/>
            </a:solidFill>
            <a:ln w="12700">
              <a:solidFill>
                <a:srgbClr val="0F4C75"/>
              </a:solidFill>
              <a:prstDash val="solid"/>
            </a:ln>
          </p:spPr>
          <p:txBody>
            <a:bodyPr/>
            <a:lstStyle/>
            <a:p>
              <a:endParaRPr lang="en-US"/>
            </a:p>
          </p:txBody>
        </p:sp>
        <p:sp>
          <p:nvSpPr>
            <p:cNvPr id="32" name="Text 30"/>
            <p:cNvSpPr/>
            <p:nvPr/>
          </p:nvSpPr>
          <p:spPr>
            <a:xfrm>
              <a:off x="228600" y="5596128"/>
              <a:ext cx="8686800" cy="256032"/>
            </a:xfrm>
            <a:prstGeom prst="rect">
              <a:avLst/>
            </a:prstGeom>
            <a:noFill/>
            <a:ln/>
          </p:spPr>
          <p:txBody>
            <a:bodyPr wrap="square" lIns="0" tIns="0" rIns="0" bIns="0" rtlCol="0" anchor="ctr"/>
            <a:lstStyle/>
            <a:p>
              <a:pPr marL="0" indent="0" algn="ctr">
                <a:buNone/>
              </a:pPr>
              <a:r>
                <a:rPr lang="en-US" sz="850" dirty="0">
                  <a:solidFill>
                    <a:srgbClr val="C9E4F0"/>
                  </a:solidFill>
                  <a:latin typeface="Calibri" pitchFamily="34" charset="0"/>
                  <a:ea typeface="Calibri" pitchFamily="34" charset="-122"/>
                  <a:cs typeface="Calibri" pitchFamily="34" charset="-120"/>
                </a:rPr>
                <a:t>Trust Signals evaluated at IdP:   Device Certificate   |   MFA Claim   |   Risk Score   |   IP / Location   |   Compliance State   |   Token Scope</a:t>
              </a:r>
              <a:endParaRPr lang="en-US" sz="850" dirty="0"/>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75"/>
          </a:solidFill>
          <a:ln w="12700">
            <a:solidFill>
              <a:srgbClr val="0F4C75"/>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SAML 2.0 vs OIDC/OAuth 2.0 — When to Use Which</a:t>
            </a:r>
            <a:endParaRPr lang="en-US" sz="1900" dirty="0"/>
          </a:p>
        </p:txBody>
      </p:sp>
      <p:sp>
        <p:nvSpPr>
          <p:cNvPr id="4" name="Shape 2"/>
          <p:cNvSpPr/>
          <p:nvPr/>
        </p:nvSpPr>
        <p:spPr>
          <a:xfrm>
            <a:off x="228600" y="804672"/>
            <a:ext cx="4069080" cy="416052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5" name="Shape 3"/>
          <p:cNvSpPr/>
          <p:nvPr/>
        </p:nvSpPr>
        <p:spPr>
          <a:xfrm>
            <a:off x="228600" y="804672"/>
            <a:ext cx="4069080" cy="411480"/>
          </a:xfrm>
          <a:prstGeom prst="rect">
            <a:avLst/>
          </a:prstGeom>
          <a:solidFill>
            <a:srgbClr val="0F4C75"/>
          </a:solidFill>
          <a:ln w="12700">
            <a:solidFill>
              <a:srgbClr val="0F4C75"/>
            </a:solidFill>
            <a:prstDash val="solid"/>
          </a:ln>
        </p:spPr>
        <p:txBody>
          <a:bodyPr/>
          <a:lstStyle/>
          <a:p>
            <a:endParaRPr lang="en-US"/>
          </a:p>
        </p:txBody>
      </p:sp>
      <p:sp>
        <p:nvSpPr>
          <p:cNvPr id="6" name="Text 4"/>
          <p:cNvSpPr/>
          <p:nvPr/>
        </p:nvSpPr>
        <p:spPr>
          <a:xfrm>
            <a:off x="228600" y="804672"/>
            <a:ext cx="40690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SAML 2.0</a:t>
            </a:r>
            <a:endParaRPr lang="en-US" sz="1400" dirty="0"/>
          </a:p>
        </p:txBody>
      </p:sp>
      <p:sp>
        <p:nvSpPr>
          <p:cNvPr id="7" name="Text 5"/>
          <p:cNvSpPr/>
          <p:nvPr/>
        </p:nvSpPr>
        <p:spPr>
          <a:xfrm>
            <a:off x="320040" y="1280160"/>
            <a:ext cx="3886200" cy="457200"/>
          </a:xfrm>
          <a:prstGeom prst="rect">
            <a:avLst/>
          </a:prstGeom>
          <a:noFill/>
          <a:ln/>
        </p:spPr>
        <p:txBody>
          <a:bodyPr wrap="square" lIns="0" tIns="0" rIns="0" bIns="0" rtlCol="0" anchor="ctr"/>
          <a:lstStyle/>
          <a:p>
            <a:pPr marL="0" indent="0">
              <a:buNone/>
            </a:pPr>
            <a:r>
              <a:rPr lang="en-US" sz="1000" b="1" dirty="0">
                <a:solidFill>
                  <a:srgbClr val="0F4C75"/>
                </a:solidFill>
                <a:latin typeface="Calibri" pitchFamily="34" charset="0"/>
                <a:ea typeface="Calibri" pitchFamily="34" charset="-122"/>
                <a:cs typeface="Calibri" pitchFamily="34" charset="-120"/>
              </a:rPr>
              <a:t>Format: </a:t>
            </a:r>
            <a:r>
              <a:rPr lang="en-US" sz="1000" dirty="0">
                <a:solidFill>
                  <a:srgbClr val="4B6076"/>
                </a:solidFill>
                <a:latin typeface="Calibri" pitchFamily="34" charset="0"/>
                <a:ea typeface="Calibri" pitchFamily="34" charset="-122"/>
                <a:cs typeface="Calibri" pitchFamily="34" charset="-120"/>
              </a:rPr>
              <a:t>XML-based signed assertions</a:t>
            </a:r>
            <a:endParaRPr lang="en-US" sz="1000" dirty="0"/>
          </a:p>
        </p:txBody>
      </p:sp>
      <p:sp>
        <p:nvSpPr>
          <p:cNvPr id="8" name="Text 6"/>
          <p:cNvSpPr/>
          <p:nvPr/>
        </p:nvSpPr>
        <p:spPr>
          <a:xfrm>
            <a:off x="320040" y="1783080"/>
            <a:ext cx="3886200" cy="457200"/>
          </a:xfrm>
          <a:prstGeom prst="rect">
            <a:avLst/>
          </a:prstGeom>
          <a:noFill/>
          <a:ln/>
        </p:spPr>
        <p:txBody>
          <a:bodyPr wrap="square" lIns="0" tIns="0" rIns="0" bIns="0" rtlCol="0" anchor="ctr"/>
          <a:lstStyle/>
          <a:p>
            <a:pPr marL="0" indent="0">
              <a:buNone/>
            </a:pPr>
            <a:r>
              <a:rPr lang="en-US" sz="1000" b="1" dirty="0">
                <a:solidFill>
                  <a:srgbClr val="0F4C75"/>
                </a:solidFill>
                <a:latin typeface="Calibri" pitchFamily="34" charset="0"/>
                <a:ea typeface="Calibri" pitchFamily="34" charset="-122"/>
                <a:cs typeface="Calibri" pitchFamily="34" charset="-120"/>
              </a:rPr>
              <a:t>Flow: </a:t>
            </a:r>
            <a:r>
              <a:rPr lang="en-US" sz="1000" dirty="0">
                <a:solidFill>
                  <a:srgbClr val="4B6076"/>
                </a:solidFill>
                <a:latin typeface="Calibri" pitchFamily="34" charset="0"/>
                <a:ea typeface="Calibri" pitchFamily="34" charset="-122"/>
                <a:cs typeface="Calibri" pitchFamily="34" charset="-120"/>
              </a:rPr>
              <a:t>SP redirect → IdP authenticate → POST assertion to ACS URL</a:t>
            </a:r>
            <a:endParaRPr lang="en-US" sz="1000" dirty="0"/>
          </a:p>
        </p:txBody>
      </p:sp>
      <p:sp>
        <p:nvSpPr>
          <p:cNvPr id="9" name="Text 7"/>
          <p:cNvSpPr/>
          <p:nvPr/>
        </p:nvSpPr>
        <p:spPr>
          <a:xfrm>
            <a:off x="320040" y="2286000"/>
            <a:ext cx="3886200" cy="457200"/>
          </a:xfrm>
          <a:prstGeom prst="rect">
            <a:avLst/>
          </a:prstGeom>
          <a:noFill/>
          <a:ln/>
        </p:spPr>
        <p:txBody>
          <a:bodyPr wrap="square" lIns="0" tIns="0" rIns="0" bIns="0" rtlCol="0" anchor="ctr"/>
          <a:lstStyle/>
          <a:p>
            <a:pPr marL="0" indent="0">
              <a:buNone/>
            </a:pPr>
            <a:r>
              <a:rPr lang="en-US" sz="1000" b="1" dirty="0">
                <a:solidFill>
                  <a:srgbClr val="0F4C75"/>
                </a:solidFill>
                <a:latin typeface="Calibri" pitchFamily="34" charset="0"/>
                <a:ea typeface="Calibri" pitchFamily="34" charset="-122"/>
                <a:cs typeface="Calibri" pitchFamily="34" charset="-120"/>
              </a:rPr>
              <a:t>Token: </a:t>
            </a:r>
            <a:r>
              <a:rPr lang="en-US" sz="1000" dirty="0">
                <a:solidFill>
                  <a:srgbClr val="4B6076"/>
                </a:solidFill>
                <a:latin typeface="Calibri" pitchFamily="34" charset="0"/>
                <a:ea typeface="Calibri" pitchFamily="34" charset="-122"/>
                <a:cs typeface="Calibri" pitchFamily="34" charset="-120"/>
              </a:rPr>
              <a:t>SAML Assertion (XML, signed with IdP cert)</a:t>
            </a:r>
            <a:endParaRPr lang="en-US" sz="1000" dirty="0"/>
          </a:p>
        </p:txBody>
      </p:sp>
      <p:sp>
        <p:nvSpPr>
          <p:cNvPr id="10" name="Text 8"/>
          <p:cNvSpPr/>
          <p:nvPr/>
        </p:nvSpPr>
        <p:spPr>
          <a:xfrm>
            <a:off x="320040" y="2788920"/>
            <a:ext cx="3886200" cy="457200"/>
          </a:xfrm>
          <a:prstGeom prst="rect">
            <a:avLst/>
          </a:prstGeom>
          <a:noFill/>
          <a:ln/>
        </p:spPr>
        <p:txBody>
          <a:bodyPr wrap="square" lIns="0" tIns="0" rIns="0" bIns="0" rtlCol="0" anchor="ctr"/>
          <a:lstStyle/>
          <a:p>
            <a:pPr marL="0" indent="0">
              <a:buNone/>
            </a:pPr>
            <a:r>
              <a:rPr lang="en-US" sz="1000" b="1" dirty="0">
                <a:solidFill>
                  <a:srgbClr val="0F4C75"/>
                </a:solidFill>
                <a:latin typeface="Calibri" pitchFamily="34" charset="0"/>
                <a:ea typeface="Calibri" pitchFamily="34" charset="-122"/>
                <a:cs typeface="Calibri" pitchFamily="34" charset="-120"/>
              </a:rPr>
              <a:t>Session: </a:t>
            </a:r>
            <a:r>
              <a:rPr lang="en-US" sz="1000" dirty="0">
                <a:solidFill>
                  <a:srgbClr val="4B6076"/>
                </a:solidFill>
                <a:latin typeface="Calibri" pitchFamily="34" charset="0"/>
                <a:ea typeface="Calibri" pitchFamily="34" charset="-122"/>
                <a:cs typeface="Calibri" pitchFamily="34" charset="-120"/>
              </a:rPr>
              <a:t>SP creates its own server-side session after assertion validation</a:t>
            </a:r>
            <a:endParaRPr lang="en-US" sz="1000" dirty="0"/>
          </a:p>
        </p:txBody>
      </p:sp>
      <p:sp>
        <p:nvSpPr>
          <p:cNvPr id="11" name="Text 9"/>
          <p:cNvSpPr/>
          <p:nvPr/>
        </p:nvSpPr>
        <p:spPr>
          <a:xfrm>
            <a:off x="320040" y="3291840"/>
            <a:ext cx="3886200" cy="457200"/>
          </a:xfrm>
          <a:prstGeom prst="rect">
            <a:avLst/>
          </a:prstGeom>
          <a:noFill/>
          <a:ln/>
        </p:spPr>
        <p:txBody>
          <a:bodyPr wrap="square" lIns="0" tIns="0" rIns="0" bIns="0" rtlCol="0" anchor="ctr"/>
          <a:lstStyle/>
          <a:p>
            <a:pPr marL="0" indent="0">
              <a:buNone/>
            </a:pPr>
            <a:r>
              <a:rPr lang="en-US" sz="1000" b="1" dirty="0">
                <a:solidFill>
                  <a:srgbClr val="0F4C75"/>
                </a:solidFill>
                <a:latin typeface="Calibri" pitchFamily="34" charset="0"/>
                <a:ea typeface="Calibri" pitchFamily="34" charset="-122"/>
                <a:cs typeface="Calibri" pitchFamily="34" charset="-120"/>
              </a:rPr>
              <a:t>Best for: </a:t>
            </a:r>
            <a:r>
              <a:rPr lang="en-US" sz="1000" dirty="0">
                <a:solidFill>
                  <a:srgbClr val="4B6076"/>
                </a:solidFill>
                <a:latin typeface="Calibri" pitchFamily="34" charset="0"/>
                <a:ea typeface="Calibri" pitchFamily="34" charset="-122"/>
                <a:cs typeface="Calibri" pitchFamily="34" charset="-120"/>
              </a:rPr>
              <a:t>Enterprise SaaS (Salesforce, Workday, ServiceNow, Okta app catalog)</a:t>
            </a:r>
            <a:endParaRPr lang="en-US" sz="1000" dirty="0"/>
          </a:p>
        </p:txBody>
      </p:sp>
      <p:sp>
        <p:nvSpPr>
          <p:cNvPr id="12" name="Text 10"/>
          <p:cNvSpPr/>
          <p:nvPr/>
        </p:nvSpPr>
        <p:spPr>
          <a:xfrm>
            <a:off x="320040" y="3794760"/>
            <a:ext cx="3886200" cy="457200"/>
          </a:xfrm>
          <a:prstGeom prst="rect">
            <a:avLst/>
          </a:prstGeom>
          <a:noFill/>
          <a:ln/>
        </p:spPr>
        <p:txBody>
          <a:bodyPr wrap="square" lIns="0" tIns="0" rIns="0" bIns="0" rtlCol="0" anchor="ctr"/>
          <a:lstStyle/>
          <a:p>
            <a:pPr marL="0" indent="0">
              <a:buNone/>
            </a:pPr>
            <a:r>
              <a:rPr lang="en-US" sz="1000" b="1" dirty="0">
                <a:solidFill>
                  <a:srgbClr val="0F4C75"/>
                </a:solidFill>
                <a:latin typeface="Calibri" pitchFamily="34" charset="0"/>
                <a:ea typeface="Calibri" pitchFamily="34" charset="-122"/>
                <a:cs typeface="Calibri" pitchFamily="34" charset="-120"/>
              </a:rPr>
              <a:t>Security note: </a:t>
            </a:r>
            <a:r>
              <a:rPr lang="en-US" sz="1000" dirty="0">
                <a:solidFill>
                  <a:srgbClr val="4B6076"/>
                </a:solidFill>
                <a:latin typeface="Calibri" pitchFamily="34" charset="0"/>
                <a:ea typeface="Calibri" pitchFamily="34" charset="-122"/>
                <a:cs typeface="Calibri" pitchFamily="34" charset="-120"/>
              </a:rPr>
              <a:t>Use SHA-256+ for signing; validate NotOnOrAfter, Issuer, and AudienceRestriction</a:t>
            </a:r>
            <a:endParaRPr lang="en-US" sz="1000" dirty="0"/>
          </a:p>
        </p:txBody>
      </p:sp>
      <p:sp>
        <p:nvSpPr>
          <p:cNvPr id="13" name="Text 11"/>
          <p:cNvSpPr/>
          <p:nvPr/>
        </p:nvSpPr>
        <p:spPr>
          <a:xfrm>
            <a:off x="320040" y="4297680"/>
            <a:ext cx="3886200" cy="457200"/>
          </a:xfrm>
          <a:prstGeom prst="rect">
            <a:avLst/>
          </a:prstGeom>
          <a:noFill/>
          <a:ln/>
        </p:spPr>
        <p:txBody>
          <a:bodyPr wrap="square" lIns="0" tIns="0" rIns="0" bIns="0" rtlCol="0" anchor="ctr"/>
          <a:lstStyle/>
          <a:p>
            <a:pPr marL="0" indent="0">
              <a:buNone/>
            </a:pPr>
            <a:r>
              <a:rPr lang="en-US" sz="1000" b="1" dirty="0">
                <a:solidFill>
                  <a:srgbClr val="0F4C75"/>
                </a:solidFill>
                <a:latin typeface="Calibri" pitchFamily="34" charset="0"/>
                <a:ea typeface="Calibri" pitchFamily="34" charset="-122"/>
                <a:cs typeface="Calibri" pitchFamily="34" charset="-120"/>
              </a:rPr>
              <a:t>Weakness: </a:t>
            </a:r>
            <a:r>
              <a:rPr lang="en-US" sz="1000" dirty="0">
                <a:solidFill>
                  <a:srgbClr val="4B6076"/>
                </a:solidFill>
                <a:latin typeface="Calibri" pitchFamily="34" charset="0"/>
                <a:ea typeface="Calibri" pitchFamily="34" charset="-122"/>
                <a:cs typeface="Calibri" pitchFamily="34" charset="-120"/>
              </a:rPr>
              <a:t>XML signature wrapping attacks if SP parser is lenient; complex debugging</a:t>
            </a:r>
            <a:endParaRPr lang="en-US" sz="1000" dirty="0"/>
          </a:p>
        </p:txBody>
      </p:sp>
      <p:sp>
        <p:nvSpPr>
          <p:cNvPr id="14" name="Shape 12"/>
          <p:cNvSpPr/>
          <p:nvPr/>
        </p:nvSpPr>
        <p:spPr>
          <a:xfrm>
            <a:off x="4846320" y="804672"/>
            <a:ext cx="4069080" cy="416052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15" name="Shape 13"/>
          <p:cNvSpPr/>
          <p:nvPr/>
        </p:nvSpPr>
        <p:spPr>
          <a:xfrm>
            <a:off x="4846320" y="804672"/>
            <a:ext cx="4069080" cy="411480"/>
          </a:xfrm>
          <a:prstGeom prst="rect">
            <a:avLst/>
          </a:prstGeom>
          <a:solidFill>
            <a:srgbClr val="1B998B"/>
          </a:solidFill>
          <a:ln w="12700">
            <a:solidFill>
              <a:srgbClr val="1B998B"/>
            </a:solidFill>
            <a:prstDash val="solid"/>
          </a:ln>
        </p:spPr>
        <p:txBody>
          <a:bodyPr/>
          <a:lstStyle/>
          <a:p>
            <a:endParaRPr lang="en-US"/>
          </a:p>
        </p:txBody>
      </p:sp>
      <p:sp>
        <p:nvSpPr>
          <p:cNvPr id="16" name="Text 14"/>
          <p:cNvSpPr/>
          <p:nvPr/>
        </p:nvSpPr>
        <p:spPr>
          <a:xfrm>
            <a:off x="4846320" y="804672"/>
            <a:ext cx="40690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OIDC / OAuth 2.0</a:t>
            </a:r>
            <a:endParaRPr lang="en-US" sz="1400" dirty="0"/>
          </a:p>
        </p:txBody>
      </p:sp>
      <p:sp>
        <p:nvSpPr>
          <p:cNvPr id="17" name="Text 15"/>
          <p:cNvSpPr/>
          <p:nvPr/>
        </p:nvSpPr>
        <p:spPr>
          <a:xfrm>
            <a:off x="4937760" y="1280160"/>
            <a:ext cx="3886200" cy="457200"/>
          </a:xfrm>
          <a:prstGeom prst="rect">
            <a:avLst/>
          </a:prstGeom>
          <a:noFill/>
          <a:ln/>
        </p:spPr>
        <p:txBody>
          <a:bodyPr wrap="square" lIns="0" tIns="0" rIns="0" bIns="0" rtlCol="0" anchor="ctr"/>
          <a:lstStyle/>
          <a:p>
            <a:pPr marL="0" indent="0">
              <a:buNone/>
            </a:pPr>
            <a:r>
              <a:rPr lang="en-US" sz="1000" b="1" dirty="0">
                <a:solidFill>
                  <a:srgbClr val="1B998B"/>
                </a:solidFill>
                <a:latin typeface="Calibri" pitchFamily="34" charset="0"/>
                <a:ea typeface="Calibri" pitchFamily="34" charset="-122"/>
                <a:cs typeface="Calibri" pitchFamily="34" charset="-120"/>
              </a:rPr>
              <a:t>Format: </a:t>
            </a:r>
            <a:r>
              <a:rPr lang="en-US" sz="1000" dirty="0">
                <a:solidFill>
                  <a:srgbClr val="4B6076"/>
                </a:solidFill>
                <a:latin typeface="Calibri" pitchFamily="34" charset="0"/>
                <a:ea typeface="Calibri" pitchFamily="34" charset="-122"/>
                <a:cs typeface="Calibri" pitchFamily="34" charset="-120"/>
              </a:rPr>
              <a:t>ID Token: JWT (signed, base64-encoded). Access Token: JWT or opaque (implementation-dependent)</a:t>
            </a:r>
            <a:endParaRPr lang="en-US" sz="1000" dirty="0"/>
          </a:p>
        </p:txBody>
      </p:sp>
      <p:sp>
        <p:nvSpPr>
          <p:cNvPr id="18" name="Text 16"/>
          <p:cNvSpPr/>
          <p:nvPr/>
        </p:nvSpPr>
        <p:spPr>
          <a:xfrm>
            <a:off x="4937760" y="1783080"/>
            <a:ext cx="3886200" cy="457200"/>
          </a:xfrm>
          <a:prstGeom prst="rect">
            <a:avLst/>
          </a:prstGeom>
          <a:noFill/>
          <a:ln/>
        </p:spPr>
        <p:txBody>
          <a:bodyPr wrap="square" lIns="0" tIns="0" rIns="0" bIns="0" rtlCol="0" anchor="ctr"/>
          <a:lstStyle/>
          <a:p>
            <a:pPr marL="0" indent="0">
              <a:buNone/>
            </a:pPr>
            <a:r>
              <a:rPr lang="en-US" sz="1000" b="1" dirty="0">
                <a:solidFill>
                  <a:srgbClr val="1B998B"/>
                </a:solidFill>
                <a:latin typeface="Calibri" pitchFamily="34" charset="0"/>
                <a:ea typeface="Calibri" pitchFamily="34" charset="-122"/>
                <a:cs typeface="Calibri" pitchFamily="34" charset="-120"/>
              </a:rPr>
              <a:t>Flow: </a:t>
            </a:r>
            <a:r>
              <a:rPr lang="en-US" sz="1000" dirty="0">
                <a:solidFill>
                  <a:srgbClr val="4B6076"/>
                </a:solidFill>
                <a:latin typeface="Calibri" pitchFamily="34" charset="0"/>
                <a:ea typeface="Calibri" pitchFamily="34" charset="-122"/>
                <a:cs typeface="Calibri" pitchFamily="34" charset="-120"/>
              </a:rPr>
              <a:t>Auth Code + PKCE → token exchange at /token endpoint</a:t>
            </a:r>
            <a:endParaRPr lang="en-US" sz="1000" dirty="0"/>
          </a:p>
        </p:txBody>
      </p:sp>
      <p:sp>
        <p:nvSpPr>
          <p:cNvPr id="19" name="Text 17"/>
          <p:cNvSpPr/>
          <p:nvPr/>
        </p:nvSpPr>
        <p:spPr>
          <a:xfrm>
            <a:off x="4937760" y="2286000"/>
            <a:ext cx="3886200" cy="457200"/>
          </a:xfrm>
          <a:prstGeom prst="rect">
            <a:avLst/>
          </a:prstGeom>
          <a:noFill/>
          <a:ln/>
        </p:spPr>
        <p:txBody>
          <a:bodyPr wrap="square" lIns="0" tIns="0" rIns="0" bIns="0" rtlCol="0" anchor="ctr"/>
          <a:lstStyle/>
          <a:p>
            <a:pPr marL="0" indent="0">
              <a:buNone/>
            </a:pPr>
            <a:r>
              <a:rPr lang="en-US" sz="1000" b="1" dirty="0">
                <a:solidFill>
                  <a:srgbClr val="1B998B"/>
                </a:solidFill>
                <a:latin typeface="Calibri" pitchFamily="34" charset="0"/>
                <a:ea typeface="Calibri" pitchFamily="34" charset="-122"/>
                <a:cs typeface="Calibri" pitchFamily="34" charset="-120"/>
              </a:rPr>
              <a:t>Token: </a:t>
            </a:r>
            <a:r>
              <a:rPr lang="en-US" sz="1000" dirty="0">
                <a:solidFill>
                  <a:srgbClr val="4B6076"/>
                </a:solidFill>
                <a:latin typeface="Calibri" pitchFamily="34" charset="0"/>
                <a:ea typeface="Calibri" pitchFamily="34" charset="-122"/>
                <a:cs typeface="Calibri" pitchFamily="34" charset="-120"/>
              </a:rPr>
              <a:t>ID Token (identity), Access Token (API), Refresh Token</a:t>
            </a:r>
            <a:endParaRPr lang="en-US" sz="1000" dirty="0"/>
          </a:p>
        </p:txBody>
      </p:sp>
      <p:sp>
        <p:nvSpPr>
          <p:cNvPr id="20" name="Text 18"/>
          <p:cNvSpPr/>
          <p:nvPr/>
        </p:nvSpPr>
        <p:spPr>
          <a:xfrm>
            <a:off x="4937760" y="2788920"/>
            <a:ext cx="3886200" cy="457200"/>
          </a:xfrm>
          <a:prstGeom prst="rect">
            <a:avLst/>
          </a:prstGeom>
          <a:noFill/>
          <a:ln/>
        </p:spPr>
        <p:txBody>
          <a:bodyPr wrap="square" lIns="0" tIns="0" rIns="0" bIns="0" rtlCol="0" anchor="ctr"/>
          <a:lstStyle/>
          <a:p>
            <a:pPr marL="0" indent="0">
              <a:buNone/>
            </a:pPr>
            <a:r>
              <a:rPr lang="en-US" sz="1000" b="1" dirty="0">
                <a:solidFill>
                  <a:srgbClr val="1B998B"/>
                </a:solidFill>
                <a:latin typeface="Calibri" pitchFamily="34" charset="0"/>
                <a:ea typeface="Calibri" pitchFamily="34" charset="-122"/>
                <a:cs typeface="Calibri" pitchFamily="34" charset="-120"/>
              </a:rPr>
              <a:t>Session: </a:t>
            </a:r>
            <a:r>
              <a:rPr lang="en-US" sz="1000" dirty="0">
                <a:solidFill>
                  <a:srgbClr val="4B6076"/>
                </a:solidFill>
                <a:latin typeface="Calibri" pitchFamily="34" charset="0"/>
                <a:ea typeface="Calibri" pitchFamily="34" charset="-122"/>
                <a:cs typeface="Calibri" pitchFamily="34" charset="-120"/>
              </a:rPr>
              <a:t>Access tokens are short-lived (15-60 min); JWT signature enables stateless validation. Refresh tokens renew access without re-authentication.</a:t>
            </a:r>
            <a:endParaRPr lang="en-US" sz="1000" dirty="0"/>
          </a:p>
        </p:txBody>
      </p:sp>
      <p:sp>
        <p:nvSpPr>
          <p:cNvPr id="21" name="Text 19"/>
          <p:cNvSpPr/>
          <p:nvPr/>
        </p:nvSpPr>
        <p:spPr>
          <a:xfrm>
            <a:off x="4937760" y="3291840"/>
            <a:ext cx="3886200" cy="457200"/>
          </a:xfrm>
          <a:prstGeom prst="rect">
            <a:avLst/>
          </a:prstGeom>
          <a:noFill/>
          <a:ln/>
        </p:spPr>
        <p:txBody>
          <a:bodyPr wrap="square" lIns="0" tIns="0" rIns="0" bIns="0" rtlCol="0" anchor="ctr"/>
          <a:lstStyle/>
          <a:p>
            <a:pPr marL="0" indent="0">
              <a:buNone/>
            </a:pPr>
            <a:r>
              <a:rPr lang="en-US" sz="1000" b="1" dirty="0">
                <a:solidFill>
                  <a:srgbClr val="1B998B"/>
                </a:solidFill>
                <a:latin typeface="Calibri" pitchFamily="34" charset="0"/>
                <a:ea typeface="Calibri" pitchFamily="34" charset="-122"/>
                <a:cs typeface="Calibri" pitchFamily="34" charset="-120"/>
              </a:rPr>
              <a:t>Best for: </a:t>
            </a:r>
            <a:r>
              <a:rPr lang="en-US" sz="1000" dirty="0">
                <a:solidFill>
                  <a:srgbClr val="4B6076"/>
                </a:solidFill>
                <a:latin typeface="Calibri" pitchFamily="34" charset="0"/>
                <a:ea typeface="Calibri" pitchFamily="34" charset="-122"/>
                <a:cs typeface="Calibri" pitchFamily="34" charset="-120"/>
              </a:rPr>
              <a:t>Modern web/mobile apps, APIs, microservices, developer-friendly integrations</a:t>
            </a:r>
            <a:endParaRPr lang="en-US" sz="1000" dirty="0"/>
          </a:p>
        </p:txBody>
      </p:sp>
      <p:sp>
        <p:nvSpPr>
          <p:cNvPr id="22" name="Text 20"/>
          <p:cNvSpPr/>
          <p:nvPr/>
        </p:nvSpPr>
        <p:spPr>
          <a:xfrm>
            <a:off x="4937760" y="3794760"/>
            <a:ext cx="3886200" cy="457200"/>
          </a:xfrm>
          <a:prstGeom prst="rect">
            <a:avLst/>
          </a:prstGeom>
          <a:noFill/>
          <a:ln/>
        </p:spPr>
        <p:txBody>
          <a:bodyPr wrap="square" lIns="0" tIns="0" rIns="0" bIns="0" rtlCol="0" anchor="ctr"/>
          <a:lstStyle/>
          <a:p>
            <a:pPr marL="0" indent="0">
              <a:buNone/>
            </a:pPr>
            <a:r>
              <a:rPr lang="en-US" sz="1000" b="1" dirty="0">
                <a:solidFill>
                  <a:srgbClr val="1B998B"/>
                </a:solidFill>
                <a:latin typeface="Calibri" pitchFamily="34" charset="0"/>
                <a:ea typeface="Calibri" pitchFamily="34" charset="-122"/>
                <a:cs typeface="Calibri" pitchFamily="34" charset="-120"/>
              </a:rPr>
              <a:t>Security note: </a:t>
            </a:r>
            <a:r>
              <a:rPr lang="en-US" sz="1000" dirty="0">
                <a:solidFill>
                  <a:srgbClr val="4B6076"/>
                </a:solidFill>
                <a:latin typeface="Calibri" pitchFamily="34" charset="0"/>
                <a:ea typeface="Calibri" pitchFamily="34" charset="-122"/>
                <a:cs typeface="Calibri" pitchFamily="34" charset="-120"/>
              </a:rPr>
              <a:t>Always use PKCE; validate iss, aud, exp, nonce in ID Token; prefer RS256/ES256 for federated integrations — HS256 requires shared secrets and is unsuitable for multi-party federation</a:t>
            </a:r>
            <a:endParaRPr lang="en-US" sz="1000" dirty="0"/>
          </a:p>
        </p:txBody>
      </p:sp>
      <p:sp>
        <p:nvSpPr>
          <p:cNvPr id="23" name="Text 21"/>
          <p:cNvSpPr/>
          <p:nvPr/>
        </p:nvSpPr>
        <p:spPr>
          <a:xfrm>
            <a:off x="4937760" y="4297680"/>
            <a:ext cx="3886200" cy="457200"/>
          </a:xfrm>
          <a:prstGeom prst="rect">
            <a:avLst/>
          </a:prstGeom>
          <a:noFill/>
          <a:ln/>
        </p:spPr>
        <p:txBody>
          <a:bodyPr wrap="square" lIns="0" tIns="0" rIns="0" bIns="0" rtlCol="0" anchor="ctr"/>
          <a:lstStyle/>
          <a:p>
            <a:pPr marL="0" indent="0">
              <a:buNone/>
            </a:pPr>
            <a:r>
              <a:rPr lang="en-US" sz="1000" b="1" dirty="0">
                <a:solidFill>
                  <a:srgbClr val="1B998B"/>
                </a:solidFill>
                <a:latin typeface="Calibri" pitchFamily="34" charset="0"/>
                <a:ea typeface="Calibri" pitchFamily="34" charset="-122"/>
                <a:cs typeface="Calibri" pitchFamily="34" charset="-120"/>
              </a:rPr>
              <a:t>Weakness: </a:t>
            </a:r>
            <a:r>
              <a:rPr lang="en-US" sz="1000" dirty="0">
                <a:solidFill>
                  <a:srgbClr val="4B6076"/>
                </a:solidFill>
                <a:latin typeface="Calibri" pitchFamily="34" charset="0"/>
                <a:ea typeface="Calibri" pitchFamily="34" charset="-122"/>
                <a:cs typeface="Calibri" pitchFamily="34" charset="-120"/>
              </a:rPr>
              <a:t>Token stored in client — XSS risk if in localStorage; use HttpOnly cookies</a:t>
            </a:r>
            <a:endParaRPr lang="en-US" sz="1000" dirty="0"/>
          </a:p>
        </p:txBody>
      </p:sp>
      <p:sp>
        <p:nvSpPr>
          <p:cNvPr id="24" name="Shape 22"/>
          <p:cNvSpPr/>
          <p:nvPr/>
        </p:nvSpPr>
        <p:spPr>
          <a:xfrm>
            <a:off x="4325112" y="804672"/>
            <a:ext cx="0" cy="4160520"/>
          </a:xfrm>
          <a:prstGeom prst="line">
            <a:avLst/>
          </a:prstGeom>
          <a:noFill/>
          <a:ln w="12700">
            <a:solidFill>
              <a:srgbClr val="C9E4F0"/>
            </a:solidFill>
            <a:prstDash val="dash"/>
          </a:ln>
        </p:spPr>
        <p:txBody>
          <a:bodyPr/>
          <a:lstStyle/>
          <a:p>
            <a:endParaRPr lang="en-US"/>
          </a:p>
        </p:txBody>
      </p:sp>
      <p:sp>
        <p:nvSpPr>
          <p:cNvPr id="25" name="Text 23"/>
          <p:cNvSpPr/>
          <p:nvPr/>
        </p:nvSpPr>
        <p:spPr>
          <a:xfrm>
            <a:off x="4206240" y="2560320"/>
            <a:ext cx="457200" cy="365760"/>
          </a:xfrm>
          <a:prstGeom prst="rect">
            <a:avLst/>
          </a:prstGeom>
          <a:noFill/>
          <a:ln/>
        </p:spPr>
        <p:txBody>
          <a:bodyPr wrap="square" lIns="0" tIns="0" rIns="0" bIns="0" rtlCol="0" anchor="ctr"/>
          <a:lstStyle/>
          <a:p>
            <a:pPr marL="0" indent="0" algn="ctr">
              <a:buNone/>
            </a:pPr>
            <a:r>
              <a:rPr lang="en-US" sz="1400" b="1" dirty="0">
                <a:solidFill>
                  <a:srgbClr val="8AAFC4"/>
                </a:solidFill>
                <a:latin typeface="Calibri" pitchFamily="34" charset="0"/>
                <a:ea typeface="Calibri" pitchFamily="34" charset="-122"/>
                <a:cs typeface="Calibri" pitchFamily="34" charset="-120"/>
              </a:rPr>
              <a:t>vs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4C75"/>
          </a:solidFill>
          <a:ln w="12700">
            <a:solidFill>
              <a:srgbClr val="0F4C75"/>
            </a:solidFill>
            <a:prstDash val="solid"/>
          </a:ln>
        </p:spPr>
        <p:txBody>
          <a:bodyPr/>
          <a:lstStyle/>
          <a:p>
            <a:endParaRPr lang="en-US"/>
          </a:p>
        </p:txBody>
      </p:sp>
      <p:sp>
        <p:nvSpPr>
          <p:cNvPr id="3" name="Text 1"/>
          <p:cNvSpPr/>
          <p:nvPr/>
        </p:nvSpPr>
        <p:spPr>
          <a:xfrm>
            <a:off x="365760" y="0"/>
            <a:ext cx="84124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OIDC / OAuth 2.0 Token Lifecycle</a:t>
            </a:r>
            <a:endParaRPr lang="en-US" sz="2000" dirty="0"/>
          </a:p>
        </p:txBody>
      </p:sp>
      <p:sp>
        <p:nvSpPr>
          <p:cNvPr id="4" name="Shape 2"/>
          <p:cNvSpPr/>
          <p:nvPr/>
        </p:nvSpPr>
        <p:spPr>
          <a:xfrm>
            <a:off x="274320" y="914400"/>
            <a:ext cx="502920" cy="502920"/>
          </a:xfrm>
          <a:prstGeom prst="roundRect">
            <a:avLst>
              <a:gd name="adj" fmla="val 50909"/>
            </a:avLst>
          </a:prstGeom>
          <a:solidFill>
            <a:srgbClr val="0F4C75"/>
          </a:solidFill>
          <a:ln w="12700">
            <a:solidFill>
              <a:srgbClr val="0F4C75"/>
            </a:solidFill>
            <a:prstDash val="solid"/>
          </a:ln>
        </p:spPr>
        <p:txBody>
          <a:bodyPr/>
          <a:lstStyle/>
          <a:p>
            <a:endParaRPr lang="en-US"/>
          </a:p>
        </p:txBody>
      </p:sp>
      <p:sp>
        <p:nvSpPr>
          <p:cNvPr id="5" name="Text 3"/>
          <p:cNvSpPr/>
          <p:nvPr/>
        </p:nvSpPr>
        <p:spPr>
          <a:xfrm>
            <a:off x="274320" y="91440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Shape 4"/>
          <p:cNvSpPr/>
          <p:nvPr/>
        </p:nvSpPr>
        <p:spPr>
          <a:xfrm>
            <a:off x="914400" y="868680"/>
            <a:ext cx="1554480" cy="594360"/>
          </a:xfrm>
          <a:prstGeom prst="rect">
            <a:avLst/>
          </a:prstGeom>
          <a:solidFill>
            <a:srgbClr val="0F4C75"/>
          </a:solidFill>
          <a:ln w="12700">
            <a:solidFill>
              <a:srgbClr val="0F4C75"/>
            </a:solidFill>
            <a:prstDash val="solid"/>
          </a:ln>
          <a:effectLst>
            <a:outerShdw blurRad="63500" dist="25400" dir="8100000" algn="bl" rotWithShape="0">
              <a:srgbClr val="000000">
                <a:alpha val="12000"/>
              </a:srgbClr>
            </a:outerShdw>
          </a:effectLst>
        </p:spPr>
        <p:txBody>
          <a:bodyPr/>
          <a:lstStyle/>
          <a:p>
            <a:endParaRPr lang="en-US"/>
          </a:p>
        </p:txBody>
      </p:sp>
      <p:sp>
        <p:nvSpPr>
          <p:cNvPr id="7" name="Text 5"/>
          <p:cNvSpPr/>
          <p:nvPr/>
        </p:nvSpPr>
        <p:spPr>
          <a:xfrm>
            <a:off x="914400" y="868680"/>
            <a:ext cx="1554480" cy="5943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Authorization</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Request</a:t>
            </a:r>
            <a:endParaRPr lang="en-US" sz="950" dirty="0"/>
          </a:p>
        </p:txBody>
      </p:sp>
      <p:sp>
        <p:nvSpPr>
          <p:cNvPr id="8" name="Text 6"/>
          <p:cNvSpPr/>
          <p:nvPr/>
        </p:nvSpPr>
        <p:spPr>
          <a:xfrm>
            <a:off x="2606040" y="914400"/>
            <a:ext cx="6309360" cy="548640"/>
          </a:xfrm>
          <a:prstGeom prst="rect">
            <a:avLst/>
          </a:prstGeom>
          <a:noFill/>
          <a:ln/>
        </p:spPr>
        <p:txBody>
          <a:bodyPr wrap="square" lIns="0" tIns="0" rIns="0" bIns="0" rtlCol="0" anchor="ctr"/>
          <a:lstStyle/>
          <a:p>
            <a:pPr marL="0" indent="0">
              <a:buNone/>
            </a:pPr>
            <a:r>
              <a:rPr lang="en-US" sz="950" dirty="0">
                <a:solidFill>
                  <a:srgbClr val="4B6076"/>
                </a:solidFill>
                <a:latin typeface="Calibri" pitchFamily="34" charset="0"/>
                <a:ea typeface="Calibri" pitchFamily="34" charset="-122"/>
                <a:cs typeface="Calibri" pitchFamily="34" charset="-120"/>
              </a:rPr>
              <a:t>Browser redirects to IdP /authorize with client_id, scope, redirect_uri, state, and PKCE code_challenge</a:t>
            </a:r>
            <a:endParaRPr lang="en-US" sz="950" dirty="0"/>
          </a:p>
        </p:txBody>
      </p:sp>
      <p:sp>
        <p:nvSpPr>
          <p:cNvPr id="9" name="Shape 7"/>
          <p:cNvSpPr/>
          <p:nvPr/>
        </p:nvSpPr>
        <p:spPr>
          <a:xfrm>
            <a:off x="525780" y="1417320"/>
            <a:ext cx="0" cy="137160"/>
          </a:xfrm>
          <a:prstGeom prst="line">
            <a:avLst/>
          </a:prstGeom>
          <a:noFill/>
          <a:ln w="19050">
            <a:solidFill>
              <a:srgbClr val="8AAFC4"/>
            </a:solidFill>
            <a:prstDash val="dash"/>
          </a:ln>
        </p:spPr>
        <p:txBody>
          <a:bodyPr/>
          <a:lstStyle/>
          <a:p>
            <a:endParaRPr lang="en-US"/>
          </a:p>
        </p:txBody>
      </p:sp>
      <p:sp>
        <p:nvSpPr>
          <p:cNvPr id="10" name="Shape 8"/>
          <p:cNvSpPr/>
          <p:nvPr/>
        </p:nvSpPr>
        <p:spPr>
          <a:xfrm>
            <a:off x="274320" y="1645920"/>
            <a:ext cx="502920" cy="502920"/>
          </a:xfrm>
          <a:prstGeom prst="roundRect">
            <a:avLst>
              <a:gd name="adj" fmla="val 50909"/>
            </a:avLst>
          </a:prstGeom>
          <a:solidFill>
            <a:srgbClr val="1B998B"/>
          </a:solidFill>
          <a:ln w="12700">
            <a:solidFill>
              <a:srgbClr val="1B998B"/>
            </a:solidFill>
            <a:prstDash val="solid"/>
          </a:ln>
        </p:spPr>
        <p:txBody>
          <a:bodyPr/>
          <a:lstStyle/>
          <a:p>
            <a:endParaRPr lang="en-US"/>
          </a:p>
        </p:txBody>
      </p:sp>
      <p:sp>
        <p:nvSpPr>
          <p:cNvPr id="11" name="Text 9"/>
          <p:cNvSpPr/>
          <p:nvPr/>
        </p:nvSpPr>
        <p:spPr>
          <a:xfrm>
            <a:off x="274320" y="164592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Shape 10"/>
          <p:cNvSpPr/>
          <p:nvPr/>
        </p:nvSpPr>
        <p:spPr>
          <a:xfrm>
            <a:off x="914400" y="1600200"/>
            <a:ext cx="1554480" cy="594360"/>
          </a:xfrm>
          <a:prstGeom prst="rect">
            <a:avLst/>
          </a:prstGeom>
          <a:solidFill>
            <a:srgbClr val="1B998B"/>
          </a:solidFill>
          <a:ln w="12700">
            <a:solidFill>
              <a:srgbClr val="1B998B"/>
            </a:solidFill>
            <a:prstDash val="solid"/>
          </a:ln>
          <a:effectLst>
            <a:outerShdw blurRad="63500" dist="25400" dir="8100000" algn="bl" rotWithShape="0">
              <a:srgbClr val="000000">
                <a:alpha val="12000"/>
              </a:srgbClr>
            </a:outerShdw>
          </a:effectLst>
        </p:spPr>
        <p:txBody>
          <a:bodyPr/>
          <a:lstStyle/>
          <a:p>
            <a:endParaRPr lang="en-US"/>
          </a:p>
        </p:txBody>
      </p:sp>
      <p:sp>
        <p:nvSpPr>
          <p:cNvPr id="13" name="Text 11"/>
          <p:cNvSpPr/>
          <p:nvPr/>
        </p:nvSpPr>
        <p:spPr>
          <a:xfrm>
            <a:off x="914400" y="1600200"/>
            <a:ext cx="1554480" cy="5943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User AuthN</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 Consent</a:t>
            </a:r>
            <a:endParaRPr lang="en-US" sz="950" dirty="0"/>
          </a:p>
        </p:txBody>
      </p:sp>
      <p:sp>
        <p:nvSpPr>
          <p:cNvPr id="14" name="Text 12"/>
          <p:cNvSpPr/>
          <p:nvPr/>
        </p:nvSpPr>
        <p:spPr>
          <a:xfrm>
            <a:off x="2606040" y="1645920"/>
            <a:ext cx="6309360" cy="548640"/>
          </a:xfrm>
          <a:prstGeom prst="rect">
            <a:avLst/>
          </a:prstGeom>
          <a:noFill/>
          <a:ln/>
        </p:spPr>
        <p:txBody>
          <a:bodyPr wrap="square" lIns="0" tIns="0" rIns="0" bIns="0" rtlCol="0" anchor="ctr"/>
          <a:lstStyle/>
          <a:p>
            <a:pPr marL="0" indent="0">
              <a:buNone/>
            </a:pPr>
            <a:r>
              <a:rPr lang="en-US" sz="950" dirty="0">
                <a:solidFill>
                  <a:srgbClr val="4B6076"/>
                </a:solidFill>
                <a:latin typeface="Calibri" pitchFamily="34" charset="0"/>
                <a:ea typeface="Calibri" pitchFamily="34" charset="-122"/>
                <a:cs typeface="Calibri" pitchFamily="34" charset="-120"/>
              </a:rPr>
              <a:t>User authenticates (password + MFA). IdP validates credentials and evaluates Conditional Access policy.</a:t>
            </a:r>
            <a:endParaRPr lang="en-US" sz="950" dirty="0"/>
          </a:p>
        </p:txBody>
      </p:sp>
      <p:sp>
        <p:nvSpPr>
          <p:cNvPr id="15" name="Shape 13"/>
          <p:cNvSpPr/>
          <p:nvPr/>
        </p:nvSpPr>
        <p:spPr>
          <a:xfrm>
            <a:off x="525780" y="2148840"/>
            <a:ext cx="0" cy="137160"/>
          </a:xfrm>
          <a:prstGeom prst="line">
            <a:avLst/>
          </a:prstGeom>
          <a:noFill/>
          <a:ln w="19050">
            <a:solidFill>
              <a:srgbClr val="8AAFC4"/>
            </a:solidFill>
            <a:prstDash val="dash"/>
          </a:ln>
        </p:spPr>
        <p:txBody>
          <a:bodyPr/>
          <a:lstStyle/>
          <a:p>
            <a:endParaRPr lang="en-US"/>
          </a:p>
        </p:txBody>
      </p:sp>
      <p:sp>
        <p:nvSpPr>
          <p:cNvPr id="16" name="Shape 14"/>
          <p:cNvSpPr/>
          <p:nvPr/>
        </p:nvSpPr>
        <p:spPr>
          <a:xfrm>
            <a:off x="274320" y="2377440"/>
            <a:ext cx="502920" cy="502920"/>
          </a:xfrm>
          <a:prstGeom prst="roundRect">
            <a:avLst>
              <a:gd name="adj" fmla="val 50909"/>
            </a:avLst>
          </a:prstGeom>
          <a:solidFill>
            <a:srgbClr val="6B21A8"/>
          </a:solidFill>
          <a:ln w="12700">
            <a:solidFill>
              <a:srgbClr val="6B21A8"/>
            </a:solidFill>
            <a:prstDash val="solid"/>
          </a:ln>
        </p:spPr>
        <p:txBody>
          <a:bodyPr/>
          <a:lstStyle/>
          <a:p>
            <a:endParaRPr lang="en-US"/>
          </a:p>
        </p:txBody>
      </p:sp>
      <p:sp>
        <p:nvSpPr>
          <p:cNvPr id="17" name="Text 15"/>
          <p:cNvSpPr/>
          <p:nvPr/>
        </p:nvSpPr>
        <p:spPr>
          <a:xfrm>
            <a:off x="274320" y="23774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Shape 16"/>
          <p:cNvSpPr/>
          <p:nvPr/>
        </p:nvSpPr>
        <p:spPr>
          <a:xfrm>
            <a:off x="914400" y="2331720"/>
            <a:ext cx="1554480" cy="594360"/>
          </a:xfrm>
          <a:prstGeom prst="rect">
            <a:avLst/>
          </a:prstGeom>
          <a:solidFill>
            <a:srgbClr val="6B21A8"/>
          </a:solidFill>
          <a:ln w="12700">
            <a:solidFill>
              <a:srgbClr val="6B21A8"/>
            </a:solidFill>
            <a:prstDash val="solid"/>
          </a:ln>
          <a:effectLst>
            <a:outerShdw blurRad="63500" dist="25400" dir="8100000" algn="bl" rotWithShape="0">
              <a:srgbClr val="000000">
                <a:alpha val="12000"/>
              </a:srgbClr>
            </a:outerShdw>
          </a:effectLst>
        </p:spPr>
        <p:txBody>
          <a:bodyPr/>
          <a:lstStyle/>
          <a:p>
            <a:endParaRPr lang="en-US"/>
          </a:p>
        </p:txBody>
      </p:sp>
      <p:sp>
        <p:nvSpPr>
          <p:cNvPr id="19" name="Text 17"/>
          <p:cNvSpPr/>
          <p:nvPr/>
        </p:nvSpPr>
        <p:spPr>
          <a:xfrm>
            <a:off x="914400" y="2331720"/>
            <a:ext cx="1554480" cy="5943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Authorization</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Code</a:t>
            </a:r>
            <a:endParaRPr lang="en-US" sz="950" dirty="0"/>
          </a:p>
        </p:txBody>
      </p:sp>
      <p:sp>
        <p:nvSpPr>
          <p:cNvPr id="20" name="Text 18"/>
          <p:cNvSpPr/>
          <p:nvPr/>
        </p:nvSpPr>
        <p:spPr>
          <a:xfrm>
            <a:off x="2606040" y="2377440"/>
            <a:ext cx="6309360" cy="548640"/>
          </a:xfrm>
          <a:prstGeom prst="rect">
            <a:avLst/>
          </a:prstGeom>
          <a:noFill/>
          <a:ln/>
        </p:spPr>
        <p:txBody>
          <a:bodyPr wrap="square" lIns="0" tIns="0" rIns="0" bIns="0" rtlCol="0" anchor="ctr"/>
          <a:lstStyle/>
          <a:p>
            <a:pPr marL="0" indent="0">
              <a:buNone/>
            </a:pPr>
            <a:r>
              <a:rPr lang="en-US" sz="950" dirty="0">
                <a:solidFill>
                  <a:srgbClr val="4B6076"/>
                </a:solidFill>
                <a:latin typeface="Calibri" pitchFamily="34" charset="0"/>
                <a:ea typeface="Calibri" pitchFamily="34" charset="-122"/>
                <a:cs typeface="Calibri" pitchFamily="34" charset="-120"/>
              </a:rPr>
              <a:t>IdP redirects to redirect_uri with a short-lived, one-time authorization code (expires in ~60 sec).</a:t>
            </a:r>
            <a:endParaRPr lang="en-US" sz="950" dirty="0"/>
          </a:p>
        </p:txBody>
      </p:sp>
      <p:sp>
        <p:nvSpPr>
          <p:cNvPr id="21" name="Shape 19"/>
          <p:cNvSpPr/>
          <p:nvPr/>
        </p:nvSpPr>
        <p:spPr>
          <a:xfrm>
            <a:off x="525780" y="2880360"/>
            <a:ext cx="0" cy="137160"/>
          </a:xfrm>
          <a:prstGeom prst="line">
            <a:avLst/>
          </a:prstGeom>
          <a:noFill/>
          <a:ln w="19050">
            <a:solidFill>
              <a:srgbClr val="8AAFC4"/>
            </a:solidFill>
            <a:prstDash val="dash"/>
          </a:ln>
        </p:spPr>
        <p:txBody>
          <a:bodyPr/>
          <a:lstStyle/>
          <a:p>
            <a:endParaRPr lang="en-US"/>
          </a:p>
        </p:txBody>
      </p:sp>
      <p:sp>
        <p:nvSpPr>
          <p:cNvPr id="22" name="Shape 20"/>
          <p:cNvSpPr/>
          <p:nvPr/>
        </p:nvSpPr>
        <p:spPr>
          <a:xfrm>
            <a:off x="274320" y="3108960"/>
            <a:ext cx="502920" cy="502920"/>
          </a:xfrm>
          <a:prstGeom prst="roundRect">
            <a:avLst>
              <a:gd name="adj" fmla="val 50909"/>
            </a:avLst>
          </a:prstGeom>
          <a:solidFill>
            <a:srgbClr val="F4A261"/>
          </a:solidFill>
          <a:ln w="12700">
            <a:solidFill>
              <a:srgbClr val="F4A261"/>
            </a:solidFill>
            <a:prstDash val="solid"/>
          </a:ln>
        </p:spPr>
        <p:txBody>
          <a:bodyPr/>
          <a:lstStyle/>
          <a:p>
            <a:endParaRPr lang="en-US"/>
          </a:p>
        </p:txBody>
      </p:sp>
      <p:sp>
        <p:nvSpPr>
          <p:cNvPr id="23" name="Text 21"/>
          <p:cNvSpPr/>
          <p:nvPr/>
        </p:nvSpPr>
        <p:spPr>
          <a:xfrm>
            <a:off x="274320" y="310896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Shape 22"/>
          <p:cNvSpPr/>
          <p:nvPr/>
        </p:nvSpPr>
        <p:spPr>
          <a:xfrm>
            <a:off x="914400" y="3063240"/>
            <a:ext cx="1554480" cy="594360"/>
          </a:xfrm>
          <a:prstGeom prst="rect">
            <a:avLst/>
          </a:prstGeom>
          <a:solidFill>
            <a:srgbClr val="F4A261"/>
          </a:solidFill>
          <a:ln w="12700">
            <a:solidFill>
              <a:srgbClr val="F4A261"/>
            </a:solidFill>
            <a:prstDash val="solid"/>
          </a:ln>
          <a:effectLst>
            <a:outerShdw blurRad="63500" dist="25400" dir="8100000" algn="bl" rotWithShape="0">
              <a:srgbClr val="000000">
                <a:alpha val="12000"/>
              </a:srgbClr>
            </a:outerShdw>
          </a:effectLst>
        </p:spPr>
        <p:txBody>
          <a:bodyPr/>
          <a:lstStyle/>
          <a:p>
            <a:endParaRPr lang="en-US"/>
          </a:p>
        </p:txBody>
      </p:sp>
      <p:sp>
        <p:nvSpPr>
          <p:cNvPr id="25" name="Text 23"/>
          <p:cNvSpPr/>
          <p:nvPr/>
        </p:nvSpPr>
        <p:spPr>
          <a:xfrm>
            <a:off x="914400" y="3063240"/>
            <a:ext cx="1554480" cy="5943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Token</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Exchange</a:t>
            </a:r>
            <a:endParaRPr lang="en-US" sz="950" dirty="0"/>
          </a:p>
        </p:txBody>
      </p:sp>
      <p:sp>
        <p:nvSpPr>
          <p:cNvPr id="26" name="Text 24"/>
          <p:cNvSpPr/>
          <p:nvPr/>
        </p:nvSpPr>
        <p:spPr>
          <a:xfrm>
            <a:off x="2606040" y="3108960"/>
            <a:ext cx="6309360" cy="548640"/>
          </a:xfrm>
          <a:prstGeom prst="rect">
            <a:avLst/>
          </a:prstGeom>
          <a:noFill/>
          <a:ln/>
        </p:spPr>
        <p:txBody>
          <a:bodyPr wrap="square" lIns="0" tIns="0" rIns="0" bIns="0" rtlCol="0" anchor="ctr"/>
          <a:lstStyle/>
          <a:p>
            <a:pPr marL="0" indent="0">
              <a:buNone/>
            </a:pPr>
            <a:r>
              <a:rPr lang="en-US" sz="950" dirty="0">
                <a:solidFill>
                  <a:srgbClr val="4B6076"/>
                </a:solidFill>
                <a:latin typeface="Calibri" pitchFamily="34" charset="0"/>
                <a:ea typeface="Calibri" pitchFamily="34" charset="-122"/>
                <a:cs typeface="Calibri" pitchFamily="34" charset="-120"/>
              </a:rPr>
              <a:t>Server-side POST to /token endpoint with code + PKCE code_verifier. Returns ID Token and Access Token; Refresh Token is optional (depends on flow and client type).</a:t>
            </a:r>
            <a:endParaRPr lang="en-US" sz="950" dirty="0"/>
          </a:p>
        </p:txBody>
      </p:sp>
      <p:sp>
        <p:nvSpPr>
          <p:cNvPr id="27" name="Shape 25"/>
          <p:cNvSpPr/>
          <p:nvPr/>
        </p:nvSpPr>
        <p:spPr>
          <a:xfrm>
            <a:off x="525780" y="3611880"/>
            <a:ext cx="0" cy="137160"/>
          </a:xfrm>
          <a:prstGeom prst="line">
            <a:avLst/>
          </a:prstGeom>
          <a:noFill/>
          <a:ln w="19050">
            <a:solidFill>
              <a:srgbClr val="8AAFC4"/>
            </a:solidFill>
            <a:prstDash val="dash"/>
          </a:ln>
        </p:spPr>
        <p:txBody>
          <a:bodyPr/>
          <a:lstStyle/>
          <a:p>
            <a:endParaRPr lang="en-US"/>
          </a:p>
        </p:txBody>
      </p:sp>
      <p:sp>
        <p:nvSpPr>
          <p:cNvPr id="28" name="Shape 26"/>
          <p:cNvSpPr/>
          <p:nvPr/>
        </p:nvSpPr>
        <p:spPr>
          <a:xfrm>
            <a:off x="274320" y="3840480"/>
            <a:ext cx="502920" cy="502920"/>
          </a:xfrm>
          <a:prstGeom prst="roundRect">
            <a:avLst>
              <a:gd name="adj" fmla="val 50909"/>
            </a:avLst>
          </a:prstGeom>
          <a:solidFill>
            <a:srgbClr val="0D9488"/>
          </a:solidFill>
          <a:ln w="12700">
            <a:solidFill>
              <a:srgbClr val="0D9488"/>
            </a:solidFill>
            <a:prstDash val="solid"/>
          </a:ln>
        </p:spPr>
        <p:txBody>
          <a:bodyPr/>
          <a:lstStyle/>
          <a:p>
            <a:endParaRPr lang="en-US"/>
          </a:p>
        </p:txBody>
      </p:sp>
      <p:sp>
        <p:nvSpPr>
          <p:cNvPr id="29" name="Text 27"/>
          <p:cNvSpPr/>
          <p:nvPr/>
        </p:nvSpPr>
        <p:spPr>
          <a:xfrm>
            <a:off x="274320" y="38404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Shape 28"/>
          <p:cNvSpPr/>
          <p:nvPr/>
        </p:nvSpPr>
        <p:spPr>
          <a:xfrm>
            <a:off x="914400" y="3794760"/>
            <a:ext cx="1554480" cy="594360"/>
          </a:xfrm>
          <a:prstGeom prst="rect">
            <a:avLst/>
          </a:prstGeom>
          <a:solidFill>
            <a:srgbClr val="0D9488"/>
          </a:solidFill>
          <a:ln w="12700">
            <a:solidFill>
              <a:srgbClr val="0D9488"/>
            </a:solidFill>
            <a:prstDash val="solid"/>
          </a:ln>
          <a:effectLst>
            <a:outerShdw blurRad="63500" dist="25400" dir="8100000" algn="bl" rotWithShape="0">
              <a:srgbClr val="000000">
                <a:alpha val="12000"/>
              </a:srgbClr>
            </a:outerShdw>
          </a:effectLst>
        </p:spPr>
        <p:txBody>
          <a:bodyPr/>
          <a:lstStyle/>
          <a:p>
            <a:endParaRPr lang="en-US"/>
          </a:p>
        </p:txBody>
      </p:sp>
      <p:sp>
        <p:nvSpPr>
          <p:cNvPr id="31" name="Text 29"/>
          <p:cNvSpPr/>
          <p:nvPr/>
        </p:nvSpPr>
        <p:spPr>
          <a:xfrm>
            <a:off x="914400" y="3794760"/>
            <a:ext cx="1554480" cy="5943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API Access</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with AT</a:t>
            </a:r>
            <a:endParaRPr lang="en-US" sz="950" dirty="0"/>
          </a:p>
        </p:txBody>
      </p:sp>
      <p:sp>
        <p:nvSpPr>
          <p:cNvPr id="32" name="Text 30"/>
          <p:cNvSpPr/>
          <p:nvPr/>
        </p:nvSpPr>
        <p:spPr>
          <a:xfrm>
            <a:off x="2606040" y="3840480"/>
            <a:ext cx="6309360" cy="548640"/>
          </a:xfrm>
          <a:prstGeom prst="rect">
            <a:avLst/>
          </a:prstGeom>
          <a:noFill/>
          <a:ln/>
        </p:spPr>
        <p:txBody>
          <a:bodyPr wrap="square" lIns="0" tIns="0" rIns="0" bIns="0" rtlCol="0" anchor="ctr"/>
          <a:lstStyle/>
          <a:p>
            <a:pPr marL="0" indent="0">
              <a:buNone/>
            </a:pPr>
            <a:r>
              <a:rPr lang="en-US" sz="950" dirty="0">
                <a:solidFill>
                  <a:srgbClr val="4B6076"/>
                </a:solidFill>
                <a:latin typeface="Calibri" pitchFamily="34" charset="0"/>
                <a:ea typeface="Calibri" pitchFamily="34" charset="-122"/>
                <a:cs typeface="Calibri" pitchFamily="34" charset="-120"/>
              </a:rPr>
              <a:t>Access Token (JWT) sent as Bearer in Authorization header. Resource server validates signature and claims.</a:t>
            </a:r>
            <a:endParaRPr lang="en-US" sz="950" dirty="0"/>
          </a:p>
        </p:txBody>
      </p:sp>
      <p:sp>
        <p:nvSpPr>
          <p:cNvPr id="33" name="Shape 31"/>
          <p:cNvSpPr/>
          <p:nvPr/>
        </p:nvSpPr>
        <p:spPr>
          <a:xfrm>
            <a:off x="525780" y="4343400"/>
            <a:ext cx="0" cy="137160"/>
          </a:xfrm>
          <a:prstGeom prst="line">
            <a:avLst/>
          </a:prstGeom>
          <a:noFill/>
          <a:ln w="19050">
            <a:solidFill>
              <a:srgbClr val="8AAFC4"/>
            </a:solidFill>
            <a:prstDash val="dash"/>
          </a:ln>
        </p:spPr>
        <p:txBody>
          <a:bodyPr/>
          <a:lstStyle/>
          <a:p>
            <a:endParaRPr lang="en-US"/>
          </a:p>
        </p:txBody>
      </p:sp>
      <p:sp>
        <p:nvSpPr>
          <p:cNvPr id="34" name="Shape 32"/>
          <p:cNvSpPr/>
          <p:nvPr/>
        </p:nvSpPr>
        <p:spPr>
          <a:xfrm>
            <a:off x="274320" y="4572000"/>
            <a:ext cx="502920" cy="502920"/>
          </a:xfrm>
          <a:prstGeom prst="roundRect">
            <a:avLst>
              <a:gd name="adj" fmla="val 50909"/>
            </a:avLst>
          </a:prstGeom>
          <a:solidFill>
            <a:srgbClr val="C0392B"/>
          </a:solidFill>
          <a:ln w="12700">
            <a:solidFill>
              <a:srgbClr val="C0392B"/>
            </a:solidFill>
            <a:prstDash val="solid"/>
          </a:ln>
        </p:spPr>
        <p:txBody>
          <a:bodyPr/>
          <a:lstStyle/>
          <a:p>
            <a:endParaRPr lang="en-US"/>
          </a:p>
        </p:txBody>
      </p:sp>
      <p:sp>
        <p:nvSpPr>
          <p:cNvPr id="35" name="Text 33"/>
          <p:cNvSpPr/>
          <p:nvPr/>
        </p:nvSpPr>
        <p:spPr>
          <a:xfrm>
            <a:off x="274320" y="457200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6" name="Shape 34"/>
          <p:cNvSpPr/>
          <p:nvPr/>
        </p:nvSpPr>
        <p:spPr>
          <a:xfrm>
            <a:off x="914400" y="4526280"/>
            <a:ext cx="1554480" cy="594360"/>
          </a:xfrm>
          <a:prstGeom prst="rect">
            <a:avLst/>
          </a:prstGeom>
          <a:solidFill>
            <a:srgbClr val="C0392B"/>
          </a:solidFill>
          <a:ln w="12700">
            <a:solidFill>
              <a:srgbClr val="C0392B"/>
            </a:solidFill>
            <a:prstDash val="solid"/>
          </a:ln>
          <a:effectLst>
            <a:outerShdw blurRad="63500" dist="25400" dir="8100000" algn="bl" rotWithShape="0">
              <a:srgbClr val="000000">
                <a:alpha val="12000"/>
              </a:srgbClr>
            </a:outerShdw>
          </a:effectLst>
        </p:spPr>
        <p:txBody>
          <a:bodyPr/>
          <a:lstStyle/>
          <a:p>
            <a:endParaRPr lang="en-US"/>
          </a:p>
        </p:txBody>
      </p:sp>
      <p:sp>
        <p:nvSpPr>
          <p:cNvPr id="37" name="Text 35"/>
          <p:cNvSpPr/>
          <p:nvPr/>
        </p:nvSpPr>
        <p:spPr>
          <a:xfrm>
            <a:off x="914400" y="4526280"/>
            <a:ext cx="1554480" cy="5943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Refresh /</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Revoke</a:t>
            </a:r>
            <a:endParaRPr lang="en-US" sz="950" dirty="0"/>
          </a:p>
        </p:txBody>
      </p:sp>
      <p:sp>
        <p:nvSpPr>
          <p:cNvPr id="38" name="Text 36"/>
          <p:cNvSpPr/>
          <p:nvPr/>
        </p:nvSpPr>
        <p:spPr>
          <a:xfrm>
            <a:off x="2606040" y="4572000"/>
            <a:ext cx="6309360" cy="548640"/>
          </a:xfrm>
          <a:prstGeom prst="rect">
            <a:avLst/>
          </a:prstGeom>
          <a:noFill/>
          <a:ln/>
        </p:spPr>
        <p:txBody>
          <a:bodyPr wrap="square" lIns="0" tIns="0" rIns="0" bIns="0" rtlCol="0" anchor="ctr"/>
          <a:lstStyle/>
          <a:p>
            <a:pPr marL="0" indent="0">
              <a:buNone/>
            </a:pPr>
            <a:r>
              <a:rPr lang="en-US" sz="950" dirty="0">
                <a:solidFill>
                  <a:srgbClr val="4B6076"/>
                </a:solidFill>
                <a:latin typeface="Calibri" pitchFamily="34" charset="0"/>
                <a:ea typeface="Calibri" pitchFamily="34" charset="-122"/>
                <a:cs typeface="Calibri" pitchFamily="34" charset="-120"/>
              </a:rPr>
              <a:t>AT expires (15-60 min). Client uses Refresh Token to silently obtain new AT. On logout or CAEP event: all tokens revoked.</a:t>
            </a:r>
            <a:endParaRPr lang="en-US" sz="950" dirty="0"/>
          </a:p>
        </p:txBody>
      </p:sp>
      <p:grpSp>
        <p:nvGrpSpPr>
          <p:cNvPr id="48" name="Group 47">
            <a:extLst>
              <a:ext uri="{FF2B5EF4-FFF2-40B4-BE49-F238E27FC236}">
                <a16:creationId xmlns:a16="http://schemas.microsoft.com/office/drawing/2014/main" id="{55992FF8-7EFB-A50A-14CE-7323BED351D1}"/>
              </a:ext>
            </a:extLst>
          </p:cNvPr>
          <p:cNvGrpSpPr/>
          <p:nvPr/>
        </p:nvGrpSpPr>
        <p:grpSpPr>
          <a:xfrm>
            <a:off x="7647708" y="731520"/>
            <a:ext cx="1496291" cy="2377440"/>
            <a:chOff x="7040880" y="804672"/>
            <a:chExt cx="1874520" cy="2926080"/>
          </a:xfrm>
        </p:grpSpPr>
        <p:sp>
          <p:nvSpPr>
            <p:cNvPr id="39" name="Shape 37"/>
            <p:cNvSpPr/>
            <p:nvPr/>
          </p:nvSpPr>
          <p:spPr>
            <a:xfrm>
              <a:off x="7040880" y="804672"/>
              <a:ext cx="1874520" cy="292608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40" name="Shape 38"/>
            <p:cNvSpPr/>
            <p:nvPr/>
          </p:nvSpPr>
          <p:spPr>
            <a:xfrm>
              <a:off x="7040880" y="804672"/>
              <a:ext cx="1874520" cy="347472"/>
            </a:xfrm>
            <a:prstGeom prst="rect">
              <a:avLst/>
            </a:prstGeom>
            <a:solidFill>
              <a:srgbClr val="0F4C75"/>
            </a:solidFill>
            <a:ln w="12700">
              <a:solidFill>
                <a:srgbClr val="0F4C75"/>
              </a:solidFill>
              <a:prstDash val="solid"/>
            </a:ln>
          </p:spPr>
          <p:txBody>
            <a:bodyPr/>
            <a:lstStyle/>
            <a:p>
              <a:endParaRPr lang="en-US"/>
            </a:p>
          </p:txBody>
        </p:sp>
        <p:sp>
          <p:nvSpPr>
            <p:cNvPr id="41" name="Text 39"/>
            <p:cNvSpPr/>
            <p:nvPr/>
          </p:nvSpPr>
          <p:spPr>
            <a:xfrm>
              <a:off x="7040880" y="804672"/>
              <a:ext cx="1874520"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Token Types</a:t>
              </a:r>
              <a:endParaRPr lang="en-US" sz="950" dirty="0"/>
            </a:p>
          </p:txBody>
        </p:sp>
        <p:sp>
          <p:nvSpPr>
            <p:cNvPr id="42" name="Text 40"/>
            <p:cNvSpPr/>
            <p:nvPr/>
          </p:nvSpPr>
          <p:spPr>
            <a:xfrm>
              <a:off x="7114032" y="1207008"/>
              <a:ext cx="1737360" cy="228600"/>
            </a:xfrm>
            <a:prstGeom prst="rect">
              <a:avLst/>
            </a:prstGeom>
            <a:noFill/>
            <a:ln/>
          </p:spPr>
          <p:txBody>
            <a:bodyPr wrap="square" lIns="0" tIns="0" rIns="0" bIns="0" rtlCol="0" anchor="ctr"/>
            <a:lstStyle/>
            <a:p>
              <a:pPr marL="0" indent="0">
                <a:buNone/>
              </a:pPr>
              <a:r>
                <a:rPr lang="en-US" sz="850" b="1" dirty="0">
                  <a:solidFill>
                    <a:srgbClr val="0F4C75"/>
                  </a:solidFill>
                  <a:latin typeface="Calibri" pitchFamily="34" charset="0"/>
                  <a:ea typeface="Calibri" pitchFamily="34" charset="-122"/>
                  <a:cs typeface="Calibri" pitchFamily="34" charset="-120"/>
                </a:rPr>
                <a:t>ID Token</a:t>
              </a:r>
              <a:endParaRPr lang="en-US" sz="850" dirty="0"/>
            </a:p>
          </p:txBody>
        </p:sp>
        <p:sp>
          <p:nvSpPr>
            <p:cNvPr id="43" name="Text 41"/>
            <p:cNvSpPr/>
            <p:nvPr/>
          </p:nvSpPr>
          <p:spPr>
            <a:xfrm>
              <a:off x="7114032" y="1435608"/>
              <a:ext cx="1737360" cy="502920"/>
            </a:xfrm>
            <a:prstGeom prst="rect">
              <a:avLst/>
            </a:prstGeom>
            <a:noFill/>
            <a:ln/>
          </p:spPr>
          <p:txBody>
            <a:bodyPr wrap="square" lIns="0" tIns="0" rIns="0" bIns="0" rtlCol="0" anchor="ctr"/>
            <a:lstStyle/>
            <a:p>
              <a:pPr marL="0" indent="0">
                <a:buNone/>
              </a:pPr>
              <a:r>
                <a:rPr lang="en-US" sz="800" dirty="0">
                  <a:solidFill>
                    <a:srgbClr val="4B6076"/>
                  </a:solidFill>
                  <a:latin typeface="Calibri" pitchFamily="34" charset="0"/>
                  <a:ea typeface="Calibri" pitchFamily="34" charset="-122"/>
                  <a:cs typeface="Calibri" pitchFamily="34" charset="-120"/>
                </a:rPr>
                <a:t>Identity claims. For AuthN only — never use as API bearer.</a:t>
              </a:r>
              <a:endParaRPr lang="en-US" sz="800" dirty="0"/>
            </a:p>
          </p:txBody>
        </p:sp>
        <p:sp>
          <p:nvSpPr>
            <p:cNvPr id="44" name="Text 42"/>
            <p:cNvSpPr/>
            <p:nvPr/>
          </p:nvSpPr>
          <p:spPr>
            <a:xfrm>
              <a:off x="7114032" y="2029968"/>
              <a:ext cx="1737360" cy="228600"/>
            </a:xfrm>
            <a:prstGeom prst="rect">
              <a:avLst/>
            </a:prstGeom>
            <a:noFill/>
            <a:ln/>
          </p:spPr>
          <p:txBody>
            <a:bodyPr wrap="square" lIns="0" tIns="0" rIns="0" bIns="0" rtlCol="0" anchor="ctr"/>
            <a:lstStyle/>
            <a:p>
              <a:pPr marL="0" indent="0">
                <a:buNone/>
              </a:pPr>
              <a:r>
                <a:rPr lang="en-US" sz="850" b="1" dirty="0">
                  <a:solidFill>
                    <a:srgbClr val="0F4C75"/>
                  </a:solidFill>
                  <a:latin typeface="Calibri" pitchFamily="34" charset="0"/>
                  <a:ea typeface="Calibri" pitchFamily="34" charset="-122"/>
                  <a:cs typeface="Calibri" pitchFamily="34" charset="-120"/>
                </a:rPr>
                <a:t>Access Token</a:t>
              </a:r>
              <a:endParaRPr lang="en-US" sz="850" dirty="0"/>
            </a:p>
          </p:txBody>
        </p:sp>
        <p:sp>
          <p:nvSpPr>
            <p:cNvPr id="45" name="Text 43"/>
            <p:cNvSpPr/>
            <p:nvPr/>
          </p:nvSpPr>
          <p:spPr>
            <a:xfrm>
              <a:off x="7114032" y="2258568"/>
              <a:ext cx="1737360" cy="502920"/>
            </a:xfrm>
            <a:prstGeom prst="rect">
              <a:avLst/>
            </a:prstGeom>
            <a:noFill/>
            <a:ln/>
          </p:spPr>
          <p:txBody>
            <a:bodyPr wrap="square" lIns="0" tIns="0" rIns="0" bIns="0" rtlCol="0" anchor="ctr"/>
            <a:lstStyle/>
            <a:p>
              <a:pPr marL="0" indent="0">
                <a:buNone/>
              </a:pPr>
              <a:r>
                <a:rPr lang="en-US" sz="800" dirty="0">
                  <a:solidFill>
                    <a:srgbClr val="4B6076"/>
                  </a:solidFill>
                  <a:latin typeface="Calibri" pitchFamily="34" charset="0"/>
                  <a:ea typeface="Calibri" pitchFamily="34" charset="-122"/>
                  <a:cs typeface="Calibri" pitchFamily="34" charset="-120"/>
                </a:rPr>
                <a:t>API authorization. Short TTL (15-60 min). JWT or opaque.</a:t>
              </a:r>
              <a:endParaRPr lang="en-US" sz="800" dirty="0"/>
            </a:p>
          </p:txBody>
        </p:sp>
        <p:sp>
          <p:nvSpPr>
            <p:cNvPr id="46" name="Text 44"/>
            <p:cNvSpPr/>
            <p:nvPr/>
          </p:nvSpPr>
          <p:spPr>
            <a:xfrm>
              <a:off x="7114032" y="2852928"/>
              <a:ext cx="1737360" cy="228600"/>
            </a:xfrm>
            <a:prstGeom prst="rect">
              <a:avLst/>
            </a:prstGeom>
            <a:noFill/>
            <a:ln/>
          </p:spPr>
          <p:txBody>
            <a:bodyPr wrap="square" lIns="0" tIns="0" rIns="0" bIns="0" rtlCol="0" anchor="ctr"/>
            <a:lstStyle/>
            <a:p>
              <a:pPr marL="0" indent="0">
                <a:buNone/>
              </a:pPr>
              <a:r>
                <a:rPr lang="en-US" sz="850" b="1" dirty="0">
                  <a:solidFill>
                    <a:srgbClr val="0F4C75"/>
                  </a:solidFill>
                  <a:latin typeface="Calibri" pitchFamily="34" charset="0"/>
                  <a:ea typeface="Calibri" pitchFamily="34" charset="-122"/>
                  <a:cs typeface="Calibri" pitchFamily="34" charset="-120"/>
                </a:rPr>
                <a:t>Refresh Token</a:t>
              </a:r>
              <a:endParaRPr lang="en-US" sz="850" dirty="0"/>
            </a:p>
          </p:txBody>
        </p:sp>
        <p:sp>
          <p:nvSpPr>
            <p:cNvPr id="47" name="Text 45"/>
            <p:cNvSpPr/>
            <p:nvPr/>
          </p:nvSpPr>
          <p:spPr>
            <a:xfrm>
              <a:off x="7114032" y="3081528"/>
              <a:ext cx="1737360" cy="502920"/>
            </a:xfrm>
            <a:prstGeom prst="rect">
              <a:avLst/>
            </a:prstGeom>
            <a:noFill/>
            <a:ln/>
          </p:spPr>
          <p:txBody>
            <a:bodyPr wrap="square" lIns="0" tIns="0" rIns="0" bIns="0" rtlCol="0" anchor="ctr"/>
            <a:lstStyle/>
            <a:p>
              <a:pPr marL="0" indent="0">
                <a:buNone/>
              </a:pPr>
              <a:r>
                <a:rPr lang="en-US" sz="800" dirty="0">
                  <a:solidFill>
                    <a:srgbClr val="4B6076"/>
                  </a:solidFill>
                  <a:latin typeface="Calibri" pitchFamily="34" charset="0"/>
                  <a:ea typeface="Calibri" pitchFamily="34" charset="-122"/>
                  <a:cs typeface="Calibri" pitchFamily="34" charset="-120"/>
                </a:rPr>
                <a:t>Renews AT silently. Rotate on use. Revoke on logout.</a:t>
              </a:r>
              <a:endParaRPr lang="en-US" sz="800" dirty="0"/>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75"/>
          </a:solidFill>
          <a:ln w="12700">
            <a:solidFill>
              <a:srgbClr val="0F4C75"/>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Token Validation Architecture</a:t>
            </a:r>
            <a:endParaRPr lang="en-US" sz="2200" dirty="0"/>
          </a:p>
        </p:txBody>
      </p:sp>
      <p:sp>
        <p:nvSpPr>
          <p:cNvPr id="4" name="Shape 2"/>
          <p:cNvSpPr/>
          <p:nvPr/>
        </p:nvSpPr>
        <p:spPr>
          <a:xfrm>
            <a:off x="182880" y="804672"/>
            <a:ext cx="2788920" cy="416052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5" name="Shape 3"/>
          <p:cNvSpPr/>
          <p:nvPr/>
        </p:nvSpPr>
        <p:spPr>
          <a:xfrm>
            <a:off x="182880" y="804672"/>
            <a:ext cx="2788920" cy="475488"/>
          </a:xfrm>
          <a:prstGeom prst="rect">
            <a:avLst/>
          </a:prstGeom>
          <a:solidFill>
            <a:srgbClr val="0F4C75"/>
          </a:solidFill>
          <a:ln w="12700">
            <a:solidFill>
              <a:srgbClr val="0F4C75"/>
            </a:solidFill>
            <a:prstDash val="solid"/>
          </a:ln>
        </p:spPr>
        <p:txBody>
          <a:bodyPr/>
          <a:lstStyle/>
          <a:p>
            <a:endParaRPr lang="en-US"/>
          </a:p>
        </p:txBody>
      </p:sp>
      <p:sp>
        <p:nvSpPr>
          <p:cNvPr id="6" name="Text 4"/>
          <p:cNvSpPr/>
          <p:nvPr/>
        </p:nvSpPr>
        <p:spPr>
          <a:xfrm>
            <a:off x="256032" y="822960"/>
            <a:ext cx="2642616" cy="43891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Self-Contained JWT Validation</a:t>
            </a:r>
            <a:endParaRPr lang="en-US" sz="1050" dirty="0"/>
          </a:p>
        </p:txBody>
      </p:sp>
      <p:sp>
        <p:nvSpPr>
          <p:cNvPr id="7" name="Text 5"/>
          <p:cNvSpPr/>
          <p:nvPr/>
        </p:nvSpPr>
        <p:spPr>
          <a:xfrm>
            <a:off x="274320" y="1344168"/>
            <a:ext cx="2606040" cy="347472"/>
          </a:xfrm>
          <a:prstGeom prst="rect">
            <a:avLst/>
          </a:prstGeom>
          <a:noFill/>
          <a:ln/>
        </p:spPr>
        <p:txBody>
          <a:bodyPr wrap="square" lIns="0" tIns="0" rIns="0" bIns="0" rtlCol="0" anchor="ctr"/>
          <a:lstStyle/>
          <a:p>
            <a:pPr marL="0" indent="0">
              <a:buNone/>
            </a:pPr>
            <a:r>
              <a:rPr lang="en-US" sz="900" b="1" dirty="0">
                <a:solidFill>
                  <a:srgbClr val="0F4C75"/>
                </a:solidFill>
                <a:latin typeface="Calibri" pitchFamily="34" charset="0"/>
                <a:ea typeface="Calibri" pitchFamily="34" charset="-122"/>
                <a:cs typeface="Calibri" pitchFamily="34" charset="-120"/>
              </a:rPr>
              <a:t>1. </a:t>
            </a:r>
            <a:r>
              <a:rPr lang="en-US" sz="900" dirty="0">
                <a:solidFill>
                  <a:srgbClr val="4B6076"/>
                </a:solidFill>
                <a:latin typeface="Calibri" pitchFamily="34" charset="0"/>
                <a:ea typeface="Calibri" pitchFamily="34" charset="-122"/>
                <a:cs typeface="Calibri" pitchFamily="34" charset="-120"/>
              </a:rPr>
              <a:t>Resource server downloads JWKS (public keys) from IdP</a:t>
            </a:r>
            <a:endParaRPr lang="en-US" sz="900" dirty="0"/>
          </a:p>
        </p:txBody>
      </p:sp>
      <p:sp>
        <p:nvSpPr>
          <p:cNvPr id="8" name="Text 6"/>
          <p:cNvSpPr/>
          <p:nvPr/>
        </p:nvSpPr>
        <p:spPr>
          <a:xfrm>
            <a:off x="274320" y="1728216"/>
            <a:ext cx="2606040" cy="347472"/>
          </a:xfrm>
          <a:prstGeom prst="rect">
            <a:avLst/>
          </a:prstGeom>
          <a:noFill/>
          <a:ln/>
        </p:spPr>
        <p:txBody>
          <a:bodyPr wrap="square" lIns="0" tIns="0" rIns="0" bIns="0" rtlCol="0" anchor="ctr"/>
          <a:lstStyle/>
          <a:p>
            <a:pPr marL="0" indent="0">
              <a:buNone/>
            </a:pPr>
            <a:r>
              <a:rPr lang="en-US" sz="900" b="1" dirty="0">
                <a:solidFill>
                  <a:srgbClr val="0F4C75"/>
                </a:solidFill>
                <a:latin typeface="Calibri" pitchFamily="34" charset="0"/>
                <a:ea typeface="Calibri" pitchFamily="34" charset="-122"/>
                <a:cs typeface="Calibri" pitchFamily="34" charset="-120"/>
              </a:rPr>
              <a:t>2. </a:t>
            </a:r>
            <a:r>
              <a:rPr lang="en-US" sz="900" dirty="0">
                <a:solidFill>
                  <a:srgbClr val="4B6076"/>
                </a:solidFill>
                <a:latin typeface="Calibri" pitchFamily="34" charset="0"/>
                <a:ea typeface="Calibri" pitchFamily="34" charset="-122"/>
                <a:cs typeface="Calibri" pitchFamily="34" charset="-120"/>
              </a:rPr>
              <a:t>Validates JWT signature locally — no IdP call required per request</a:t>
            </a:r>
            <a:endParaRPr lang="en-US" sz="900" dirty="0"/>
          </a:p>
        </p:txBody>
      </p:sp>
      <p:sp>
        <p:nvSpPr>
          <p:cNvPr id="9" name="Text 7"/>
          <p:cNvSpPr/>
          <p:nvPr/>
        </p:nvSpPr>
        <p:spPr>
          <a:xfrm>
            <a:off x="274320" y="2112264"/>
            <a:ext cx="2606040" cy="347472"/>
          </a:xfrm>
          <a:prstGeom prst="rect">
            <a:avLst/>
          </a:prstGeom>
          <a:noFill/>
          <a:ln/>
        </p:spPr>
        <p:txBody>
          <a:bodyPr wrap="square" lIns="0" tIns="0" rIns="0" bIns="0" rtlCol="0" anchor="ctr"/>
          <a:lstStyle/>
          <a:p>
            <a:pPr marL="0" indent="0">
              <a:buNone/>
            </a:pPr>
            <a:r>
              <a:rPr lang="en-US" sz="900" b="1" dirty="0">
                <a:solidFill>
                  <a:srgbClr val="0F4C75"/>
                </a:solidFill>
                <a:latin typeface="Calibri" pitchFamily="34" charset="0"/>
                <a:ea typeface="Calibri" pitchFamily="34" charset="-122"/>
                <a:cs typeface="Calibri" pitchFamily="34" charset="-120"/>
              </a:rPr>
              <a:t>3. </a:t>
            </a:r>
            <a:r>
              <a:rPr lang="en-US" sz="900" dirty="0">
                <a:solidFill>
                  <a:srgbClr val="4B6076"/>
                </a:solidFill>
                <a:latin typeface="Calibri" pitchFamily="34" charset="0"/>
                <a:ea typeface="Calibri" pitchFamily="34" charset="-122"/>
                <a:cs typeface="Calibri" pitchFamily="34" charset="-120"/>
              </a:rPr>
              <a:t>Checks: iss, aud, exp, nbf, alg fields</a:t>
            </a:r>
            <a:endParaRPr lang="en-US" sz="900" dirty="0"/>
          </a:p>
        </p:txBody>
      </p:sp>
      <p:sp>
        <p:nvSpPr>
          <p:cNvPr id="10" name="Text 8"/>
          <p:cNvSpPr/>
          <p:nvPr/>
        </p:nvSpPr>
        <p:spPr>
          <a:xfrm>
            <a:off x="274320" y="2496312"/>
            <a:ext cx="2606040" cy="347472"/>
          </a:xfrm>
          <a:prstGeom prst="rect">
            <a:avLst/>
          </a:prstGeom>
          <a:noFill/>
          <a:ln/>
        </p:spPr>
        <p:txBody>
          <a:bodyPr wrap="square" lIns="0" tIns="0" rIns="0" bIns="0" rtlCol="0" anchor="ctr"/>
          <a:lstStyle/>
          <a:p>
            <a:pPr marL="0" indent="0">
              <a:buNone/>
            </a:pPr>
            <a:r>
              <a:rPr lang="en-US" sz="900" b="1" dirty="0">
                <a:solidFill>
                  <a:srgbClr val="0F4C75"/>
                </a:solidFill>
                <a:latin typeface="Calibri" pitchFamily="34" charset="0"/>
                <a:ea typeface="Calibri" pitchFamily="34" charset="-122"/>
                <a:cs typeface="Calibri" pitchFamily="34" charset="-120"/>
              </a:rPr>
              <a:t>4. </a:t>
            </a:r>
            <a:r>
              <a:rPr lang="en-US" sz="900" dirty="0">
                <a:solidFill>
                  <a:srgbClr val="4B6076"/>
                </a:solidFill>
                <a:latin typeface="Calibri" pitchFamily="34" charset="0"/>
                <a:ea typeface="Calibri" pitchFamily="34" charset="-122"/>
                <a:cs typeface="Calibri" pitchFamily="34" charset="-120"/>
              </a:rPr>
              <a:t>Fast and scalable; no network dependency at runtime</a:t>
            </a:r>
            <a:endParaRPr lang="en-US" sz="900" dirty="0"/>
          </a:p>
        </p:txBody>
      </p:sp>
      <p:sp>
        <p:nvSpPr>
          <p:cNvPr id="11" name="Shape 9"/>
          <p:cNvSpPr/>
          <p:nvPr/>
        </p:nvSpPr>
        <p:spPr>
          <a:xfrm>
            <a:off x="274320" y="2944368"/>
            <a:ext cx="2606040" cy="0"/>
          </a:xfrm>
          <a:prstGeom prst="line">
            <a:avLst/>
          </a:prstGeom>
          <a:noFill/>
          <a:ln w="6350">
            <a:solidFill>
              <a:srgbClr val="C9E4F0"/>
            </a:solidFill>
            <a:prstDash val="solid"/>
          </a:ln>
        </p:spPr>
        <p:txBody>
          <a:bodyPr/>
          <a:lstStyle/>
          <a:p>
            <a:endParaRPr lang="en-US"/>
          </a:p>
        </p:txBody>
      </p:sp>
      <p:sp>
        <p:nvSpPr>
          <p:cNvPr id="12" name="Text 10"/>
          <p:cNvSpPr/>
          <p:nvPr/>
        </p:nvSpPr>
        <p:spPr>
          <a:xfrm>
            <a:off x="274320" y="2999232"/>
            <a:ext cx="2606040" cy="320040"/>
          </a:xfrm>
          <a:prstGeom prst="rect">
            <a:avLst/>
          </a:prstGeom>
          <a:noFill/>
          <a:ln/>
        </p:spPr>
        <p:txBody>
          <a:bodyPr wrap="square" lIns="0" tIns="0" rIns="0" bIns="0" rtlCol="0" anchor="ctr"/>
          <a:lstStyle/>
          <a:p>
            <a:pPr marL="0" indent="0">
              <a:buNone/>
            </a:pPr>
            <a:r>
              <a:rPr lang="en-US" sz="900" b="1" dirty="0">
                <a:solidFill>
                  <a:srgbClr val="0D9488"/>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Low latency, offline-capable, ideal for microservices</a:t>
            </a:r>
            <a:endParaRPr lang="en-US" sz="900" dirty="0"/>
          </a:p>
        </p:txBody>
      </p:sp>
      <p:sp>
        <p:nvSpPr>
          <p:cNvPr id="13" name="Text 11"/>
          <p:cNvSpPr/>
          <p:nvPr/>
        </p:nvSpPr>
        <p:spPr>
          <a:xfrm>
            <a:off x="274320" y="3328416"/>
            <a:ext cx="2606040" cy="320040"/>
          </a:xfrm>
          <a:prstGeom prst="rect">
            <a:avLst/>
          </a:prstGeom>
          <a:noFill/>
          <a:ln/>
        </p:spPr>
        <p:txBody>
          <a:bodyPr wrap="square" lIns="0" tIns="0" rIns="0" bIns="0" rtlCol="0" anchor="ctr"/>
          <a:lstStyle/>
          <a:p>
            <a:pPr marL="0" indent="0">
              <a:buNone/>
            </a:pPr>
            <a:r>
              <a:rPr lang="en-US" sz="900" b="1" dirty="0">
                <a:solidFill>
                  <a:srgbClr val="DC262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Revocation gap: token valid until exp even if account disabled; mitigate with short TTL + CAE</a:t>
            </a:r>
            <a:endParaRPr lang="en-US" sz="900" dirty="0"/>
          </a:p>
        </p:txBody>
      </p:sp>
      <p:sp>
        <p:nvSpPr>
          <p:cNvPr id="14" name="Shape 12"/>
          <p:cNvSpPr/>
          <p:nvPr/>
        </p:nvSpPr>
        <p:spPr>
          <a:xfrm>
            <a:off x="274320" y="3730752"/>
            <a:ext cx="2606040" cy="0"/>
          </a:xfrm>
          <a:prstGeom prst="line">
            <a:avLst/>
          </a:prstGeom>
          <a:noFill/>
          <a:ln w="6350">
            <a:solidFill>
              <a:srgbClr val="C9E4F0"/>
            </a:solidFill>
            <a:prstDash val="solid"/>
          </a:ln>
        </p:spPr>
        <p:txBody>
          <a:bodyPr/>
          <a:lstStyle/>
          <a:p>
            <a:endParaRPr lang="en-US"/>
          </a:p>
        </p:txBody>
      </p:sp>
      <p:sp>
        <p:nvSpPr>
          <p:cNvPr id="15" name="Text 13"/>
          <p:cNvSpPr/>
          <p:nvPr/>
        </p:nvSpPr>
        <p:spPr>
          <a:xfrm>
            <a:off x="274320" y="3767328"/>
            <a:ext cx="2606040" cy="256032"/>
          </a:xfrm>
          <a:prstGeom prst="rect">
            <a:avLst/>
          </a:prstGeom>
          <a:noFill/>
          <a:ln/>
        </p:spPr>
        <p:txBody>
          <a:bodyPr wrap="square" lIns="0" tIns="0" rIns="0" bIns="0" rtlCol="0" anchor="ctr"/>
          <a:lstStyle/>
          <a:p>
            <a:pPr marL="0" indent="0">
              <a:buNone/>
            </a:pPr>
            <a:r>
              <a:rPr lang="en-US" sz="850" i="1" dirty="0">
                <a:solidFill>
                  <a:srgbClr val="0F4C75"/>
                </a:solidFill>
                <a:latin typeface="Calibri" pitchFamily="34" charset="0"/>
                <a:ea typeface="Calibri" pitchFamily="34" charset="-122"/>
                <a:cs typeface="Calibri" pitchFamily="34" charset="-120"/>
              </a:rPr>
              <a:t>APIs, microservices, stateless REST endpoints</a:t>
            </a:r>
            <a:endParaRPr lang="en-US" sz="850" dirty="0"/>
          </a:p>
        </p:txBody>
      </p:sp>
      <p:sp>
        <p:nvSpPr>
          <p:cNvPr id="16" name="Shape 14"/>
          <p:cNvSpPr/>
          <p:nvPr/>
        </p:nvSpPr>
        <p:spPr>
          <a:xfrm>
            <a:off x="3136392" y="804672"/>
            <a:ext cx="2788920" cy="416052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17" name="Shape 15"/>
          <p:cNvSpPr/>
          <p:nvPr/>
        </p:nvSpPr>
        <p:spPr>
          <a:xfrm>
            <a:off x="3136392" y="804672"/>
            <a:ext cx="2788920" cy="475488"/>
          </a:xfrm>
          <a:prstGeom prst="rect">
            <a:avLst/>
          </a:prstGeom>
          <a:solidFill>
            <a:srgbClr val="1B998B"/>
          </a:solidFill>
          <a:ln w="12700">
            <a:solidFill>
              <a:srgbClr val="1B998B"/>
            </a:solidFill>
            <a:prstDash val="solid"/>
          </a:ln>
        </p:spPr>
        <p:txBody>
          <a:bodyPr/>
          <a:lstStyle/>
          <a:p>
            <a:endParaRPr lang="en-US"/>
          </a:p>
        </p:txBody>
      </p:sp>
      <p:sp>
        <p:nvSpPr>
          <p:cNvPr id="18" name="Text 16"/>
          <p:cNvSpPr/>
          <p:nvPr/>
        </p:nvSpPr>
        <p:spPr>
          <a:xfrm>
            <a:off x="3209544" y="822960"/>
            <a:ext cx="2642616" cy="43891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Token Introspection (RFC 7662)</a:t>
            </a:r>
            <a:endParaRPr lang="en-US" sz="1050" dirty="0"/>
          </a:p>
        </p:txBody>
      </p:sp>
      <p:sp>
        <p:nvSpPr>
          <p:cNvPr id="19" name="Text 17"/>
          <p:cNvSpPr/>
          <p:nvPr/>
        </p:nvSpPr>
        <p:spPr>
          <a:xfrm>
            <a:off x="3227832" y="1344168"/>
            <a:ext cx="2606040" cy="347472"/>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1. </a:t>
            </a:r>
            <a:r>
              <a:rPr lang="en-US" sz="900" dirty="0">
                <a:solidFill>
                  <a:srgbClr val="4B6076"/>
                </a:solidFill>
                <a:latin typeface="Calibri" pitchFamily="34" charset="0"/>
                <a:ea typeface="Calibri" pitchFamily="34" charset="-122"/>
                <a:cs typeface="Calibri" pitchFamily="34" charset="-120"/>
              </a:rPr>
              <a:t>Resource server sends token to IdP /introspect endpoint</a:t>
            </a:r>
            <a:endParaRPr lang="en-US" sz="900" dirty="0"/>
          </a:p>
        </p:txBody>
      </p:sp>
      <p:sp>
        <p:nvSpPr>
          <p:cNvPr id="20" name="Text 18"/>
          <p:cNvSpPr/>
          <p:nvPr/>
        </p:nvSpPr>
        <p:spPr>
          <a:xfrm>
            <a:off x="3227832" y="1728216"/>
            <a:ext cx="2606040" cy="347472"/>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2. </a:t>
            </a:r>
            <a:r>
              <a:rPr lang="en-US" sz="900" dirty="0">
                <a:solidFill>
                  <a:srgbClr val="4B6076"/>
                </a:solidFill>
                <a:latin typeface="Calibri" pitchFamily="34" charset="0"/>
                <a:ea typeface="Calibri" pitchFamily="34" charset="-122"/>
                <a:cs typeface="Calibri" pitchFamily="34" charset="-120"/>
              </a:rPr>
              <a:t>IdP returns active/inactive + claims on every request</a:t>
            </a:r>
            <a:endParaRPr lang="en-US" sz="900" dirty="0"/>
          </a:p>
        </p:txBody>
      </p:sp>
      <p:sp>
        <p:nvSpPr>
          <p:cNvPr id="21" name="Text 19"/>
          <p:cNvSpPr/>
          <p:nvPr/>
        </p:nvSpPr>
        <p:spPr>
          <a:xfrm>
            <a:off x="3227832" y="2112264"/>
            <a:ext cx="2606040" cy="347472"/>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3. </a:t>
            </a:r>
            <a:r>
              <a:rPr lang="en-US" sz="900" dirty="0">
                <a:solidFill>
                  <a:srgbClr val="4B6076"/>
                </a:solidFill>
                <a:latin typeface="Calibri" pitchFamily="34" charset="0"/>
                <a:ea typeface="Calibri" pitchFamily="34" charset="-122"/>
                <a:cs typeface="Calibri" pitchFamily="34" charset="-120"/>
              </a:rPr>
              <a:t>Enables real-time revocation checking</a:t>
            </a:r>
            <a:endParaRPr lang="en-US" sz="900" dirty="0"/>
          </a:p>
        </p:txBody>
      </p:sp>
      <p:sp>
        <p:nvSpPr>
          <p:cNvPr id="22" name="Text 20"/>
          <p:cNvSpPr/>
          <p:nvPr/>
        </p:nvSpPr>
        <p:spPr>
          <a:xfrm>
            <a:off x="3227832" y="2496312"/>
            <a:ext cx="2606040" cy="347472"/>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4. </a:t>
            </a:r>
            <a:r>
              <a:rPr lang="en-US" sz="900" dirty="0">
                <a:solidFill>
                  <a:srgbClr val="4B6076"/>
                </a:solidFill>
                <a:latin typeface="Calibri" pitchFamily="34" charset="0"/>
                <a:ea typeface="Calibri" pitchFamily="34" charset="-122"/>
                <a:cs typeface="Calibri" pitchFamily="34" charset="-120"/>
              </a:rPr>
              <a:t>Suitable for opaque (reference) tokens</a:t>
            </a:r>
            <a:endParaRPr lang="en-US" sz="900" dirty="0"/>
          </a:p>
        </p:txBody>
      </p:sp>
      <p:sp>
        <p:nvSpPr>
          <p:cNvPr id="23" name="Shape 21"/>
          <p:cNvSpPr/>
          <p:nvPr/>
        </p:nvSpPr>
        <p:spPr>
          <a:xfrm>
            <a:off x="3227832" y="2944368"/>
            <a:ext cx="2606040" cy="0"/>
          </a:xfrm>
          <a:prstGeom prst="line">
            <a:avLst/>
          </a:prstGeom>
          <a:noFill/>
          <a:ln w="6350">
            <a:solidFill>
              <a:srgbClr val="C9E4F0"/>
            </a:solidFill>
            <a:prstDash val="solid"/>
          </a:ln>
        </p:spPr>
        <p:txBody>
          <a:bodyPr/>
          <a:lstStyle/>
          <a:p>
            <a:endParaRPr lang="en-US"/>
          </a:p>
        </p:txBody>
      </p:sp>
      <p:sp>
        <p:nvSpPr>
          <p:cNvPr id="24" name="Text 22"/>
          <p:cNvSpPr/>
          <p:nvPr/>
        </p:nvSpPr>
        <p:spPr>
          <a:xfrm>
            <a:off x="3227832" y="2999232"/>
            <a:ext cx="2606040" cy="320040"/>
          </a:xfrm>
          <a:prstGeom prst="rect">
            <a:avLst/>
          </a:prstGeom>
          <a:noFill/>
          <a:ln/>
        </p:spPr>
        <p:txBody>
          <a:bodyPr wrap="square" lIns="0" tIns="0" rIns="0" bIns="0" rtlCol="0" anchor="ctr"/>
          <a:lstStyle/>
          <a:p>
            <a:pPr marL="0" indent="0">
              <a:buNone/>
            </a:pPr>
            <a:r>
              <a:rPr lang="en-US" sz="900" b="1" dirty="0">
                <a:solidFill>
                  <a:srgbClr val="0D9488"/>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Immediate revocation visibility; supports opaque tokens</a:t>
            </a:r>
            <a:endParaRPr lang="en-US" sz="900" dirty="0"/>
          </a:p>
        </p:txBody>
      </p:sp>
      <p:sp>
        <p:nvSpPr>
          <p:cNvPr id="25" name="Text 23"/>
          <p:cNvSpPr/>
          <p:nvPr/>
        </p:nvSpPr>
        <p:spPr>
          <a:xfrm>
            <a:off x="3227832" y="3328416"/>
            <a:ext cx="2606040" cy="320040"/>
          </a:xfrm>
          <a:prstGeom prst="rect">
            <a:avLst/>
          </a:prstGeom>
          <a:noFill/>
          <a:ln/>
        </p:spPr>
        <p:txBody>
          <a:bodyPr wrap="square" lIns="0" tIns="0" rIns="0" bIns="0" rtlCol="0" anchor="ctr"/>
          <a:lstStyle/>
          <a:p>
            <a:pPr marL="0" indent="0">
              <a:buNone/>
            </a:pPr>
            <a:r>
              <a:rPr lang="en-US" sz="900" b="1" dirty="0">
                <a:solidFill>
                  <a:srgbClr val="DC262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Network call per request — latency + IdP dependency; cache carefully</a:t>
            </a:r>
            <a:endParaRPr lang="en-US" sz="900" dirty="0"/>
          </a:p>
        </p:txBody>
      </p:sp>
      <p:sp>
        <p:nvSpPr>
          <p:cNvPr id="26" name="Shape 24"/>
          <p:cNvSpPr/>
          <p:nvPr/>
        </p:nvSpPr>
        <p:spPr>
          <a:xfrm>
            <a:off x="3227832" y="3730752"/>
            <a:ext cx="2606040" cy="0"/>
          </a:xfrm>
          <a:prstGeom prst="line">
            <a:avLst/>
          </a:prstGeom>
          <a:noFill/>
          <a:ln w="6350">
            <a:solidFill>
              <a:srgbClr val="C9E4F0"/>
            </a:solidFill>
            <a:prstDash val="solid"/>
          </a:ln>
        </p:spPr>
        <p:txBody>
          <a:bodyPr/>
          <a:lstStyle/>
          <a:p>
            <a:endParaRPr lang="en-US"/>
          </a:p>
        </p:txBody>
      </p:sp>
      <p:sp>
        <p:nvSpPr>
          <p:cNvPr id="27" name="Text 25"/>
          <p:cNvSpPr/>
          <p:nvPr/>
        </p:nvSpPr>
        <p:spPr>
          <a:xfrm>
            <a:off x="3227832" y="3767328"/>
            <a:ext cx="2606040" cy="256032"/>
          </a:xfrm>
          <a:prstGeom prst="rect">
            <a:avLst/>
          </a:prstGeom>
          <a:noFill/>
          <a:ln/>
        </p:spPr>
        <p:txBody>
          <a:bodyPr wrap="square" lIns="0" tIns="0" rIns="0" bIns="0" rtlCol="0" anchor="ctr"/>
          <a:lstStyle/>
          <a:p>
            <a:pPr marL="0" indent="0">
              <a:buNone/>
            </a:pPr>
            <a:r>
              <a:rPr lang="en-US" sz="850" i="1" dirty="0">
                <a:solidFill>
                  <a:srgbClr val="1B998B"/>
                </a:solidFill>
                <a:latin typeface="Calibri" pitchFamily="34" charset="0"/>
                <a:ea typeface="Calibri" pitchFamily="34" charset="-122"/>
                <a:cs typeface="Calibri" pitchFamily="34" charset="-120"/>
              </a:rPr>
              <a:t>High-security APIs, opaque token flows, compliance-driven environments</a:t>
            </a:r>
            <a:endParaRPr lang="en-US" sz="850" dirty="0"/>
          </a:p>
        </p:txBody>
      </p:sp>
      <p:sp>
        <p:nvSpPr>
          <p:cNvPr id="28" name="Shape 26"/>
          <p:cNvSpPr/>
          <p:nvPr/>
        </p:nvSpPr>
        <p:spPr>
          <a:xfrm>
            <a:off x="6089904" y="804672"/>
            <a:ext cx="2788920" cy="416052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29" name="Shape 27"/>
          <p:cNvSpPr/>
          <p:nvPr/>
        </p:nvSpPr>
        <p:spPr>
          <a:xfrm>
            <a:off x="6089904" y="804672"/>
            <a:ext cx="2788920" cy="475488"/>
          </a:xfrm>
          <a:prstGeom prst="rect">
            <a:avLst/>
          </a:prstGeom>
          <a:solidFill>
            <a:srgbClr val="6B3FA0"/>
          </a:solidFill>
          <a:ln w="12700">
            <a:solidFill>
              <a:srgbClr val="6B3FA0"/>
            </a:solidFill>
            <a:prstDash val="solid"/>
          </a:ln>
        </p:spPr>
        <p:txBody>
          <a:bodyPr/>
          <a:lstStyle/>
          <a:p>
            <a:endParaRPr lang="en-US"/>
          </a:p>
        </p:txBody>
      </p:sp>
      <p:sp>
        <p:nvSpPr>
          <p:cNvPr id="30" name="Text 28"/>
          <p:cNvSpPr/>
          <p:nvPr/>
        </p:nvSpPr>
        <p:spPr>
          <a:xfrm>
            <a:off x="6163056" y="822960"/>
            <a:ext cx="2642616" cy="43891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Hybrid / Tiered Approach</a:t>
            </a:r>
            <a:endParaRPr lang="en-US" sz="1050" dirty="0"/>
          </a:p>
        </p:txBody>
      </p:sp>
      <p:sp>
        <p:nvSpPr>
          <p:cNvPr id="31" name="Text 29"/>
          <p:cNvSpPr/>
          <p:nvPr/>
        </p:nvSpPr>
        <p:spPr>
          <a:xfrm>
            <a:off x="6181344" y="1344168"/>
            <a:ext cx="2606040" cy="347472"/>
          </a:xfrm>
          <a:prstGeom prst="rect">
            <a:avLst/>
          </a:prstGeom>
          <a:noFill/>
          <a:ln/>
        </p:spPr>
        <p:txBody>
          <a:bodyPr wrap="square" lIns="0" tIns="0" rIns="0" bIns="0" rtlCol="0" anchor="ctr"/>
          <a:lstStyle/>
          <a:p>
            <a:pPr marL="0" indent="0">
              <a:buNone/>
            </a:pPr>
            <a:r>
              <a:rPr lang="en-US" sz="900" b="1" dirty="0">
                <a:solidFill>
                  <a:srgbClr val="6B3FA0"/>
                </a:solidFill>
                <a:latin typeface="Calibri" pitchFamily="34" charset="0"/>
                <a:ea typeface="Calibri" pitchFamily="34" charset="-122"/>
                <a:cs typeface="Calibri" pitchFamily="34" charset="-120"/>
              </a:rPr>
              <a:t>1. </a:t>
            </a:r>
            <a:r>
              <a:rPr lang="en-US" sz="900" dirty="0">
                <a:solidFill>
                  <a:srgbClr val="4B6076"/>
                </a:solidFill>
                <a:latin typeface="Calibri" pitchFamily="34" charset="0"/>
                <a:ea typeface="Calibri" pitchFamily="34" charset="-122"/>
                <a:cs typeface="Calibri" pitchFamily="34" charset="-120"/>
              </a:rPr>
              <a:t>JWT self-validation for low-sensitivity endpoints (fast path)</a:t>
            </a:r>
            <a:endParaRPr lang="en-US" sz="900" dirty="0"/>
          </a:p>
        </p:txBody>
      </p:sp>
      <p:sp>
        <p:nvSpPr>
          <p:cNvPr id="32" name="Text 30"/>
          <p:cNvSpPr/>
          <p:nvPr/>
        </p:nvSpPr>
        <p:spPr>
          <a:xfrm>
            <a:off x="6181344" y="1728216"/>
            <a:ext cx="2606040" cy="347472"/>
          </a:xfrm>
          <a:prstGeom prst="rect">
            <a:avLst/>
          </a:prstGeom>
          <a:noFill/>
          <a:ln/>
        </p:spPr>
        <p:txBody>
          <a:bodyPr wrap="square" lIns="0" tIns="0" rIns="0" bIns="0" rtlCol="0" anchor="ctr"/>
          <a:lstStyle/>
          <a:p>
            <a:pPr marL="0" indent="0">
              <a:buNone/>
            </a:pPr>
            <a:r>
              <a:rPr lang="en-US" sz="900" b="1" dirty="0">
                <a:solidFill>
                  <a:srgbClr val="6B3FA0"/>
                </a:solidFill>
                <a:latin typeface="Calibri" pitchFamily="34" charset="0"/>
                <a:ea typeface="Calibri" pitchFamily="34" charset="-122"/>
                <a:cs typeface="Calibri" pitchFamily="34" charset="-120"/>
              </a:rPr>
              <a:t>2. </a:t>
            </a:r>
            <a:r>
              <a:rPr lang="en-US" sz="900" dirty="0">
                <a:solidFill>
                  <a:srgbClr val="4B6076"/>
                </a:solidFill>
                <a:latin typeface="Calibri" pitchFamily="34" charset="0"/>
                <a:ea typeface="Calibri" pitchFamily="34" charset="-122"/>
                <a:cs typeface="Calibri" pitchFamily="34" charset="-120"/>
              </a:rPr>
              <a:t>Introspection for privileged operations or sensitive data</a:t>
            </a:r>
            <a:endParaRPr lang="en-US" sz="900" dirty="0"/>
          </a:p>
        </p:txBody>
      </p:sp>
      <p:sp>
        <p:nvSpPr>
          <p:cNvPr id="33" name="Text 31"/>
          <p:cNvSpPr/>
          <p:nvPr/>
        </p:nvSpPr>
        <p:spPr>
          <a:xfrm>
            <a:off x="6181344" y="2112264"/>
            <a:ext cx="2606040" cy="347472"/>
          </a:xfrm>
          <a:prstGeom prst="rect">
            <a:avLst/>
          </a:prstGeom>
          <a:noFill/>
          <a:ln/>
        </p:spPr>
        <p:txBody>
          <a:bodyPr wrap="square" lIns="0" tIns="0" rIns="0" bIns="0" rtlCol="0" anchor="ctr"/>
          <a:lstStyle/>
          <a:p>
            <a:pPr marL="0" indent="0">
              <a:buNone/>
            </a:pPr>
            <a:r>
              <a:rPr lang="en-US" sz="900" b="1" dirty="0">
                <a:solidFill>
                  <a:srgbClr val="6B3FA0"/>
                </a:solidFill>
                <a:latin typeface="Calibri" pitchFamily="34" charset="0"/>
                <a:ea typeface="Calibri" pitchFamily="34" charset="-122"/>
                <a:cs typeface="Calibri" pitchFamily="34" charset="-120"/>
              </a:rPr>
              <a:t>3. </a:t>
            </a:r>
            <a:r>
              <a:rPr lang="en-US" sz="900" dirty="0">
                <a:solidFill>
                  <a:srgbClr val="4B6076"/>
                </a:solidFill>
                <a:latin typeface="Calibri" pitchFamily="34" charset="0"/>
                <a:ea typeface="Calibri" pitchFamily="34" charset="-122"/>
                <a:cs typeface="Calibri" pitchFamily="34" charset="-120"/>
              </a:rPr>
              <a:t>CAE/CAEP for event-driven session invalidation</a:t>
            </a:r>
            <a:endParaRPr lang="en-US" sz="900" dirty="0"/>
          </a:p>
        </p:txBody>
      </p:sp>
      <p:sp>
        <p:nvSpPr>
          <p:cNvPr id="34" name="Text 32"/>
          <p:cNvSpPr/>
          <p:nvPr/>
        </p:nvSpPr>
        <p:spPr>
          <a:xfrm>
            <a:off x="6181344" y="2496312"/>
            <a:ext cx="2606040" cy="347472"/>
          </a:xfrm>
          <a:prstGeom prst="rect">
            <a:avLst/>
          </a:prstGeom>
          <a:noFill/>
          <a:ln/>
        </p:spPr>
        <p:txBody>
          <a:bodyPr wrap="square" lIns="0" tIns="0" rIns="0" bIns="0" rtlCol="0" anchor="ctr"/>
          <a:lstStyle/>
          <a:p>
            <a:pPr marL="0" indent="0">
              <a:buNone/>
            </a:pPr>
            <a:r>
              <a:rPr lang="en-US" sz="900" b="1" dirty="0">
                <a:solidFill>
                  <a:srgbClr val="6B3FA0"/>
                </a:solidFill>
                <a:latin typeface="Calibri" pitchFamily="34" charset="0"/>
                <a:ea typeface="Calibri" pitchFamily="34" charset="-122"/>
                <a:cs typeface="Calibri" pitchFamily="34" charset="-120"/>
              </a:rPr>
              <a:t>4. </a:t>
            </a:r>
            <a:r>
              <a:rPr lang="en-US" sz="900" dirty="0">
                <a:solidFill>
                  <a:srgbClr val="4B6076"/>
                </a:solidFill>
                <a:latin typeface="Calibri" pitchFamily="34" charset="0"/>
                <a:ea typeface="Calibri" pitchFamily="34" charset="-122"/>
                <a:cs typeface="Calibri" pitchFamily="34" charset="-120"/>
              </a:rPr>
              <a:t>Short-lived ATs (15 min) reduce revocation window</a:t>
            </a:r>
            <a:endParaRPr lang="en-US" sz="900" dirty="0"/>
          </a:p>
        </p:txBody>
      </p:sp>
      <p:sp>
        <p:nvSpPr>
          <p:cNvPr id="35" name="Shape 33"/>
          <p:cNvSpPr/>
          <p:nvPr/>
        </p:nvSpPr>
        <p:spPr>
          <a:xfrm>
            <a:off x="6181344" y="2944368"/>
            <a:ext cx="2606040" cy="0"/>
          </a:xfrm>
          <a:prstGeom prst="line">
            <a:avLst/>
          </a:prstGeom>
          <a:noFill/>
          <a:ln w="6350">
            <a:solidFill>
              <a:srgbClr val="C9E4F0"/>
            </a:solidFill>
            <a:prstDash val="solid"/>
          </a:ln>
        </p:spPr>
        <p:txBody>
          <a:bodyPr/>
          <a:lstStyle/>
          <a:p>
            <a:endParaRPr lang="en-US"/>
          </a:p>
        </p:txBody>
      </p:sp>
      <p:sp>
        <p:nvSpPr>
          <p:cNvPr id="36" name="Text 34"/>
          <p:cNvSpPr/>
          <p:nvPr/>
        </p:nvSpPr>
        <p:spPr>
          <a:xfrm>
            <a:off x="6181344" y="2999232"/>
            <a:ext cx="2606040" cy="320040"/>
          </a:xfrm>
          <a:prstGeom prst="rect">
            <a:avLst/>
          </a:prstGeom>
          <a:noFill/>
          <a:ln/>
        </p:spPr>
        <p:txBody>
          <a:bodyPr wrap="square" lIns="0" tIns="0" rIns="0" bIns="0" rtlCol="0" anchor="ctr"/>
          <a:lstStyle/>
          <a:p>
            <a:pPr marL="0" indent="0">
              <a:buNone/>
            </a:pPr>
            <a:r>
              <a:rPr lang="en-US" sz="900" b="1" dirty="0">
                <a:solidFill>
                  <a:srgbClr val="0D9488"/>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Balances performance and revocation control</a:t>
            </a:r>
            <a:endParaRPr lang="en-US" sz="900" dirty="0"/>
          </a:p>
        </p:txBody>
      </p:sp>
      <p:sp>
        <p:nvSpPr>
          <p:cNvPr id="37" name="Text 35"/>
          <p:cNvSpPr/>
          <p:nvPr/>
        </p:nvSpPr>
        <p:spPr>
          <a:xfrm>
            <a:off x="6181344" y="3328416"/>
            <a:ext cx="2606040" cy="320040"/>
          </a:xfrm>
          <a:prstGeom prst="rect">
            <a:avLst/>
          </a:prstGeom>
          <a:noFill/>
          <a:ln/>
        </p:spPr>
        <p:txBody>
          <a:bodyPr wrap="square" lIns="0" tIns="0" rIns="0" bIns="0" rtlCol="0" anchor="ctr"/>
          <a:lstStyle/>
          <a:p>
            <a:pPr marL="0" indent="0">
              <a:buNone/>
            </a:pPr>
            <a:r>
              <a:rPr lang="en-US" sz="900" b="1" dirty="0">
                <a:solidFill>
                  <a:srgbClr val="DC262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More complex to implement and maintain consistently</a:t>
            </a:r>
            <a:endParaRPr lang="en-US" sz="900" dirty="0"/>
          </a:p>
        </p:txBody>
      </p:sp>
      <p:sp>
        <p:nvSpPr>
          <p:cNvPr id="38" name="Shape 36"/>
          <p:cNvSpPr/>
          <p:nvPr/>
        </p:nvSpPr>
        <p:spPr>
          <a:xfrm>
            <a:off x="6181344" y="3730752"/>
            <a:ext cx="2606040" cy="0"/>
          </a:xfrm>
          <a:prstGeom prst="line">
            <a:avLst/>
          </a:prstGeom>
          <a:noFill/>
          <a:ln w="6350">
            <a:solidFill>
              <a:srgbClr val="C9E4F0"/>
            </a:solidFill>
            <a:prstDash val="solid"/>
          </a:ln>
        </p:spPr>
        <p:txBody>
          <a:bodyPr/>
          <a:lstStyle/>
          <a:p>
            <a:endParaRPr lang="en-US"/>
          </a:p>
        </p:txBody>
      </p:sp>
      <p:sp>
        <p:nvSpPr>
          <p:cNvPr id="39" name="Text 37"/>
          <p:cNvSpPr/>
          <p:nvPr/>
        </p:nvSpPr>
        <p:spPr>
          <a:xfrm>
            <a:off x="6181344" y="3767328"/>
            <a:ext cx="2606040" cy="256032"/>
          </a:xfrm>
          <a:prstGeom prst="rect">
            <a:avLst/>
          </a:prstGeom>
          <a:noFill/>
          <a:ln/>
        </p:spPr>
        <p:txBody>
          <a:bodyPr wrap="square" lIns="0" tIns="0" rIns="0" bIns="0" rtlCol="0" anchor="ctr"/>
          <a:lstStyle/>
          <a:p>
            <a:pPr marL="0" indent="0">
              <a:buNone/>
            </a:pPr>
            <a:r>
              <a:rPr lang="en-US" sz="850" i="1" dirty="0">
                <a:solidFill>
                  <a:srgbClr val="6B3FA0"/>
                </a:solidFill>
                <a:latin typeface="Calibri" pitchFamily="34" charset="0"/>
                <a:ea typeface="Calibri" pitchFamily="34" charset="-122"/>
                <a:cs typeface="Calibri" pitchFamily="34" charset="-120"/>
              </a:rPr>
              <a:t>Enterprise APIs, regulated environments, Zero Trust architectures</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4C75"/>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98B"/>
          </a:solidFill>
          <a:ln w="12700">
            <a:solidFill>
              <a:srgbClr val="1B998B"/>
            </a:solidFill>
            <a:prstDash val="solid"/>
          </a:ln>
        </p:spPr>
        <p:txBody>
          <a:bodyPr/>
          <a:lstStyle/>
          <a:p>
            <a:endParaRPr lang="en-US"/>
          </a:p>
        </p:txBody>
      </p:sp>
      <p:sp>
        <p:nvSpPr>
          <p:cNvPr id="3" name="Text 1"/>
          <p:cNvSpPr/>
          <p:nvPr/>
        </p:nvSpPr>
        <p:spPr>
          <a:xfrm>
            <a:off x="6858000" y="731520"/>
            <a:ext cx="2103120" cy="2560320"/>
          </a:xfrm>
          <a:prstGeom prst="rect">
            <a:avLst/>
          </a:prstGeom>
          <a:noFill/>
          <a:ln/>
        </p:spPr>
        <p:txBody>
          <a:bodyPr wrap="square" lIns="0" tIns="0" rIns="0" bIns="0" rtlCol="0" anchor="ctr"/>
          <a:lstStyle/>
          <a:p>
            <a:pPr marL="0" indent="0" algn="r">
              <a:buNone/>
            </a:pPr>
            <a:r>
              <a:rPr lang="en-US" sz="14000" b="1" dirty="0">
                <a:solidFill>
                  <a:srgbClr val="1A4A66"/>
                </a:solidFill>
                <a:latin typeface="Calibri" pitchFamily="34" charset="0"/>
                <a:ea typeface="Calibri" pitchFamily="34" charset="-122"/>
                <a:cs typeface="Calibri" pitchFamily="34" charset="-120"/>
              </a:rPr>
              <a:t>05</a:t>
            </a:r>
            <a:endParaRPr lang="en-US" sz="14000" dirty="0"/>
          </a:p>
        </p:txBody>
      </p:sp>
      <p:sp>
        <p:nvSpPr>
          <p:cNvPr id="4" name="Text 2"/>
          <p:cNvSpPr/>
          <p:nvPr/>
        </p:nvSpPr>
        <p:spPr>
          <a:xfrm>
            <a:off x="320040" y="1600200"/>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Authorization Models</a:t>
            </a:r>
            <a:endParaRPr lang="en-US" sz="3000" dirty="0"/>
          </a:p>
        </p:txBody>
      </p:sp>
      <p:sp>
        <p:nvSpPr>
          <p:cNvPr id="5" name="Shape 3"/>
          <p:cNvSpPr/>
          <p:nvPr/>
        </p:nvSpPr>
        <p:spPr>
          <a:xfrm>
            <a:off x="320040" y="2468880"/>
            <a:ext cx="6217920" cy="0"/>
          </a:xfrm>
          <a:prstGeom prst="line">
            <a:avLst/>
          </a:prstGeom>
          <a:noFill/>
          <a:ln w="6350">
            <a:solidFill>
              <a:srgbClr val="8AAFC4"/>
            </a:solidFill>
            <a:prstDash val="solid"/>
          </a:ln>
        </p:spPr>
        <p:txBody>
          <a:bodyPr/>
          <a:lstStyle/>
          <a:p>
            <a:endParaRPr lang="en-US"/>
          </a:p>
        </p:txBody>
      </p:sp>
      <p:sp>
        <p:nvSpPr>
          <p:cNvPr id="6" name="Text 4"/>
          <p:cNvSpPr/>
          <p:nvPr/>
        </p:nvSpPr>
        <p:spPr>
          <a:xfrm>
            <a:off x="320040" y="2542032"/>
            <a:ext cx="6400800" cy="457200"/>
          </a:xfrm>
          <a:prstGeom prst="rect">
            <a:avLst/>
          </a:prstGeom>
          <a:noFill/>
          <a:ln/>
        </p:spPr>
        <p:txBody>
          <a:bodyPr wrap="square" lIns="0" tIns="0" rIns="0" bIns="0" rtlCol="0" anchor="ctr"/>
          <a:lstStyle/>
          <a:p>
            <a:pPr marL="0" indent="0">
              <a:buNone/>
            </a:pPr>
            <a:r>
              <a:rPr lang="en-US" sz="1400" i="1" dirty="0">
                <a:solidFill>
                  <a:srgbClr val="C9E4F0"/>
                </a:solidFill>
                <a:latin typeface="Calibri" pitchFamily="34" charset="0"/>
                <a:ea typeface="Calibri" pitchFamily="34" charset="-122"/>
                <a:cs typeface="Calibri" pitchFamily="34" charset="-120"/>
              </a:rPr>
              <a:t>RBAC, ABAC, and OPA compared</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75"/>
          </a:solidFill>
          <a:ln w="12700">
            <a:solidFill>
              <a:srgbClr val="0F4C75"/>
            </a:solidFill>
            <a:prstDash val="solid"/>
          </a:ln>
        </p:spPr>
        <p:txBody>
          <a:bodyPr/>
          <a:lstStyle/>
          <a:p>
            <a:endParaRPr lang="en-US"/>
          </a:p>
        </p:txBody>
      </p:sp>
      <p:sp>
        <p:nvSpPr>
          <p:cNvPr id="3" name="Text 1"/>
          <p:cNvSpPr/>
          <p:nvPr/>
        </p:nvSpPr>
        <p:spPr>
          <a:xfrm>
            <a:off x="457200" y="0"/>
            <a:ext cx="82296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Authorization Models Compared</a:t>
            </a:r>
            <a:endParaRPr lang="en-US" sz="2200" dirty="0"/>
          </a:p>
        </p:txBody>
      </p:sp>
      <p:sp>
        <p:nvSpPr>
          <p:cNvPr id="4" name="Shape 2"/>
          <p:cNvSpPr/>
          <p:nvPr/>
        </p:nvSpPr>
        <p:spPr>
          <a:xfrm>
            <a:off x="182880" y="804672"/>
            <a:ext cx="2788920" cy="416052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5" name="Shape 3"/>
          <p:cNvSpPr/>
          <p:nvPr/>
        </p:nvSpPr>
        <p:spPr>
          <a:xfrm>
            <a:off x="182880" y="804672"/>
            <a:ext cx="2788920" cy="621792"/>
          </a:xfrm>
          <a:prstGeom prst="rect">
            <a:avLst/>
          </a:prstGeom>
          <a:solidFill>
            <a:srgbClr val="0F4C75"/>
          </a:solidFill>
          <a:ln w="12700">
            <a:solidFill>
              <a:srgbClr val="0F4C75"/>
            </a:solidFill>
            <a:prstDash val="solid"/>
          </a:ln>
        </p:spPr>
        <p:txBody>
          <a:bodyPr/>
          <a:lstStyle/>
          <a:p>
            <a:endParaRPr lang="en-US"/>
          </a:p>
        </p:txBody>
      </p:sp>
      <p:sp>
        <p:nvSpPr>
          <p:cNvPr id="6" name="Text 4"/>
          <p:cNvSpPr/>
          <p:nvPr/>
        </p:nvSpPr>
        <p:spPr>
          <a:xfrm>
            <a:off x="256032" y="804672"/>
            <a:ext cx="1005840" cy="347472"/>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RBAC</a:t>
            </a:r>
            <a:endParaRPr lang="en-US" sz="1600" dirty="0"/>
          </a:p>
        </p:txBody>
      </p:sp>
      <p:sp>
        <p:nvSpPr>
          <p:cNvPr id="7" name="Text 5"/>
          <p:cNvSpPr/>
          <p:nvPr/>
        </p:nvSpPr>
        <p:spPr>
          <a:xfrm>
            <a:off x="256032" y="1133856"/>
            <a:ext cx="2642616" cy="256032"/>
          </a:xfrm>
          <a:prstGeom prst="rect">
            <a:avLst/>
          </a:prstGeom>
          <a:noFill/>
          <a:ln/>
        </p:spPr>
        <p:txBody>
          <a:bodyPr wrap="square" lIns="0" tIns="0" rIns="0" bIns="0" rtlCol="0" anchor="ctr"/>
          <a:lstStyle/>
          <a:p>
            <a:pPr marL="0" indent="0">
              <a:buNone/>
            </a:pPr>
            <a:r>
              <a:rPr lang="en-US" sz="900" i="1" dirty="0">
                <a:solidFill>
                  <a:srgbClr val="D6EAF8"/>
                </a:solidFill>
                <a:latin typeface="Calibri" pitchFamily="34" charset="0"/>
                <a:ea typeface="Calibri" pitchFamily="34" charset="-122"/>
                <a:cs typeface="Calibri" pitchFamily="34" charset="-120"/>
              </a:rPr>
              <a:t>Role-Based Access Control</a:t>
            </a:r>
            <a:endParaRPr lang="en-US" sz="900" dirty="0"/>
          </a:p>
        </p:txBody>
      </p:sp>
      <p:sp>
        <p:nvSpPr>
          <p:cNvPr id="8" name="Text 6"/>
          <p:cNvSpPr/>
          <p:nvPr/>
        </p:nvSpPr>
        <p:spPr>
          <a:xfrm>
            <a:off x="274320" y="1481328"/>
            <a:ext cx="2606040" cy="502920"/>
          </a:xfrm>
          <a:prstGeom prst="rect">
            <a:avLst/>
          </a:prstGeom>
          <a:noFill/>
          <a:ln/>
        </p:spPr>
        <p:txBody>
          <a:bodyPr wrap="square" lIns="0" tIns="0" rIns="0" bIns="0" rtlCol="0" anchor="ctr"/>
          <a:lstStyle/>
          <a:p>
            <a:pPr marL="0" indent="0">
              <a:buNone/>
            </a:pPr>
            <a:r>
              <a:rPr lang="en-US" sz="950" dirty="0">
                <a:solidFill>
                  <a:srgbClr val="4B6076"/>
                </a:solidFill>
                <a:latin typeface="Calibri" pitchFamily="34" charset="0"/>
                <a:ea typeface="Calibri" pitchFamily="34" charset="-122"/>
                <a:cs typeface="Calibri" pitchFamily="34" charset="-120"/>
              </a:rPr>
              <a:t>Permissions assigned to roles; users assigned to roles. Simple, auditable, widely understood.</a:t>
            </a:r>
            <a:endParaRPr lang="en-US" sz="950" dirty="0"/>
          </a:p>
        </p:txBody>
      </p:sp>
      <p:sp>
        <p:nvSpPr>
          <p:cNvPr id="9" name="Text 7"/>
          <p:cNvSpPr/>
          <p:nvPr/>
        </p:nvSpPr>
        <p:spPr>
          <a:xfrm>
            <a:off x="274320" y="2029968"/>
            <a:ext cx="2606040" cy="228600"/>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Pros:</a:t>
            </a:r>
            <a:endParaRPr lang="en-US" sz="1000" dirty="0"/>
          </a:p>
        </p:txBody>
      </p:sp>
      <p:sp>
        <p:nvSpPr>
          <p:cNvPr id="10" name="Text 8"/>
          <p:cNvSpPr/>
          <p:nvPr/>
        </p:nvSpPr>
        <p:spPr>
          <a:xfrm>
            <a:off x="274320" y="2249424"/>
            <a:ext cx="2606040" cy="256032"/>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Easy to administer at scale</a:t>
            </a:r>
            <a:endParaRPr lang="en-US" sz="950" dirty="0"/>
          </a:p>
        </p:txBody>
      </p:sp>
      <p:sp>
        <p:nvSpPr>
          <p:cNvPr id="11" name="Text 9"/>
          <p:cNvSpPr/>
          <p:nvPr/>
        </p:nvSpPr>
        <p:spPr>
          <a:xfrm>
            <a:off x="274320" y="2542032"/>
            <a:ext cx="2606040" cy="256032"/>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Integrates with AD groups</a:t>
            </a:r>
            <a:endParaRPr lang="en-US" sz="950" dirty="0"/>
          </a:p>
        </p:txBody>
      </p:sp>
      <p:sp>
        <p:nvSpPr>
          <p:cNvPr id="12" name="Text 10"/>
          <p:cNvSpPr/>
          <p:nvPr/>
        </p:nvSpPr>
        <p:spPr>
          <a:xfrm>
            <a:off x="274320" y="2834640"/>
            <a:ext cx="2606040" cy="256032"/>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Clear audit trail for compliance</a:t>
            </a:r>
            <a:endParaRPr lang="en-US" sz="950" dirty="0"/>
          </a:p>
        </p:txBody>
      </p:sp>
      <p:sp>
        <p:nvSpPr>
          <p:cNvPr id="13" name="Text 11"/>
          <p:cNvSpPr/>
          <p:nvPr/>
        </p:nvSpPr>
        <p:spPr>
          <a:xfrm>
            <a:off x="274320" y="3145536"/>
            <a:ext cx="2606040" cy="228600"/>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Cons:</a:t>
            </a:r>
            <a:endParaRPr lang="en-US" sz="1000" dirty="0"/>
          </a:p>
        </p:txBody>
      </p:sp>
      <p:sp>
        <p:nvSpPr>
          <p:cNvPr id="14" name="Text 12"/>
          <p:cNvSpPr/>
          <p:nvPr/>
        </p:nvSpPr>
        <p:spPr>
          <a:xfrm>
            <a:off x="274320" y="3364992"/>
            <a:ext cx="2606040" cy="256032"/>
          </a:xfrm>
          <a:prstGeom prst="rect">
            <a:avLst/>
          </a:prstGeom>
          <a:noFill/>
          <a:ln/>
        </p:spPr>
        <p:txBody>
          <a:bodyPr wrap="square" lIns="0" tIns="0" rIns="0" bIns="0"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Role explosion risk</a:t>
            </a:r>
            <a:endParaRPr lang="en-US" sz="950" dirty="0"/>
          </a:p>
        </p:txBody>
      </p:sp>
      <p:sp>
        <p:nvSpPr>
          <p:cNvPr id="15" name="Text 13"/>
          <p:cNvSpPr/>
          <p:nvPr/>
        </p:nvSpPr>
        <p:spPr>
          <a:xfrm>
            <a:off x="274320" y="3657600"/>
            <a:ext cx="2606040" cy="256032"/>
          </a:xfrm>
          <a:prstGeom prst="rect">
            <a:avLst/>
          </a:prstGeom>
          <a:noFill/>
          <a:ln/>
        </p:spPr>
        <p:txBody>
          <a:bodyPr wrap="square" lIns="0" tIns="0" rIns="0" bIns="0"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Coarse-grained</a:t>
            </a:r>
            <a:endParaRPr lang="en-US" sz="950" dirty="0"/>
          </a:p>
        </p:txBody>
      </p:sp>
      <p:sp>
        <p:nvSpPr>
          <p:cNvPr id="16" name="Text 14"/>
          <p:cNvSpPr/>
          <p:nvPr/>
        </p:nvSpPr>
        <p:spPr>
          <a:xfrm>
            <a:off x="274320" y="3950208"/>
            <a:ext cx="2606040" cy="256032"/>
          </a:xfrm>
          <a:prstGeom prst="rect">
            <a:avLst/>
          </a:prstGeom>
          <a:noFill/>
          <a:ln/>
        </p:spPr>
        <p:txBody>
          <a:bodyPr wrap="square" lIns="0" tIns="0" rIns="0" bIns="0"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No dynamic context (time, location, risk)</a:t>
            </a:r>
            <a:endParaRPr lang="en-US" sz="950" dirty="0"/>
          </a:p>
        </p:txBody>
      </p:sp>
      <p:sp>
        <p:nvSpPr>
          <p:cNvPr id="17" name="Shape 15"/>
          <p:cNvSpPr/>
          <p:nvPr/>
        </p:nvSpPr>
        <p:spPr>
          <a:xfrm>
            <a:off x="274320" y="4251960"/>
            <a:ext cx="2606040" cy="0"/>
          </a:xfrm>
          <a:prstGeom prst="line">
            <a:avLst/>
          </a:prstGeom>
          <a:noFill/>
          <a:ln w="6350">
            <a:solidFill>
              <a:srgbClr val="C9E4F0"/>
            </a:solidFill>
            <a:prstDash val="solid"/>
          </a:ln>
        </p:spPr>
        <p:txBody>
          <a:bodyPr/>
          <a:lstStyle/>
          <a:p>
            <a:endParaRPr lang="en-US"/>
          </a:p>
        </p:txBody>
      </p:sp>
      <p:sp>
        <p:nvSpPr>
          <p:cNvPr id="18" name="Text 16"/>
          <p:cNvSpPr/>
          <p:nvPr/>
        </p:nvSpPr>
        <p:spPr>
          <a:xfrm>
            <a:off x="274320" y="4279392"/>
            <a:ext cx="2606040" cy="274320"/>
          </a:xfrm>
          <a:prstGeom prst="rect">
            <a:avLst/>
          </a:prstGeom>
          <a:noFill/>
          <a:ln/>
        </p:spPr>
        <p:txBody>
          <a:bodyPr wrap="square" lIns="0" tIns="0" rIns="0" bIns="0" rtlCol="0" anchor="ctr"/>
          <a:lstStyle/>
          <a:p>
            <a:pPr marL="0" indent="0">
              <a:buNone/>
            </a:pPr>
            <a:r>
              <a:rPr lang="en-US" sz="850" i="1" dirty="0">
                <a:solidFill>
                  <a:srgbClr val="0F4C75"/>
                </a:solidFill>
                <a:latin typeface="Calibri" pitchFamily="34" charset="0"/>
                <a:ea typeface="Calibri" pitchFamily="34" charset="-122"/>
                <a:cs typeface="Calibri" pitchFamily="34" charset="-120"/>
              </a:rPr>
              <a:t>Enterprise ERP, SaaS applications, cloud IAM (AWS IAM Roles, Azure RBAC)</a:t>
            </a:r>
            <a:endParaRPr lang="en-US" sz="850" dirty="0"/>
          </a:p>
        </p:txBody>
      </p:sp>
      <p:sp>
        <p:nvSpPr>
          <p:cNvPr id="19" name="Shape 17"/>
          <p:cNvSpPr/>
          <p:nvPr/>
        </p:nvSpPr>
        <p:spPr>
          <a:xfrm>
            <a:off x="3136392" y="804672"/>
            <a:ext cx="2788920" cy="416052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20" name="Shape 18"/>
          <p:cNvSpPr/>
          <p:nvPr/>
        </p:nvSpPr>
        <p:spPr>
          <a:xfrm>
            <a:off x="3136392" y="804672"/>
            <a:ext cx="2788920" cy="621792"/>
          </a:xfrm>
          <a:prstGeom prst="rect">
            <a:avLst/>
          </a:prstGeom>
          <a:solidFill>
            <a:srgbClr val="1B998B"/>
          </a:solidFill>
          <a:ln w="12700">
            <a:solidFill>
              <a:srgbClr val="1B998B"/>
            </a:solidFill>
            <a:prstDash val="solid"/>
          </a:ln>
        </p:spPr>
        <p:txBody>
          <a:bodyPr/>
          <a:lstStyle/>
          <a:p>
            <a:endParaRPr lang="en-US"/>
          </a:p>
        </p:txBody>
      </p:sp>
      <p:sp>
        <p:nvSpPr>
          <p:cNvPr id="21" name="Text 19"/>
          <p:cNvSpPr/>
          <p:nvPr/>
        </p:nvSpPr>
        <p:spPr>
          <a:xfrm>
            <a:off x="3209544" y="804672"/>
            <a:ext cx="1005840" cy="347472"/>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ABAC</a:t>
            </a:r>
            <a:endParaRPr lang="en-US" sz="1600" dirty="0"/>
          </a:p>
        </p:txBody>
      </p:sp>
      <p:sp>
        <p:nvSpPr>
          <p:cNvPr id="22" name="Text 20"/>
          <p:cNvSpPr/>
          <p:nvPr/>
        </p:nvSpPr>
        <p:spPr>
          <a:xfrm>
            <a:off x="3209544" y="1133856"/>
            <a:ext cx="2642616" cy="256032"/>
          </a:xfrm>
          <a:prstGeom prst="rect">
            <a:avLst/>
          </a:prstGeom>
          <a:noFill/>
          <a:ln/>
        </p:spPr>
        <p:txBody>
          <a:bodyPr wrap="square" lIns="0" tIns="0" rIns="0" bIns="0" rtlCol="0" anchor="ctr"/>
          <a:lstStyle/>
          <a:p>
            <a:pPr marL="0" indent="0">
              <a:buNone/>
            </a:pPr>
            <a:r>
              <a:rPr lang="en-US" sz="900" i="1" dirty="0">
                <a:solidFill>
                  <a:srgbClr val="D6EAF8"/>
                </a:solidFill>
                <a:latin typeface="Calibri" pitchFamily="34" charset="0"/>
                <a:ea typeface="Calibri" pitchFamily="34" charset="-122"/>
                <a:cs typeface="Calibri" pitchFamily="34" charset="-120"/>
              </a:rPr>
              <a:t>Attribute-Based Access Control</a:t>
            </a:r>
            <a:endParaRPr lang="en-US" sz="900" dirty="0"/>
          </a:p>
        </p:txBody>
      </p:sp>
      <p:sp>
        <p:nvSpPr>
          <p:cNvPr id="23" name="Text 21"/>
          <p:cNvSpPr/>
          <p:nvPr/>
        </p:nvSpPr>
        <p:spPr>
          <a:xfrm>
            <a:off x="3227832" y="1481328"/>
            <a:ext cx="2606040" cy="502920"/>
          </a:xfrm>
          <a:prstGeom prst="rect">
            <a:avLst/>
          </a:prstGeom>
          <a:noFill/>
          <a:ln/>
        </p:spPr>
        <p:txBody>
          <a:bodyPr wrap="square" lIns="0" tIns="0" rIns="0" bIns="0" rtlCol="0" anchor="ctr"/>
          <a:lstStyle/>
          <a:p>
            <a:pPr marL="0" indent="0">
              <a:buNone/>
            </a:pPr>
            <a:r>
              <a:rPr lang="en-US" sz="950" dirty="0">
                <a:solidFill>
                  <a:srgbClr val="4B6076"/>
                </a:solidFill>
                <a:latin typeface="Calibri" pitchFamily="34" charset="0"/>
                <a:ea typeface="Calibri" pitchFamily="34" charset="-122"/>
                <a:cs typeface="Calibri" pitchFamily="34" charset="-120"/>
              </a:rPr>
              <a:t>Policy engine evaluates subject + resource + environment attributes at runtime for each access request.</a:t>
            </a:r>
            <a:endParaRPr lang="en-US" sz="950" dirty="0"/>
          </a:p>
        </p:txBody>
      </p:sp>
      <p:sp>
        <p:nvSpPr>
          <p:cNvPr id="24" name="Text 22"/>
          <p:cNvSpPr/>
          <p:nvPr/>
        </p:nvSpPr>
        <p:spPr>
          <a:xfrm>
            <a:off x="3227832" y="2029968"/>
            <a:ext cx="2606040" cy="228600"/>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Pros:</a:t>
            </a:r>
            <a:endParaRPr lang="en-US" sz="1000" dirty="0"/>
          </a:p>
        </p:txBody>
      </p:sp>
      <p:sp>
        <p:nvSpPr>
          <p:cNvPr id="25" name="Text 23"/>
          <p:cNvSpPr/>
          <p:nvPr/>
        </p:nvSpPr>
        <p:spPr>
          <a:xfrm>
            <a:off x="3227832" y="2249424"/>
            <a:ext cx="2606040" cy="256032"/>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Fine-grained, dynamic decisions</a:t>
            </a:r>
            <a:endParaRPr lang="en-US" sz="950" dirty="0"/>
          </a:p>
        </p:txBody>
      </p:sp>
      <p:sp>
        <p:nvSpPr>
          <p:cNvPr id="26" name="Text 24"/>
          <p:cNvSpPr/>
          <p:nvPr/>
        </p:nvSpPr>
        <p:spPr>
          <a:xfrm>
            <a:off x="3227832" y="2542032"/>
            <a:ext cx="2606040" cy="256032"/>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No role proliferation</a:t>
            </a:r>
            <a:endParaRPr lang="en-US" sz="950" dirty="0"/>
          </a:p>
        </p:txBody>
      </p:sp>
      <p:sp>
        <p:nvSpPr>
          <p:cNvPr id="27" name="Text 25"/>
          <p:cNvSpPr/>
          <p:nvPr/>
        </p:nvSpPr>
        <p:spPr>
          <a:xfrm>
            <a:off x="3227832" y="2834640"/>
            <a:ext cx="2606040" cy="256032"/>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Context-aware (time, location, risk)</a:t>
            </a:r>
            <a:endParaRPr lang="en-US" sz="950" dirty="0"/>
          </a:p>
        </p:txBody>
      </p:sp>
      <p:sp>
        <p:nvSpPr>
          <p:cNvPr id="28" name="Text 26"/>
          <p:cNvSpPr/>
          <p:nvPr/>
        </p:nvSpPr>
        <p:spPr>
          <a:xfrm>
            <a:off x="3227832" y="3145536"/>
            <a:ext cx="2606040" cy="228600"/>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Cons:</a:t>
            </a:r>
            <a:endParaRPr lang="en-US" sz="1000" dirty="0"/>
          </a:p>
        </p:txBody>
      </p:sp>
      <p:sp>
        <p:nvSpPr>
          <p:cNvPr id="29" name="Text 27"/>
          <p:cNvSpPr/>
          <p:nvPr/>
        </p:nvSpPr>
        <p:spPr>
          <a:xfrm>
            <a:off x="3227832" y="3364992"/>
            <a:ext cx="2606040" cy="256032"/>
          </a:xfrm>
          <a:prstGeom prst="rect">
            <a:avLst/>
          </a:prstGeom>
          <a:noFill/>
          <a:ln/>
        </p:spPr>
        <p:txBody>
          <a:bodyPr wrap="square" lIns="0" tIns="0" rIns="0" bIns="0"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Complex policy management</a:t>
            </a:r>
            <a:endParaRPr lang="en-US" sz="950" dirty="0"/>
          </a:p>
        </p:txBody>
      </p:sp>
      <p:sp>
        <p:nvSpPr>
          <p:cNvPr id="30" name="Text 28"/>
          <p:cNvSpPr/>
          <p:nvPr/>
        </p:nvSpPr>
        <p:spPr>
          <a:xfrm>
            <a:off x="3227832" y="3657600"/>
            <a:ext cx="2606040" cy="256032"/>
          </a:xfrm>
          <a:prstGeom prst="rect">
            <a:avLst/>
          </a:prstGeom>
          <a:noFill/>
          <a:ln/>
        </p:spPr>
        <p:txBody>
          <a:bodyPr wrap="square" lIns="0" tIns="0" rIns="0" bIns="0"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Higher runtime overhead</a:t>
            </a:r>
            <a:endParaRPr lang="en-US" sz="950" dirty="0"/>
          </a:p>
        </p:txBody>
      </p:sp>
      <p:sp>
        <p:nvSpPr>
          <p:cNvPr id="31" name="Text 29"/>
          <p:cNvSpPr/>
          <p:nvPr/>
        </p:nvSpPr>
        <p:spPr>
          <a:xfrm>
            <a:off x="3227832" y="3950208"/>
            <a:ext cx="2606040" cy="256032"/>
          </a:xfrm>
          <a:prstGeom prst="rect">
            <a:avLst/>
          </a:prstGeom>
          <a:noFill/>
          <a:ln/>
        </p:spPr>
        <p:txBody>
          <a:bodyPr wrap="square" lIns="0" tIns="0" rIns="0" bIns="0"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Harder to audit than RBAC</a:t>
            </a:r>
            <a:endParaRPr lang="en-US" sz="950" dirty="0"/>
          </a:p>
        </p:txBody>
      </p:sp>
      <p:sp>
        <p:nvSpPr>
          <p:cNvPr id="32" name="Shape 30"/>
          <p:cNvSpPr/>
          <p:nvPr/>
        </p:nvSpPr>
        <p:spPr>
          <a:xfrm>
            <a:off x="3227832" y="4251960"/>
            <a:ext cx="2606040" cy="0"/>
          </a:xfrm>
          <a:prstGeom prst="line">
            <a:avLst/>
          </a:prstGeom>
          <a:noFill/>
          <a:ln w="6350">
            <a:solidFill>
              <a:srgbClr val="C9E4F0"/>
            </a:solidFill>
            <a:prstDash val="solid"/>
          </a:ln>
        </p:spPr>
        <p:txBody>
          <a:bodyPr/>
          <a:lstStyle/>
          <a:p>
            <a:endParaRPr lang="en-US"/>
          </a:p>
        </p:txBody>
      </p:sp>
      <p:sp>
        <p:nvSpPr>
          <p:cNvPr id="33" name="Text 31"/>
          <p:cNvSpPr/>
          <p:nvPr/>
        </p:nvSpPr>
        <p:spPr>
          <a:xfrm>
            <a:off x="3227832" y="4279392"/>
            <a:ext cx="2606040" cy="274320"/>
          </a:xfrm>
          <a:prstGeom prst="rect">
            <a:avLst/>
          </a:prstGeom>
          <a:noFill/>
          <a:ln/>
        </p:spPr>
        <p:txBody>
          <a:bodyPr wrap="square" lIns="0" tIns="0" rIns="0" bIns="0" rtlCol="0" anchor="ctr"/>
          <a:lstStyle/>
          <a:p>
            <a:pPr marL="0" indent="0">
              <a:buNone/>
            </a:pPr>
            <a:r>
              <a:rPr lang="en-US" sz="850" i="1" dirty="0">
                <a:solidFill>
                  <a:srgbClr val="1B998B"/>
                </a:solidFill>
                <a:latin typeface="Calibri" pitchFamily="34" charset="0"/>
                <a:ea typeface="Calibri" pitchFamily="34" charset="-122"/>
                <a:cs typeface="Calibri" pitchFamily="34" charset="-120"/>
              </a:rPr>
              <a:t>Data classification enforcement, cloud-native apps, regulated data access (HIPAA, FedRAMP)</a:t>
            </a:r>
            <a:endParaRPr lang="en-US" sz="850" dirty="0"/>
          </a:p>
        </p:txBody>
      </p:sp>
      <p:sp>
        <p:nvSpPr>
          <p:cNvPr id="34" name="Shape 32"/>
          <p:cNvSpPr/>
          <p:nvPr/>
        </p:nvSpPr>
        <p:spPr>
          <a:xfrm>
            <a:off x="6089904" y="804672"/>
            <a:ext cx="2788920" cy="416052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35" name="Shape 33"/>
          <p:cNvSpPr/>
          <p:nvPr/>
        </p:nvSpPr>
        <p:spPr>
          <a:xfrm>
            <a:off x="6089904" y="804672"/>
            <a:ext cx="2788920" cy="621792"/>
          </a:xfrm>
          <a:prstGeom prst="rect">
            <a:avLst/>
          </a:prstGeom>
          <a:solidFill>
            <a:srgbClr val="6B3FA0"/>
          </a:solidFill>
          <a:ln w="12700">
            <a:solidFill>
              <a:srgbClr val="6B3FA0"/>
            </a:solidFill>
            <a:prstDash val="solid"/>
          </a:ln>
        </p:spPr>
        <p:txBody>
          <a:bodyPr/>
          <a:lstStyle/>
          <a:p>
            <a:endParaRPr lang="en-US"/>
          </a:p>
        </p:txBody>
      </p:sp>
      <p:sp>
        <p:nvSpPr>
          <p:cNvPr id="36" name="Text 34"/>
          <p:cNvSpPr/>
          <p:nvPr/>
        </p:nvSpPr>
        <p:spPr>
          <a:xfrm>
            <a:off x="6163056" y="804672"/>
            <a:ext cx="1005840" cy="347472"/>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OPA</a:t>
            </a:r>
            <a:endParaRPr lang="en-US" sz="1600" dirty="0"/>
          </a:p>
        </p:txBody>
      </p:sp>
      <p:sp>
        <p:nvSpPr>
          <p:cNvPr id="37" name="Text 35"/>
          <p:cNvSpPr/>
          <p:nvPr/>
        </p:nvSpPr>
        <p:spPr>
          <a:xfrm>
            <a:off x="6163056" y="1133856"/>
            <a:ext cx="2642616" cy="256032"/>
          </a:xfrm>
          <a:prstGeom prst="rect">
            <a:avLst/>
          </a:prstGeom>
          <a:noFill/>
          <a:ln/>
        </p:spPr>
        <p:txBody>
          <a:bodyPr wrap="square" lIns="0" tIns="0" rIns="0" bIns="0" rtlCol="0" anchor="ctr"/>
          <a:lstStyle/>
          <a:p>
            <a:pPr marL="0" indent="0">
              <a:buNone/>
            </a:pPr>
            <a:r>
              <a:rPr lang="en-US" sz="900" i="1" dirty="0">
                <a:solidFill>
                  <a:srgbClr val="D6EAF8"/>
                </a:solidFill>
                <a:latin typeface="Calibri" pitchFamily="34" charset="0"/>
                <a:ea typeface="Calibri" pitchFamily="34" charset="-122"/>
                <a:cs typeface="Calibri" pitchFamily="34" charset="-120"/>
              </a:rPr>
              <a:t>Policy-as-Code Engine (Open Policy Agent)</a:t>
            </a:r>
            <a:endParaRPr lang="en-US" sz="900" dirty="0"/>
          </a:p>
        </p:txBody>
      </p:sp>
      <p:sp>
        <p:nvSpPr>
          <p:cNvPr id="38" name="Text 36"/>
          <p:cNvSpPr/>
          <p:nvPr/>
        </p:nvSpPr>
        <p:spPr>
          <a:xfrm>
            <a:off x="6181344" y="1481328"/>
            <a:ext cx="2606040" cy="502920"/>
          </a:xfrm>
          <a:prstGeom prst="rect">
            <a:avLst/>
          </a:prstGeom>
          <a:noFill/>
          <a:ln/>
        </p:spPr>
        <p:txBody>
          <a:bodyPr wrap="square" lIns="0" tIns="0" rIns="0" bIns="0" rtlCol="0" anchor="ctr"/>
          <a:lstStyle/>
          <a:p>
            <a:pPr marL="0" indent="0">
              <a:buNone/>
            </a:pPr>
            <a:r>
              <a:rPr lang="en-US" sz="950" dirty="0">
                <a:solidFill>
                  <a:srgbClr val="4B6076"/>
                </a:solidFill>
                <a:latin typeface="Calibri" pitchFamily="34" charset="0"/>
                <a:ea typeface="Calibri" pitchFamily="34" charset="-122"/>
                <a:cs typeface="Calibri" pitchFamily="34" charset="-120"/>
              </a:rPr>
              <a:t>Policy engine evaluating Rego-language policies. Supports ABAC/RBAC logic. External policy decision point, decoupled from application code.</a:t>
            </a:r>
            <a:endParaRPr lang="en-US" sz="950" dirty="0"/>
          </a:p>
        </p:txBody>
      </p:sp>
      <p:sp>
        <p:nvSpPr>
          <p:cNvPr id="39" name="Text 37"/>
          <p:cNvSpPr/>
          <p:nvPr/>
        </p:nvSpPr>
        <p:spPr>
          <a:xfrm>
            <a:off x="6181344" y="2029968"/>
            <a:ext cx="2606040" cy="228600"/>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Pros:</a:t>
            </a:r>
            <a:endParaRPr lang="en-US" sz="1000" dirty="0"/>
          </a:p>
        </p:txBody>
      </p:sp>
      <p:sp>
        <p:nvSpPr>
          <p:cNvPr id="40" name="Text 38"/>
          <p:cNvSpPr/>
          <p:nvPr/>
        </p:nvSpPr>
        <p:spPr>
          <a:xfrm>
            <a:off x="6181344" y="2249424"/>
            <a:ext cx="2606040" cy="256032"/>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Policies as code in version control</a:t>
            </a:r>
            <a:endParaRPr lang="en-US" sz="950" dirty="0"/>
          </a:p>
        </p:txBody>
      </p:sp>
      <p:sp>
        <p:nvSpPr>
          <p:cNvPr id="41" name="Text 39"/>
          <p:cNvSpPr/>
          <p:nvPr/>
        </p:nvSpPr>
        <p:spPr>
          <a:xfrm>
            <a:off x="6181344" y="2542032"/>
            <a:ext cx="2606040" cy="256032"/>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Centrally managed, consistent</a:t>
            </a:r>
            <a:endParaRPr lang="en-US" sz="950" dirty="0"/>
          </a:p>
        </p:txBody>
      </p:sp>
      <p:sp>
        <p:nvSpPr>
          <p:cNvPr id="42" name="Text 40"/>
          <p:cNvSpPr/>
          <p:nvPr/>
        </p:nvSpPr>
        <p:spPr>
          <a:xfrm>
            <a:off x="6181344" y="2834640"/>
            <a:ext cx="2606040" cy="256032"/>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Kubernetes, API, Terraform support</a:t>
            </a:r>
            <a:endParaRPr lang="en-US" sz="950" dirty="0"/>
          </a:p>
        </p:txBody>
      </p:sp>
      <p:sp>
        <p:nvSpPr>
          <p:cNvPr id="43" name="Text 41"/>
          <p:cNvSpPr/>
          <p:nvPr/>
        </p:nvSpPr>
        <p:spPr>
          <a:xfrm>
            <a:off x="6181344" y="3145536"/>
            <a:ext cx="2606040" cy="228600"/>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Cons:</a:t>
            </a:r>
            <a:endParaRPr lang="en-US" sz="1000" dirty="0"/>
          </a:p>
        </p:txBody>
      </p:sp>
      <p:sp>
        <p:nvSpPr>
          <p:cNvPr id="44" name="Text 42"/>
          <p:cNvSpPr/>
          <p:nvPr/>
        </p:nvSpPr>
        <p:spPr>
          <a:xfrm>
            <a:off x="6181344" y="3364992"/>
            <a:ext cx="2606040" cy="256032"/>
          </a:xfrm>
          <a:prstGeom prst="rect">
            <a:avLst/>
          </a:prstGeom>
          <a:noFill/>
          <a:ln/>
        </p:spPr>
        <p:txBody>
          <a:bodyPr wrap="square" lIns="0" tIns="0" rIns="0" bIns="0"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Rego learning curve</a:t>
            </a:r>
            <a:endParaRPr lang="en-US" sz="950" dirty="0"/>
          </a:p>
        </p:txBody>
      </p:sp>
      <p:sp>
        <p:nvSpPr>
          <p:cNvPr id="45" name="Text 43"/>
          <p:cNvSpPr/>
          <p:nvPr/>
        </p:nvSpPr>
        <p:spPr>
          <a:xfrm>
            <a:off x="6181344" y="3657600"/>
            <a:ext cx="2606040" cy="256032"/>
          </a:xfrm>
          <a:prstGeom prst="rect">
            <a:avLst/>
          </a:prstGeom>
          <a:noFill/>
          <a:ln/>
        </p:spPr>
        <p:txBody>
          <a:bodyPr wrap="square" lIns="0" tIns="0" rIns="0" bIns="0"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Requires policy registry infrastructure</a:t>
            </a:r>
            <a:endParaRPr lang="en-US" sz="950" dirty="0"/>
          </a:p>
        </p:txBody>
      </p:sp>
      <p:sp>
        <p:nvSpPr>
          <p:cNvPr id="46" name="Text 44"/>
          <p:cNvSpPr/>
          <p:nvPr/>
        </p:nvSpPr>
        <p:spPr>
          <a:xfrm>
            <a:off x="6181344" y="3950208"/>
            <a:ext cx="2606040" cy="256032"/>
          </a:xfrm>
          <a:prstGeom prst="rect">
            <a:avLst/>
          </a:prstGeom>
          <a:noFill/>
          <a:ln/>
        </p:spPr>
        <p:txBody>
          <a:bodyPr wrap="square" lIns="0" tIns="0" rIns="0" bIns="0"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Latency if not sidecar-deployed</a:t>
            </a:r>
            <a:endParaRPr lang="en-US" sz="950" dirty="0"/>
          </a:p>
        </p:txBody>
      </p:sp>
      <p:sp>
        <p:nvSpPr>
          <p:cNvPr id="47" name="Shape 45"/>
          <p:cNvSpPr/>
          <p:nvPr/>
        </p:nvSpPr>
        <p:spPr>
          <a:xfrm>
            <a:off x="6181344" y="4251960"/>
            <a:ext cx="2606040" cy="0"/>
          </a:xfrm>
          <a:prstGeom prst="line">
            <a:avLst/>
          </a:prstGeom>
          <a:noFill/>
          <a:ln w="6350">
            <a:solidFill>
              <a:srgbClr val="C9E4F0"/>
            </a:solidFill>
            <a:prstDash val="solid"/>
          </a:ln>
        </p:spPr>
        <p:txBody>
          <a:bodyPr/>
          <a:lstStyle/>
          <a:p>
            <a:endParaRPr lang="en-US"/>
          </a:p>
        </p:txBody>
      </p:sp>
      <p:sp>
        <p:nvSpPr>
          <p:cNvPr id="48" name="Text 46"/>
          <p:cNvSpPr/>
          <p:nvPr/>
        </p:nvSpPr>
        <p:spPr>
          <a:xfrm>
            <a:off x="6181344" y="4279392"/>
            <a:ext cx="2606040" cy="274320"/>
          </a:xfrm>
          <a:prstGeom prst="rect">
            <a:avLst/>
          </a:prstGeom>
          <a:noFill/>
          <a:ln/>
        </p:spPr>
        <p:txBody>
          <a:bodyPr wrap="square" lIns="0" tIns="0" rIns="0" bIns="0" rtlCol="0" anchor="ctr"/>
          <a:lstStyle/>
          <a:p>
            <a:pPr marL="0" indent="0">
              <a:buNone/>
            </a:pPr>
            <a:r>
              <a:rPr lang="en-US" sz="850" i="1" dirty="0">
                <a:solidFill>
                  <a:srgbClr val="6B3FA0"/>
                </a:solidFill>
                <a:latin typeface="Calibri" pitchFamily="34" charset="0"/>
                <a:ea typeface="Calibri" pitchFamily="34" charset="-122"/>
                <a:cs typeface="Calibri" pitchFamily="34" charset="-120"/>
              </a:rPr>
              <a:t>Kubernetes admission control, microservices authz, cloud-native API gateways, IaC enforcement</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75"/>
          </a:solidFill>
          <a:ln w="12700">
            <a:solidFill>
              <a:srgbClr val="0F4C75"/>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Identity Control Plane Architecture</a:t>
            </a:r>
            <a:endParaRPr lang="en-US" sz="2200" dirty="0"/>
          </a:p>
        </p:txBody>
      </p:sp>
      <p:sp>
        <p:nvSpPr>
          <p:cNvPr id="4" name="Shape 2"/>
          <p:cNvSpPr/>
          <p:nvPr/>
        </p:nvSpPr>
        <p:spPr>
          <a:xfrm>
            <a:off x="182880" y="804672"/>
            <a:ext cx="4572000" cy="621792"/>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5" name="Shape 3"/>
          <p:cNvSpPr/>
          <p:nvPr/>
        </p:nvSpPr>
        <p:spPr>
          <a:xfrm>
            <a:off x="182880" y="804672"/>
            <a:ext cx="91440" cy="621792"/>
          </a:xfrm>
          <a:prstGeom prst="rect">
            <a:avLst/>
          </a:prstGeom>
          <a:solidFill>
            <a:srgbClr val="145A32"/>
          </a:solidFill>
          <a:ln w="12700">
            <a:solidFill>
              <a:srgbClr val="145A32"/>
            </a:solidFill>
            <a:prstDash val="solid"/>
          </a:ln>
        </p:spPr>
        <p:txBody>
          <a:bodyPr/>
          <a:lstStyle/>
          <a:p>
            <a:endParaRPr lang="en-US"/>
          </a:p>
        </p:txBody>
      </p:sp>
      <p:sp>
        <p:nvSpPr>
          <p:cNvPr id="6" name="Text 4"/>
          <p:cNvSpPr/>
          <p:nvPr/>
        </p:nvSpPr>
        <p:spPr>
          <a:xfrm>
            <a:off x="347472" y="859536"/>
            <a:ext cx="4352544" cy="237744"/>
          </a:xfrm>
          <a:prstGeom prst="rect">
            <a:avLst/>
          </a:prstGeom>
          <a:noFill/>
          <a:ln/>
        </p:spPr>
        <p:txBody>
          <a:bodyPr wrap="square" lIns="0" tIns="0" rIns="0" bIns="0" rtlCol="0" anchor="ctr"/>
          <a:lstStyle/>
          <a:p>
            <a:pPr marL="0" indent="0">
              <a:buNone/>
            </a:pPr>
            <a:r>
              <a:rPr lang="en-US" sz="1100" b="1" dirty="0">
                <a:solidFill>
                  <a:srgbClr val="1A2E44"/>
                </a:solidFill>
                <a:latin typeface="Calibri" pitchFamily="34" charset="0"/>
                <a:ea typeface="Calibri" pitchFamily="34" charset="-122"/>
                <a:cs typeface="Calibri" pitchFamily="34" charset="-120"/>
              </a:rPr>
              <a:t>HR / IGA Layer</a:t>
            </a:r>
            <a:endParaRPr lang="en-US" sz="1100" dirty="0"/>
          </a:p>
        </p:txBody>
      </p:sp>
      <p:sp>
        <p:nvSpPr>
          <p:cNvPr id="7" name="Text 5"/>
          <p:cNvSpPr/>
          <p:nvPr/>
        </p:nvSpPr>
        <p:spPr>
          <a:xfrm>
            <a:off x="347472" y="1106424"/>
            <a:ext cx="4352544" cy="274320"/>
          </a:xfrm>
          <a:prstGeom prst="rect">
            <a:avLst/>
          </a:prstGeom>
          <a:noFill/>
          <a:ln/>
        </p:spPr>
        <p:txBody>
          <a:bodyPr wrap="square" lIns="0" tIns="0" rIns="0" bIns="0" rtlCol="0" anchor="ctr"/>
          <a:lstStyle/>
          <a:p>
            <a:pPr marL="0" indent="0">
              <a:buNone/>
            </a:pPr>
            <a:r>
              <a:rPr lang="en-US" sz="900" dirty="0">
                <a:solidFill>
                  <a:srgbClr val="4B6076"/>
                </a:solidFill>
                <a:latin typeface="Calibri" pitchFamily="34" charset="0"/>
                <a:ea typeface="Calibri" pitchFamily="34" charset="-122"/>
                <a:cs typeface="Calibri" pitchFamily="34" charset="-120"/>
              </a:rPr>
              <a:t>Joiner-Mover-Leaver lifecycle | SCIM 2.0 provisioning</a:t>
            </a:r>
            <a:endParaRPr lang="en-US" sz="900" dirty="0"/>
          </a:p>
        </p:txBody>
      </p:sp>
      <p:sp>
        <p:nvSpPr>
          <p:cNvPr id="8" name="Shape 6"/>
          <p:cNvSpPr/>
          <p:nvPr/>
        </p:nvSpPr>
        <p:spPr>
          <a:xfrm>
            <a:off x="2468880" y="1426464"/>
            <a:ext cx="0" cy="82296"/>
          </a:xfrm>
          <a:prstGeom prst="line">
            <a:avLst/>
          </a:prstGeom>
          <a:noFill/>
          <a:ln w="19050">
            <a:solidFill>
              <a:srgbClr val="1B998B"/>
            </a:solidFill>
            <a:prstDash val="solid"/>
          </a:ln>
        </p:spPr>
        <p:txBody>
          <a:bodyPr/>
          <a:lstStyle/>
          <a:p>
            <a:endParaRPr lang="en-US"/>
          </a:p>
        </p:txBody>
      </p:sp>
      <p:sp>
        <p:nvSpPr>
          <p:cNvPr id="9" name="Shape 7"/>
          <p:cNvSpPr/>
          <p:nvPr/>
        </p:nvSpPr>
        <p:spPr>
          <a:xfrm>
            <a:off x="182880" y="1508760"/>
            <a:ext cx="4572000" cy="621792"/>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10" name="Shape 8"/>
          <p:cNvSpPr/>
          <p:nvPr/>
        </p:nvSpPr>
        <p:spPr>
          <a:xfrm>
            <a:off x="182880" y="1508760"/>
            <a:ext cx="91440" cy="621792"/>
          </a:xfrm>
          <a:prstGeom prst="rect">
            <a:avLst/>
          </a:prstGeom>
          <a:solidFill>
            <a:srgbClr val="0F4C75"/>
          </a:solidFill>
          <a:ln w="12700">
            <a:solidFill>
              <a:srgbClr val="0F4C75"/>
            </a:solidFill>
            <a:prstDash val="solid"/>
          </a:ln>
        </p:spPr>
        <p:txBody>
          <a:bodyPr/>
          <a:lstStyle/>
          <a:p>
            <a:endParaRPr lang="en-US"/>
          </a:p>
        </p:txBody>
      </p:sp>
      <p:sp>
        <p:nvSpPr>
          <p:cNvPr id="11" name="Text 9"/>
          <p:cNvSpPr/>
          <p:nvPr/>
        </p:nvSpPr>
        <p:spPr>
          <a:xfrm>
            <a:off x="347472" y="1563624"/>
            <a:ext cx="4352544" cy="237744"/>
          </a:xfrm>
          <a:prstGeom prst="rect">
            <a:avLst/>
          </a:prstGeom>
          <a:noFill/>
          <a:ln/>
        </p:spPr>
        <p:txBody>
          <a:bodyPr wrap="square" lIns="0" tIns="0" rIns="0" bIns="0" rtlCol="0" anchor="ctr"/>
          <a:lstStyle/>
          <a:p>
            <a:pPr marL="0" indent="0">
              <a:buNone/>
            </a:pPr>
            <a:r>
              <a:rPr lang="en-US" sz="1100" b="1" dirty="0">
                <a:solidFill>
                  <a:srgbClr val="1A2E44"/>
                </a:solidFill>
                <a:latin typeface="Calibri" pitchFamily="34" charset="0"/>
                <a:ea typeface="Calibri" pitchFamily="34" charset="-122"/>
                <a:cs typeface="Calibri" pitchFamily="34" charset="-120"/>
              </a:rPr>
              <a:t>Identity Provider (IdP)</a:t>
            </a:r>
            <a:endParaRPr lang="en-US" sz="1100" dirty="0"/>
          </a:p>
        </p:txBody>
      </p:sp>
      <p:sp>
        <p:nvSpPr>
          <p:cNvPr id="12" name="Text 10"/>
          <p:cNvSpPr/>
          <p:nvPr/>
        </p:nvSpPr>
        <p:spPr>
          <a:xfrm>
            <a:off x="347472" y="1810512"/>
            <a:ext cx="4352544" cy="274320"/>
          </a:xfrm>
          <a:prstGeom prst="rect">
            <a:avLst/>
          </a:prstGeom>
          <a:noFill/>
          <a:ln/>
        </p:spPr>
        <p:txBody>
          <a:bodyPr wrap="square" lIns="0" tIns="0" rIns="0" bIns="0" rtlCol="0" anchor="ctr"/>
          <a:lstStyle/>
          <a:p>
            <a:pPr marL="0" indent="0">
              <a:buNone/>
            </a:pPr>
            <a:r>
              <a:rPr lang="en-US" sz="900" dirty="0">
                <a:solidFill>
                  <a:srgbClr val="4B6076"/>
                </a:solidFill>
                <a:latin typeface="Calibri" pitchFamily="34" charset="0"/>
                <a:ea typeface="Calibri" pitchFamily="34" charset="-122"/>
                <a:cs typeface="Calibri" pitchFamily="34" charset="-120"/>
              </a:rPr>
              <a:t>Authentication | MFA | Federation (SAML, OIDC) | Session mgmt</a:t>
            </a:r>
            <a:endParaRPr lang="en-US" sz="900" dirty="0"/>
          </a:p>
        </p:txBody>
      </p:sp>
      <p:sp>
        <p:nvSpPr>
          <p:cNvPr id="13" name="Shape 11"/>
          <p:cNvSpPr/>
          <p:nvPr/>
        </p:nvSpPr>
        <p:spPr>
          <a:xfrm>
            <a:off x="2468880" y="2130552"/>
            <a:ext cx="0" cy="82296"/>
          </a:xfrm>
          <a:prstGeom prst="line">
            <a:avLst/>
          </a:prstGeom>
          <a:noFill/>
          <a:ln w="19050">
            <a:solidFill>
              <a:srgbClr val="1B998B"/>
            </a:solidFill>
            <a:prstDash val="solid"/>
          </a:ln>
        </p:spPr>
        <p:txBody>
          <a:bodyPr/>
          <a:lstStyle/>
          <a:p>
            <a:endParaRPr lang="en-US"/>
          </a:p>
        </p:txBody>
      </p:sp>
      <p:sp>
        <p:nvSpPr>
          <p:cNvPr id="14" name="Shape 12"/>
          <p:cNvSpPr/>
          <p:nvPr/>
        </p:nvSpPr>
        <p:spPr>
          <a:xfrm>
            <a:off x="182880" y="2212848"/>
            <a:ext cx="4572000" cy="621792"/>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15" name="Shape 13"/>
          <p:cNvSpPr/>
          <p:nvPr/>
        </p:nvSpPr>
        <p:spPr>
          <a:xfrm>
            <a:off x="182880" y="2212848"/>
            <a:ext cx="91440" cy="621792"/>
          </a:xfrm>
          <a:prstGeom prst="rect">
            <a:avLst/>
          </a:prstGeom>
          <a:solidFill>
            <a:srgbClr val="1B998B"/>
          </a:solidFill>
          <a:ln w="12700">
            <a:solidFill>
              <a:srgbClr val="1B998B"/>
            </a:solidFill>
            <a:prstDash val="solid"/>
          </a:ln>
        </p:spPr>
        <p:txBody>
          <a:bodyPr/>
          <a:lstStyle/>
          <a:p>
            <a:endParaRPr lang="en-US"/>
          </a:p>
        </p:txBody>
      </p:sp>
      <p:sp>
        <p:nvSpPr>
          <p:cNvPr id="16" name="Text 14"/>
          <p:cNvSpPr/>
          <p:nvPr/>
        </p:nvSpPr>
        <p:spPr>
          <a:xfrm>
            <a:off x="347472" y="2267712"/>
            <a:ext cx="4352544" cy="237744"/>
          </a:xfrm>
          <a:prstGeom prst="rect">
            <a:avLst/>
          </a:prstGeom>
          <a:noFill/>
          <a:ln/>
        </p:spPr>
        <p:txBody>
          <a:bodyPr wrap="square" lIns="0" tIns="0" rIns="0" bIns="0" rtlCol="0" anchor="ctr"/>
          <a:lstStyle/>
          <a:p>
            <a:pPr marL="0" indent="0">
              <a:buNone/>
            </a:pPr>
            <a:r>
              <a:rPr lang="en-US" sz="1100" b="1" dirty="0">
                <a:solidFill>
                  <a:srgbClr val="1A2E44"/>
                </a:solidFill>
                <a:latin typeface="Calibri" pitchFamily="34" charset="0"/>
                <a:ea typeface="Calibri" pitchFamily="34" charset="-122"/>
                <a:cs typeface="Calibri" pitchFamily="34" charset="-120"/>
              </a:rPr>
              <a:t>Authorization Layer</a:t>
            </a:r>
            <a:endParaRPr lang="en-US" sz="1100" dirty="0"/>
          </a:p>
        </p:txBody>
      </p:sp>
      <p:sp>
        <p:nvSpPr>
          <p:cNvPr id="17" name="Text 15"/>
          <p:cNvSpPr/>
          <p:nvPr/>
        </p:nvSpPr>
        <p:spPr>
          <a:xfrm>
            <a:off x="347472" y="2514600"/>
            <a:ext cx="4352544" cy="274320"/>
          </a:xfrm>
          <a:prstGeom prst="rect">
            <a:avLst/>
          </a:prstGeom>
          <a:noFill/>
          <a:ln/>
        </p:spPr>
        <p:txBody>
          <a:bodyPr wrap="square" lIns="0" tIns="0" rIns="0" bIns="0" rtlCol="0" anchor="ctr"/>
          <a:lstStyle/>
          <a:p>
            <a:pPr marL="0" indent="0">
              <a:buNone/>
            </a:pPr>
            <a:r>
              <a:rPr lang="en-US" sz="900" dirty="0">
                <a:solidFill>
                  <a:srgbClr val="4B6076"/>
                </a:solidFill>
                <a:latin typeface="Calibri" pitchFamily="34" charset="0"/>
                <a:ea typeface="Calibri" pitchFamily="34" charset="-122"/>
                <a:cs typeface="Calibri" pitchFamily="34" charset="-120"/>
              </a:rPr>
              <a:t>RBAC / ABAC policies | OPA policy engine | Conditional Access</a:t>
            </a:r>
            <a:endParaRPr lang="en-US" sz="900" dirty="0"/>
          </a:p>
        </p:txBody>
      </p:sp>
      <p:sp>
        <p:nvSpPr>
          <p:cNvPr id="18" name="Shape 16"/>
          <p:cNvSpPr/>
          <p:nvPr/>
        </p:nvSpPr>
        <p:spPr>
          <a:xfrm>
            <a:off x="2468880" y="2834640"/>
            <a:ext cx="0" cy="82296"/>
          </a:xfrm>
          <a:prstGeom prst="line">
            <a:avLst/>
          </a:prstGeom>
          <a:noFill/>
          <a:ln w="19050">
            <a:solidFill>
              <a:srgbClr val="1B998B"/>
            </a:solidFill>
            <a:prstDash val="solid"/>
          </a:ln>
        </p:spPr>
        <p:txBody>
          <a:bodyPr/>
          <a:lstStyle/>
          <a:p>
            <a:endParaRPr lang="en-US"/>
          </a:p>
        </p:txBody>
      </p:sp>
      <p:sp>
        <p:nvSpPr>
          <p:cNvPr id="19" name="Shape 17"/>
          <p:cNvSpPr/>
          <p:nvPr/>
        </p:nvSpPr>
        <p:spPr>
          <a:xfrm>
            <a:off x="182880" y="2916936"/>
            <a:ext cx="4572000" cy="621792"/>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20" name="Shape 18"/>
          <p:cNvSpPr/>
          <p:nvPr/>
        </p:nvSpPr>
        <p:spPr>
          <a:xfrm>
            <a:off x="182880" y="2916936"/>
            <a:ext cx="91440" cy="621792"/>
          </a:xfrm>
          <a:prstGeom prst="rect">
            <a:avLst/>
          </a:prstGeom>
          <a:solidFill>
            <a:srgbClr val="F4A261"/>
          </a:solidFill>
          <a:ln w="12700">
            <a:solidFill>
              <a:srgbClr val="F4A261"/>
            </a:solidFill>
            <a:prstDash val="solid"/>
          </a:ln>
        </p:spPr>
        <p:txBody>
          <a:bodyPr/>
          <a:lstStyle/>
          <a:p>
            <a:endParaRPr lang="en-US"/>
          </a:p>
        </p:txBody>
      </p:sp>
      <p:sp>
        <p:nvSpPr>
          <p:cNvPr id="21" name="Text 19"/>
          <p:cNvSpPr/>
          <p:nvPr/>
        </p:nvSpPr>
        <p:spPr>
          <a:xfrm>
            <a:off x="347472" y="2971800"/>
            <a:ext cx="4352544" cy="237744"/>
          </a:xfrm>
          <a:prstGeom prst="rect">
            <a:avLst/>
          </a:prstGeom>
          <a:noFill/>
          <a:ln/>
        </p:spPr>
        <p:txBody>
          <a:bodyPr wrap="square" lIns="0" tIns="0" rIns="0" bIns="0" rtlCol="0" anchor="ctr"/>
          <a:lstStyle/>
          <a:p>
            <a:pPr marL="0" indent="0">
              <a:buNone/>
            </a:pPr>
            <a:r>
              <a:rPr lang="en-US" sz="1100" b="1" dirty="0">
                <a:solidFill>
                  <a:srgbClr val="1A2E44"/>
                </a:solidFill>
                <a:latin typeface="Calibri" pitchFamily="34" charset="0"/>
                <a:ea typeface="Calibri" pitchFamily="34" charset="-122"/>
                <a:cs typeface="Calibri" pitchFamily="34" charset="-120"/>
              </a:rPr>
              <a:t>Session &amp; Token Layer</a:t>
            </a:r>
            <a:endParaRPr lang="en-US" sz="1100" dirty="0"/>
          </a:p>
        </p:txBody>
      </p:sp>
      <p:sp>
        <p:nvSpPr>
          <p:cNvPr id="22" name="Text 20"/>
          <p:cNvSpPr/>
          <p:nvPr/>
        </p:nvSpPr>
        <p:spPr>
          <a:xfrm>
            <a:off x="347472" y="3218688"/>
            <a:ext cx="4352544" cy="274320"/>
          </a:xfrm>
          <a:prstGeom prst="rect">
            <a:avLst/>
          </a:prstGeom>
          <a:noFill/>
          <a:ln/>
        </p:spPr>
        <p:txBody>
          <a:bodyPr wrap="square" lIns="0" tIns="0" rIns="0" bIns="0" rtlCol="0" anchor="ctr"/>
          <a:lstStyle/>
          <a:p>
            <a:pPr marL="0" indent="0">
              <a:buNone/>
            </a:pPr>
            <a:r>
              <a:rPr lang="en-US" sz="900" dirty="0">
                <a:solidFill>
                  <a:srgbClr val="4B6076"/>
                </a:solidFill>
                <a:latin typeface="Calibri" pitchFamily="34" charset="0"/>
                <a:ea typeface="Calibri" pitchFamily="34" charset="-122"/>
                <a:cs typeface="Calibri" pitchFamily="34" charset="-120"/>
              </a:rPr>
              <a:t>Access Tokens (JWT/opaque) | Refresh Tokens | CAEP/CAE events</a:t>
            </a:r>
            <a:endParaRPr lang="en-US" sz="900" dirty="0"/>
          </a:p>
        </p:txBody>
      </p:sp>
      <p:sp>
        <p:nvSpPr>
          <p:cNvPr id="23" name="Shape 21"/>
          <p:cNvSpPr/>
          <p:nvPr/>
        </p:nvSpPr>
        <p:spPr>
          <a:xfrm>
            <a:off x="2468880" y="3538728"/>
            <a:ext cx="0" cy="82296"/>
          </a:xfrm>
          <a:prstGeom prst="line">
            <a:avLst/>
          </a:prstGeom>
          <a:noFill/>
          <a:ln w="19050">
            <a:solidFill>
              <a:srgbClr val="1B998B"/>
            </a:solidFill>
            <a:prstDash val="solid"/>
          </a:ln>
        </p:spPr>
        <p:txBody>
          <a:bodyPr/>
          <a:lstStyle/>
          <a:p>
            <a:endParaRPr lang="en-US"/>
          </a:p>
        </p:txBody>
      </p:sp>
      <p:sp>
        <p:nvSpPr>
          <p:cNvPr id="24" name="Shape 22"/>
          <p:cNvSpPr/>
          <p:nvPr/>
        </p:nvSpPr>
        <p:spPr>
          <a:xfrm>
            <a:off x="182880" y="3621024"/>
            <a:ext cx="4572000" cy="621792"/>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25" name="Shape 23"/>
          <p:cNvSpPr/>
          <p:nvPr/>
        </p:nvSpPr>
        <p:spPr>
          <a:xfrm>
            <a:off x="182880" y="3621024"/>
            <a:ext cx="91440" cy="621792"/>
          </a:xfrm>
          <a:prstGeom prst="rect">
            <a:avLst/>
          </a:prstGeom>
          <a:solidFill>
            <a:srgbClr val="4B6076"/>
          </a:solidFill>
          <a:ln w="12700">
            <a:solidFill>
              <a:srgbClr val="4B6076"/>
            </a:solidFill>
            <a:prstDash val="solid"/>
          </a:ln>
        </p:spPr>
        <p:txBody>
          <a:bodyPr/>
          <a:lstStyle/>
          <a:p>
            <a:endParaRPr lang="en-US"/>
          </a:p>
        </p:txBody>
      </p:sp>
      <p:sp>
        <p:nvSpPr>
          <p:cNvPr id="26" name="Text 24"/>
          <p:cNvSpPr/>
          <p:nvPr/>
        </p:nvSpPr>
        <p:spPr>
          <a:xfrm>
            <a:off x="347472" y="3675888"/>
            <a:ext cx="4352544" cy="237744"/>
          </a:xfrm>
          <a:prstGeom prst="rect">
            <a:avLst/>
          </a:prstGeom>
          <a:noFill/>
          <a:ln/>
        </p:spPr>
        <p:txBody>
          <a:bodyPr wrap="square" lIns="0" tIns="0" rIns="0" bIns="0" rtlCol="0" anchor="ctr"/>
          <a:lstStyle/>
          <a:p>
            <a:pPr marL="0" indent="0">
              <a:buNone/>
            </a:pPr>
            <a:r>
              <a:rPr lang="en-US" sz="1100" b="1" dirty="0">
                <a:solidFill>
                  <a:srgbClr val="1A2E44"/>
                </a:solidFill>
                <a:latin typeface="Calibri" pitchFamily="34" charset="0"/>
                <a:ea typeface="Calibri" pitchFamily="34" charset="-122"/>
                <a:cs typeface="Calibri" pitchFamily="34" charset="-120"/>
              </a:rPr>
              <a:t>Resource / Application Layer</a:t>
            </a:r>
            <a:endParaRPr lang="en-US" sz="1100" dirty="0"/>
          </a:p>
        </p:txBody>
      </p:sp>
      <p:sp>
        <p:nvSpPr>
          <p:cNvPr id="27" name="Text 25"/>
          <p:cNvSpPr/>
          <p:nvPr/>
        </p:nvSpPr>
        <p:spPr>
          <a:xfrm>
            <a:off x="347472" y="3922776"/>
            <a:ext cx="4352544" cy="274320"/>
          </a:xfrm>
          <a:prstGeom prst="rect">
            <a:avLst/>
          </a:prstGeom>
          <a:noFill/>
          <a:ln/>
        </p:spPr>
        <p:txBody>
          <a:bodyPr wrap="square" lIns="0" tIns="0" rIns="0" bIns="0" rtlCol="0" anchor="ctr"/>
          <a:lstStyle/>
          <a:p>
            <a:pPr marL="0" indent="0">
              <a:buNone/>
            </a:pPr>
            <a:r>
              <a:rPr lang="en-US" sz="900" dirty="0">
                <a:solidFill>
                  <a:srgbClr val="4B6076"/>
                </a:solidFill>
                <a:latin typeface="Calibri" pitchFamily="34" charset="0"/>
                <a:ea typeface="Calibri" pitchFamily="34" charset="-122"/>
                <a:cs typeface="Calibri" pitchFamily="34" charset="-120"/>
              </a:rPr>
              <a:t>SaaS apps | APIs | Cloud IAM | On-prem (Kerberos)</a:t>
            </a:r>
            <a:endParaRPr lang="en-US" sz="900" dirty="0"/>
          </a:p>
        </p:txBody>
      </p:sp>
      <p:sp>
        <p:nvSpPr>
          <p:cNvPr id="28" name="Text 26"/>
          <p:cNvSpPr/>
          <p:nvPr/>
        </p:nvSpPr>
        <p:spPr>
          <a:xfrm>
            <a:off x="5029200" y="804672"/>
            <a:ext cx="3840480" cy="274320"/>
          </a:xfrm>
          <a:prstGeom prst="rect">
            <a:avLst/>
          </a:prstGeom>
          <a:noFill/>
          <a:ln/>
        </p:spPr>
        <p:txBody>
          <a:bodyPr wrap="square" lIns="0" tIns="0" rIns="0" bIns="0" rtlCol="0" anchor="ctr"/>
          <a:lstStyle/>
          <a:p>
            <a:pPr marL="0" indent="0">
              <a:buNone/>
            </a:pPr>
            <a:r>
              <a:rPr lang="en-US" sz="1300" b="1" dirty="0">
                <a:solidFill>
                  <a:srgbClr val="0F4C75"/>
                </a:solidFill>
                <a:latin typeface="Calibri" pitchFamily="34" charset="0"/>
                <a:ea typeface="Calibri" pitchFamily="34" charset="-122"/>
                <a:cs typeface="Calibri" pitchFamily="34" charset="-120"/>
              </a:rPr>
              <a:t>Design Principles</a:t>
            </a:r>
            <a:endParaRPr lang="en-US" sz="1300" dirty="0"/>
          </a:p>
        </p:txBody>
      </p:sp>
      <p:sp>
        <p:nvSpPr>
          <p:cNvPr id="29" name="Shape 27"/>
          <p:cNvSpPr/>
          <p:nvPr/>
        </p:nvSpPr>
        <p:spPr>
          <a:xfrm>
            <a:off x="5029200" y="1143000"/>
            <a:ext cx="3840480" cy="694944"/>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30" name="Shape 28"/>
          <p:cNvSpPr/>
          <p:nvPr/>
        </p:nvSpPr>
        <p:spPr>
          <a:xfrm>
            <a:off x="5029200" y="1143000"/>
            <a:ext cx="73152" cy="694944"/>
          </a:xfrm>
          <a:prstGeom prst="rect">
            <a:avLst/>
          </a:prstGeom>
          <a:solidFill>
            <a:srgbClr val="1B998B"/>
          </a:solidFill>
          <a:ln w="12700">
            <a:solidFill>
              <a:srgbClr val="1B998B"/>
            </a:solidFill>
            <a:prstDash val="solid"/>
          </a:ln>
        </p:spPr>
        <p:txBody>
          <a:bodyPr/>
          <a:lstStyle/>
          <a:p>
            <a:endParaRPr lang="en-US"/>
          </a:p>
        </p:txBody>
      </p:sp>
      <p:sp>
        <p:nvSpPr>
          <p:cNvPr id="31" name="Text 29"/>
          <p:cNvSpPr/>
          <p:nvPr/>
        </p:nvSpPr>
        <p:spPr>
          <a:xfrm>
            <a:off x="5175504" y="1197864"/>
            <a:ext cx="3621024" cy="201168"/>
          </a:xfrm>
          <a:prstGeom prst="rect">
            <a:avLst/>
          </a:prstGeom>
          <a:noFill/>
          <a:ln/>
        </p:spPr>
        <p:txBody>
          <a:bodyPr wrap="square" lIns="0" tIns="0" rIns="0" bIns="0" rtlCol="0" anchor="ctr"/>
          <a:lstStyle/>
          <a:p>
            <a:pPr marL="0" indent="0">
              <a:buNone/>
            </a:pPr>
            <a:r>
              <a:rPr lang="en-US" sz="1000" b="1" dirty="0">
                <a:solidFill>
                  <a:srgbClr val="0F4C75"/>
                </a:solidFill>
                <a:latin typeface="Calibri" pitchFamily="34" charset="0"/>
                <a:ea typeface="Calibri" pitchFamily="34" charset="-122"/>
                <a:cs typeface="Calibri" pitchFamily="34" charset="-120"/>
              </a:rPr>
              <a:t>Single IdP as enforcement point</a:t>
            </a:r>
            <a:endParaRPr lang="en-US" sz="1000" dirty="0"/>
          </a:p>
        </p:txBody>
      </p:sp>
      <p:sp>
        <p:nvSpPr>
          <p:cNvPr id="32" name="Text 30"/>
          <p:cNvSpPr/>
          <p:nvPr/>
        </p:nvSpPr>
        <p:spPr>
          <a:xfrm>
            <a:off x="5175504" y="1417320"/>
            <a:ext cx="3621024" cy="384048"/>
          </a:xfrm>
          <a:prstGeom prst="rect">
            <a:avLst/>
          </a:prstGeom>
          <a:noFill/>
          <a:ln/>
        </p:spPr>
        <p:txBody>
          <a:bodyPr wrap="square" lIns="0" tIns="0" rIns="0" bIns="0" rtlCol="0" anchor="ctr"/>
          <a:lstStyle/>
          <a:p>
            <a:pPr marL="0" indent="0">
              <a:buNone/>
            </a:pPr>
            <a:r>
              <a:rPr lang="en-US" sz="900" dirty="0">
                <a:solidFill>
                  <a:srgbClr val="4B6076"/>
                </a:solidFill>
                <a:latin typeface="Calibri" pitchFamily="34" charset="0"/>
                <a:ea typeface="Calibri" pitchFamily="34" charset="-122"/>
                <a:cs typeface="Calibri" pitchFamily="34" charset="-120"/>
              </a:rPr>
              <a:t>All authentication flows route through one IdP. No application-level local auth. MFA and Conditional Access applied consistently.</a:t>
            </a:r>
            <a:endParaRPr lang="en-US" sz="900" dirty="0"/>
          </a:p>
        </p:txBody>
      </p:sp>
      <p:sp>
        <p:nvSpPr>
          <p:cNvPr id="33" name="Shape 31"/>
          <p:cNvSpPr/>
          <p:nvPr/>
        </p:nvSpPr>
        <p:spPr>
          <a:xfrm>
            <a:off x="5029200" y="1911096"/>
            <a:ext cx="3840480" cy="694944"/>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34" name="Shape 32"/>
          <p:cNvSpPr/>
          <p:nvPr/>
        </p:nvSpPr>
        <p:spPr>
          <a:xfrm>
            <a:off x="5029200" y="1911096"/>
            <a:ext cx="73152" cy="694944"/>
          </a:xfrm>
          <a:prstGeom prst="rect">
            <a:avLst/>
          </a:prstGeom>
          <a:solidFill>
            <a:srgbClr val="1B998B"/>
          </a:solidFill>
          <a:ln w="12700">
            <a:solidFill>
              <a:srgbClr val="1B998B"/>
            </a:solidFill>
            <a:prstDash val="solid"/>
          </a:ln>
        </p:spPr>
        <p:txBody>
          <a:bodyPr/>
          <a:lstStyle/>
          <a:p>
            <a:endParaRPr lang="en-US"/>
          </a:p>
        </p:txBody>
      </p:sp>
      <p:sp>
        <p:nvSpPr>
          <p:cNvPr id="35" name="Text 33"/>
          <p:cNvSpPr/>
          <p:nvPr/>
        </p:nvSpPr>
        <p:spPr>
          <a:xfrm>
            <a:off x="5175504" y="1965960"/>
            <a:ext cx="3621024" cy="201168"/>
          </a:xfrm>
          <a:prstGeom prst="rect">
            <a:avLst/>
          </a:prstGeom>
          <a:noFill/>
          <a:ln/>
        </p:spPr>
        <p:txBody>
          <a:bodyPr wrap="square" lIns="0" tIns="0" rIns="0" bIns="0" rtlCol="0" anchor="ctr"/>
          <a:lstStyle/>
          <a:p>
            <a:pPr marL="0" indent="0">
              <a:buNone/>
            </a:pPr>
            <a:r>
              <a:rPr lang="en-US" sz="1000" b="1" dirty="0">
                <a:solidFill>
                  <a:srgbClr val="0F4C75"/>
                </a:solidFill>
                <a:latin typeface="Calibri" pitchFamily="34" charset="0"/>
                <a:ea typeface="Calibri" pitchFamily="34" charset="-122"/>
                <a:cs typeface="Calibri" pitchFamily="34" charset="-120"/>
              </a:rPr>
              <a:t>Externalized authorization</a:t>
            </a:r>
            <a:endParaRPr lang="en-US" sz="1000" dirty="0"/>
          </a:p>
        </p:txBody>
      </p:sp>
      <p:sp>
        <p:nvSpPr>
          <p:cNvPr id="36" name="Text 34"/>
          <p:cNvSpPr/>
          <p:nvPr/>
        </p:nvSpPr>
        <p:spPr>
          <a:xfrm>
            <a:off x="5175504" y="2185416"/>
            <a:ext cx="3621024" cy="384048"/>
          </a:xfrm>
          <a:prstGeom prst="rect">
            <a:avLst/>
          </a:prstGeom>
          <a:noFill/>
          <a:ln/>
        </p:spPr>
        <p:txBody>
          <a:bodyPr wrap="square" lIns="0" tIns="0" rIns="0" bIns="0" rtlCol="0" anchor="ctr"/>
          <a:lstStyle/>
          <a:p>
            <a:pPr marL="0" indent="0">
              <a:buNone/>
            </a:pPr>
            <a:r>
              <a:rPr lang="en-US" sz="900" dirty="0">
                <a:solidFill>
                  <a:srgbClr val="4B6076"/>
                </a:solidFill>
                <a:latin typeface="Calibri" pitchFamily="34" charset="0"/>
                <a:ea typeface="Calibri" pitchFamily="34" charset="-122"/>
                <a:cs typeface="Calibri" pitchFamily="34" charset="-120"/>
              </a:rPr>
              <a:t>Authorization logic in OPA / Conditional Access, not hardcoded in apps. Policy changes without redeployment.</a:t>
            </a:r>
            <a:endParaRPr lang="en-US" sz="900" dirty="0"/>
          </a:p>
        </p:txBody>
      </p:sp>
      <p:sp>
        <p:nvSpPr>
          <p:cNvPr id="37" name="Shape 35"/>
          <p:cNvSpPr/>
          <p:nvPr/>
        </p:nvSpPr>
        <p:spPr>
          <a:xfrm>
            <a:off x="5029200" y="2679192"/>
            <a:ext cx="3840480" cy="694944"/>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38" name="Shape 36"/>
          <p:cNvSpPr/>
          <p:nvPr/>
        </p:nvSpPr>
        <p:spPr>
          <a:xfrm>
            <a:off x="5029200" y="2679192"/>
            <a:ext cx="73152" cy="694944"/>
          </a:xfrm>
          <a:prstGeom prst="rect">
            <a:avLst/>
          </a:prstGeom>
          <a:solidFill>
            <a:srgbClr val="1B998B"/>
          </a:solidFill>
          <a:ln w="12700">
            <a:solidFill>
              <a:srgbClr val="1B998B"/>
            </a:solidFill>
            <a:prstDash val="solid"/>
          </a:ln>
        </p:spPr>
        <p:txBody>
          <a:bodyPr/>
          <a:lstStyle/>
          <a:p>
            <a:endParaRPr lang="en-US"/>
          </a:p>
        </p:txBody>
      </p:sp>
      <p:sp>
        <p:nvSpPr>
          <p:cNvPr id="39" name="Text 37"/>
          <p:cNvSpPr/>
          <p:nvPr/>
        </p:nvSpPr>
        <p:spPr>
          <a:xfrm>
            <a:off x="5175504" y="2734056"/>
            <a:ext cx="3621024" cy="201168"/>
          </a:xfrm>
          <a:prstGeom prst="rect">
            <a:avLst/>
          </a:prstGeom>
          <a:noFill/>
          <a:ln/>
        </p:spPr>
        <p:txBody>
          <a:bodyPr wrap="square" lIns="0" tIns="0" rIns="0" bIns="0" rtlCol="0" anchor="ctr"/>
          <a:lstStyle/>
          <a:p>
            <a:pPr marL="0" indent="0">
              <a:buNone/>
            </a:pPr>
            <a:r>
              <a:rPr lang="en-US" sz="1000" b="1" dirty="0">
                <a:solidFill>
                  <a:srgbClr val="0F4C75"/>
                </a:solidFill>
                <a:latin typeface="Calibri" pitchFamily="34" charset="0"/>
                <a:ea typeface="Calibri" pitchFamily="34" charset="-122"/>
                <a:cs typeface="Calibri" pitchFamily="34" charset="-120"/>
              </a:rPr>
              <a:t>Separation of authn and authz</a:t>
            </a:r>
            <a:endParaRPr lang="en-US" sz="1000" dirty="0"/>
          </a:p>
        </p:txBody>
      </p:sp>
      <p:sp>
        <p:nvSpPr>
          <p:cNvPr id="40" name="Text 38"/>
          <p:cNvSpPr/>
          <p:nvPr/>
        </p:nvSpPr>
        <p:spPr>
          <a:xfrm>
            <a:off x="5175504" y="2953512"/>
            <a:ext cx="3621024" cy="384048"/>
          </a:xfrm>
          <a:prstGeom prst="rect">
            <a:avLst/>
          </a:prstGeom>
          <a:noFill/>
          <a:ln/>
        </p:spPr>
        <p:txBody>
          <a:bodyPr wrap="square" lIns="0" tIns="0" rIns="0" bIns="0" rtlCol="0" anchor="ctr"/>
          <a:lstStyle/>
          <a:p>
            <a:pPr marL="0" indent="0">
              <a:buNone/>
            </a:pPr>
            <a:r>
              <a:rPr lang="en-US" sz="900" dirty="0">
                <a:solidFill>
                  <a:srgbClr val="4B6076"/>
                </a:solidFill>
                <a:latin typeface="Calibri" pitchFamily="34" charset="0"/>
                <a:ea typeface="Calibri" pitchFamily="34" charset="-122"/>
                <a:cs typeface="Calibri" pitchFamily="34" charset="-120"/>
              </a:rPr>
              <a:t>IdP issues identity claims; authorization engine makes access decisions. Avoid mixing identity tokens with access tokens.</a:t>
            </a:r>
            <a:endParaRPr lang="en-US" sz="900" dirty="0"/>
          </a:p>
        </p:txBody>
      </p:sp>
      <p:sp>
        <p:nvSpPr>
          <p:cNvPr id="41" name="Shape 39"/>
          <p:cNvSpPr/>
          <p:nvPr/>
        </p:nvSpPr>
        <p:spPr>
          <a:xfrm>
            <a:off x="5029200" y="3447288"/>
            <a:ext cx="3840480" cy="694944"/>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42" name="Shape 40"/>
          <p:cNvSpPr/>
          <p:nvPr/>
        </p:nvSpPr>
        <p:spPr>
          <a:xfrm>
            <a:off x="5029200" y="3447288"/>
            <a:ext cx="73152" cy="694944"/>
          </a:xfrm>
          <a:prstGeom prst="rect">
            <a:avLst/>
          </a:prstGeom>
          <a:solidFill>
            <a:srgbClr val="1B998B"/>
          </a:solidFill>
          <a:ln w="12700">
            <a:solidFill>
              <a:srgbClr val="1B998B"/>
            </a:solidFill>
            <a:prstDash val="solid"/>
          </a:ln>
        </p:spPr>
        <p:txBody>
          <a:bodyPr/>
          <a:lstStyle/>
          <a:p>
            <a:endParaRPr lang="en-US"/>
          </a:p>
        </p:txBody>
      </p:sp>
      <p:sp>
        <p:nvSpPr>
          <p:cNvPr id="43" name="Text 41"/>
          <p:cNvSpPr/>
          <p:nvPr/>
        </p:nvSpPr>
        <p:spPr>
          <a:xfrm>
            <a:off x="5175504" y="3502152"/>
            <a:ext cx="3621024" cy="201168"/>
          </a:xfrm>
          <a:prstGeom prst="rect">
            <a:avLst/>
          </a:prstGeom>
          <a:noFill/>
          <a:ln/>
        </p:spPr>
        <p:txBody>
          <a:bodyPr wrap="square" lIns="0" tIns="0" rIns="0" bIns="0" rtlCol="0" anchor="ctr"/>
          <a:lstStyle/>
          <a:p>
            <a:pPr marL="0" indent="0">
              <a:buNone/>
            </a:pPr>
            <a:r>
              <a:rPr lang="en-US" sz="1000" b="1" dirty="0">
                <a:solidFill>
                  <a:srgbClr val="0F4C75"/>
                </a:solidFill>
                <a:latin typeface="Calibri" pitchFamily="34" charset="0"/>
                <a:ea typeface="Calibri" pitchFamily="34" charset="-122"/>
                <a:cs typeface="Calibri" pitchFamily="34" charset="-120"/>
              </a:rPr>
              <a:t>Immutable audit trail</a:t>
            </a:r>
            <a:endParaRPr lang="en-US" sz="1000" dirty="0"/>
          </a:p>
        </p:txBody>
      </p:sp>
      <p:sp>
        <p:nvSpPr>
          <p:cNvPr id="44" name="Text 42"/>
          <p:cNvSpPr/>
          <p:nvPr/>
        </p:nvSpPr>
        <p:spPr>
          <a:xfrm>
            <a:off x="5175504" y="3721608"/>
            <a:ext cx="3621024" cy="384048"/>
          </a:xfrm>
          <a:prstGeom prst="rect">
            <a:avLst/>
          </a:prstGeom>
          <a:noFill/>
          <a:ln/>
        </p:spPr>
        <p:txBody>
          <a:bodyPr wrap="square" lIns="0" tIns="0" rIns="0" bIns="0" rtlCol="0" anchor="ctr"/>
          <a:lstStyle/>
          <a:p>
            <a:pPr marL="0" indent="0">
              <a:buNone/>
            </a:pPr>
            <a:r>
              <a:rPr lang="en-US" sz="900" dirty="0">
                <a:solidFill>
                  <a:srgbClr val="4B6076"/>
                </a:solidFill>
                <a:latin typeface="Calibri" pitchFamily="34" charset="0"/>
                <a:ea typeface="Calibri" pitchFamily="34" charset="-122"/>
                <a:cs typeface="Calibri" pitchFamily="34" charset="-120"/>
              </a:rPr>
              <a:t>Every authentication event, token issuance, and access decision logged to SIEM. Retention per policy (min 1 year for compliance).</a:t>
            </a:r>
            <a:endParaRPr lang="en-US" sz="900" dirty="0"/>
          </a:p>
        </p:txBody>
      </p:sp>
      <p:sp>
        <p:nvSpPr>
          <p:cNvPr id="45" name="Shape 43"/>
          <p:cNvSpPr/>
          <p:nvPr/>
        </p:nvSpPr>
        <p:spPr>
          <a:xfrm>
            <a:off x="5029200" y="4215384"/>
            <a:ext cx="3840480" cy="694944"/>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46" name="Shape 44"/>
          <p:cNvSpPr/>
          <p:nvPr/>
        </p:nvSpPr>
        <p:spPr>
          <a:xfrm>
            <a:off x="5029200" y="4215384"/>
            <a:ext cx="73152" cy="694944"/>
          </a:xfrm>
          <a:prstGeom prst="rect">
            <a:avLst/>
          </a:prstGeom>
          <a:solidFill>
            <a:srgbClr val="1B998B"/>
          </a:solidFill>
          <a:ln w="12700">
            <a:solidFill>
              <a:srgbClr val="1B998B"/>
            </a:solidFill>
            <a:prstDash val="solid"/>
          </a:ln>
        </p:spPr>
        <p:txBody>
          <a:bodyPr/>
          <a:lstStyle/>
          <a:p>
            <a:endParaRPr lang="en-US"/>
          </a:p>
        </p:txBody>
      </p:sp>
      <p:sp>
        <p:nvSpPr>
          <p:cNvPr id="47" name="Text 45"/>
          <p:cNvSpPr/>
          <p:nvPr/>
        </p:nvSpPr>
        <p:spPr>
          <a:xfrm>
            <a:off x="5175504" y="4270248"/>
            <a:ext cx="3621024" cy="201168"/>
          </a:xfrm>
          <a:prstGeom prst="rect">
            <a:avLst/>
          </a:prstGeom>
          <a:noFill/>
          <a:ln/>
        </p:spPr>
        <p:txBody>
          <a:bodyPr wrap="square" lIns="0" tIns="0" rIns="0" bIns="0" rtlCol="0" anchor="ctr"/>
          <a:lstStyle/>
          <a:p>
            <a:pPr marL="0" indent="0">
              <a:buNone/>
            </a:pPr>
            <a:r>
              <a:rPr lang="en-US" sz="1000" b="1" dirty="0">
                <a:solidFill>
                  <a:srgbClr val="0F4C75"/>
                </a:solidFill>
                <a:latin typeface="Calibri" pitchFamily="34" charset="0"/>
                <a:ea typeface="Calibri" pitchFamily="34" charset="-122"/>
                <a:cs typeface="Calibri" pitchFamily="34" charset="-120"/>
              </a:rPr>
              <a:t>Lifecycle integrity</a:t>
            </a:r>
            <a:endParaRPr lang="en-US" sz="1000" dirty="0"/>
          </a:p>
        </p:txBody>
      </p:sp>
      <p:sp>
        <p:nvSpPr>
          <p:cNvPr id="48" name="Text 46"/>
          <p:cNvSpPr/>
          <p:nvPr/>
        </p:nvSpPr>
        <p:spPr>
          <a:xfrm>
            <a:off x="5175504" y="4489704"/>
            <a:ext cx="3621024" cy="384048"/>
          </a:xfrm>
          <a:prstGeom prst="rect">
            <a:avLst/>
          </a:prstGeom>
          <a:noFill/>
          <a:ln/>
        </p:spPr>
        <p:txBody>
          <a:bodyPr wrap="square" lIns="0" tIns="0" rIns="0" bIns="0" rtlCol="0" anchor="ctr"/>
          <a:lstStyle/>
          <a:p>
            <a:pPr marL="0" indent="0">
              <a:buNone/>
            </a:pPr>
            <a:r>
              <a:rPr lang="en-US" sz="900" dirty="0">
                <a:solidFill>
                  <a:srgbClr val="4B6076"/>
                </a:solidFill>
                <a:latin typeface="Calibri" pitchFamily="34" charset="0"/>
                <a:ea typeface="Calibri" pitchFamily="34" charset="-122"/>
                <a:cs typeface="Calibri" pitchFamily="34" charset="-120"/>
              </a:rPr>
              <a:t>IGA governs provisioning/deprovisioning. No orphaned accounts. Access removed within SLA when employees leave or change roles.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75"/>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98B"/>
          </a:solidFill>
          <a:ln w="12700">
            <a:solidFill>
              <a:srgbClr val="1B998B"/>
            </a:solidFill>
            <a:prstDash val="solid"/>
          </a:ln>
        </p:spPr>
        <p:txBody>
          <a:bodyPr/>
          <a:lstStyle/>
          <a:p>
            <a:endParaRPr lang="en-US"/>
          </a:p>
        </p:txBody>
      </p:sp>
      <p:sp>
        <p:nvSpPr>
          <p:cNvPr id="3" name="Text 1"/>
          <p:cNvSpPr/>
          <p:nvPr/>
        </p:nvSpPr>
        <p:spPr>
          <a:xfrm>
            <a:off x="6858000" y="731520"/>
            <a:ext cx="2103120" cy="2560320"/>
          </a:xfrm>
          <a:prstGeom prst="rect">
            <a:avLst/>
          </a:prstGeom>
          <a:noFill/>
          <a:ln/>
        </p:spPr>
        <p:txBody>
          <a:bodyPr wrap="square" lIns="0" tIns="0" rIns="0" bIns="0" rtlCol="0" anchor="ctr"/>
          <a:lstStyle/>
          <a:p>
            <a:pPr marL="0" indent="0" algn="r">
              <a:buNone/>
            </a:pPr>
            <a:r>
              <a:rPr lang="en-US" sz="14000" b="1" dirty="0">
                <a:solidFill>
                  <a:srgbClr val="1A4A66"/>
                </a:solidFill>
                <a:latin typeface="Calibri" pitchFamily="34" charset="0"/>
                <a:ea typeface="Calibri" pitchFamily="34" charset="-122"/>
                <a:cs typeface="Calibri" pitchFamily="34" charset="-120"/>
              </a:rPr>
              <a:t>06</a:t>
            </a:r>
            <a:endParaRPr lang="en-US" sz="14000" dirty="0"/>
          </a:p>
        </p:txBody>
      </p:sp>
      <p:sp>
        <p:nvSpPr>
          <p:cNvPr id="4" name="Text 2"/>
          <p:cNvSpPr/>
          <p:nvPr/>
        </p:nvSpPr>
        <p:spPr>
          <a:xfrm>
            <a:off x="320040" y="1600200"/>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Zero Trust Integration</a:t>
            </a:r>
            <a:endParaRPr lang="en-US" sz="3000" dirty="0"/>
          </a:p>
        </p:txBody>
      </p:sp>
      <p:sp>
        <p:nvSpPr>
          <p:cNvPr id="5" name="Shape 3"/>
          <p:cNvSpPr/>
          <p:nvPr/>
        </p:nvSpPr>
        <p:spPr>
          <a:xfrm>
            <a:off x="320040" y="2468880"/>
            <a:ext cx="6217920" cy="0"/>
          </a:xfrm>
          <a:prstGeom prst="line">
            <a:avLst/>
          </a:prstGeom>
          <a:noFill/>
          <a:ln w="6350">
            <a:solidFill>
              <a:srgbClr val="8AAFC4"/>
            </a:solidFill>
            <a:prstDash val="solid"/>
          </a:ln>
        </p:spPr>
        <p:txBody>
          <a:bodyPr/>
          <a:lstStyle/>
          <a:p>
            <a:endParaRPr lang="en-US"/>
          </a:p>
        </p:txBody>
      </p:sp>
      <p:sp>
        <p:nvSpPr>
          <p:cNvPr id="6" name="Text 4"/>
          <p:cNvSpPr/>
          <p:nvPr/>
        </p:nvSpPr>
        <p:spPr>
          <a:xfrm>
            <a:off x="320040" y="2542032"/>
            <a:ext cx="6400800" cy="457200"/>
          </a:xfrm>
          <a:prstGeom prst="rect">
            <a:avLst/>
          </a:prstGeom>
          <a:noFill/>
          <a:ln/>
        </p:spPr>
        <p:txBody>
          <a:bodyPr wrap="square" lIns="0" tIns="0" rIns="0" bIns="0" rtlCol="0" anchor="ctr"/>
          <a:lstStyle/>
          <a:p>
            <a:pPr marL="0" indent="0">
              <a:buNone/>
            </a:pPr>
            <a:r>
              <a:rPr lang="en-US" sz="1400" i="1" dirty="0">
                <a:solidFill>
                  <a:srgbClr val="C9E4F0"/>
                </a:solidFill>
                <a:latin typeface="Calibri" pitchFamily="34" charset="0"/>
                <a:ea typeface="Calibri" pitchFamily="34" charset="-122"/>
                <a:cs typeface="Calibri" pitchFamily="34" charset="-120"/>
              </a:rPr>
              <a:t>Conditional Access, CAE, ZTNA</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75"/>
          </a:solidFill>
          <a:ln w="12700">
            <a:solidFill>
              <a:srgbClr val="0F4C75"/>
            </a:solidFill>
            <a:prstDash val="solid"/>
          </a:ln>
        </p:spPr>
        <p:txBody>
          <a:bodyPr/>
          <a:lstStyle/>
          <a:p>
            <a:endParaRPr lang="en-US"/>
          </a:p>
        </p:txBody>
      </p:sp>
      <p:sp>
        <p:nvSpPr>
          <p:cNvPr id="3" name="Text 1"/>
          <p:cNvSpPr/>
          <p:nvPr/>
        </p:nvSpPr>
        <p:spPr>
          <a:xfrm>
            <a:off x="457200" y="0"/>
            <a:ext cx="82296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Zero Trust Identity Architecture</a:t>
            </a:r>
            <a:endParaRPr lang="en-US" sz="2200" dirty="0"/>
          </a:p>
        </p:txBody>
      </p:sp>
      <p:sp>
        <p:nvSpPr>
          <p:cNvPr id="4" name="Text 2"/>
          <p:cNvSpPr/>
          <p:nvPr/>
        </p:nvSpPr>
        <p:spPr>
          <a:xfrm>
            <a:off x="274320" y="804672"/>
            <a:ext cx="4114800" cy="274320"/>
          </a:xfrm>
          <a:prstGeom prst="rect">
            <a:avLst/>
          </a:prstGeom>
          <a:noFill/>
          <a:ln/>
        </p:spPr>
        <p:txBody>
          <a:bodyPr wrap="square" lIns="0" tIns="0" rIns="0" bIns="0" rtlCol="0" anchor="ctr"/>
          <a:lstStyle/>
          <a:p>
            <a:pPr marL="0" indent="0">
              <a:buNone/>
            </a:pPr>
            <a:r>
              <a:rPr lang="en-US" sz="1300" b="1" dirty="0">
                <a:solidFill>
                  <a:srgbClr val="0F4C75"/>
                </a:solidFill>
                <a:latin typeface="Calibri" pitchFamily="34" charset="0"/>
                <a:ea typeface="Calibri" pitchFamily="34" charset="-122"/>
                <a:cs typeface="Calibri" pitchFamily="34" charset="-120"/>
              </a:rPr>
              <a:t>NIST SP 800-207 Principles</a:t>
            </a:r>
            <a:endParaRPr lang="en-US" sz="1300" dirty="0"/>
          </a:p>
        </p:txBody>
      </p:sp>
      <p:sp>
        <p:nvSpPr>
          <p:cNvPr id="5" name="Shape 3"/>
          <p:cNvSpPr/>
          <p:nvPr/>
        </p:nvSpPr>
        <p:spPr>
          <a:xfrm>
            <a:off x="274320" y="1143000"/>
            <a:ext cx="4023360" cy="82296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6" name="Shape 4"/>
          <p:cNvSpPr/>
          <p:nvPr/>
        </p:nvSpPr>
        <p:spPr>
          <a:xfrm>
            <a:off x="274320" y="1143000"/>
            <a:ext cx="73152" cy="822960"/>
          </a:xfrm>
          <a:prstGeom prst="rect">
            <a:avLst/>
          </a:prstGeom>
          <a:solidFill>
            <a:srgbClr val="1B998B"/>
          </a:solidFill>
          <a:ln w="12700">
            <a:solidFill>
              <a:srgbClr val="1B998B"/>
            </a:solidFill>
            <a:prstDash val="solid"/>
          </a:ln>
        </p:spPr>
        <p:txBody>
          <a:bodyPr/>
          <a:lstStyle/>
          <a:p>
            <a:endParaRPr lang="en-US"/>
          </a:p>
        </p:txBody>
      </p:sp>
      <p:sp>
        <p:nvSpPr>
          <p:cNvPr id="7" name="Text 5"/>
          <p:cNvSpPr/>
          <p:nvPr/>
        </p:nvSpPr>
        <p:spPr>
          <a:xfrm>
            <a:off x="420624" y="1161288"/>
            <a:ext cx="3803904" cy="237744"/>
          </a:xfrm>
          <a:prstGeom prst="rect">
            <a:avLst/>
          </a:prstGeom>
          <a:noFill/>
          <a:ln/>
        </p:spPr>
        <p:txBody>
          <a:bodyPr wrap="square" lIns="0" tIns="0" rIns="0" bIns="0" rtlCol="0" anchor="ctr"/>
          <a:lstStyle/>
          <a:p>
            <a:pPr marL="0" indent="0">
              <a:buNone/>
            </a:pPr>
            <a:r>
              <a:rPr lang="en-US" sz="1100" b="1" dirty="0">
                <a:solidFill>
                  <a:srgbClr val="0F4C75"/>
                </a:solidFill>
                <a:latin typeface="Calibri" pitchFamily="34" charset="0"/>
                <a:ea typeface="Calibri" pitchFamily="34" charset="-122"/>
                <a:cs typeface="Calibri" pitchFamily="34" charset="-120"/>
              </a:rPr>
              <a:t>Never Trust, Always Verify</a:t>
            </a:r>
            <a:endParaRPr lang="en-US" sz="1100" dirty="0"/>
          </a:p>
        </p:txBody>
      </p:sp>
      <p:sp>
        <p:nvSpPr>
          <p:cNvPr id="8" name="Text 6"/>
          <p:cNvSpPr/>
          <p:nvPr/>
        </p:nvSpPr>
        <p:spPr>
          <a:xfrm>
            <a:off x="420624" y="1408176"/>
            <a:ext cx="3803904" cy="530352"/>
          </a:xfrm>
          <a:prstGeom prst="rect">
            <a:avLst/>
          </a:prstGeom>
          <a:noFill/>
          <a:ln/>
        </p:spPr>
        <p:txBody>
          <a:bodyPr wrap="square" lIns="0" tIns="0" rIns="0" bIns="0" rtlCol="0" anchor="ctr"/>
          <a:lstStyle/>
          <a:p>
            <a:pPr marL="0" indent="0">
              <a:buNone/>
            </a:pPr>
            <a:r>
              <a:rPr lang="en-US" sz="1000" dirty="0">
                <a:solidFill>
                  <a:srgbClr val="4B6076"/>
                </a:solidFill>
                <a:latin typeface="Calibri" pitchFamily="34" charset="0"/>
                <a:ea typeface="Calibri" pitchFamily="34" charset="-122"/>
                <a:cs typeface="Calibri" pitchFamily="34" charset="-120"/>
              </a:rPr>
              <a:t>Every auth request verified at IdP. No implicit trust based on network location or prior session. Device posture + identity + context required.</a:t>
            </a:r>
            <a:endParaRPr lang="en-US" sz="1000" dirty="0"/>
          </a:p>
        </p:txBody>
      </p:sp>
      <p:sp>
        <p:nvSpPr>
          <p:cNvPr id="9" name="Shape 7"/>
          <p:cNvSpPr/>
          <p:nvPr/>
        </p:nvSpPr>
        <p:spPr>
          <a:xfrm>
            <a:off x="274320" y="2057400"/>
            <a:ext cx="4023360" cy="82296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10" name="Shape 8"/>
          <p:cNvSpPr/>
          <p:nvPr/>
        </p:nvSpPr>
        <p:spPr>
          <a:xfrm>
            <a:off x="274320" y="2057400"/>
            <a:ext cx="73152" cy="822960"/>
          </a:xfrm>
          <a:prstGeom prst="rect">
            <a:avLst/>
          </a:prstGeom>
          <a:solidFill>
            <a:srgbClr val="1B998B"/>
          </a:solidFill>
          <a:ln w="12700">
            <a:solidFill>
              <a:srgbClr val="1B998B"/>
            </a:solidFill>
            <a:prstDash val="solid"/>
          </a:ln>
        </p:spPr>
        <p:txBody>
          <a:bodyPr/>
          <a:lstStyle/>
          <a:p>
            <a:endParaRPr lang="en-US"/>
          </a:p>
        </p:txBody>
      </p:sp>
      <p:sp>
        <p:nvSpPr>
          <p:cNvPr id="11" name="Text 9"/>
          <p:cNvSpPr/>
          <p:nvPr/>
        </p:nvSpPr>
        <p:spPr>
          <a:xfrm>
            <a:off x="420624" y="2075688"/>
            <a:ext cx="3803904" cy="237744"/>
          </a:xfrm>
          <a:prstGeom prst="rect">
            <a:avLst/>
          </a:prstGeom>
          <a:noFill/>
          <a:ln/>
        </p:spPr>
        <p:txBody>
          <a:bodyPr wrap="square" lIns="0" tIns="0" rIns="0" bIns="0" rtlCol="0" anchor="ctr"/>
          <a:lstStyle/>
          <a:p>
            <a:pPr marL="0" indent="0">
              <a:buNone/>
            </a:pPr>
            <a:r>
              <a:rPr lang="en-US" sz="1100" b="1" dirty="0">
                <a:solidFill>
                  <a:srgbClr val="0F4C75"/>
                </a:solidFill>
                <a:latin typeface="Calibri" pitchFamily="34" charset="0"/>
                <a:ea typeface="Calibri" pitchFamily="34" charset="-122"/>
                <a:cs typeface="Calibri" pitchFamily="34" charset="-120"/>
              </a:rPr>
              <a:t>Assume Breach</a:t>
            </a:r>
            <a:endParaRPr lang="en-US" sz="1100" dirty="0"/>
          </a:p>
        </p:txBody>
      </p:sp>
      <p:sp>
        <p:nvSpPr>
          <p:cNvPr id="12" name="Text 10"/>
          <p:cNvSpPr/>
          <p:nvPr/>
        </p:nvSpPr>
        <p:spPr>
          <a:xfrm>
            <a:off x="420624" y="2322576"/>
            <a:ext cx="3803904" cy="530352"/>
          </a:xfrm>
          <a:prstGeom prst="rect">
            <a:avLst/>
          </a:prstGeom>
          <a:noFill/>
          <a:ln/>
        </p:spPr>
        <p:txBody>
          <a:bodyPr wrap="square" lIns="0" tIns="0" rIns="0" bIns="0" rtlCol="0" anchor="ctr"/>
          <a:lstStyle/>
          <a:p>
            <a:pPr marL="0" indent="0">
              <a:buNone/>
            </a:pPr>
            <a:r>
              <a:rPr lang="en-US" sz="1000" dirty="0">
                <a:solidFill>
                  <a:srgbClr val="4B6076"/>
                </a:solidFill>
                <a:latin typeface="Calibri" pitchFamily="34" charset="0"/>
                <a:ea typeface="Calibri" pitchFamily="34" charset="-122"/>
                <a:cs typeface="Calibri" pitchFamily="34" charset="-120"/>
              </a:rPr>
              <a:t>Design for post-compromise. Short-lived tokens limit blast radius. CAE signals resource providers to re-evaluate session validity on security events. All sessions logged.</a:t>
            </a:r>
            <a:endParaRPr lang="en-US" sz="1000" dirty="0"/>
          </a:p>
        </p:txBody>
      </p:sp>
      <p:sp>
        <p:nvSpPr>
          <p:cNvPr id="13" name="Shape 11"/>
          <p:cNvSpPr/>
          <p:nvPr/>
        </p:nvSpPr>
        <p:spPr>
          <a:xfrm>
            <a:off x="274320" y="2971800"/>
            <a:ext cx="4023360" cy="82296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14" name="Shape 12"/>
          <p:cNvSpPr/>
          <p:nvPr/>
        </p:nvSpPr>
        <p:spPr>
          <a:xfrm>
            <a:off x="274320" y="2971800"/>
            <a:ext cx="73152" cy="822960"/>
          </a:xfrm>
          <a:prstGeom prst="rect">
            <a:avLst/>
          </a:prstGeom>
          <a:solidFill>
            <a:srgbClr val="1B998B"/>
          </a:solidFill>
          <a:ln w="12700">
            <a:solidFill>
              <a:srgbClr val="1B998B"/>
            </a:solidFill>
            <a:prstDash val="solid"/>
          </a:ln>
        </p:spPr>
        <p:txBody>
          <a:bodyPr/>
          <a:lstStyle/>
          <a:p>
            <a:endParaRPr lang="en-US"/>
          </a:p>
        </p:txBody>
      </p:sp>
      <p:sp>
        <p:nvSpPr>
          <p:cNvPr id="15" name="Text 13"/>
          <p:cNvSpPr/>
          <p:nvPr/>
        </p:nvSpPr>
        <p:spPr>
          <a:xfrm>
            <a:off x="420624" y="2990088"/>
            <a:ext cx="3803904" cy="237744"/>
          </a:xfrm>
          <a:prstGeom prst="rect">
            <a:avLst/>
          </a:prstGeom>
          <a:noFill/>
          <a:ln/>
        </p:spPr>
        <p:txBody>
          <a:bodyPr wrap="square" lIns="0" tIns="0" rIns="0" bIns="0" rtlCol="0" anchor="ctr"/>
          <a:lstStyle/>
          <a:p>
            <a:pPr marL="0" indent="0">
              <a:buNone/>
            </a:pPr>
            <a:r>
              <a:rPr lang="en-US" sz="1100" b="1" dirty="0">
                <a:solidFill>
                  <a:srgbClr val="0F4C75"/>
                </a:solidFill>
                <a:latin typeface="Calibri" pitchFamily="34" charset="0"/>
                <a:ea typeface="Calibri" pitchFamily="34" charset="-122"/>
                <a:cs typeface="Calibri" pitchFamily="34" charset="-120"/>
              </a:rPr>
              <a:t>Verify Explicitly</a:t>
            </a:r>
            <a:endParaRPr lang="en-US" sz="1100" dirty="0"/>
          </a:p>
        </p:txBody>
      </p:sp>
      <p:sp>
        <p:nvSpPr>
          <p:cNvPr id="16" name="Text 14"/>
          <p:cNvSpPr/>
          <p:nvPr/>
        </p:nvSpPr>
        <p:spPr>
          <a:xfrm>
            <a:off x="420624" y="3236976"/>
            <a:ext cx="3803904" cy="530352"/>
          </a:xfrm>
          <a:prstGeom prst="rect">
            <a:avLst/>
          </a:prstGeom>
          <a:noFill/>
          <a:ln/>
        </p:spPr>
        <p:txBody>
          <a:bodyPr wrap="square" lIns="0" tIns="0" rIns="0" bIns="0" rtlCol="0" anchor="ctr"/>
          <a:lstStyle/>
          <a:p>
            <a:pPr marL="0" indent="0">
              <a:buNone/>
            </a:pPr>
            <a:r>
              <a:rPr lang="en-US" sz="1000" dirty="0">
                <a:solidFill>
                  <a:srgbClr val="4B6076"/>
                </a:solidFill>
                <a:latin typeface="Calibri" pitchFamily="34" charset="0"/>
                <a:ea typeface="Calibri" pitchFamily="34" charset="-122"/>
                <a:cs typeface="Calibri" pitchFamily="34" charset="-120"/>
              </a:rPr>
              <a:t>Conditional Access evaluates: identity risk, device compliance, location, application sensitivity, and time context on each request.</a:t>
            </a:r>
            <a:endParaRPr lang="en-US" sz="1000" dirty="0"/>
          </a:p>
        </p:txBody>
      </p:sp>
      <p:sp>
        <p:nvSpPr>
          <p:cNvPr id="17" name="Shape 15"/>
          <p:cNvSpPr/>
          <p:nvPr/>
        </p:nvSpPr>
        <p:spPr>
          <a:xfrm>
            <a:off x="274320" y="3886200"/>
            <a:ext cx="4023360" cy="82296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18" name="Shape 16"/>
          <p:cNvSpPr/>
          <p:nvPr/>
        </p:nvSpPr>
        <p:spPr>
          <a:xfrm>
            <a:off x="274320" y="3886200"/>
            <a:ext cx="73152" cy="822960"/>
          </a:xfrm>
          <a:prstGeom prst="rect">
            <a:avLst/>
          </a:prstGeom>
          <a:solidFill>
            <a:srgbClr val="1B998B"/>
          </a:solidFill>
          <a:ln w="12700">
            <a:solidFill>
              <a:srgbClr val="1B998B"/>
            </a:solidFill>
            <a:prstDash val="solid"/>
          </a:ln>
        </p:spPr>
        <p:txBody>
          <a:bodyPr/>
          <a:lstStyle/>
          <a:p>
            <a:endParaRPr lang="en-US"/>
          </a:p>
        </p:txBody>
      </p:sp>
      <p:sp>
        <p:nvSpPr>
          <p:cNvPr id="19" name="Text 17"/>
          <p:cNvSpPr/>
          <p:nvPr/>
        </p:nvSpPr>
        <p:spPr>
          <a:xfrm>
            <a:off x="420624" y="3904488"/>
            <a:ext cx="3803904" cy="237744"/>
          </a:xfrm>
          <a:prstGeom prst="rect">
            <a:avLst/>
          </a:prstGeom>
          <a:noFill/>
          <a:ln/>
        </p:spPr>
        <p:txBody>
          <a:bodyPr wrap="square" lIns="0" tIns="0" rIns="0" bIns="0" rtlCol="0" anchor="ctr"/>
          <a:lstStyle/>
          <a:p>
            <a:pPr marL="0" indent="0">
              <a:buNone/>
            </a:pPr>
            <a:r>
              <a:rPr lang="en-US" sz="1100" b="1" dirty="0">
                <a:solidFill>
                  <a:srgbClr val="0F4C75"/>
                </a:solidFill>
                <a:latin typeface="Calibri" pitchFamily="34" charset="0"/>
                <a:ea typeface="Calibri" pitchFamily="34" charset="-122"/>
                <a:cs typeface="Calibri" pitchFamily="34" charset="-120"/>
              </a:rPr>
              <a:t>Least Privilege Access</a:t>
            </a:r>
            <a:endParaRPr lang="en-US" sz="1100" dirty="0"/>
          </a:p>
        </p:txBody>
      </p:sp>
      <p:sp>
        <p:nvSpPr>
          <p:cNvPr id="20" name="Text 18"/>
          <p:cNvSpPr/>
          <p:nvPr/>
        </p:nvSpPr>
        <p:spPr>
          <a:xfrm>
            <a:off x="420624" y="4151376"/>
            <a:ext cx="3803904" cy="530352"/>
          </a:xfrm>
          <a:prstGeom prst="rect">
            <a:avLst/>
          </a:prstGeom>
          <a:noFill/>
          <a:ln/>
        </p:spPr>
        <p:txBody>
          <a:bodyPr wrap="square" lIns="0" tIns="0" rIns="0" bIns="0" rtlCol="0" anchor="ctr"/>
          <a:lstStyle/>
          <a:p>
            <a:pPr marL="0" indent="0">
              <a:buNone/>
            </a:pPr>
            <a:r>
              <a:rPr lang="en-US" sz="1000" dirty="0">
                <a:solidFill>
                  <a:srgbClr val="4B6076"/>
                </a:solidFill>
                <a:latin typeface="Calibri" pitchFamily="34" charset="0"/>
                <a:ea typeface="Calibri" pitchFamily="34" charset="-122"/>
                <a:cs typeface="Calibri" pitchFamily="34" charset="-120"/>
              </a:rPr>
              <a:t>RBAC/ABAC enforces minimum permissions. JIT access elevation via Entra ID PIM or Okta workflows. No standing admin roles.</a:t>
            </a:r>
            <a:endParaRPr lang="en-US" sz="1000" dirty="0"/>
          </a:p>
        </p:txBody>
      </p:sp>
      <p:sp>
        <p:nvSpPr>
          <p:cNvPr id="21" name="Text 19"/>
          <p:cNvSpPr/>
          <p:nvPr/>
        </p:nvSpPr>
        <p:spPr>
          <a:xfrm>
            <a:off x="4754880" y="804672"/>
            <a:ext cx="4114800" cy="274320"/>
          </a:xfrm>
          <a:prstGeom prst="rect">
            <a:avLst/>
          </a:prstGeom>
          <a:noFill/>
          <a:ln/>
        </p:spPr>
        <p:txBody>
          <a:bodyPr wrap="square" lIns="0" tIns="0" rIns="0" bIns="0" rtlCol="0" anchor="ctr"/>
          <a:lstStyle/>
          <a:p>
            <a:pPr marL="0" indent="0">
              <a:buNone/>
            </a:pPr>
            <a:r>
              <a:rPr lang="en-US" sz="1300" b="1" dirty="0">
                <a:solidFill>
                  <a:srgbClr val="0F4C75"/>
                </a:solidFill>
                <a:latin typeface="Calibri" pitchFamily="34" charset="0"/>
                <a:ea typeface="Calibri" pitchFamily="34" charset="-122"/>
                <a:cs typeface="Calibri" pitchFamily="34" charset="-120"/>
              </a:rPr>
              <a:t>Implementation Controls</a:t>
            </a:r>
            <a:endParaRPr lang="en-US" sz="1300" dirty="0"/>
          </a:p>
        </p:txBody>
      </p:sp>
      <p:sp>
        <p:nvSpPr>
          <p:cNvPr id="22" name="Shape 20"/>
          <p:cNvSpPr/>
          <p:nvPr/>
        </p:nvSpPr>
        <p:spPr>
          <a:xfrm>
            <a:off x="4754880" y="1143000"/>
            <a:ext cx="4023360" cy="694944"/>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23" name="Text 21"/>
          <p:cNvSpPr/>
          <p:nvPr/>
        </p:nvSpPr>
        <p:spPr>
          <a:xfrm>
            <a:off x="4846320" y="1170432"/>
            <a:ext cx="3840480" cy="640080"/>
          </a:xfrm>
          <a:prstGeom prst="rect">
            <a:avLst/>
          </a:prstGeom>
          <a:noFill/>
          <a:ln/>
        </p:spPr>
        <p:txBody>
          <a:bodyPr wrap="square" lIns="0" tIns="0" rIns="0" bIns="0" rtlCol="0" anchor="ctr"/>
          <a:lstStyle/>
          <a:p>
            <a:pPr marL="0" indent="0">
              <a:buNone/>
            </a:pPr>
            <a:r>
              <a:rPr lang="en-US" sz="1000" b="1" dirty="0">
                <a:solidFill>
                  <a:srgbClr val="1B998B"/>
                </a:solidFill>
                <a:latin typeface="Calibri" pitchFamily="34" charset="0"/>
                <a:ea typeface="Calibri" pitchFamily="34" charset="-122"/>
                <a:cs typeface="Calibri" pitchFamily="34" charset="-120"/>
              </a:rPr>
              <a:t>Conditional Access: </a:t>
            </a:r>
            <a:r>
              <a:rPr lang="en-US" sz="1000" dirty="0">
                <a:solidFill>
                  <a:srgbClr val="4B6076"/>
                </a:solidFill>
                <a:latin typeface="Calibri" pitchFamily="34" charset="0"/>
                <a:ea typeface="Calibri" pitchFamily="34" charset="-122"/>
                <a:cs typeface="Calibri" pitchFamily="34" charset="-120"/>
              </a:rPr>
              <a:t>Policy engine evaluating: identity (risk score), device (compliant/managed), location (geo/IP), app sensitivity, MFA strength required</a:t>
            </a:r>
            <a:endParaRPr lang="en-US" sz="1000" dirty="0"/>
          </a:p>
        </p:txBody>
      </p:sp>
      <p:sp>
        <p:nvSpPr>
          <p:cNvPr id="24" name="Shape 22"/>
          <p:cNvSpPr/>
          <p:nvPr/>
        </p:nvSpPr>
        <p:spPr>
          <a:xfrm>
            <a:off x="4754880" y="1911096"/>
            <a:ext cx="4023360" cy="694944"/>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25" name="Text 23"/>
          <p:cNvSpPr/>
          <p:nvPr/>
        </p:nvSpPr>
        <p:spPr>
          <a:xfrm>
            <a:off x="4846320" y="1938528"/>
            <a:ext cx="3840480" cy="640080"/>
          </a:xfrm>
          <a:prstGeom prst="rect">
            <a:avLst/>
          </a:prstGeom>
          <a:noFill/>
          <a:ln/>
        </p:spPr>
        <p:txBody>
          <a:bodyPr wrap="square" lIns="0" tIns="0" rIns="0" bIns="0" rtlCol="0" anchor="ctr"/>
          <a:lstStyle/>
          <a:p>
            <a:pPr marL="0" indent="0">
              <a:buNone/>
            </a:pPr>
            <a:r>
              <a:rPr lang="en-US" sz="1000" b="1" dirty="0">
                <a:solidFill>
                  <a:srgbClr val="1B998B"/>
                </a:solidFill>
                <a:latin typeface="Calibri" pitchFamily="34" charset="0"/>
                <a:ea typeface="Calibri" pitchFamily="34" charset="-122"/>
                <a:cs typeface="Calibri" pitchFamily="34" charset="-120"/>
              </a:rPr>
              <a:t>CAEP (OpenID SSF): </a:t>
            </a:r>
            <a:r>
              <a:rPr lang="en-US" sz="1000" dirty="0">
                <a:solidFill>
                  <a:srgbClr val="4B6076"/>
                </a:solidFill>
                <a:latin typeface="Calibri" pitchFamily="34" charset="0"/>
                <a:ea typeface="Calibri" pitchFamily="34" charset="-122"/>
                <a:cs typeface="Calibri" pitchFamily="34" charset="-120"/>
              </a:rPr>
              <a:t>Continuous Access Evaluation Profile: open standard that signals resource providers to re-evaluate session validity on critical events (account disabled, password reset, risky sign-in). Does not guarantee immediate revocation — provider support required. Microsoft CAE is the M365 implementation.</a:t>
            </a:r>
            <a:endParaRPr lang="en-US" sz="1000" dirty="0"/>
          </a:p>
        </p:txBody>
      </p:sp>
      <p:sp>
        <p:nvSpPr>
          <p:cNvPr id="26" name="Shape 24"/>
          <p:cNvSpPr/>
          <p:nvPr/>
        </p:nvSpPr>
        <p:spPr>
          <a:xfrm>
            <a:off x="4754880" y="2679192"/>
            <a:ext cx="4023360" cy="694944"/>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27" name="Text 25"/>
          <p:cNvSpPr/>
          <p:nvPr/>
        </p:nvSpPr>
        <p:spPr>
          <a:xfrm>
            <a:off x="4846320" y="2706624"/>
            <a:ext cx="3840480" cy="640080"/>
          </a:xfrm>
          <a:prstGeom prst="rect">
            <a:avLst/>
          </a:prstGeom>
          <a:noFill/>
          <a:ln/>
        </p:spPr>
        <p:txBody>
          <a:bodyPr wrap="square" lIns="0" tIns="0" rIns="0" bIns="0" rtlCol="0" anchor="ctr"/>
          <a:lstStyle/>
          <a:p>
            <a:pPr marL="0" indent="0">
              <a:buNone/>
            </a:pPr>
            <a:r>
              <a:rPr lang="en-US" sz="1000" b="1" dirty="0">
                <a:solidFill>
                  <a:srgbClr val="1B998B"/>
                </a:solidFill>
                <a:latin typeface="Calibri" pitchFamily="34" charset="0"/>
                <a:ea typeface="Calibri" pitchFamily="34" charset="-122"/>
                <a:cs typeface="Calibri" pitchFamily="34" charset="-120"/>
              </a:rPr>
              <a:t>ZTNA (ZPA/Cloudflare): </a:t>
            </a:r>
            <a:r>
              <a:rPr lang="en-US" sz="1000" dirty="0">
                <a:solidFill>
                  <a:srgbClr val="4B6076"/>
                </a:solidFill>
                <a:latin typeface="Calibri" pitchFamily="34" charset="0"/>
                <a:ea typeface="Calibri" pitchFamily="34" charset="-122"/>
                <a:cs typeface="Calibri" pitchFamily="34" charset="-120"/>
              </a:rPr>
              <a:t>Application-level access without network access. Authenticate via IdP + device posture, then proxy to specific app. No VPN implicit trust.</a:t>
            </a:r>
            <a:endParaRPr lang="en-US" sz="1000" dirty="0"/>
          </a:p>
        </p:txBody>
      </p:sp>
      <p:sp>
        <p:nvSpPr>
          <p:cNvPr id="28" name="Shape 26"/>
          <p:cNvSpPr/>
          <p:nvPr/>
        </p:nvSpPr>
        <p:spPr>
          <a:xfrm>
            <a:off x="4754880" y="3447288"/>
            <a:ext cx="4023360" cy="694944"/>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29" name="Text 27"/>
          <p:cNvSpPr/>
          <p:nvPr/>
        </p:nvSpPr>
        <p:spPr>
          <a:xfrm>
            <a:off x="4846320" y="3474720"/>
            <a:ext cx="3840480" cy="640080"/>
          </a:xfrm>
          <a:prstGeom prst="rect">
            <a:avLst/>
          </a:prstGeom>
          <a:noFill/>
          <a:ln/>
        </p:spPr>
        <p:txBody>
          <a:bodyPr wrap="square" lIns="0" tIns="0" rIns="0" bIns="0" rtlCol="0" anchor="ctr"/>
          <a:lstStyle/>
          <a:p>
            <a:pPr marL="0" indent="0">
              <a:buNone/>
            </a:pPr>
            <a:r>
              <a:rPr lang="en-US" sz="1000" b="1" dirty="0">
                <a:solidFill>
                  <a:srgbClr val="1B998B"/>
                </a:solidFill>
                <a:latin typeface="Calibri" pitchFamily="34" charset="0"/>
                <a:ea typeface="Calibri" pitchFamily="34" charset="-122"/>
                <a:cs typeface="Calibri" pitchFamily="34" charset="-120"/>
              </a:rPr>
              <a:t>DPoP (RFC 9449): </a:t>
            </a:r>
            <a:r>
              <a:rPr lang="en-US" sz="1000" dirty="0">
                <a:solidFill>
                  <a:srgbClr val="4B6076"/>
                </a:solidFill>
                <a:latin typeface="Calibri" pitchFamily="34" charset="0"/>
                <a:ea typeface="Calibri" pitchFamily="34" charset="-122"/>
                <a:cs typeface="Calibri" pitchFamily="34" charset="-120"/>
              </a:rPr>
              <a:t>Demonstrating Proof-of-Possession: binds token usage to the client's key pair by requiring a signed proof-of-possession header on each request. A stolen token is useless without the corresponding private key.</a:t>
            </a:r>
            <a:endParaRPr lang="en-US" sz="1000" dirty="0"/>
          </a:p>
        </p:txBody>
      </p:sp>
      <p:sp>
        <p:nvSpPr>
          <p:cNvPr id="30" name="Shape 28"/>
          <p:cNvSpPr/>
          <p:nvPr/>
        </p:nvSpPr>
        <p:spPr>
          <a:xfrm>
            <a:off x="4754880" y="4215384"/>
            <a:ext cx="4023360" cy="694944"/>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31" name="Text 29"/>
          <p:cNvSpPr/>
          <p:nvPr/>
        </p:nvSpPr>
        <p:spPr>
          <a:xfrm>
            <a:off x="4846320" y="4242816"/>
            <a:ext cx="3840480" cy="640080"/>
          </a:xfrm>
          <a:prstGeom prst="rect">
            <a:avLst/>
          </a:prstGeom>
          <a:noFill/>
          <a:ln/>
        </p:spPr>
        <p:txBody>
          <a:bodyPr wrap="square" lIns="0" tIns="0" rIns="0" bIns="0" rtlCol="0" anchor="ctr"/>
          <a:lstStyle/>
          <a:p>
            <a:pPr marL="0" indent="0">
              <a:buNone/>
            </a:pPr>
            <a:r>
              <a:rPr lang="en-US" sz="1000" b="1" dirty="0">
                <a:solidFill>
                  <a:srgbClr val="1B998B"/>
                </a:solidFill>
                <a:latin typeface="Calibri" pitchFamily="34" charset="0"/>
                <a:ea typeface="Calibri" pitchFamily="34" charset="-122"/>
                <a:cs typeface="Calibri" pitchFamily="34" charset="-120"/>
              </a:rPr>
              <a:t>Short-Lived Tokens: </a:t>
            </a:r>
            <a:r>
              <a:rPr lang="en-US" sz="1000" dirty="0">
                <a:solidFill>
                  <a:srgbClr val="4B6076"/>
                </a:solidFill>
                <a:latin typeface="Calibri" pitchFamily="34" charset="0"/>
                <a:ea typeface="Calibri" pitchFamily="34" charset="-122"/>
                <a:cs typeface="Calibri" pitchFamily="34" charset="-120"/>
              </a:rPr>
              <a:t>Access token TTL of 15-60 minutes. Refresh token rotation on each use. Limits dwell time for stolen tokens.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4C75"/>
          </a:solidFill>
          <a:ln w="12700">
            <a:solidFill>
              <a:srgbClr val="0F4C75"/>
            </a:solidFill>
            <a:prstDash val="solid"/>
          </a:ln>
        </p:spPr>
        <p:txBody>
          <a:bodyPr/>
          <a:lstStyle/>
          <a:p>
            <a:endParaRPr lang="en-US"/>
          </a:p>
        </p:txBody>
      </p:sp>
      <p:sp>
        <p:nvSpPr>
          <p:cNvPr id="3" name="Text 1"/>
          <p:cNvSpPr/>
          <p:nvPr/>
        </p:nvSpPr>
        <p:spPr>
          <a:xfrm>
            <a:off x="365760" y="0"/>
            <a:ext cx="84124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Identity Attack Kill Chain</a:t>
            </a:r>
            <a:endParaRPr lang="en-US" sz="2000" dirty="0"/>
          </a:p>
        </p:txBody>
      </p:sp>
      <p:sp>
        <p:nvSpPr>
          <p:cNvPr id="49" name="Text 47"/>
          <p:cNvSpPr/>
          <p:nvPr/>
        </p:nvSpPr>
        <p:spPr>
          <a:xfrm>
            <a:off x="228600" y="653494"/>
            <a:ext cx="2011680" cy="164592"/>
          </a:xfrm>
          <a:prstGeom prst="rect">
            <a:avLst/>
          </a:prstGeom>
          <a:noFill/>
          <a:ln/>
        </p:spPr>
        <p:txBody>
          <a:bodyPr wrap="square" lIns="0" tIns="0" rIns="0" bIns="0" rtlCol="0" anchor="ctr"/>
          <a:lstStyle/>
          <a:p>
            <a:pPr marL="0" indent="0">
              <a:buNone/>
            </a:pPr>
            <a:r>
              <a:rPr lang="en-US" sz="800" b="1" dirty="0">
                <a:solidFill>
                  <a:srgbClr val="4B6076"/>
                </a:solidFill>
                <a:latin typeface="Calibri" pitchFamily="34" charset="0"/>
                <a:ea typeface="Calibri" pitchFamily="34" charset="-122"/>
                <a:cs typeface="Calibri" pitchFamily="34" charset="-120"/>
              </a:rPr>
              <a:t>Stage</a:t>
            </a:r>
            <a:endParaRPr lang="en-US" sz="800" dirty="0"/>
          </a:p>
        </p:txBody>
      </p:sp>
      <p:grpSp>
        <p:nvGrpSpPr>
          <p:cNvPr id="52" name="Group 51">
            <a:extLst>
              <a:ext uri="{FF2B5EF4-FFF2-40B4-BE49-F238E27FC236}">
                <a16:creationId xmlns:a16="http://schemas.microsoft.com/office/drawing/2014/main" id="{574BF74A-5299-434A-BA10-0157962B0C2A}"/>
              </a:ext>
            </a:extLst>
          </p:cNvPr>
          <p:cNvGrpSpPr/>
          <p:nvPr/>
        </p:nvGrpSpPr>
        <p:grpSpPr>
          <a:xfrm>
            <a:off x="228600" y="694944"/>
            <a:ext cx="8686800" cy="4448556"/>
            <a:chOff x="228600" y="694944"/>
            <a:chExt cx="8686800" cy="5001768"/>
          </a:xfrm>
        </p:grpSpPr>
        <p:sp>
          <p:nvSpPr>
            <p:cNvPr id="4" name="Shape 2"/>
            <p:cNvSpPr/>
            <p:nvPr/>
          </p:nvSpPr>
          <p:spPr>
            <a:xfrm>
              <a:off x="228600" y="804672"/>
              <a:ext cx="475488" cy="868680"/>
            </a:xfrm>
            <a:prstGeom prst="rect">
              <a:avLst/>
            </a:prstGeom>
            <a:solidFill>
              <a:srgbClr val="8B0000"/>
            </a:solidFill>
            <a:ln w="12700">
              <a:solidFill>
                <a:srgbClr val="8B0000"/>
              </a:solidFill>
              <a:prstDash val="solid"/>
            </a:ln>
          </p:spPr>
          <p:txBody>
            <a:bodyPr/>
            <a:lstStyle/>
            <a:p>
              <a:endParaRPr lang="en-US"/>
            </a:p>
          </p:txBody>
        </p:sp>
        <p:sp>
          <p:nvSpPr>
            <p:cNvPr id="5" name="Text 3"/>
            <p:cNvSpPr/>
            <p:nvPr/>
          </p:nvSpPr>
          <p:spPr>
            <a:xfrm>
              <a:off x="228600" y="804672"/>
              <a:ext cx="475488" cy="8686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Shape 4"/>
            <p:cNvSpPr/>
            <p:nvPr/>
          </p:nvSpPr>
          <p:spPr>
            <a:xfrm>
              <a:off x="749808" y="804672"/>
              <a:ext cx="1417320" cy="411480"/>
            </a:xfrm>
            <a:prstGeom prst="rect">
              <a:avLst/>
            </a:prstGeom>
            <a:solidFill>
              <a:srgbClr val="8B0000"/>
            </a:solidFill>
            <a:ln w="12700">
              <a:solidFill>
                <a:srgbClr val="8B0000"/>
              </a:solidFill>
              <a:prstDash val="solid"/>
            </a:ln>
          </p:spPr>
          <p:txBody>
            <a:bodyPr/>
            <a:lstStyle/>
            <a:p>
              <a:endParaRPr lang="en-US"/>
            </a:p>
          </p:txBody>
        </p:sp>
        <p:sp>
          <p:nvSpPr>
            <p:cNvPr id="7" name="Text 5"/>
            <p:cNvSpPr/>
            <p:nvPr/>
          </p:nvSpPr>
          <p:spPr>
            <a:xfrm>
              <a:off x="749808" y="804672"/>
              <a:ext cx="1417320" cy="411480"/>
            </a:xfrm>
            <a:prstGeom prst="rect">
              <a:avLst/>
            </a:prstGeom>
            <a:noFill/>
            <a:ln/>
          </p:spPr>
          <p:txBody>
            <a:bodyPr wrap="square" lIns="50800" tIns="50800" rIns="50800" bIns="5080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Initial Access</a:t>
              </a:r>
              <a:endParaRPr lang="en-US" sz="950" dirty="0"/>
            </a:p>
          </p:txBody>
        </p:sp>
        <p:sp>
          <p:nvSpPr>
            <p:cNvPr id="8" name="Text 6"/>
            <p:cNvSpPr/>
            <p:nvPr/>
          </p:nvSpPr>
          <p:spPr>
            <a:xfrm>
              <a:off x="749808" y="1234440"/>
              <a:ext cx="1417320" cy="384048"/>
            </a:xfrm>
            <a:prstGeom prst="rect">
              <a:avLst/>
            </a:prstGeom>
            <a:noFill/>
            <a:ln/>
          </p:spPr>
          <p:txBody>
            <a:bodyPr wrap="square" lIns="0" tIns="0" rIns="0" bIns="0" rtlCol="0" anchor="ctr"/>
            <a:lstStyle/>
            <a:p>
              <a:pPr marL="0" indent="0">
                <a:buNone/>
              </a:pPr>
              <a:r>
                <a:rPr lang="en-US" sz="750" i="1" dirty="0">
                  <a:solidFill>
                    <a:srgbClr val="8B0000"/>
                  </a:solidFill>
                  <a:latin typeface="Calibri" pitchFamily="34" charset="0"/>
                  <a:ea typeface="Calibri" pitchFamily="34" charset="-122"/>
                  <a:cs typeface="Calibri" pitchFamily="34" charset="-120"/>
                </a:rPr>
                <a:t>MITRE: T1078, T1566</a:t>
              </a:r>
              <a:endParaRPr lang="en-US" sz="750" dirty="0"/>
            </a:p>
          </p:txBody>
        </p:sp>
        <p:sp>
          <p:nvSpPr>
            <p:cNvPr id="9" name="Shape 7"/>
            <p:cNvSpPr/>
            <p:nvPr/>
          </p:nvSpPr>
          <p:spPr>
            <a:xfrm>
              <a:off x="2240280" y="841248"/>
              <a:ext cx="3200400" cy="795528"/>
            </a:xfrm>
            <a:prstGeom prst="rect">
              <a:avLst/>
            </a:prstGeom>
            <a:solidFill>
              <a:srgbClr val="FDF2F2"/>
            </a:solidFill>
            <a:ln w="6350">
              <a:solidFill>
                <a:srgbClr val="E8C0C0"/>
              </a:solidFill>
              <a:prstDash val="solid"/>
            </a:ln>
          </p:spPr>
          <p:txBody>
            <a:bodyPr/>
            <a:lstStyle/>
            <a:p>
              <a:endParaRPr lang="en-US"/>
            </a:p>
          </p:txBody>
        </p:sp>
        <p:sp>
          <p:nvSpPr>
            <p:cNvPr id="10" name="Text 8"/>
            <p:cNvSpPr/>
            <p:nvPr/>
          </p:nvSpPr>
          <p:spPr>
            <a:xfrm>
              <a:off x="2304288" y="859536"/>
              <a:ext cx="3090672" cy="758952"/>
            </a:xfrm>
            <a:prstGeom prst="rect">
              <a:avLst/>
            </a:prstGeom>
            <a:noFill/>
            <a:ln/>
          </p:spPr>
          <p:txBody>
            <a:bodyPr wrap="square" lIns="0" tIns="0" rIns="0" bIns="0" rtlCol="0" anchor="ctr"/>
            <a:lstStyle/>
            <a:p>
              <a:pPr marL="0" indent="0">
                <a:buNone/>
              </a:pPr>
              <a:r>
                <a:rPr lang="en-US" sz="850" dirty="0">
                  <a:solidFill>
                    <a:srgbClr val="8B0000"/>
                  </a:solidFill>
                  <a:latin typeface="Calibri" pitchFamily="34" charset="0"/>
                  <a:ea typeface="Calibri" pitchFamily="34" charset="-122"/>
                  <a:cs typeface="Calibri" pitchFamily="34" charset="-120"/>
                </a:rPr>
                <a:t>⚔ Phishing, credential stuffing, password spray</a:t>
              </a:r>
              <a:endParaRPr lang="en-US" sz="850" dirty="0"/>
            </a:p>
          </p:txBody>
        </p:sp>
        <p:sp>
          <p:nvSpPr>
            <p:cNvPr id="11" name="Shape 9"/>
            <p:cNvSpPr/>
            <p:nvPr/>
          </p:nvSpPr>
          <p:spPr>
            <a:xfrm>
              <a:off x="5532120" y="841248"/>
              <a:ext cx="3383280" cy="795528"/>
            </a:xfrm>
            <a:prstGeom prst="rect">
              <a:avLst/>
            </a:prstGeom>
            <a:solidFill>
              <a:srgbClr val="F0FBF4"/>
            </a:solidFill>
            <a:ln w="6350">
              <a:solidFill>
                <a:srgbClr val="B0D8BE"/>
              </a:solidFill>
              <a:prstDash val="solid"/>
            </a:ln>
          </p:spPr>
          <p:txBody>
            <a:bodyPr/>
            <a:lstStyle/>
            <a:p>
              <a:endParaRPr lang="en-US"/>
            </a:p>
          </p:txBody>
        </p:sp>
        <p:sp>
          <p:nvSpPr>
            <p:cNvPr id="12" name="Text 10"/>
            <p:cNvSpPr/>
            <p:nvPr/>
          </p:nvSpPr>
          <p:spPr>
            <a:xfrm>
              <a:off x="5596128" y="859536"/>
              <a:ext cx="3273552" cy="758952"/>
            </a:xfrm>
            <a:prstGeom prst="rect">
              <a:avLst/>
            </a:prstGeom>
            <a:noFill/>
            <a:ln/>
          </p:spPr>
          <p:txBody>
            <a:bodyPr wrap="square" lIns="0" tIns="0" rIns="0" bIns="0" rtlCol="0" anchor="ctr"/>
            <a:lstStyle/>
            <a:p>
              <a:pPr marL="0" indent="0">
                <a:buNone/>
              </a:pPr>
              <a:r>
                <a:rPr lang="en-US" sz="850" dirty="0">
                  <a:solidFill>
                    <a:srgbClr val="1A6B3C"/>
                  </a:solidFill>
                  <a:latin typeface="Calibri" pitchFamily="34" charset="0"/>
                  <a:ea typeface="Calibri" pitchFamily="34" charset="-122"/>
                  <a:cs typeface="Calibri" pitchFamily="34" charset="-120"/>
                </a:rPr>
                <a:t>🛡 Phishing-resistant MFA (FIDO2); smart lockout; breached password detection</a:t>
              </a:r>
              <a:endParaRPr lang="en-US" sz="850" dirty="0"/>
            </a:p>
          </p:txBody>
        </p:sp>
        <p:sp>
          <p:nvSpPr>
            <p:cNvPr id="13" name="Shape 11"/>
            <p:cNvSpPr/>
            <p:nvPr/>
          </p:nvSpPr>
          <p:spPr>
            <a:xfrm>
              <a:off x="228600" y="1810512"/>
              <a:ext cx="475488" cy="868680"/>
            </a:xfrm>
            <a:prstGeom prst="rect">
              <a:avLst/>
            </a:prstGeom>
            <a:solidFill>
              <a:srgbClr val="C0392B"/>
            </a:solidFill>
            <a:ln w="12700">
              <a:solidFill>
                <a:srgbClr val="C0392B"/>
              </a:solidFill>
              <a:prstDash val="solid"/>
            </a:ln>
          </p:spPr>
          <p:txBody>
            <a:bodyPr/>
            <a:lstStyle/>
            <a:p>
              <a:endParaRPr lang="en-US"/>
            </a:p>
          </p:txBody>
        </p:sp>
        <p:sp>
          <p:nvSpPr>
            <p:cNvPr id="14" name="Text 12"/>
            <p:cNvSpPr/>
            <p:nvPr/>
          </p:nvSpPr>
          <p:spPr>
            <a:xfrm>
              <a:off x="228600" y="1810512"/>
              <a:ext cx="475488" cy="8686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5" name="Shape 13"/>
            <p:cNvSpPr/>
            <p:nvPr/>
          </p:nvSpPr>
          <p:spPr>
            <a:xfrm>
              <a:off x="749808" y="1810512"/>
              <a:ext cx="1417320" cy="411480"/>
            </a:xfrm>
            <a:prstGeom prst="rect">
              <a:avLst/>
            </a:prstGeom>
            <a:solidFill>
              <a:srgbClr val="C0392B"/>
            </a:solidFill>
            <a:ln w="12700">
              <a:solidFill>
                <a:srgbClr val="C0392B"/>
              </a:solidFill>
              <a:prstDash val="solid"/>
            </a:ln>
          </p:spPr>
          <p:txBody>
            <a:bodyPr/>
            <a:lstStyle/>
            <a:p>
              <a:endParaRPr lang="en-US"/>
            </a:p>
          </p:txBody>
        </p:sp>
        <p:sp>
          <p:nvSpPr>
            <p:cNvPr id="16" name="Text 14"/>
            <p:cNvSpPr/>
            <p:nvPr/>
          </p:nvSpPr>
          <p:spPr>
            <a:xfrm>
              <a:off x="749808" y="1810512"/>
              <a:ext cx="1417320" cy="411480"/>
            </a:xfrm>
            <a:prstGeom prst="rect">
              <a:avLst/>
            </a:prstGeom>
            <a:noFill/>
            <a:ln/>
          </p:spPr>
          <p:txBody>
            <a:bodyPr wrap="square" lIns="50800" tIns="50800" rIns="50800" bIns="5080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Credential Access</a:t>
              </a:r>
              <a:endParaRPr lang="en-US" sz="950" dirty="0"/>
            </a:p>
          </p:txBody>
        </p:sp>
        <p:sp>
          <p:nvSpPr>
            <p:cNvPr id="17" name="Text 15"/>
            <p:cNvSpPr/>
            <p:nvPr/>
          </p:nvSpPr>
          <p:spPr>
            <a:xfrm>
              <a:off x="749808" y="2240280"/>
              <a:ext cx="1417320" cy="384048"/>
            </a:xfrm>
            <a:prstGeom prst="rect">
              <a:avLst/>
            </a:prstGeom>
            <a:noFill/>
            <a:ln/>
          </p:spPr>
          <p:txBody>
            <a:bodyPr wrap="square" lIns="0" tIns="0" rIns="0" bIns="0" rtlCol="0" anchor="ctr"/>
            <a:lstStyle/>
            <a:p>
              <a:pPr marL="0" indent="0">
                <a:buNone/>
              </a:pPr>
              <a:r>
                <a:rPr lang="en-US" sz="750" i="1" dirty="0">
                  <a:solidFill>
                    <a:srgbClr val="C0392B"/>
                  </a:solidFill>
                  <a:latin typeface="Calibri" pitchFamily="34" charset="0"/>
                  <a:ea typeface="Calibri" pitchFamily="34" charset="-122"/>
                  <a:cs typeface="Calibri" pitchFamily="34" charset="-120"/>
                </a:rPr>
                <a:t>MITRE: T1110, T1539, T1528</a:t>
              </a:r>
              <a:endParaRPr lang="en-US" sz="750" dirty="0"/>
            </a:p>
          </p:txBody>
        </p:sp>
        <p:sp>
          <p:nvSpPr>
            <p:cNvPr id="18" name="Shape 16"/>
            <p:cNvSpPr/>
            <p:nvPr/>
          </p:nvSpPr>
          <p:spPr>
            <a:xfrm>
              <a:off x="2240280" y="1847088"/>
              <a:ext cx="3200400" cy="795528"/>
            </a:xfrm>
            <a:prstGeom prst="rect">
              <a:avLst/>
            </a:prstGeom>
            <a:solidFill>
              <a:srgbClr val="FDF2F2"/>
            </a:solidFill>
            <a:ln w="6350">
              <a:solidFill>
                <a:srgbClr val="E8C0C0"/>
              </a:solidFill>
              <a:prstDash val="solid"/>
            </a:ln>
          </p:spPr>
          <p:txBody>
            <a:bodyPr/>
            <a:lstStyle/>
            <a:p>
              <a:endParaRPr lang="en-US"/>
            </a:p>
          </p:txBody>
        </p:sp>
        <p:sp>
          <p:nvSpPr>
            <p:cNvPr id="19" name="Text 17"/>
            <p:cNvSpPr/>
            <p:nvPr/>
          </p:nvSpPr>
          <p:spPr>
            <a:xfrm>
              <a:off x="2304288" y="1865376"/>
              <a:ext cx="3090672" cy="758952"/>
            </a:xfrm>
            <a:prstGeom prst="rect">
              <a:avLst/>
            </a:prstGeom>
            <a:noFill/>
            <a:ln/>
          </p:spPr>
          <p:txBody>
            <a:bodyPr wrap="square" lIns="0" tIns="0" rIns="0" bIns="0" rtlCol="0" anchor="ctr"/>
            <a:lstStyle/>
            <a:p>
              <a:pPr marL="0" indent="0">
                <a:buNone/>
              </a:pPr>
              <a:r>
                <a:rPr lang="en-US" sz="850" dirty="0">
                  <a:solidFill>
                    <a:srgbClr val="8B0000"/>
                  </a:solidFill>
                  <a:latin typeface="Calibri" pitchFamily="34" charset="0"/>
                  <a:ea typeface="Calibri" pitchFamily="34" charset="-122"/>
                  <a:cs typeface="Calibri" pitchFamily="34" charset="-120"/>
                </a:rPr>
                <a:t>⚔ Pass-the-hash, session cookie theft, OAuth token theft via consent phishing</a:t>
              </a:r>
              <a:endParaRPr lang="en-US" sz="850" dirty="0"/>
            </a:p>
          </p:txBody>
        </p:sp>
        <p:sp>
          <p:nvSpPr>
            <p:cNvPr id="20" name="Shape 18"/>
            <p:cNvSpPr/>
            <p:nvPr/>
          </p:nvSpPr>
          <p:spPr>
            <a:xfrm>
              <a:off x="5532120" y="1847088"/>
              <a:ext cx="3383280" cy="795528"/>
            </a:xfrm>
            <a:prstGeom prst="rect">
              <a:avLst/>
            </a:prstGeom>
            <a:solidFill>
              <a:srgbClr val="F0FBF4"/>
            </a:solidFill>
            <a:ln w="6350">
              <a:solidFill>
                <a:srgbClr val="B0D8BE"/>
              </a:solidFill>
              <a:prstDash val="solid"/>
            </a:ln>
          </p:spPr>
          <p:txBody>
            <a:bodyPr/>
            <a:lstStyle/>
            <a:p>
              <a:endParaRPr lang="en-US"/>
            </a:p>
          </p:txBody>
        </p:sp>
        <p:sp>
          <p:nvSpPr>
            <p:cNvPr id="21" name="Text 19"/>
            <p:cNvSpPr/>
            <p:nvPr/>
          </p:nvSpPr>
          <p:spPr>
            <a:xfrm>
              <a:off x="5596128" y="1865376"/>
              <a:ext cx="3273552" cy="758952"/>
            </a:xfrm>
            <a:prstGeom prst="rect">
              <a:avLst/>
            </a:prstGeom>
            <a:noFill/>
            <a:ln/>
          </p:spPr>
          <p:txBody>
            <a:bodyPr wrap="square" lIns="0" tIns="0" rIns="0" bIns="0" rtlCol="0" anchor="ctr"/>
            <a:lstStyle/>
            <a:p>
              <a:pPr marL="0" indent="0">
                <a:buNone/>
              </a:pPr>
              <a:r>
                <a:rPr lang="en-US" sz="850" dirty="0">
                  <a:solidFill>
                    <a:srgbClr val="1A6B3C"/>
                  </a:solidFill>
                  <a:latin typeface="Calibri" pitchFamily="34" charset="0"/>
                  <a:ea typeface="Calibri" pitchFamily="34" charset="-122"/>
                  <a:cs typeface="Calibri" pitchFamily="34" charset="-120"/>
                </a:rPr>
                <a:t>🛡 HttpOnly cookies; CAEP revocation; OAuth scope restriction; Conditional Access</a:t>
              </a:r>
              <a:endParaRPr lang="en-US" sz="850" dirty="0"/>
            </a:p>
          </p:txBody>
        </p:sp>
        <p:sp>
          <p:nvSpPr>
            <p:cNvPr id="22" name="Shape 20"/>
            <p:cNvSpPr/>
            <p:nvPr/>
          </p:nvSpPr>
          <p:spPr>
            <a:xfrm>
              <a:off x="228600" y="2816352"/>
              <a:ext cx="475488" cy="868680"/>
            </a:xfrm>
            <a:prstGeom prst="rect">
              <a:avLst/>
            </a:prstGeom>
            <a:solidFill>
              <a:srgbClr val="F4A261"/>
            </a:solidFill>
            <a:ln w="12700">
              <a:solidFill>
                <a:srgbClr val="F4A261"/>
              </a:solidFill>
              <a:prstDash val="solid"/>
            </a:ln>
          </p:spPr>
          <p:txBody>
            <a:bodyPr/>
            <a:lstStyle/>
            <a:p>
              <a:endParaRPr lang="en-US"/>
            </a:p>
          </p:txBody>
        </p:sp>
        <p:sp>
          <p:nvSpPr>
            <p:cNvPr id="23" name="Text 21"/>
            <p:cNvSpPr/>
            <p:nvPr/>
          </p:nvSpPr>
          <p:spPr>
            <a:xfrm>
              <a:off x="228600" y="2816352"/>
              <a:ext cx="475488" cy="8686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4" name="Shape 22"/>
            <p:cNvSpPr/>
            <p:nvPr/>
          </p:nvSpPr>
          <p:spPr>
            <a:xfrm>
              <a:off x="749808" y="2816352"/>
              <a:ext cx="1417320" cy="411480"/>
            </a:xfrm>
            <a:prstGeom prst="rect">
              <a:avLst/>
            </a:prstGeom>
            <a:solidFill>
              <a:srgbClr val="F4A261"/>
            </a:solidFill>
            <a:ln w="12700">
              <a:solidFill>
                <a:srgbClr val="F4A261"/>
              </a:solidFill>
              <a:prstDash val="solid"/>
            </a:ln>
          </p:spPr>
          <p:txBody>
            <a:bodyPr/>
            <a:lstStyle/>
            <a:p>
              <a:endParaRPr lang="en-US"/>
            </a:p>
          </p:txBody>
        </p:sp>
        <p:sp>
          <p:nvSpPr>
            <p:cNvPr id="25" name="Text 23"/>
            <p:cNvSpPr/>
            <p:nvPr/>
          </p:nvSpPr>
          <p:spPr>
            <a:xfrm>
              <a:off x="749808" y="2816352"/>
              <a:ext cx="1417320" cy="411480"/>
            </a:xfrm>
            <a:prstGeom prst="rect">
              <a:avLst/>
            </a:prstGeom>
            <a:noFill/>
            <a:ln/>
          </p:spPr>
          <p:txBody>
            <a:bodyPr wrap="square" lIns="50800" tIns="50800" rIns="50800" bIns="5080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Privilege Escalation</a:t>
              </a:r>
              <a:endParaRPr lang="en-US" sz="950" dirty="0"/>
            </a:p>
          </p:txBody>
        </p:sp>
        <p:sp>
          <p:nvSpPr>
            <p:cNvPr id="26" name="Text 24"/>
            <p:cNvSpPr/>
            <p:nvPr/>
          </p:nvSpPr>
          <p:spPr>
            <a:xfrm>
              <a:off x="749808" y="3246120"/>
              <a:ext cx="1417320" cy="384048"/>
            </a:xfrm>
            <a:prstGeom prst="rect">
              <a:avLst/>
            </a:prstGeom>
            <a:noFill/>
            <a:ln/>
          </p:spPr>
          <p:txBody>
            <a:bodyPr wrap="square" lIns="0" tIns="0" rIns="0" bIns="0" rtlCol="0" anchor="ctr"/>
            <a:lstStyle/>
            <a:p>
              <a:pPr marL="0" indent="0">
                <a:buNone/>
              </a:pPr>
              <a:r>
                <a:rPr lang="en-US" sz="750" i="1" dirty="0">
                  <a:solidFill>
                    <a:srgbClr val="F4A261"/>
                  </a:solidFill>
                  <a:latin typeface="Calibri" pitchFamily="34" charset="0"/>
                  <a:ea typeface="Calibri" pitchFamily="34" charset="-122"/>
                  <a:cs typeface="Calibri" pitchFamily="34" charset="-120"/>
                </a:rPr>
                <a:t>MITRE: T1606.002, T1134</a:t>
              </a:r>
              <a:endParaRPr lang="en-US" sz="750" dirty="0"/>
            </a:p>
          </p:txBody>
        </p:sp>
        <p:sp>
          <p:nvSpPr>
            <p:cNvPr id="27" name="Shape 25"/>
            <p:cNvSpPr/>
            <p:nvPr/>
          </p:nvSpPr>
          <p:spPr>
            <a:xfrm>
              <a:off x="2240280" y="2852928"/>
              <a:ext cx="3200400" cy="795528"/>
            </a:xfrm>
            <a:prstGeom prst="rect">
              <a:avLst/>
            </a:prstGeom>
            <a:solidFill>
              <a:srgbClr val="FDF2F2"/>
            </a:solidFill>
            <a:ln w="6350">
              <a:solidFill>
                <a:srgbClr val="E8C0C0"/>
              </a:solidFill>
              <a:prstDash val="solid"/>
            </a:ln>
          </p:spPr>
          <p:txBody>
            <a:bodyPr/>
            <a:lstStyle/>
            <a:p>
              <a:endParaRPr lang="en-US"/>
            </a:p>
          </p:txBody>
        </p:sp>
        <p:sp>
          <p:nvSpPr>
            <p:cNvPr id="28" name="Text 26"/>
            <p:cNvSpPr/>
            <p:nvPr/>
          </p:nvSpPr>
          <p:spPr>
            <a:xfrm>
              <a:off x="2304288" y="2871216"/>
              <a:ext cx="3090672" cy="758952"/>
            </a:xfrm>
            <a:prstGeom prst="rect">
              <a:avLst/>
            </a:prstGeom>
            <a:noFill/>
            <a:ln/>
          </p:spPr>
          <p:txBody>
            <a:bodyPr wrap="square" lIns="0" tIns="0" rIns="0" bIns="0" rtlCol="0" anchor="ctr"/>
            <a:lstStyle/>
            <a:p>
              <a:pPr marL="0" indent="0">
                <a:buNone/>
              </a:pPr>
              <a:r>
                <a:rPr lang="en-US" sz="850" dirty="0">
                  <a:solidFill>
                    <a:srgbClr val="8B0000"/>
                  </a:solidFill>
                  <a:latin typeface="Calibri" pitchFamily="34" charset="0"/>
                  <a:ea typeface="Calibri" pitchFamily="34" charset="-122"/>
                  <a:cs typeface="Calibri" pitchFamily="34" charset="-120"/>
                </a:rPr>
                <a:t>⚔ Golden SAML (ADFS cert theft), token impersonation, Kerberoasting</a:t>
              </a:r>
              <a:endParaRPr lang="en-US" sz="850" dirty="0"/>
            </a:p>
          </p:txBody>
        </p:sp>
        <p:sp>
          <p:nvSpPr>
            <p:cNvPr id="29" name="Shape 27"/>
            <p:cNvSpPr/>
            <p:nvPr/>
          </p:nvSpPr>
          <p:spPr>
            <a:xfrm>
              <a:off x="5532120" y="2852928"/>
              <a:ext cx="3383280" cy="795528"/>
            </a:xfrm>
            <a:prstGeom prst="rect">
              <a:avLst/>
            </a:prstGeom>
            <a:solidFill>
              <a:srgbClr val="F0FBF4"/>
            </a:solidFill>
            <a:ln w="6350">
              <a:solidFill>
                <a:srgbClr val="B0D8BE"/>
              </a:solidFill>
              <a:prstDash val="solid"/>
            </a:ln>
          </p:spPr>
          <p:txBody>
            <a:bodyPr/>
            <a:lstStyle/>
            <a:p>
              <a:endParaRPr lang="en-US"/>
            </a:p>
          </p:txBody>
        </p:sp>
        <p:sp>
          <p:nvSpPr>
            <p:cNvPr id="30" name="Text 28"/>
            <p:cNvSpPr/>
            <p:nvPr/>
          </p:nvSpPr>
          <p:spPr>
            <a:xfrm>
              <a:off x="5596128" y="2871216"/>
              <a:ext cx="3273552" cy="758952"/>
            </a:xfrm>
            <a:prstGeom prst="rect">
              <a:avLst/>
            </a:prstGeom>
            <a:noFill/>
            <a:ln/>
          </p:spPr>
          <p:txBody>
            <a:bodyPr wrap="square" lIns="0" tIns="0" rIns="0" bIns="0" rtlCol="0" anchor="ctr"/>
            <a:lstStyle/>
            <a:p>
              <a:pPr marL="0" indent="0">
                <a:buNone/>
              </a:pPr>
              <a:r>
                <a:rPr lang="en-US" sz="850" dirty="0">
                  <a:solidFill>
                    <a:srgbClr val="1A6B3C"/>
                  </a:solidFill>
                  <a:latin typeface="Calibri" pitchFamily="34" charset="0"/>
                  <a:ea typeface="Calibri" pitchFamily="34" charset="-122"/>
                  <a:cs typeface="Calibri" pitchFamily="34" charset="-120"/>
                </a:rPr>
                <a:t>🛡 Tier-0 ADFS/DC protection; short-lived tokens; JIT access via Entra PIM</a:t>
              </a:r>
              <a:endParaRPr lang="en-US" sz="850" dirty="0"/>
            </a:p>
          </p:txBody>
        </p:sp>
        <p:sp>
          <p:nvSpPr>
            <p:cNvPr id="31" name="Shape 29"/>
            <p:cNvSpPr/>
            <p:nvPr/>
          </p:nvSpPr>
          <p:spPr>
            <a:xfrm>
              <a:off x="228600" y="3822192"/>
              <a:ext cx="475488" cy="868680"/>
            </a:xfrm>
            <a:prstGeom prst="rect">
              <a:avLst/>
            </a:prstGeom>
            <a:solidFill>
              <a:srgbClr val="D97706"/>
            </a:solidFill>
            <a:ln w="12700">
              <a:solidFill>
                <a:srgbClr val="D97706"/>
              </a:solidFill>
              <a:prstDash val="solid"/>
            </a:ln>
          </p:spPr>
          <p:txBody>
            <a:bodyPr/>
            <a:lstStyle/>
            <a:p>
              <a:endParaRPr lang="en-US"/>
            </a:p>
          </p:txBody>
        </p:sp>
        <p:sp>
          <p:nvSpPr>
            <p:cNvPr id="32" name="Text 30"/>
            <p:cNvSpPr/>
            <p:nvPr/>
          </p:nvSpPr>
          <p:spPr>
            <a:xfrm>
              <a:off x="228600" y="3822192"/>
              <a:ext cx="475488" cy="8686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33" name="Shape 31"/>
            <p:cNvSpPr/>
            <p:nvPr/>
          </p:nvSpPr>
          <p:spPr>
            <a:xfrm>
              <a:off x="749808" y="3822192"/>
              <a:ext cx="1417320" cy="411480"/>
            </a:xfrm>
            <a:prstGeom prst="rect">
              <a:avLst/>
            </a:prstGeom>
            <a:solidFill>
              <a:srgbClr val="D97706"/>
            </a:solidFill>
            <a:ln w="12700">
              <a:solidFill>
                <a:srgbClr val="D97706"/>
              </a:solidFill>
              <a:prstDash val="solid"/>
            </a:ln>
          </p:spPr>
          <p:txBody>
            <a:bodyPr/>
            <a:lstStyle/>
            <a:p>
              <a:endParaRPr lang="en-US"/>
            </a:p>
          </p:txBody>
        </p:sp>
        <p:sp>
          <p:nvSpPr>
            <p:cNvPr id="34" name="Text 32"/>
            <p:cNvSpPr/>
            <p:nvPr/>
          </p:nvSpPr>
          <p:spPr>
            <a:xfrm>
              <a:off x="749808" y="3822192"/>
              <a:ext cx="1417320" cy="411480"/>
            </a:xfrm>
            <a:prstGeom prst="rect">
              <a:avLst/>
            </a:prstGeom>
            <a:noFill/>
            <a:ln/>
          </p:spPr>
          <p:txBody>
            <a:bodyPr wrap="square" lIns="50800" tIns="50800" rIns="50800" bIns="5080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Lateral Movement</a:t>
              </a:r>
              <a:endParaRPr lang="en-US" sz="950" dirty="0"/>
            </a:p>
          </p:txBody>
        </p:sp>
        <p:sp>
          <p:nvSpPr>
            <p:cNvPr id="35" name="Text 33"/>
            <p:cNvSpPr/>
            <p:nvPr/>
          </p:nvSpPr>
          <p:spPr>
            <a:xfrm>
              <a:off x="749808" y="4251960"/>
              <a:ext cx="1417320" cy="384048"/>
            </a:xfrm>
            <a:prstGeom prst="rect">
              <a:avLst/>
            </a:prstGeom>
            <a:noFill/>
            <a:ln/>
          </p:spPr>
          <p:txBody>
            <a:bodyPr wrap="square" lIns="0" tIns="0" rIns="0" bIns="0" rtlCol="0" anchor="ctr"/>
            <a:lstStyle/>
            <a:p>
              <a:pPr marL="0" indent="0">
                <a:buNone/>
              </a:pPr>
              <a:r>
                <a:rPr lang="en-US" sz="750" i="1" dirty="0">
                  <a:solidFill>
                    <a:srgbClr val="D97706"/>
                  </a:solidFill>
                  <a:latin typeface="Calibri" pitchFamily="34" charset="0"/>
                  <a:ea typeface="Calibri" pitchFamily="34" charset="-122"/>
                  <a:cs typeface="Calibri" pitchFamily="34" charset="-120"/>
                </a:rPr>
                <a:t>MITRE: T1550.001, T1550.003</a:t>
              </a:r>
              <a:endParaRPr lang="en-US" sz="750" dirty="0"/>
            </a:p>
          </p:txBody>
        </p:sp>
        <p:sp>
          <p:nvSpPr>
            <p:cNvPr id="36" name="Shape 34"/>
            <p:cNvSpPr/>
            <p:nvPr/>
          </p:nvSpPr>
          <p:spPr>
            <a:xfrm>
              <a:off x="2240280" y="3858768"/>
              <a:ext cx="3200400" cy="795528"/>
            </a:xfrm>
            <a:prstGeom prst="rect">
              <a:avLst/>
            </a:prstGeom>
            <a:solidFill>
              <a:srgbClr val="FDF2F2"/>
            </a:solidFill>
            <a:ln w="6350">
              <a:solidFill>
                <a:srgbClr val="E8C0C0"/>
              </a:solidFill>
              <a:prstDash val="solid"/>
            </a:ln>
          </p:spPr>
          <p:txBody>
            <a:bodyPr/>
            <a:lstStyle/>
            <a:p>
              <a:endParaRPr lang="en-US"/>
            </a:p>
          </p:txBody>
        </p:sp>
        <p:sp>
          <p:nvSpPr>
            <p:cNvPr id="37" name="Text 35"/>
            <p:cNvSpPr/>
            <p:nvPr/>
          </p:nvSpPr>
          <p:spPr>
            <a:xfrm>
              <a:off x="2304288" y="3877056"/>
              <a:ext cx="3090672" cy="758952"/>
            </a:xfrm>
            <a:prstGeom prst="rect">
              <a:avLst/>
            </a:prstGeom>
            <a:noFill/>
            <a:ln/>
          </p:spPr>
          <p:txBody>
            <a:bodyPr wrap="square" lIns="0" tIns="0" rIns="0" bIns="0" rtlCol="0" anchor="ctr"/>
            <a:lstStyle/>
            <a:p>
              <a:pPr marL="0" indent="0">
                <a:buNone/>
              </a:pPr>
              <a:r>
                <a:rPr lang="en-US" sz="850" dirty="0">
                  <a:solidFill>
                    <a:srgbClr val="8B0000"/>
                  </a:solidFill>
                  <a:latin typeface="Calibri" pitchFamily="34" charset="0"/>
                  <a:ea typeface="Calibri" pitchFamily="34" charset="-122"/>
                  <a:cs typeface="Calibri" pitchFamily="34" charset="-120"/>
                </a:rPr>
                <a:t>⚔ OAuth token replay, Pass-the-Ticket across federated services</a:t>
              </a:r>
              <a:endParaRPr lang="en-US" sz="850" dirty="0"/>
            </a:p>
          </p:txBody>
        </p:sp>
        <p:sp>
          <p:nvSpPr>
            <p:cNvPr id="38" name="Shape 36"/>
            <p:cNvSpPr/>
            <p:nvPr/>
          </p:nvSpPr>
          <p:spPr>
            <a:xfrm>
              <a:off x="5532120" y="3858768"/>
              <a:ext cx="3383280" cy="795528"/>
            </a:xfrm>
            <a:prstGeom prst="rect">
              <a:avLst/>
            </a:prstGeom>
            <a:solidFill>
              <a:srgbClr val="F0FBF4"/>
            </a:solidFill>
            <a:ln w="6350">
              <a:solidFill>
                <a:srgbClr val="B0D8BE"/>
              </a:solidFill>
              <a:prstDash val="solid"/>
            </a:ln>
          </p:spPr>
          <p:txBody>
            <a:bodyPr/>
            <a:lstStyle/>
            <a:p>
              <a:endParaRPr lang="en-US"/>
            </a:p>
          </p:txBody>
        </p:sp>
        <p:sp>
          <p:nvSpPr>
            <p:cNvPr id="39" name="Text 37"/>
            <p:cNvSpPr/>
            <p:nvPr/>
          </p:nvSpPr>
          <p:spPr>
            <a:xfrm>
              <a:off x="5596128" y="3877056"/>
              <a:ext cx="3273552" cy="758952"/>
            </a:xfrm>
            <a:prstGeom prst="rect">
              <a:avLst/>
            </a:prstGeom>
            <a:noFill/>
            <a:ln/>
          </p:spPr>
          <p:txBody>
            <a:bodyPr wrap="square" lIns="0" tIns="0" rIns="0" bIns="0" rtlCol="0" anchor="ctr"/>
            <a:lstStyle/>
            <a:p>
              <a:pPr marL="0" indent="0">
                <a:buNone/>
              </a:pPr>
              <a:r>
                <a:rPr lang="en-US" sz="850" dirty="0">
                  <a:solidFill>
                    <a:srgbClr val="1A6B3C"/>
                  </a:solidFill>
                  <a:latin typeface="Calibri" pitchFamily="34" charset="0"/>
                  <a:ea typeface="Calibri" pitchFamily="34" charset="-122"/>
                  <a:cs typeface="Calibri" pitchFamily="34" charset="-120"/>
                </a:rPr>
                <a:t>🛡 DPoP (RFC 9449) token binding; refresh token rotation; zero standing privileges</a:t>
              </a:r>
              <a:endParaRPr lang="en-US" sz="850" dirty="0"/>
            </a:p>
          </p:txBody>
        </p:sp>
        <p:sp>
          <p:nvSpPr>
            <p:cNvPr id="40" name="Shape 38"/>
            <p:cNvSpPr/>
            <p:nvPr/>
          </p:nvSpPr>
          <p:spPr>
            <a:xfrm>
              <a:off x="228600" y="4828032"/>
              <a:ext cx="475488" cy="868680"/>
            </a:xfrm>
            <a:prstGeom prst="rect">
              <a:avLst/>
            </a:prstGeom>
            <a:solidFill>
              <a:srgbClr val="1B998B"/>
            </a:solidFill>
            <a:ln w="12700">
              <a:solidFill>
                <a:srgbClr val="1B998B"/>
              </a:solidFill>
              <a:prstDash val="solid"/>
            </a:ln>
          </p:spPr>
          <p:txBody>
            <a:bodyPr/>
            <a:lstStyle/>
            <a:p>
              <a:endParaRPr lang="en-US"/>
            </a:p>
          </p:txBody>
        </p:sp>
        <p:sp>
          <p:nvSpPr>
            <p:cNvPr id="41" name="Text 39"/>
            <p:cNvSpPr/>
            <p:nvPr/>
          </p:nvSpPr>
          <p:spPr>
            <a:xfrm>
              <a:off x="228600" y="4828032"/>
              <a:ext cx="475488" cy="8686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42" name="Shape 40"/>
            <p:cNvSpPr/>
            <p:nvPr/>
          </p:nvSpPr>
          <p:spPr>
            <a:xfrm>
              <a:off x="749808" y="4828032"/>
              <a:ext cx="1417320" cy="411480"/>
            </a:xfrm>
            <a:prstGeom prst="rect">
              <a:avLst/>
            </a:prstGeom>
            <a:solidFill>
              <a:srgbClr val="1B998B"/>
            </a:solidFill>
            <a:ln w="12700">
              <a:solidFill>
                <a:srgbClr val="1B998B"/>
              </a:solidFill>
              <a:prstDash val="solid"/>
            </a:ln>
          </p:spPr>
          <p:txBody>
            <a:bodyPr/>
            <a:lstStyle/>
            <a:p>
              <a:endParaRPr lang="en-US"/>
            </a:p>
          </p:txBody>
        </p:sp>
        <p:sp>
          <p:nvSpPr>
            <p:cNvPr id="43" name="Text 41"/>
            <p:cNvSpPr/>
            <p:nvPr/>
          </p:nvSpPr>
          <p:spPr>
            <a:xfrm>
              <a:off x="749808" y="4828032"/>
              <a:ext cx="1417320" cy="411480"/>
            </a:xfrm>
            <a:prstGeom prst="rect">
              <a:avLst/>
            </a:prstGeom>
            <a:noFill/>
            <a:ln/>
          </p:spPr>
          <p:txBody>
            <a:bodyPr wrap="square" lIns="50800" tIns="50800" rIns="50800" bIns="5080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Persistence</a:t>
              </a:r>
              <a:endParaRPr lang="en-US" sz="950" dirty="0"/>
            </a:p>
          </p:txBody>
        </p:sp>
        <p:sp>
          <p:nvSpPr>
            <p:cNvPr id="44" name="Text 42"/>
            <p:cNvSpPr/>
            <p:nvPr/>
          </p:nvSpPr>
          <p:spPr>
            <a:xfrm>
              <a:off x="749808" y="5257800"/>
              <a:ext cx="1417320" cy="384048"/>
            </a:xfrm>
            <a:prstGeom prst="rect">
              <a:avLst/>
            </a:prstGeom>
            <a:noFill/>
            <a:ln/>
          </p:spPr>
          <p:txBody>
            <a:bodyPr wrap="square" lIns="0" tIns="0" rIns="0" bIns="0" rtlCol="0" anchor="ctr"/>
            <a:lstStyle/>
            <a:p>
              <a:pPr marL="0" indent="0">
                <a:buNone/>
              </a:pPr>
              <a:r>
                <a:rPr lang="en-US" sz="750" i="1" dirty="0">
                  <a:solidFill>
                    <a:srgbClr val="1B998B"/>
                  </a:solidFill>
                  <a:latin typeface="Calibri" pitchFamily="34" charset="0"/>
                  <a:ea typeface="Calibri" pitchFamily="34" charset="-122"/>
                  <a:cs typeface="Calibri" pitchFamily="34" charset="-120"/>
                </a:rPr>
                <a:t>MITRE: T1136, T1556, T1098</a:t>
              </a:r>
              <a:endParaRPr lang="en-US" sz="750" dirty="0"/>
            </a:p>
          </p:txBody>
        </p:sp>
        <p:sp>
          <p:nvSpPr>
            <p:cNvPr id="45" name="Shape 43"/>
            <p:cNvSpPr/>
            <p:nvPr/>
          </p:nvSpPr>
          <p:spPr>
            <a:xfrm>
              <a:off x="2240280" y="4864608"/>
              <a:ext cx="3200400" cy="795528"/>
            </a:xfrm>
            <a:prstGeom prst="rect">
              <a:avLst/>
            </a:prstGeom>
            <a:solidFill>
              <a:srgbClr val="FDF2F2"/>
            </a:solidFill>
            <a:ln w="6350">
              <a:solidFill>
                <a:srgbClr val="E8C0C0"/>
              </a:solidFill>
              <a:prstDash val="solid"/>
            </a:ln>
          </p:spPr>
          <p:txBody>
            <a:bodyPr/>
            <a:lstStyle/>
            <a:p>
              <a:endParaRPr lang="en-US"/>
            </a:p>
          </p:txBody>
        </p:sp>
        <p:sp>
          <p:nvSpPr>
            <p:cNvPr id="46" name="Text 44"/>
            <p:cNvSpPr/>
            <p:nvPr/>
          </p:nvSpPr>
          <p:spPr>
            <a:xfrm>
              <a:off x="2304288" y="4882896"/>
              <a:ext cx="3090672" cy="758952"/>
            </a:xfrm>
            <a:prstGeom prst="rect">
              <a:avLst/>
            </a:prstGeom>
            <a:noFill/>
            <a:ln/>
          </p:spPr>
          <p:txBody>
            <a:bodyPr wrap="square" lIns="0" tIns="0" rIns="0" bIns="0" rtlCol="0" anchor="ctr"/>
            <a:lstStyle/>
            <a:p>
              <a:pPr marL="0" indent="0">
                <a:buNone/>
              </a:pPr>
              <a:r>
                <a:rPr lang="en-US" sz="850" dirty="0">
                  <a:solidFill>
                    <a:srgbClr val="8B0000"/>
                  </a:solidFill>
                  <a:latin typeface="Calibri" pitchFamily="34" charset="0"/>
                  <a:ea typeface="Calibri" pitchFamily="34" charset="-122"/>
                  <a:cs typeface="Calibri" pitchFamily="34" charset="-120"/>
                </a:rPr>
                <a:t>⚔ Rogue account creation, auth process modification (skeleton key), OAuth app consent</a:t>
              </a:r>
              <a:endParaRPr lang="en-US" sz="850" dirty="0"/>
            </a:p>
          </p:txBody>
        </p:sp>
        <p:sp>
          <p:nvSpPr>
            <p:cNvPr id="47" name="Shape 45"/>
            <p:cNvSpPr/>
            <p:nvPr/>
          </p:nvSpPr>
          <p:spPr>
            <a:xfrm>
              <a:off x="5532120" y="4864608"/>
              <a:ext cx="3383280" cy="795528"/>
            </a:xfrm>
            <a:prstGeom prst="rect">
              <a:avLst/>
            </a:prstGeom>
            <a:solidFill>
              <a:srgbClr val="F0FBF4"/>
            </a:solidFill>
            <a:ln w="6350">
              <a:solidFill>
                <a:srgbClr val="B0D8BE"/>
              </a:solidFill>
              <a:prstDash val="solid"/>
            </a:ln>
          </p:spPr>
          <p:txBody>
            <a:bodyPr/>
            <a:lstStyle/>
            <a:p>
              <a:endParaRPr lang="en-US"/>
            </a:p>
          </p:txBody>
        </p:sp>
        <p:sp>
          <p:nvSpPr>
            <p:cNvPr id="48" name="Text 46"/>
            <p:cNvSpPr/>
            <p:nvPr/>
          </p:nvSpPr>
          <p:spPr>
            <a:xfrm>
              <a:off x="5596128" y="4882896"/>
              <a:ext cx="3273552" cy="758952"/>
            </a:xfrm>
            <a:prstGeom prst="rect">
              <a:avLst/>
            </a:prstGeom>
            <a:noFill/>
            <a:ln/>
          </p:spPr>
          <p:txBody>
            <a:bodyPr wrap="square" lIns="0" tIns="0" rIns="0" bIns="0" rtlCol="0" anchor="ctr"/>
            <a:lstStyle/>
            <a:p>
              <a:pPr marL="0" indent="0">
                <a:buNone/>
              </a:pPr>
              <a:r>
                <a:rPr lang="en-US" sz="850" dirty="0">
                  <a:solidFill>
                    <a:srgbClr val="1A6B3C"/>
                  </a:solidFill>
                  <a:latin typeface="Calibri" pitchFamily="34" charset="0"/>
                  <a:ea typeface="Calibri" pitchFamily="34" charset="-122"/>
                  <a:cs typeface="Calibri" pitchFamily="34" charset="-120"/>
                </a:rPr>
                <a:t>🛡 IGA access reviews; EDR on DCs; restrict OAuth consent to approved apps</a:t>
              </a:r>
              <a:endParaRPr lang="en-US" sz="850" dirty="0"/>
            </a:p>
          </p:txBody>
        </p:sp>
        <p:sp>
          <p:nvSpPr>
            <p:cNvPr id="50" name="Text 48"/>
            <p:cNvSpPr/>
            <p:nvPr/>
          </p:nvSpPr>
          <p:spPr>
            <a:xfrm>
              <a:off x="2240280" y="694944"/>
              <a:ext cx="3200400" cy="164592"/>
            </a:xfrm>
            <a:prstGeom prst="rect">
              <a:avLst/>
            </a:prstGeom>
            <a:noFill/>
            <a:ln/>
          </p:spPr>
          <p:txBody>
            <a:bodyPr wrap="square" lIns="0" tIns="0" rIns="0" bIns="0" rtlCol="0" anchor="ctr"/>
            <a:lstStyle/>
            <a:p>
              <a:pPr marL="0" indent="0">
                <a:buNone/>
              </a:pPr>
              <a:r>
                <a:rPr lang="en-US" sz="800" b="1" dirty="0">
                  <a:solidFill>
                    <a:srgbClr val="8B0000"/>
                  </a:solidFill>
                  <a:latin typeface="Calibri" pitchFamily="34" charset="0"/>
                  <a:ea typeface="Calibri" pitchFamily="34" charset="-122"/>
                  <a:cs typeface="Calibri" pitchFamily="34" charset="-120"/>
                </a:rPr>
                <a:t>Attack Technique</a:t>
              </a:r>
              <a:endParaRPr lang="en-US" sz="800" dirty="0"/>
            </a:p>
          </p:txBody>
        </p:sp>
        <p:sp>
          <p:nvSpPr>
            <p:cNvPr id="51" name="Text 49"/>
            <p:cNvSpPr/>
            <p:nvPr/>
          </p:nvSpPr>
          <p:spPr>
            <a:xfrm>
              <a:off x="5532120" y="694944"/>
              <a:ext cx="3383280" cy="164592"/>
            </a:xfrm>
            <a:prstGeom prst="rect">
              <a:avLst/>
            </a:prstGeom>
            <a:noFill/>
            <a:ln/>
          </p:spPr>
          <p:txBody>
            <a:bodyPr wrap="square" lIns="0" tIns="0" rIns="0" bIns="0" rtlCol="0" anchor="ctr"/>
            <a:lstStyle/>
            <a:p>
              <a:pPr marL="0" indent="0">
                <a:buNone/>
              </a:pPr>
              <a:r>
                <a:rPr lang="en-US" sz="800" b="1" dirty="0">
                  <a:solidFill>
                    <a:srgbClr val="1A6B3C"/>
                  </a:solidFill>
                  <a:latin typeface="Calibri" pitchFamily="34" charset="0"/>
                  <a:ea typeface="Calibri" pitchFamily="34" charset="-122"/>
                  <a:cs typeface="Calibri" pitchFamily="34" charset="-120"/>
                </a:rPr>
                <a:t>Identity Control / Mitigation</a:t>
              </a:r>
              <a:endParaRPr lang="en-US" sz="800" dirty="0"/>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75"/>
          </a:solidFill>
          <a:ln w="12700">
            <a:solidFill>
              <a:srgbClr val="0F4C75"/>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Modern Identity for APIs &amp; Machine-to-Machine</a:t>
            </a:r>
            <a:endParaRPr lang="en-US" sz="1900" dirty="0"/>
          </a:p>
        </p:txBody>
      </p:sp>
      <p:sp>
        <p:nvSpPr>
          <p:cNvPr id="4" name="Text 2"/>
          <p:cNvSpPr/>
          <p:nvPr/>
        </p:nvSpPr>
        <p:spPr>
          <a:xfrm>
            <a:off x="274320" y="804672"/>
            <a:ext cx="4114800" cy="274320"/>
          </a:xfrm>
          <a:prstGeom prst="rect">
            <a:avLst/>
          </a:prstGeom>
          <a:noFill/>
          <a:ln/>
        </p:spPr>
        <p:txBody>
          <a:bodyPr wrap="square" lIns="0" tIns="0" rIns="0" bIns="0" rtlCol="0" anchor="ctr"/>
          <a:lstStyle/>
          <a:p>
            <a:pPr marL="0" indent="0">
              <a:buNone/>
            </a:pPr>
            <a:r>
              <a:rPr lang="en-US" sz="1300" b="1" dirty="0">
                <a:solidFill>
                  <a:srgbClr val="0F4C75"/>
                </a:solidFill>
                <a:latin typeface="Calibri" pitchFamily="34" charset="0"/>
                <a:ea typeface="Calibri" pitchFamily="34" charset="-122"/>
                <a:cs typeface="Calibri" pitchFamily="34" charset="-120"/>
              </a:rPr>
              <a:t>OAuth 2.0 Patterns for APIs</a:t>
            </a:r>
            <a:endParaRPr lang="en-US" sz="1300" dirty="0"/>
          </a:p>
        </p:txBody>
      </p:sp>
      <p:sp>
        <p:nvSpPr>
          <p:cNvPr id="5" name="Shape 3"/>
          <p:cNvSpPr/>
          <p:nvPr/>
        </p:nvSpPr>
        <p:spPr>
          <a:xfrm>
            <a:off x="274320" y="1143000"/>
            <a:ext cx="4023360" cy="91440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6" name="Shape 4"/>
          <p:cNvSpPr/>
          <p:nvPr/>
        </p:nvSpPr>
        <p:spPr>
          <a:xfrm>
            <a:off x="274320" y="1143000"/>
            <a:ext cx="73152" cy="914400"/>
          </a:xfrm>
          <a:prstGeom prst="rect">
            <a:avLst/>
          </a:prstGeom>
          <a:solidFill>
            <a:srgbClr val="0F4C75"/>
          </a:solidFill>
          <a:ln w="12700">
            <a:solidFill>
              <a:srgbClr val="0F4C75"/>
            </a:solidFill>
            <a:prstDash val="solid"/>
          </a:ln>
        </p:spPr>
        <p:txBody>
          <a:bodyPr/>
          <a:lstStyle/>
          <a:p>
            <a:endParaRPr lang="en-US"/>
          </a:p>
        </p:txBody>
      </p:sp>
      <p:sp>
        <p:nvSpPr>
          <p:cNvPr id="7" name="Text 5"/>
          <p:cNvSpPr/>
          <p:nvPr/>
        </p:nvSpPr>
        <p:spPr>
          <a:xfrm>
            <a:off x="420624" y="1197864"/>
            <a:ext cx="3803904" cy="219456"/>
          </a:xfrm>
          <a:prstGeom prst="rect">
            <a:avLst/>
          </a:prstGeom>
          <a:noFill/>
          <a:ln/>
        </p:spPr>
        <p:txBody>
          <a:bodyPr wrap="square" lIns="0" tIns="0" rIns="0" bIns="0" rtlCol="0" anchor="ctr"/>
          <a:lstStyle/>
          <a:p>
            <a:pPr marL="0" indent="0">
              <a:buNone/>
            </a:pPr>
            <a:r>
              <a:rPr lang="en-US" sz="1050" b="1" dirty="0">
                <a:solidFill>
                  <a:srgbClr val="0F4C75"/>
                </a:solidFill>
                <a:latin typeface="Calibri" pitchFamily="34" charset="0"/>
                <a:ea typeface="Calibri" pitchFamily="34" charset="-122"/>
                <a:cs typeface="Calibri" pitchFamily="34" charset="-120"/>
              </a:rPr>
              <a:t>Authorization Code + PKCE</a:t>
            </a:r>
            <a:endParaRPr lang="en-US" sz="1050" dirty="0"/>
          </a:p>
        </p:txBody>
      </p:sp>
      <p:sp>
        <p:nvSpPr>
          <p:cNvPr id="8" name="Text 6"/>
          <p:cNvSpPr/>
          <p:nvPr/>
        </p:nvSpPr>
        <p:spPr>
          <a:xfrm>
            <a:off x="420624" y="1417320"/>
            <a:ext cx="3803904" cy="201168"/>
          </a:xfrm>
          <a:prstGeom prst="rect">
            <a:avLst/>
          </a:prstGeom>
          <a:noFill/>
          <a:ln/>
        </p:spPr>
        <p:txBody>
          <a:bodyPr wrap="square" lIns="0" tIns="0" rIns="0" bIns="0" rtlCol="0" anchor="ctr"/>
          <a:lstStyle/>
          <a:p>
            <a:pPr marL="0" indent="0">
              <a:buNone/>
            </a:pPr>
            <a:r>
              <a:rPr lang="en-US" sz="900" i="1" dirty="0">
                <a:solidFill>
                  <a:srgbClr val="4B6076"/>
                </a:solidFill>
                <a:latin typeface="Calibri" pitchFamily="34" charset="0"/>
                <a:ea typeface="Calibri" pitchFamily="34" charset="-122"/>
                <a:cs typeface="Calibri" pitchFamily="34" charset="-120"/>
              </a:rPr>
              <a:t>User-facing web/mobile apps calling APIs on behalf of user</a:t>
            </a:r>
            <a:endParaRPr lang="en-US" sz="900" dirty="0"/>
          </a:p>
        </p:txBody>
      </p:sp>
      <p:sp>
        <p:nvSpPr>
          <p:cNvPr id="9" name="Text 7"/>
          <p:cNvSpPr/>
          <p:nvPr/>
        </p:nvSpPr>
        <p:spPr>
          <a:xfrm>
            <a:off x="420624" y="1618488"/>
            <a:ext cx="3803904" cy="384048"/>
          </a:xfrm>
          <a:prstGeom prst="rect">
            <a:avLst/>
          </a:prstGeom>
          <a:noFill/>
          <a:ln/>
        </p:spPr>
        <p:txBody>
          <a:bodyPr wrap="square" lIns="0" tIns="0" rIns="0" bIns="0" rtlCol="0" anchor="ctr"/>
          <a:lstStyle/>
          <a:p>
            <a:pPr marL="0" indent="0">
              <a:buNone/>
            </a:pPr>
            <a:r>
              <a:rPr lang="en-US" sz="900" dirty="0">
                <a:solidFill>
                  <a:srgbClr val="1A2E44"/>
                </a:solidFill>
                <a:latin typeface="Calibri" pitchFamily="34" charset="0"/>
                <a:ea typeface="Calibri" pitchFamily="34" charset="-122"/>
                <a:cs typeface="Calibri" pitchFamily="34" charset="-120"/>
              </a:rPr>
              <a:t>Auth Code exchanged at /token with PKCE code_verifier. Returns short-lived AT (JWT or opaque) + optional RT.</a:t>
            </a:r>
            <a:endParaRPr lang="en-US" sz="900" dirty="0"/>
          </a:p>
        </p:txBody>
      </p:sp>
      <p:sp>
        <p:nvSpPr>
          <p:cNvPr id="10" name="Shape 8"/>
          <p:cNvSpPr/>
          <p:nvPr/>
        </p:nvSpPr>
        <p:spPr>
          <a:xfrm>
            <a:off x="274320" y="2148840"/>
            <a:ext cx="4023360" cy="91440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11" name="Shape 9"/>
          <p:cNvSpPr/>
          <p:nvPr/>
        </p:nvSpPr>
        <p:spPr>
          <a:xfrm>
            <a:off x="274320" y="2148840"/>
            <a:ext cx="73152" cy="914400"/>
          </a:xfrm>
          <a:prstGeom prst="rect">
            <a:avLst/>
          </a:prstGeom>
          <a:solidFill>
            <a:srgbClr val="1B998B"/>
          </a:solidFill>
          <a:ln w="12700">
            <a:solidFill>
              <a:srgbClr val="1B998B"/>
            </a:solidFill>
            <a:prstDash val="solid"/>
          </a:ln>
        </p:spPr>
        <p:txBody>
          <a:bodyPr/>
          <a:lstStyle/>
          <a:p>
            <a:endParaRPr lang="en-US"/>
          </a:p>
        </p:txBody>
      </p:sp>
      <p:sp>
        <p:nvSpPr>
          <p:cNvPr id="12" name="Text 10"/>
          <p:cNvSpPr/>
          <p:nvPr/>
        </p:nvSpPr>
        <p:spPr>
          <a:xfrm>
            <a:off x="420624" y="2203704"/>
            <a:ext cx="3803904" cy="219456"/>
          </a:xfrm>
          <a:prstGeom prst="rect">
            <a:avLst/>
          </a:prstGeom>
          <a:noFill/>
          <a:ln/>
        </p:spPr>
        <p:txBody>
          <a:bodyPr wrap="square" lIns="0" tIns="0" rIns="0" bIns="0" rtlCol="0" anchor="ctr"/>
          <a:lstStyle/>
          <a:p>
            <a:pPr marL="0" indent="0">
              <a:buNone/>
            </a:pPr>
            <a:r>
              <a:rPr lang="en-US" sz="1050" b="1" dirty="0">
                <a:solidFill>
                  <a:srgbClr val="1B998B"/>
                </a:solidFill>
                <a:latin typeface="Calibri" pitchFamily="34" charset="0"/>
                <a:ea typeface="Calibri" pitchFamily="34" charset="-122"/>
                <a:cs typeface="Calibri" pitchFamily="34" charset="-120"/>
              </a:rPr>
              <a:t>Client Credentials</a:t>
            </a:r>
            <a:endParaRPr lang="en-US" sz="1050" dirty="0"/>
          </a:p>
        </p:txBody>
      </p:sp>
      <p:sp>
        <p:nvSpPr>
          <p:cNvPr id="13" name="Text 11"/>
          <p:cNvSpPr/>
          <p:nvPr/>
        </p:nvSpPr>
        <p:spPr>
          <a:xfrm>
            <a:off x="420624" y="2423160"/>
            <a:ext cx="3803904" cy="201168"/>
          </a:xfrm>
          <a:prstGeom prst="rect">
            <a:avLst/>
          </a:prstGeom>
          <a:noFill/>
          <a:ln/>
        </p:spPr>
        <p:txBody>
          <a:bodyPr wrap="square" lIns="0" tIns="0" rIns="0" bIns="0" rtlCol="0" anchor="ctr"/>
          <a:lstStyle/>
          <a:p>
            <a:pPr marL="0" indent="0">
              <a:buNone/>
            </a:pPr>
            <a:r>
              <a:rPr lang="en-US" sz="900" i="1" dirty="0">
                <a:solidFill>
                  <a:srgbClr val="4B6076"/>
                </a:solidFill>
                <a:latin typeface="Calibri" pitchFamily="34" charset="0"/>
                <a:ea typeface="Calibri" pitchFamily="34" charset="-122"/>
                <a:cs typeface="Calibri" pitchFamily="34" charset="-120"/>
              </a:rPr>
              <a:t>Service-to-service / M2M — no user context</a:t>
            </a:r>
            <a:endParaRPr lang="en-US" sz="900" dirty="0"/>
          </a:p>
        </p:txBody>
      </p:sp>
      <p:sp>
        <p:nvSpPr>
          <p:cNvPr id="14" name="Text 12"/>
          <p:cNvSpPr/>
          <p:nvPr/>
        </p:nvSpPr>
        <p:spPr>
          <a:xfrm>
            <a:off x="420624" y="2624328"/>
            <a:ext cx="3803904" cy="384048"/>
          </a:xfrm>
          <a:prstGeom prst="rect">
            <a:avLst/>
          </a:prstGeom>
          <a:noFill/>
          <a:ln/>
        </p:spPr>
        <p:txBody>
          <a:bodyPr wrap="square" lIns="0" tIns="0" rIns="0" bIns="0" rtlCol="0" anchor="ctr"/>
          <a:lstStyle/>
          <a:p>
            <a:pPr marL="0" indent="0">
              <a:buNone/>
            </a:pPr>
            <a:r>
              <a:rPr lang="en-US" sz="900" dirty="0">
                <a:solidFill>
                  <a:srgbClr val="1A2E44"/>
                </a:solidFill>
                <a:latin typeface="Calibri" pitchFamily="34" charset="0"/>
                <a:ea typeface="Calibri" pitchFamily="34" charset="-122"/>
                <a:cs typeface="Calibri" pitchFamily="34" charset="-120"/>
              </a:rPr>
              <a:t>Service authenticates with client_id + secret (or mTLS cert). AT scoped to service identity only. No refresh token.</a:t>
            </a:r>
            <a:endParaRPr lang="en-US" sz="900" dirty="0"/>
          </a:p>
        </p:txBody>
      </p:sp>
      <p:sp>
        <p:nvSpPr>
          <p:cNvPr id="15" name="Shape 13"/>
          <p:cNvSpPr/>
          <p:nvPr/>
        </p:nvSpPr>
        <p:spPr>
          <a:xfrm>
            <a:off x="274320" y="3154680"/>
            <a:ext cx="4023360" cy="91440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16" name="Shape 14"/>
          <p:cNvSpPr/>
          <p:nvPr/>
        </p:nvSpPr>
        <p:spPr>
          <a:xfrm>
            <a:off x="274320" y="3154680"/>
            <a:ext cx="73152" cy="914400"/>
          </a:xfrm>
          <a:prstGeom prst="rect">
            <a:avLst/>
          </a:prstGeom>
          <a:solidFill>
            <a:srgbClr val="6B3FA0"/>
          </a:solidFill>
          <a:ln w="12700">
            <a:solidFill>
              <a:srgbClr val="6B3FA0"/>
            </a:solidFill>
            <a:prstDash val="solid"/>
          </a:ln>
        </p:spPr>
        <p:txBody>
          <a:bodyPr/>
          <a:lstStyle/>
          <a:p>
            <a:endParaRPr lang="en-US"/>
          </a:p>
        </p:txBody>
      </p:sp>
      <p:sp>
        <p:nvSpPr>
          <p:cNvPr id="17" name="Text 15"/>
          <p:cNvSpPr/>
          <p:nvPr/>
        </p:nvSpPr>
        <p:spPr>
          <a:xfrm>
            <a:off x="420624" y="3209544"/>
            <a:ext cx="3803904" cy="219456"/>
          </a:xfrm>
          <a:prstGeom prst="rect">
            <a:avLst/>
          </a:prstGeom>
          <a:noFill/>
          <a:ln/>
        </p:spPr>
        <p:txBody>
          <a:bodyPr wrap="square" lIns="0" tIns="0" rIns="0" bIns="0" rtlCol="0" anchor="ctr"/>
          <a:lstStyle/>
          <a:p>
            <a:pPr marL="0" indent="0">
              <a:buNone/>
            </a:pPr>
            <a:r>
              <a:rPr lang="en-US" sz="1050" b="1" dirty="0">
                <a:solidFill>
                  <a:srgbClr val="6B3FA0"/>
                </a:solidFill>
                <a:latin typeface="Calibri" pitchFamily="34" charset="0"/>
                <a:ea typeface="Calibri" pitchFamily="34" charset="-122"/>
                <a:cs typeface="Calibri" pitchFamily="34" charset="-120"/>
              </a:rPr>
              <a:t>Token Exchange (RFC 8693)</a:t>
            </a:r>
            <a:endParaRPr lang="en-US" sz="1050" dirty="0"/>
          </a:p>
        </p:txBody>
      </p:sp>
      <p:sp>
        <p:nvSpPr>
          <p:cNvPr id="18" name="Text 16"/>
          <p:cNvSpPr/>
          <p:nvPr/>
        </p:nvSpPr>
        <p:spPr>
          <a:xfrm>
            <a:off x="420624" y="3429000"/>
            <a:ext cx="3803904" cy="201168"/>
          </a:xfrm>
          <a:prstGeom prst="rect">
            <a:avLst/>
          </a:prstGeom>
          <a:noFill/>
          <a:ln/>
        </p:spPr>
        <p:txBody>
          <a:bodyPr wrap="square" lIns="0" tIns="0" rIns="0" bIns="0" rtlCol="0" anchor="ctr"/>
          <a:lstStyle/>
          <a:p>
            <a:pPr marL="0" indent="0">
              <a:buNone/>
            </a:pPr>
            <a:r>
              <a:rPr lang="en-US" sz="900" i="1" dirty="0">
                <a:solidFill>
                  <a:srgbClr val="4B6076"/>
                </a:solidFill>
                <a:latin typeface="Calibri" pitchFamily="34" charset="0"/>
                <a:ea typeface="Calibri" pitchFamily="34" charset="-122"/>
                <a:cs typeface="Calibri" pitchFamily="34" charset="-120"/>
              </a:rPr>
              <a:t>Service impersonation / delegation across microservices</a:t>
            </a:r>
            <a:endParaRPr lang="en-US" sz="900" dirty="0"/>
          </a:p>
        </p:txBody>
      </p:sp>
      <p:sp>
        <p:nvSpPr>
          <p:cNvPr id="19" name="Text 17"/>
          <p:cNvSpPr/>
          <p:nvPr/>
        </p:nvSpPr>
        <p:spPr>
          <a:xfrm>
            <a:off x="420624" y="3630168"/>
            <a:ext cx="3803904" cy="384048"/>
          </a:xfrm>
          <a:prstGeom prst="rect">
            <a:avLst/>
          </a:prstGeom>
          <a:noFill/>
          <a:ln/>
        </p:spPr>
        <p:txBody>
          <a:bodyPr wrap="square" lIns="0" tIns="0" rIns="0" bIns="0" rtlCol="0" anchor="ctr"/>
          <a:lstStyle/>
          <a:p>
            <a:pPr marL="0" indent="0">
              <a:buNone/>
            </a:pPr>
            <a:r>
              <a:rPr lang="en-US" sz="900" dirty="0">
                <a:solidFill>
                  <a:srgbClr val="1A2E44"/>
                </a:solidFill>
                <a:latin typeface="Calibri" pitchFamily="34" charset="0"/>
                <a:ea typeface="Calibri" pitchFamily="34" charset="-122"/>
                <a:cs typeface="Calibri" pitchFamily="34" charset="-120"/>
              </a:rPr>
              <a:t>Downstream service exchanges caller's AT for a narrower-scoped token. Preserves original user identity in the chain.</a:t>
            </a:r>
            <a:endParaRPr lang="en-US" sz="900" dirty="0"/>
          </a:p>
        </p:txBody>
      </p:sp>
      <p:sp>
        <p:nvSpPr>
          <p:cNvPr id="20" name="Text 18"/>
          <p:cNvSpPr/>
          <p:nvPr/>
        </p:nvSpPr>
        <p:spPr>
          <a:xfrm>
            <a:off x="4663440" y="804672"/>
            <a:ext cx="4206240" cy="274320"/>
          </a:xfrm>
          <a:prstGeom prst="rect">
            <a:avLst/>
          </a:prstGeom>
          <a:noFill/>
          <a:ln/>
        </p:spPr>
        <p:txBody>
          <a:bodyPr wrap="square" lIns="0" tIns="0" rIns="0" bIns="0" rtlCol="0" anchor="ctr"/>
          <a:lstStyle/>
          <a:p>
            <a:pPr marL="0" indent="0">
              <a:buNone/>
            </a:pPr>
            <a:r>
              <a:rPr lang="en-US" sz="1300" b="1" dirty="0">
                <a:solidFill>
                  <a:srgbClr val="0F4C75"/>
                </a:solidFill>
                <a:latin typeface="Calibri" pitchFamily="34" charset="0"/>
                <a:ea typeface="Calibri" pitchFamily="34" charset="-122"/>
                <a:cs typeface="Calibri" pitchFamily="34" charset="-120"/>
              </a:rPr>
              <a:t>API Gateway &amp; Sender-Constraint</a:t>
            </a:r>
            <a:endParaRPr lang="en-US" sz="1300" dirty="0"/>
          </a:p>
        </p:txBody>
      </p:sp>
      <p:sp>
        <p:nvSpPr>
          <p:cNvPr id="21" name="Shape 19"/>
          <p:cNvSpPr/>
          <p:nvPr/>
        </p:nvSpPr>
        <p:spPr>
          <a:xfrm>
            <a:off x="4663440" y="1143000"/>
            <a:ext cx="4206240" cy="178308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22" name="Shape 20"/>
          <p:cNvSpPr/>
          <p:nvPr/>
        </p:nvSpPr>
        <p:spPr>
          <a:xfrm>
            <a:off x="4663440" y="1143000"/>
            <a:ext cx="4206240" cy="347472"/>
          </a:xfrm>
          <a:prstGeom prst="rect">
            <a:avLst/>
          </a:prstGeom>
          <a:solidFill>
            <a:srgbClr val="1B998B"/>
          </a:solidFill>
          <a:ln w="12700">
            <a:solidFill>
              <a:srgbClr val="1B998B"/>
            </a:solidFill>
            <a:prstDash val="solid"/>
          </a:ln>
        </p:spPr>
        <p:txBody>
          <a:bodyPr/>
          <a:lstStyle/>
          <a:p>
            <a:endParaRPr lang="en-US"/>
          </a:p>
        </p:txBody>
      </p:sp>
      <p:sp>
        <p:nvSpPr>
          <p:cNvPr id="23" name="Text 21"/>
          <p:cNvSpPr/>
          <p:nvPr/>
        </p:nvSpPr>
        <p:spPr>
          <a:xfrm>
            <a:off x="4736592" y="1197864"/>
            <a:ext cx="4059936" cy="25603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API Gateway Responsibilities</a:t>
            </a:r>
            <a:endParaRPr lang="en-US" sz="1050" dirty="0"/>
          </a:p>
        </p:txBody>
      </p:sp>
      <p:sp>
        <p:nvSpPr>
          <p:cNvPr id="24" name="Text 22"/>
          <p:cNvSpPr/>
          <p:nvPr/>
        </p:nvSpPr>
        <p:spPr>
          <a:xfrm>
            <a:off x="4736592" y="1545336"/>
            <a:ext cx="4059936" cy="237744"/>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Validate JWT signature (JWKS endpoint)</a:t>
            </a:r>
            <a:endParaRPr lang="en-US" sz="900" dirty="0"/>
          </a:p>
        </p:txBody>
      </p:sp>
      <p:sp>
        <p:nvSpPr>
          <p:cNvPr id="25" name="Text 23"/>
          <p:cNvSpPr/>
          <p:nvPr/>
        </p:nvSpPr>
        <p:spPr>
          <a:xfrm>
            <a:off x="4736592" y="1810512"/>
            <a:ext cx="4059936" cy="237744"/>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Check iss, aud, exp, scope claims</a:t>
            </a:r>
            <a:endParaRPr lang="en-US" sz="900" dirty="0"/>
          </a:p>
        </p:txBody>
      </p:sp>
      <p:sp>
        <p:nvSpPr>
          <p:cNvPr id="26" name="Text 24"/>
          <p:cNvSpPr/>
          <p:nvPr/>
        </p:nvSpPr>
        <p:spPr>
          <a:xfrm>
            <a:off x="4736592" y="2075688"/>
            <a:ext cx="4059936" cy="237744"/>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Rate limit per client_id + scope</a:t>
            </a:r>
            <a:endParaRPr lang="en-US" sz="900" dirty="0"/>
          </a:p>
        </p:txBody>
      </p:sp>
      <p:sp>
        <p:nvSpPr>
          <p:cNvPr id="27" name="Text 25"/>
          <p:cNvSpPr/>
          <p:nvPr/>
        </p:nvSpPr>
        <p:spPr>
          <a:xfrm>
            <a:off x="4736592" y="2340864"/>
            <a:ext cx="4059936" cy="237744"/>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Log all requests with token subject</a:t>
            </a:r>
            <a:endParaRPr lang="en-US" sz="900" dirty="0"/>
          </a:p>
        </p:txBody>
      </p:sp>
      <p:sp>
        <p:nvSpPr>
          <p:cNvPr id="28" name="Text 26"/>
          <p:cNvSpPr/>
          <p:nvPr/>
        </p:nvSpPr>
        <p:spPr>
          <a:xfrm>
            <a:off x="4736592" y="2606040"/>
            <a:ext cx="4059936" cy="237744"/>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Block requests without valid bearer token</a:t>
            </a:r>
            <a:endParaRPr lang="en-US" sz="900" dirty="0"/>
          </a:p>
        </p:txBody>
      </p:sp>
      <p:sp>
        <p:nvSpPr>
          <p:cNvPr id="29" name="Shape 27"/>
          <p:cNvSpPr/>
          <p:nvPr/>
        </p:nvSpPr>
        <p:spPr>
          <a:xfrm>
            <a:off x="4663440" y="3063240"/>
            <a:ext cx="4206240" cy="178308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30" name="Shape 28"/>
          <p:cNvSpPr/>
          <p:nvPr/>
        </p:nvSpPr>
        <p:spPr>
          <a:xfrm>
            <a:off x="4663440" y="3063240"/>
            <a:ext cx="4206240" cy="347472"/>
          </a:xfrm>
          <a:prstGeom prst="rect">
            <a:avLst/>
          </a:prstGeom>
          <a:solidFill>
            <a:srgbClr val="6B3FA0"/>
          </a:solidFill>
          <a:ln w="12700">
            <a:solidFill>
              <a:srgbClr val="6B3FA0"/>
            </a:solidFill>
            <a:prstDash val="solid"/>
          </a:ln>
        </p:spPr>
        <p:txBody>
          <a:bodyPr/>
          <a:lstStyle/>
          <a:p>
            <a:endParaRPr lang="en-US"/>
          </a:p>
        </p:txBody>
      </p:sp>
      <p:sp>
        <p:nvSpPr>
          <p:cNvPr id="31" name="Text 29"/>
          <p:cNvSpPr/>
          <p:nvPr/>
        </p:nvSpPr>
        <p:spPr>
          <a:xfrm>
            <a:off x="4736592" y="3118104"/>
            <a:ext cx="4059936" cy="25603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Sender-Constraint Mechanisms</a:t>
            </a:r>
            <a:endParaRPr lang="en-US" sz="1050" dirty="0"/>
          </a:p>
        </p:txBody>
      </p:sp>
      <p:sp>
        <p:nvSpPr>
          <p:cNvPr id="32" name="Text 30"/>
          <p:cNvSpPr/>
          <p:nvPr/>
        </p:nvSpPr>
        <p:spPr>
          <a:xfrm>
            <a:off x="4736592" y="3465576"/>
            <a:ext cx="4059936" cy="237744"/>
          </a:xfrm>
          <a:prstGeom prst="rect">
            <a:avLst/>
          </a:prstGeom>
          <a:noFill/>
          <a:ln/>
        </p:spPr>
        <p:txBody>
          <a:bodyPr wrap="square" lIns="0" tIns="0" rIns="0" bIns="0" rtlCol="0" anchor="ctr"/>
          <a:lstStyle/>
          <a:p>
            <a:pPr marL="0" indent="0">
              <a:buNone/>
            </a:pPr>
            <a:r>
              <a:rPr lang="en-US" sz="900" b="1" dirty="0">
                <a:solidFill>
                  <a:srgbClr val="6B3FA0"/>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mTLS (RFC 8705): client certificate bound to token; cnf claim in JWT</a:t>
            </a:r>
            <a:endParaRPr lang="en-US" sz="900" dirty="0"/>
          </a:p>
        </p:txBody>
      </p:sp>
      <p:sp>
        <p:nvSpPr>
          <p:cNvPr id="33" name="Text 31"/>
          <p:cNvSpPr/>
          <p:nvPr/>
        </p:nvSpPr>
        <p:spPr>
          <a:xfrm>
            <a:off x="4736592" y="3730752"/>
            <a:ext cx="4059936" cy="237744"/>
          </a:xfrm>
          <a:prstGeom prst="rect">
            <a:avLst/>
          </a:prstGeom>
          <a:noFill/>
          <a:ln/>
        </p:spPr>
        <p:txBody>
          <a:bodyPr wrap="square" lIns="0" tIns="0" rIns="0" bIns="0" rtlCol="0" anchor="ctr"/>
          <a:lstStyle/>
          <a:p>
            <a:pPr marL="0" indent="0">
              <a:buNone/>
            </a:pPr>
            <a:r>
              <a:rPr lang="en-US" sz="900" b="1" dirty="0">
                <a:solidFill>
                  <a:srgbClr val="6B3FA0"/>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DPoP (RFC 9449): proof-of-possession header on each request</a:t>
            </a:r>
            <a:endParaRPr lang="en-US" sz="900" dirty="0"/>
          </a:p>
        </p:txBody>
      </p:sp>
      <p:sp>
        <p:nvSpPr>
          <p:cNvPr id="34" name="Text 32"/>
          <p:cNvSpPr/>
          <p:nvPr/>
        </p:nvSpPr>
        <p:spPr>
          <a:xfrm>
            <a:off x="4736592" y="3995928"/>
            <a:ext cx="4059936" cy="237744"/>
          </a:xfrm>
          <a:prstGeom prst="rect">
            <a:avLst/>
          </a:prstGeom>
          <a:noFill/>
          <a:ln/>
        </p:spPr>
        <p:txBody>
          <a:bodyPr wrap="square" lIns="0" tIns="0" rIns="0" bIns="0" rtlCol="0" anchor="ctr"/>
          <a:lstStyle/>
          <a:p>
            <a:pPr marL="0" indent="0">
              <a:buNone/>
            </a:pPr>
            <a:r>
              <a:rPr lang="en-US" sz="900" b="1" dirty="0">
                <a:solidFill>
                  <a:srgbClr val="6B3FA0"/>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Both prevent stolen token replay from unauthorized clients</a:t>
            </a:r>
            <a:endParaRPr lang="en-US" sz="900" dirty="0"/>
          </a:p>
        </p:txBody>
      </p:sp>
      <p:sp>
        <p:nvSpPr>
          <p:cNvPr id="35" name="Text 33"/>
          <p:cNvSpPr/>
          <p:nvPr/>
        </p:nvSpPr>
        <p:spPr>
          <a:xfrm>
            <a:off x="4736592" y="4261104"/>
            <a:ext cx="4059936" cy="237744"/>
          </a:xfrm>
          <a:prstGeom prst="rect">
            <a:avLst/>
          </a:prstGeom>
          <a:noFill/>
          <a:ln/>
        </p:spPr>
        <p:txBody>
          <a:bodyPr wrap="square" lIns="0" tIns="0" rIns="0" bIns="0" rtlCol="0" anchor="ctr"/>
          <a:lstStyle/>
          <a:p>
            <a:pPr marL="0" indent="0">
              <a:buNone/>
            </a:pPr>
            <a:r>
              <a:rPr lang="en-US" sz="900" b="1" dirty="0">
                <a:solidFill>
                  <a:srgbClr val="6B3FA0"/>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Required for high-value API surfaces (financial, healthcare, admin APIs)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4C75"/>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98B"/>
          </a:solidFill>
          <a:ln w="12700">
            <a:solidFill>
              <a:srgbClr val="1B998B"/>
            </a:solidFill>
            <a:prstDash val="solid"/>
          </a:ln>
        </p:spPr>
        <p:txBody>
          <a:bodyPr/>
          <a:lstStyle/>
          <a:p>
            <a:endParaRPr lang="en-US"/>
          </a:p>
        </p:txBody>
      </p:sp>
      <p:sp>
        <p:nvSpPr>
          <p:cNvPr id="3" name="Text 1"/>
          <p:cNvSpPr/>
          <p:nvPr/>
        </p:nvSpPr>
        <p:spPr>
          <a:xfrm>
            <a:off x="6858000" y="731520"/>
            <a:ext cx="2103120" cy="2560320"/>
          </a:xfrm>
          <a:prstGeom prst="rect">
            <a:avLst/>
          </a:prstGeom>
          <a:noFill/>
          <a:ln/>
        </p:spPr>
        <p:txBody>
          <a:bodyPr wrap="square" lIns="0" tIns="0" rIns="0" bIns="0" rtlCol="0" anchor="ctr"/>
          <a:lstStyle/>
          <a:p>
            <a:pPr marL="0" indent="0" algn="r">
              <a:buNone/>
            </a:pPr>
            <a:r>
              <a:rPr lang="en-US" sz="14000" b="1" dirty="0">
                <a:solidFill>
                  <a:srgbClr val="1A4A66"/>
                </a:solidFill>
                <a:latin typeface="Calibri" pitchFamily="34" charset="0"/>
                <a:ea typeface="Calibri" pitchFamily="34" charset="-122"/>
                <a:cs typeface="Calibri" pitchFamily="34" charset="-120"/>
              </a:rPr>
              <a:t>07</a:t>
            </a:r>
            <a:endParaRPr lang="en-US" sz="14000" dirty="0"/>
          </a:p>
        </p:txBody>
      </p:sp>
      <p:sp>
        <p:nvSpPr>
          <p:cNvPr id="4" name="Text 2"/>
          <p:cNvSpPr/>
          <p:nvPr/>
        </p:nvSpPr>
        <p:spPr>
          <a:xfrm>
            <a:off x="320040" y="1600200"/>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MITRE ATT&amp;CK</a:t>
            </a:r>
            <a:endParaRPr lang="en-US" sz="3000" dirty="0"/>
          </a:p>
        </p:txBody>
      </p:sp>
      <p:sp>
        <p:nvSpPr>
          <p:cNvPr id="5" name="Shape 3"/>
          <p:cNvSpPr/>
          <p:nvPr/>
        </p:nvSpPr>
        <p:spPr>
          <a:xfrm>
            <a:off x="320040" y="2468880"/>
            <a:ext cx="6217920" cy="0"/>
          </a:xfrm>
          <a:prstGeom prst="line">
            <a:avLst/>
          </a:prstGeom>
          <a:noFill/>
          <a:ln w="6350">
            <a:solidFill>
              <a:srgbClr val="8AAFC4"/>
            </a:solidFill>
            <a:prstDash val="solid"/>
          </a:ln>
        </p:spPr>
        <p:txBody>
          <a:bodyPr/>
          <a:lstStyle/>
          <a:p>
            <a:endParaRPr lang="en-US"/>
          </a:p>
        </p:txBody>
      </p:sp>
      <p:sp>
        <p:nvSpPr>
          <p:cNvPr id="6" name="Text 4"/>
          <p:cNvSpPr/>
          <p:nvPr/>
        </p:nvSpPr>
        <p:spPr>
          <a:xfrm>
            <a:off x="320040" y="2542032"/>
            <a:ext cx="6400800" cy="457200"/>
          </a:xfrm>
          <a:prstGeom prst="rect">
            <a:avLst/>
          </a:prstGeom>
          <a:noFill/>
          <a:ln/>
        </p:spPr>
        <p:txBody>
          <a:bodyPr wrap="square" lIns="0" tIns="0" rIns="0" bIns="0" rtlCol="0" anchor="ctr"/>
          <a:lstStyle/>
          <a:p>
            <a:pPr marL="0" indent="0">
              <a:buNone/>
            </a:pPr>
            <a:r>
              <a:rPr lang="en-US" sz="1400" i="1" dirty="0">
                <a:solidFill>
                  <a:srgbClr val="C9E4F0"/>
                </a:solidFill>
                <a:latin typeface="Calibri" pitchFamily="34" charset="0"/>
                <a:ea typeface="Calibri" pitchFamily="34" charset="-122"/>
                <a:cs typeface="Calibri" pitchFamily="34" charset="-120"/>
              </a:rPr>
              <a:t>Identity attack techniques and mitigations</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75"/>
          </a:solidFill>
          <a:ln w="12700">
            <a:solidFill>
              <a:srgbClr val="0F4C75"/>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MITRE ATT&amp;CK: Identity &amp; Authentication Techniques</a:t>
            </a:r>
            <a:endParaRPr lang="en-US" sz="1800" dirty="0"/>
          </a:p>
        </p:txBody>
      </p:sp>
      <p:grpSp>
        <p:nvGrpSpPr>
          <p:cNvPr id="84" name="Group 83">
            <a:extLst>
              <a:ext uri="{FF2B5EF4-FFF2-40B4-BE49-F238E27FC236}">
                <a16:creationId xmlns:a16="http://schemas.microsoft.com/office/drawing/2014/main" id="{08D8B991-4E59-ED56-4E2D-E859C2F068AB}"/>
              </a:ext>
            </a:extLst>
          </p:cNvPr>
          <p:cNvGrpSpPr/>
          <p:nvPr/>
        </p:nvGrpSpPr>
        <p:grpSpPr>
          <a:xfrm>
            <a:off x="64342" y="749808"/>
            <a:ext cx="9015984" cy="4160520"/>
            <a:chOff x="182880" y="749808"/>
            <a:chExt cx="9015984" cy="4160520"/>
          </a:xfrm>
        </p:grpSpPr>
        <p:sp>
          <p:nvSpPr>
            <p:cNvPr id="4" name="Shape 2"/>
            <p:cNvSpPr/>
            <p:nvPr/>
          </p:nvSpPr>
          <p:spPr>
            <a:xfrm>
              <a:off x="182880" y="749808"/>
              <a:ext cx="1005840" cy="416052"/>
            </a:xfrm>
            <a:prstGeom prst="rect">
              <a:avLst/>
            </a:prstGeom>
            <a:solidFill>
              <a:srgbClr val="0F4C75"/>
            </a:solidFill>
            <a:ln w="6350">
              <a:solidFill>
                <a:srgbClr val="D1DDE8"/>
              </a:solidFill>
              <a:prstDash val="solid"/>
            </a:ln>
          </p:spPr>
          <p:txBody>
            <a:bodyPr/>
            <a:lstStyle/>
            <a:p>
              <a:endParaRPr lang="en-US"/>
            </a:p>
          </p:txBody>
        </p:sp>
        <p:sp>
          <p:nvSpPr>
            <p:cNvPr id="5" name="Text 3"/>
            <p:cNvSpPr/>
            <p:nvPr/>
          </p:nvSpPr>
          <p:spPr>
            <a:xfrm>
              <a:off x="219456" y="768096"/>
              <a:ext cx="932688" cy="379476"/>
            </a:xfrm>
            <a:prstGeom prst="rect">
              <a:avLst/>
            </a:prstGeom>
            <a:noFill/>
            <a:ln/>
          </p:spPr>
          <p:txBody>
            <a:bodyPr wrap="square" lIns="0" tIns="0" rIns="0" bIns="0" rtlCol="0" anchor="ctr"/>
            <a:lstStyle/>
            <a:p>
              <a:pPr marL="0" indent="0">
                <a:buNone/>
              </a:pPr>
              <a:r>
                <a:rPr lang="en-US" sz="1000" b="1" dirty="0">
                  <a:solidFill>
                    <a:srgbClr val="1B998B"/>
                  </a:solidFill>
                  <a:latin typeface="Calibri" pitchFamily="34" charset="0"/>
                  <a:ea typeface="Calibri" pitchFamily="34" charset="-122"/>
                  <a:cs typeface="Calibri" pitchFamily="34" charset="-120"/>
                </a:rPr>
                <a:t>Technique ID</a:t>
              </a:r>
              <a:endParaRPr lang="en-US" sz="1000" dirty="0"/>
            </a:p>
          </p:txBody>
        </p:sp>
        <p:sp>
          <p:nvSpPr>
            <p:cNvPr id="6" name="Shape 4"/>
            <p:cNvSpPr/>
            <p:nvPr/>
          </p:nvSpPr>
          <p:spPr>
            <a:xfrm>
              <a:off x="1207008" y="749808"/>
              <a:ext cx="1417320" cy="416052"/>
            </a:xfrm>
            <a:prstGeom prst="rect">
              <a:avLst/>
            </a:prstGeom>
            <a:solidFill>
              <a:srgbClr val="0F4C75"/>
            </a:solidFill>
            <a:ln w="6350">
              <a:solidFill>
                <a:srgbClr val="D1DDE8"/>
              </a:solidFill>
              <a:prstDash val="solid"/>
            </a:ln>
          </p:spPr>
          <p:txBody>
            <a:bodyPr/>
            <a:lstStyle/>
            <a:p>
              <a:endParaRPr lang="en-US"/>
            </a:p>
          </p:txBody>
        </p:sp>
        <p:sp>
          <p:nvSpPr>
            <p:cNvPr id="7" name="Text 5"/>
            <p:cNvSpPr/>
            <p:nvPr/>
          </p:nvSpPr>
          <p:spPr>
            <a:xfrm>
              <a:off x="1243584" y="768096"/>
              <a:ext cx="1344168" cy="379476"/>
            </a:xfrm>
            <a:prstGeom prst="rect">
              <a:avLst/>
            </a:prstGeom>
            <a:noFill/>
            <a:ln/>
          </p:spPr>
          <p:txBody>
            <a:bodyPr wrap="square" lIns="0" tIns="0" rIns="0" bIns="0" rtlCol="0" anchor="ctr"/>
            <a:lstStyle/>
            <a:p>
              <a:pPr marL="0" indent="0">
                <a:buNone/>
              </a:pPr>
              <a:r>
                <a:rPr lang="en-US" sz="1000" b="1" dirty="0">
                  <a:solidFill>
                    <a:srgbClr val="1B998B"/>
                  </a:solidFill>
                  <a:latin typeface="Calibri" pitchFamily="34" charset="0"/>
                  <a:ea typeface="Calibri" pitchFamily="34" charset="-122"/>
                  <a:cs typeface="Calibri" pitchFamily="34" charset="-120"/>
                </a:rPr>
                <a:t>Name</a:t>
              </a:r>
              <a:endParaRPr lang="en-US" sz="1000" dirty="0"/>
            </a:p>
          </p:txBody>
        </p:sp>
        <p:sp>
          <p:nvSpPr>
            <p:cNvPr id="8" name="Shape 6"/>
            <p:cNvSpPr/>
            <p:nvPr/>
          </p:nvSpPr>
          <p:spPr>
            <a:xfrm>
              <a:off x="2642616" y="749808"/>
              <a:ext cx="3154680" cy="416052"/>
            </a:xfrm>
            <a:prstGeom prst="rect">
              <a:avLst/>
            </a:prstGeom>
            <a:solidFill>
              <a:srgbClr val="0F4C75"/>
            </a:solidFill>
            <a:ln w="6350">
              <a:solidFill>
                <a:srgbClr val="D1DDE8"/>
              </a:solidFill>
              <a:prstDash val="solid"/>
            </a:ln>
          </p:spPr>
          <p:txBody>
            <a:bodyPr/>
            <a:lstStyle/>
            <a:p>
              <a:endParaRPr lang="en-US"/>
            </a:p>
          </p:txBody>
        </p:sp>
        <p:sp>
          <p:nvSpPr>
            <p:cNvPr id="9" name="Text 7"/>
            <p:cNvSpPr/>
            <p:nvPr/>
          </p:nvSpPr>
          <p:spPr>
            <a:xfrm>
              <a:off x="2679192" y="768096"/>
              <a:ext cx="3081528" cy="379476"/>
            </a:xfrm>
            <a:prstGeom prst="rect">
              <a:avLst/>
            </a:prstGeom>
            <a:noFill/>
            <a:ln/>
          </p:spPr>
          <p:txBody>
            <a:bodyPr wrap="square" lIns="0" tIns="0" rIns="0" bIns="0" rtlCol="0" anchor="ctr"/>
            <a:lstStyle/>
            <a:p>
              <a:pPr marL="0" indent="0">
                <a:buNone/>
              </a:pPr>
              <a:r>
                <a:rPr lang="en-US" sz="1000" b="1" dirty="0">
                  <a:solidFill>
                    <a:srgbClr val="1B998B"/>
                  </a:solidFill>
                  <a:latin typeface="Calibri" pitchFamily="34" charset="0"/>
                  <a:ea typeface="Calibri" pitchFamily="34" charset="-122"/>
                  <a:cs typeface="Calibri" pitchFamily="34" charset="-120"/>
                </a:rPr>
                <a:t>Attack Description</a:t>
              </a:r>
              <a:endParaRPr lang="en-US" sz="1000" dirty="0"/>
            </a:p>
          </p:txBody>
        </p:sp>
        <p:sp>
          <p:nvSpPr>
            <p:cNvPr id="10" name="Shape 8"/>
            <p:cNvSpPr/>
            <p:nvPr/>
          </p:nvSpPr>
          <p:spPr>
            <a:xfrm>
              <a:off x="5815584" y="749808"/>
              <a:ext cx="3383280" cy="416052"/>
            </a:xfrm>
            <a:prstGeom prst="rect">
              <a:avLst/>
            </a:prstGeom>
            <a:solidFill>
              <a:srgbClr val="0F4C75"/>
            </a:solidFill>
            <a:ln w="6350">
              <a:solidFill>
                <a:srgbClr val="D1DDE8"/>
              </a:solidFill>
              <a:prstDash val="solid"/>
            </a:ln>
          </p:spPr>
          <p:txBody>
            <a:bodyPr/>
            <a:lstStyle/>
            <a:p>
              <a:endParaRPr lang="en-US"/>
            </a:p>
          </p:txBody>
        </p:sp>
        <p:sp>
          <p:nvSpPr>
            <p:cNvPr id="11" name="Text 9"/>
            <p:cNvSpPr/>
            <p:nvPr/>
          </p:nvSpPr>
          <p:spPr>
            <a:xfrm>
              <a:off x="5852160" y="768096"/>
              <a:ext cx="3310128" cy="379476"/>
            </a:xfrm>
            <a:prstGeom prst="rect">
              <a:avLst/>
            </a:prstGeom>
            <a:noFill/>
            <a:ln/>
          </p:spPr>
          <p:txBody>
            <a:bodyPr wrap="square" lIns="0" tIns="0" rIns="0" bIns="0" rtlCol="0" anchor="ctr"/>
            <a:lstStyle/>
            <a:p>
              <a:pPr marL="0" indent="0">
                <a:buNone/>
              </a:pPr>
              <a:r>
                <a:rPr lang="en-US" sz="1000" b="1" dirty="0">
                  <a:solidFill>
                    <a:srgbClr val="1B998B"/>
                  </a:solidFill>
                  <a:latin typeface="Calibri" pitchFamily="34" charset="0"/>
                  <a:ea typeface="Calibri" pitchFamily="34" charset="-122"/>
                  <a:cs typeface="Calibri" pitchFamily="34" charset="-120"/>
                </a:rPr>
                <a:t>Mitigation</a:t>
              </a:r>
              <a:endParaRPr lang="en-US" sz="1000" dirty="0"/>
            </a:p>
          </p:txBody>
        </p:sp>
        <p:sp>
          <p:nvSpPr>
            <p:cNvPr id="12" name="Shape 10"/>
            <p:cNvSpPr/>
            <p:nvPr/>
          </p:nvSpPr>
          <p:spPr>
            <a:xfrm>
              <a:off x="182880" y="1165860"/>
              <a:ext cx="1005840" cy="416052"/>
            </a:xfrm>
            <a:prstGeom prst="rect">
              <a:avLst/>
            </a:prstGeom>
            <a:solidFill>
              <a:srgbClr val="FFFFFF"/>
            </a:solidFill>
            <a:ln w="6350">
              <a:solidFill>
                <a:srgbClr val="D1DDE8"/>
              </a:solidFill>
              <a:prstDash val="solid"/>
            </a:ln>
          </p:spPr>
          <p:txBody>
            <a:bodyPr/>
            <a:lstStyle/>
            <a:p>
              <a:endParaRPr lang="en-US"/>
            </a:p>
          </p:txBody>
        </p:sp>
        <p:sp>
          <p:nvSpPr>
            <p:cNvPr id="13" name="Text 11"/>
            <p:cNvSpPr/>
            <p:nvPr/>
          </p:nvSpPr>
          <p:spPr>
            <a:xfrm>
              <a:off x="219456" y="1184148"/>
              <a:ext cx="93268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T1078</a:t>
              </a:r>
              <a:endParaRPr lang="en-US" sz="850" dirty="0"/>
            </a:p>
          </p:txBody>
        </p:sp>
        <p:sp>
          <p:nvSpPr>
            <p:cNvPr id="14" name="Shape 12"/>
            <p:cNvSpPr/>
            <p:nvPr/>
          </p:nvSpPr>
          <p:spPr>
            <a:xfrm>
              <a:off x="1207008" y="1165860"/>
              <a:ext cx="1417320" cy="416052"/>
            </a:xfrm>
            <a:prstGeom prst="rect">
              <a:avLst/>
            </a:prstGeom>
            <a:solidFill>
              <a:srgbClr val="FFFFFF"/>
            </a:solidFill>
            <a:ln w="6350">
              <a:solidFill>
                <a:srgbClr val="D1DDE8"/>
              </a:solidFill>
              <a:prstDash val="solid"/>
            </a:ln>
          </p:spPr>
          <p:txBody>
            <a:bodyPr/>
            <a:lstStyle/>
            <a:p>
              <a:endParaRPr lang="en-US"/>
            </a:p>
          </p:txBody>
        </p:sp>
        <p:sp>
          <p:nvSpPr>
            <p:cNvPr id="15" name="Text 13"/>
            <p:cNvSpPr/>
            <p:nvPr/>
          </p:nvSpPr>
          <p:spPr>
            <a:xfrm>
              <a:off x="1243584" y="1184148"/>
              <a:ext cx="134416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Valid Accounts</a:t>
              </a:r>
              <a:endParaRPr lang="en-US" sz="850" dirty="0"/>
            </a:p>
          </p:txBody>
        </p:sp>
        <p:sp>
          <p:nvSpPr>
            <p:cNvPr id="16" name="Shape 14"/>
            <p:cNvSpPr/>
            <p:nvPr/>
          </p:nvSpPr>
          <p:spPr>
            <a:xfrm>
              <a:off x="2642616" y="1165860"/>
              <a:ext cx="3154680" cy="416052"/>
            </a:xfrm>
            <a:prstGeom prst="rect">
              <a:avLst/>
            </a:prstGeom>
            <a:solidFill>
              <a:srgbClr val="FFFFFF"/>
            </a:solidFill>
            <a:ln w="6350">
              <a:solidFill>
                <a:srgbClr val="D1DDE8"/>
              </a:solidFill>
              <a:prstDash val="solid"/>
            </a:ln>
          </p:spPr>
          <p:txBody>
            <a:bodyPr/>
            <a:lstStyle/>
            <a:p>
              <a:endParaRPr lang="en-US"/>
            </a:p>
          </p:txBody>
        </p:sp>
        <p:sp>
          <p:nvSpPr>
            <p:cNvPr id="17" name="Text 15"/>
            <p:cNvSpPr/>
            <p:nvPr/>
          </p:nvSpPr>
          <p:spPr>
            <a:xfrm>
              <a:off x="2679192" y="1184148"/>
              <a:ext cx="308152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Stolen credentials used as initial access; attacker looks legitimate to defenders</a:t>
              </a:r>
              <a:endParaRPr lang="en-US" sz="850" dirty="0"/>
            </a:p>
          </p:txBody>
        </p:sp>
        <p:sp>
          <p:nvSpPr>
            <p:cNvPr id="18" name="Shape 16"/>
            <p:cNvSpPr/>
            <p:nvPr/>
          </p:nvSpPr>
          <p:spPr>
            <a:xfrm>
              <a:off x="5815584" y="1165860"/>
              <a:ext cx="3383280" cy="416052"/>
            </a:xfrm>
            <a:prstGeom prst="rect">
              <a:avLst/>
            </a:prstGeom>
            <a:solidFill>
              <a:srgbClr val="FFFFFF"/>
            </a:solidFill>
            <a:ln w="6350">
              <a:solidFill>
                <a:srgbClr val="D1DDE8"/>
              </a:solidFill>
              <a:prstDash val="solid"/>
            </a:ln>
          </p:spPr>
          <p:txBody>
            <a:bodyPr/>
            <a:lstStyle/>
            <a:p>
              <a:endParaRPr lang="en-US"/>
            </a:p>
          </p:txBody>
        </p:sp>
        <p:sp>
          <p:nvSpPr>
            <p:cNvPr id="19" name="Text 17"/>
            <p:cNvSpPr/>
            <p:nvPr/>
          </p:nvSpPr>
          <p:spPr>
            <a:xfrm>
              <a:off x="5852160" y="1184148"/>
              <a:ext cx="331012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MFA; Conditional Access risk policy; UEBA baseline</a:t>
              </a:r>
              <a:endParaRPr lang="en-US" sz="850" dirty="0"/>
            </a:p>
          </p:txBody>
        </p:sp>
        <p:sp>
          <p:nvSpPr>
            <p:cNvPr id="20" name="Shape 18"/>
            <p:cNvSpPr/>
            <p:nvPr/>
          </p:nvSpPr>
          <p:spPr>
            <a:xfrm>
              <a:off x="182880" y="1581912"/>
              <a:ext cx="1005840" cy="416052"/>
            </a:xfrm>
            <a:prstGeom prst="rect">
              <a:avLst/>
            </a:prstGeom>
            <a:solidFill>
              <a:srgbClr val="EEF8F5"/>
            </a:solidFill>
            <a:ln w="6350">
              <a:solidFill>
                <a:srgbClr val="D1DDE8"/>
              </a:solidFill>
              <a:prstDash val="solid"/>
            </a:ln>
          </p:spPr>
          <p:txBody>
            <a:bodyPr/>
            <a:lstStyle/>
            <a:p>
              <a:endParaRPr lang="en-US"/>
            </a:p>
          </p:txBody>
        </p:sp>
        <p:sp>
          <p:nvSpPr>
            <p:cNvPr id="21" name="Text 19"/>
            <p:cNvSpPr/>
            <p:nvPr/>
          </p:nvSpPr>
          <p:spPr>
            <a:xfrm>
              <a:off x="219456" y="1600200"/>
              <a:ext cx="93268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T1110</a:t>
              </a:r>
              <a:endParaRPr lang="en-US" sz="850" dirty="0"/>
            </a:p>
          </p:txBody>
        </p:sp>
        <p:sp>
          <p:nvSpPr>
            <p:cNvPr id="22" name="Shape 20"/>
            <p:cNvSpPr/>
            <p:nvPr/>
          </p:nvSpPr>
          <p:spPr>
            <a:xfrm>
              <a:off x="1207008" y="1581912"/>
              <a:ext cx="1417320" cy="416052"/>
            </a:xfrm>
            <a:prstGeom prst="rect">
              <a:avLst/>
            </a:prstGeom>
            <a:solidFill>
              <a:srgbClr val="EEF8F5"/>
            </a:solidFill>
            <a:ln w="6350">
              <a:solidFill>
                <a:srgbClr val="D1DDE8"/>
              </a:solidFill>
              <a:prstDash val="solid"/>
            </a:ln>
          </p:spPr>
          <p:txBody>
            <a:bodyPr/>
            <a:lstStyle/>
            <a:p>
              <a:endParaRPr lang="en-US"/>
            </a:p>
          </p:txBody>
        </p:sp>
        <p:sp>
          <p:nvSpPr>
            <p:cNvPr id="23" name="Text 21"/>
            <p:cNvSpPr/>
            <p:nvPr/>
          </p:nvSpPr>
          <p:spPr>
            <a:xfrm>
              <a:off x="1243584" y="1600200"/>
              <a:ext cx="134416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Brute Force</a:t>
              </a:r>
              <a:endParaRPr lang="en-US" sz="850" dirty="0"/>
            </a:p>
          </p:txBody>
        </p:sp>
        <p:sp>
          <p:nvSpPr>
            <p:cNvPr id="24" name="Shape 22"/>
            <p:cNvSpPr/>
            <p:nvPr/>
          </p:nvSpPr>
          <p:spPr>
            <a:xfrm>
              <a:off x="2642616" y="1581912"/>
              <a:ext cx="3154680" cy="416052"/>
            </a:xfrm>
            <a:prstGeom prst="rect">
              <a:avLst/>
            </a:prstGeom>
            <a:solidFill>
              <a:srgbClr val="EEF8F5"/>
            </a:solidFill>
            <a:ln w="6350">
              <a:solidFill>
                <a:srgbClr val="D1DDE8"/>
              </a:solidFill>
              <a:prstDash val="solid"/>
            </a:ln>
          </p:spPr>
          <p:txBody>
            <a:bodyPr/>
            <a:lstStyle/>
            <a:p>
              <a:endParaRPr lang="en-US"/>
            </a:p>
          </p:txBody>
        </p:sp>
        <p:sp>
          <p:nvSpPr>
            <p:cNvPr id="25" name="Text 23"/>
            <p:cNvSpPr/>
            <p:nvPr/>
          </p:nvSpPr>
          <p:spPr>
            <a:xfrm>
              <a:off x="2679192" y="1600200"/>
              <a:ext cx="308152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Password spraying (1 pw, many accounts), credential stuffing from leaked lists</a:t>
              </a:r>
              <a:endParaRPr lang="en-US" sz="850" dirty="0"/>
            </a:p>
          </p:txBody>
        </p:sp>
        <p:sp>
          <p:nvSpPr>
            <p:cNvPr id="26" name="Shape 24"/>
            <p:cNvSpPr/>
            <p:nvPr/>
          </p:nvSpPr>
          <p:spPr>
            <a:xfrm>
              <a:off x="5815584" y="1581912"/>
              <a:ext cx="3383280" cy="416052"/>
            </a:xfrm>
            <a:prstGeom prst="rect">
              <a:avLst/>
            </a:prstGeom>
            <a:solidFill>
              <a:srgbClr val="EEF8F5"/>
            </a:solidFill>
            <a:ln w="6350">
              <a:solidFill>
                <a:srgbClr val="D1DDE8"/>
              </a:solidFill>
              <a:prstDash val="solid"/>
            </a:ln>
          </p:spPr>
          <p:txBody>
            <a:bodyPr/>
            <a:lstStyle/>
            <a:p>
              <a:endParaRPr lang="en-US"/>
            </a:p>
          </p:txBody>
        </p:sp>
        <p:sp>
          <p:nvSpPr>
            <p:cNvPr id="27" name="Text 25"/>
            <p:cNvSpPr/>
            <p:nvPr/>
          </p:nvSpPr>
          <p:spPr>
            <a:xfrm>
              <a:off x="5852160" y="1600200"/>
              <a:ext cx="331012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Smart lockout; MFA; monitor distributed auth failures</a:t>
              </a:r>
              <a:endParaRPr lang="en-US" sz="850" dirty="0"/>
            </a:p>
          </p:txBody>
        </p:sp>
        <p:sp>
          <p:nvSpPr>
            <p:cNvPr id="28" name="Shape 26"/>
            <p:cNvSpPr/>
            <p:nvPr/>
          </p:nvSpPr>
          <p:spPr>
            <a:xfrm>
              <a:off x="182880" y="1997964"/>
              <a:ext cx="1005840" cy="416052"/>
            </a:xfrm>
            <a:prstGeom prst="rect">
              <a:avLst/>
            </a:prstGeom>
            <a:solidFill>
              <a:srgbClr val="FFFFFF"/>
            </a:solidFill>
            <a:ln w="6350">
              <a:solidFill>
                <a:srgbClr val="D1DDE8"/>
              </a:solidFill>
              <a:prstDash val="solid"/>
            </a:ln>
          </p:spPr>
          <p:txBody>
            <a:bodyPr/>
            <a:lstStyle/>
            <a:p>
              <a:endParaRPr lang="en-US"/>
            </a:p>
          </p:txBody>
        </p:sp>
        <p:sp>
          <p:nvSpPr>
            <p:cNvPr id="29" name="Text 27"/>
            <p:cNvSpPr/>
            <p:nvPr/>
          </p:nvSpPr>
          <p:spPr>
            <a:xfrm>
              <a:off x="219456" y="2016252"/>
              <a:ext cx="93268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T1539</a:t>
              </a:r>
              <a:endParaRPr lang="en-US" sz="850" dirty="0"/>
            </a:p>
          </p:txBody>
        </p:sp>
        <p:sp>
          <p:nvSpPr>
            <p:cNvPr id="30" name="Shape 28"/>
            <p:cNvSpPr/>
            <p:nvPr/>
          </p:nvSpPr>
          <p:spPr>
            <a:xfrm>
              <a:off x="1207008" y="1997964"/>
              <a:ext cx="1417320" cy="416052"/>
            </a:xfrm>
            <a:prstGeom prst="rect">
              <a:avLst/>
            </a:prstGeom>
            <a:solidFill>
              <a:srgbClr val="FFFFFF"/>
            </a:solidFill>
            <a:ln w="6350">
              <a:solidFill>
                <a:srgbClr val="D1DDE8"/>
              </a:solidFill>
              <a:prstDash val="solid"/>
            </a:ln>
          </p:spPr>
          <p:txBody>
            <a:bodyPr/>
            <a:lstStyle/>
            <a:p>
              <a:endParaRPr lang="en-US"/>
            </a:p>
          </p:txBody>
        </p:sp>
        <p:sp>
          <p:nvSpPr>
            <p:cNvPr id="31" name="Text 29"/>
            <p:cNvSpPr/>
            <p:nvPr/>
          </p:nvSpPr>
          <p:spPr>
            <a:xfrm>
              <a:off x="1243584" y="2016252"/>
              <a:ext cx="134416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Steal Web Session Cookie</a:t>
              </a:r>
              <a:endParaRPr lang="en-US" sz="850" dirty="0"/>
            </a:p>
          </p:txBody>
        </p:sp>
        <p:sp>
          <p:nvSpPr>
            <p:cNvPr id="32" name="Shape 30"/>
            <p:cNvSpPr/>
            <p:nvPr/>
          </p:nvSpPr>
          <p:spPr>
            <a:xfrm>
              <a:off x="2642616" y="1997964"/>
              <a:ext cx="3154680" cy="416052"/>
            </a:xfrm>
            <a:prstGeom prst="rect">
              <a:avLst/>
            </a:prstGeom>
            <a:solidFill>
              <a:srgbClr val="FFFFFF"/>
            </a:solidFill>
            <a:ln w="6350">
              <a:solidFill>
                <a:srgbClr val="D1DDE8"/>
              </a:solidFill>
              <a:prstDash val="solid"/>
            </a:ln>
          </p:spPr>
          <p:txBody>
            <a:bodyPr/>
            <a:lstStyle/>
            <a:p>
              <a:endParaRPr lang="en-US"/>
            </a:p>
          </p:txBody>
        </p:sp>
        <p:sp>
          <p:nvSpPr>
            <p:cNvPr id="33" name="Text 31"/>
            <p:cNvSpPr/>
            <p:nvPr/>
          </p:nvSpPr>
          <p:spPr>
            <a:xfrm>
              <a:off x="2679192" y="2016252"/>
              <a:ext cx="308152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XSS or network capture of session cookie to hijack authenticated session</a:t>
              </a:r>
              <a:endParaRPr lang="en-US" sz="850" dirty="0"/>
            </a:p>
          </p:txBody>
        </p:sp>
        <p:sp>
          <p:nvSpPr>
            <p:cNvPr id="34" name="Shape 32"/>
            <p:cNvSpPr/>
            <p:nvPr/>
          </p:nvSpPr>
          <p:spPr>
            <a:xfrm>
              <a:off x="5815584" y="1997964"/>
              <a:ext cx="3383280" cy="416052"/>
            </a:xfrm>
            <a:prstGeom prst="rect">
              <a:avLst/>
            </a:prstGeom>
            <a:solidFill>
              <a:srgbClr val="FFFFFF"/>
            </a:solidFill>
            <a:ln w="6350">
              <a:solidFill>
                <a:srgbClr val="D1DDE8"/>
              </a:solidFill>
              <a:prstDash val="solid"/>
            </a:ln>
          </p:spPr>
          <p:txBody>
            <a:bodyPr/>
            <a:lstStyle/>
            <a:p>
              <a:endParaRPr lang="en-US"/>
            </a:p>
          </p:txBody>
        </p:sp>
        <p:sp>
          <p:nvSpPr>
            <p:cNvPr id="35" name="Text 33"/>
            <p:cNvSpPr/>
            <p:nvPr/>
          </p:nvSpPr>
          <p:spPr>
            <a:xfrm>
              <a:off x="5852160" y="2016252"/>
              <a:ext cx="331012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HttpOnly + Secure flags; CAE; short session TTL</a:t>
              </a:r>
              <a:endParaRPr lang="en-US" sz="850" dirty="0"/>
            </a:p>
          </p:txBody>
        </p:sp>
        <p:sp>
          <p:nvSpPr>
            <p:cNvPr id="36" name="Shape 34"/>
            <p:cNvSpPr/>
            <p:nvPr/>
          </p:nvSpPr>
          <p:spPr>
            <a:xfrm>
              <a:off x="182880" y="2414016"/>
              <a:ext cx="1005840" cy="416052"/>
            </a:xfrm>
            <a:prstGeom prst="rect">
              <a:avLst/>
            </a:prstGeom>
            <a:solidFill>
              <a:srgbClr val="EEF8F5"/>
            </a:solidFill>
            <a:ln w="6350">
              <a:solidFill>
                <a:srgbClr val="D1DDE8"/>
              </a:solidFill>
              <a:prstDash val="solid"/>
            </a:ln>
          </p:spPr>
          <p:txBody>
            <a:bodyPr/>
            <a:lstStyle/>
            <a:p>
              <a:endParaRPr lang="en-US"/>
            </a:p>
          </p:txBody>
        </p:sp>
        <p:sp>
          <p:nvSpPr>
            <p:cNvPr id="37" name="Text 35"/>
            <p:cNvSpPr/>
            <p:nvPr/>
          </p:nvSpPr>
          <p:spPr>
            <a:xfrm>
              <a:off x="219456" y="2432304"/>
              <a:ext cx="93268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T1606.001</a:t>
              </a:r>
              <a:endParaRPr lang="en-US" sz="850" dirty="0"/>
            </a:p>
          </p:txBody>
        </p:sp>
        <p:sp>
          <p:nvSpPr>
            <p:cNvPr id="38" name="Shape 36"/>
            <p:cNvSpPr/>
            <p:nvPr/>
          </p:nvSpPr>
          <p:spPr>
            <a:xfrm>
              <a:off x="1207008" y="2414016"/>
              <a:ext cx="1417320" cy="416052"/>
            </a:xfrm>
            <a:prstGeom prst="rect">
              <a:avLst/>
            </a:prstGeom>
            <a:solidFill>
              <a:srgbClr val="EEF8F5"/>
            </a:solidFill>
            <a:ln w="6350">
              <a:solidFill>
                <a:srgbClr val="D1DDE8"/>
              </a:solidFill>
              <a:prstDash val="solid"/>
            </a:ln>
          </p:spPr>
          <p:txBody>
            <a:bodyPr/>
            <a:lstStyle/>
            <a:p>
              <a:endParaRPr lang="en-US"/>
            </a:p>
          </p:txBody>
        </p:sp>
        <p:sp>
          <p:nvSpPr>
            <p:cNvPr id="39" name="Text 37"/>
            <p:cNvSpPr/>
            <p:nvPr/>
          </p:nvSpPr>
          <p:spPr>
            <a:xfrm>
              <a:off x="1243584" y="2432304"/>
              <a:ext cx="134416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Web Cookie Forgery</a:t>
              </a:r>
              <a:endParaRPr lang="en-US" sz="850" dirty="0"/>
            </a:p>
          </p:txBody>
        </p:sp>
        <p:sp>
          <p:nvSpPr>
            <p:cNvPr id="40" name="Shape 38"/>
            <p:cNvSpPr/>
            <p:nvPr/>
          </p:nvSpPr>
          <p:spPr>
            <a:xfrm>
              <a:off x="2642616" y="2414016"/>
              <a:ext cx="3154680" cy="416052"/>
            </a:xfrm>
            <a:prstGeom prst="rect">
              <a:avLst/>
            </a:prstGeom>
            <a:solidFill>
              <a:srgbClr val="EEF8F5"/>
            </a:solidFill>
            <a:ln w="6350">
              <a:solidFill>
                <a:srgbClr val="D1DDE8"/>
              </a:solidFill>
              <a:prstDash val="solid"/>
            </a:ln>
          </p:spPr>
          <p:txBody>
            <a:bodyPr/>
            <a:lstStyle/>
            <a:p>
              <a:endParaRPr lang="en-US"/>
            </a:p>
          </p:txBody>
        </p:sp>
        <p:sp>
          <p:nvSpPr>
            <p:cNvPr id="41" name="Text 39"/>
            <p:cNvSpPr/>
            <p:nvPr/>
          </p:nvSpPr>
          <p:spPr>
            <a:xfrm>
              <a:off x="2679192" y="2432304"/>
              <a:ext cx="308152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Weak HMAC key, algorithm confusion (none/HS256 vs RS256), or exposed JWT signing key used to forge session tokens</a:t>
              </a:r>
              <a:endParaRPr lang="en-US" sz="850" dirty="0"/>
            </a:p>
          </p:txBody>
        </p:sp>
        <p:sp>
          <p:nvSpPr>
            <p:cNvPr id="42" name="Shape 40"/>
            <p:cNvSpPr/>
            <p:nvPr/>
          </p:nvSpPr>
          <p:spPr>
            <a:xfrm>
              <a:off x="5815584" y="2414016"/>
              <a:ext cx="3383280" cy="416052"/>
            </a:xfrm>
            <a:prstGeom prst="rect">
              <a:avLst/>
            </a:prstGeom>
            <a:solidFill>
              <a:srgbClr val="EEF8F5"/>
            </a:solidFill>
            <a:ln w="6350">
              <a:solidFill>
                <a:srgbClr val="D1DDE8"/>
              </a:solidFill>
              <a:prstDash val="solid"/>
            </a:ln>
          </p:spPr>
          <p:txBody>
            <a:bodyPr/>
            <a:lstStyle/>
            <a:p>
              <a:endParaRPr lang="en-US"/>
            </a:p>
          </p:txBody>
        </p:sp>
        <p:sp>
          <p:nvSpPr>
            <p:cNvPr id="43" name="Text 41"/>
            <p:cNvSpPr/>
            <p:nvPr/>
          </p:nvSpPr>
          <p:spPr>
            <a:xfrm>
              <a:off x="5852160" y="2432304"/>
              <a:ext cx="331012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Strict JWT validation; algorithm allow-list (RS256/ES256 only); secure key management; regular key rotation</a:t>
              </a:r>
              <a:endParaRPr lang="en-US" sz="850" dirty="0"/>
            </a:p>
          </p:txBody>
        </p:sp>
        <p:sp>
          <p:nvSpPr>
            <p:cNvPr id="44" name="Shape 42"/>
            <p:cNvSpPr/>
            <p:nvPr/>
          </p:nvSpPr>
          <p:spPr>
            <a:xfrm>
              <a:off x="182880" y="2830068"/>
              <a:ext cx="1005840" cy="416052"/>
            </a:xfrm>
            <a:prstGeom prst="rect">
              <a:avLst/>
            </a:prstGeom>
            <a:solidFill>
              <a:srgbClr val="FFFFFF"/>
            </a:solidFill>
            <a:ln w="6350">
              <a:solidFill>
                <a:srgbClr val="D1DDE8"/>
              </a:solidFill>
              <a:prstDash val="solid"/>
            </a:ln>
          </p:spPr>
          <p:txBody>
            <a:bodyPr/>
            <a:lstStyle/>
            <a:p>
              <a:endParaRPr lang="en-US"/>
            </a:p>
          </p:txBody>
        </p:sp>
        <p:sp>
          <p:nvSpPr>
            <p:cNvPr id="45" name="Text 43"/>
            <p:cNvSpPr/>
            <p:nvPr/>
          </p:nvSpPr>
          <p:spPr>
            <a:xfrm>
              <a:off x="219456" y="2848356"/>
              <a:ext cx="93268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T1606.002</a:t>
              </a:r>
              <a:endParaRPr lang="en-US" sz="850" dirty="0"/>
            </a:p>
          </p:txBody>
        </p:sp>
        <p:sp>
          <p:nvSpPr>
            <p:cNvPr id="46" name="Shape 44"/>
            <p:cNvSpPr/>
            <p:nvPr/>
          </p:nvSpPr>
          <p:spPr>
            <a:xfrm>
              <a:off x="1207008" y="2830068"/>
              <a:ext cx="1417320" cy="416052"/>
            </a:xfrm>
            <a:prstGeom prst="rect">
              <a:avLst/>
            </a:prstGeom>
            <a:solidFill>
              <a:srgbClr val="FFFFFF"/>
            </a:solidFill>
            <a:ln w="6350">
              <a:solidFill>
                <a:srgbClr val="D1DDE8"/>
              </a:solidFill>
              <a:prstDash val="solid"/>
            </a:ln>
          </p:spPr>
          <p:txBody>
            <a:bodyPr/>
            <a:lstStyle/>
            <a:p>
              <a:endParaRPr lang="en-US"/>
            </a:p>
          </p:txBody>
        </p:sp>
        <p:sp>
          <p:nvSpPr>
            <p:cNvPr id="47" name="Text 45"/>
            <p:cNvSpPr/>
            <p:nvPr/>
          </p:nvSpPr>
          <p:spPr>
            <a:xfrm>
              <a:off x="1243584" y="2848356"/>
              <a:ext cx="134416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SAML Token Forgery</a:t>
              </a:r>
              <a:endParaRPr lang="en-US" sz="850" dirty="0"/>
            </a:p>
            <a:p>
              <a:pPr marL="0" indent="0">
                <a:buNone/>
              </a:pPr>
              <a:r>
                <a:rPr lang="en-US" sz="850" dirty="0">
                  <a:solidFill>
                    <a:srgbClr val="1A2E44"/>
                  </a:solidFill>
                  <a:latin typeface="Calibri" pitchFamily="34" charset="0"/>
                  <a:ea typeface="Calibri" pitchFamily="34" charset="-122"/>
                  <a:cs typeface="Calibri" pitchFamily="34" charset="-120"/>
                </a:rPr>
                <a:t>(Golden SAML)</a:t>
              </a:r>
              <a:endParaRPr lang="en-US" sz="850" dirty="0"/>
            </a:p>
          </p:txBody>
        </p:sp>
        <p:sp>
          <p:nvSpPr>
            <p:cNvPr id="48" name="Shape 46"/>
            <p:cNvSpPr/>
            <p:nvPr/>
          </p:nvSpPr>
          <p:spPr>
            <a:xfrm>
              <a:off x="2642616" y="2830068"/>
              <a:ext cx="3154680" cy="416052"/>
            </a:xfrm>
            <a:prstGeom prst="rect">
              <a:avLst/>
            </a:prstGeom>
            <a:solidFill>
              <a:srgbClr val="FFFFFF"/>
            </a:solidFill>
            <a:ln w="6350">
              <a:solidFill>
                <a:srgbClr val="D1DDE8"/>
              </a:solidFill>
              <a:prstDash val="solid"/>
            </a:ln>
          </p:spPr>
          <p:txBody>
            <a:bodyPr/>
            <a:lstStyle/>
            <a:p>
              <a:endParaRPr lang="en-US"/>
            </a:p>
          </p:txBody>
        </p:sp>
        <p:sp>
          <p:nvSpPr>
            <p:cNvPr id="49" name="Text 47"/>
            <p:cNvSpPr/>
            <p:nvPr/>
          </p:nvSpPr>
          <p:spPr>
            <a:xfrm>
              <a:off x="2679192" y="2848356"/>
              <a:ext cx="308152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Steal ADFS token-signing cert; forge SAML assertions for any identity including admin accounts</a:t>
              </a:r>
              <a:endParaRPr lang="en-US" sz="850" dirty="0"/>
            </a:p>
          </p:txBody>
        </p:sp>
        <p:sp>
          <p:nvSpPr>
            <p:cNvPr id="50" name="Shape 48"/>
            <p:cNvSpPr/>
            <p:nvPr/>
          </p:nvSpPr>
          <p:spPr>
            <a:xfrm>
              <a:off x="5815584" y="2830068"/>
              <a:ext cx="3383280" cy="416052"/>
            </a:xfrm>
            <a:prstGeom prst="rect">
              <a:avLst/>
            </a:prstGeom>
            <a:solidFill>
              <a:srgbClr val="FFFFFF"/>
            </a:solidFill>
            <a:ln w="6350">
              <a:solidFill>
                <a:srgbClr val="D1DDE8"/>
              </a:solidFill>
              <a:prstDash val="solid"/>
            </a:ln>
          </p:spPr>
          <p:txBody>
            <a:bodyPr/>
            <a:lstStyle/>
            <a:p>
              <a:endParaRPr lang="en-US"/>
            </a:p>
          </p:txBody>
        </p:sp>
        <p:sp>
          <p:nvSpPr>
            <p:cNvPr id="51" name="Text 49"/>
            <p:cNvSpPr/>
            <p:nvPr/>
          </p:nvSpPr>
          <p:spPr>
            <a:xfrm>
              <a:off x="5852160" y="2848356"/>
              <a:ext cx="331012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Protect ADFS server; monitor SAML attributes; rotate certs</a:t>
              </a:r>
              <a:endParaRPr lang="en-US" sz="850" dirty="0"/>
            </a:p>
          </p:txBody>
        </p:sp>
        <p:sp>
          <p:nvSpPr>
            <p:cNvPr id="52" name="Shape 50"/>
            <p:cNvSpPr/>
            <p:nvPr/>
          </p:nvSpPr>
          <p:spPr>
            <a:xfrm>
              <a:off x="182880" y="3246120"/>
              <a:ext cx="1005840" cy="416052"/>
            </a:xfrm>
            <a:prstGeom prst="rect">
              <a:avLst/>
            </a:prstGeom>
            <a:solidFill>
              <a:srgbClr val="EEF8F5"/>
            </a:solidFill>
            <a:ln w="6350">
              <a:solidFill>
                <a:srgbClr val="D1DDE8"/>
              </a:solidFill>
              <a:prstDash val="solid"/>
            </a:ln>
          </p:spPr>
          <p:txBody>
            <a:bodyPr/>
            <a:lstStyle/>
            <a:p>
              <a:endParaRPr lang="en-US"/>
            </a:p>
          </p:txBody>
        </p:sp>
        <p:sp>
          <p:nvSpPr>
            <p:cNvPr id="53" name="Text 51"/>
            <p:cNvSpPr/>
            <p:nvPr/>
          </p:nvSpPr>
          <p:spPr>
            <a:xfrm>
              <a:off x="219456" y="3264408"/>
              <a:ext cx="93268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T1556</a:t>
              </a:r>
              <a:endParaRPr lang="en-US" sz="850" dirty="0"/>
            </a:p>
          </p:txBody>
        </p:sp>
        <p:sp>
          <p:nvSpPr>
            <p:cNvPr id="54" name="Shape 52"/>
            <p:cNvSpPr/>
            <p:nvPr/>
          </p:nvSpPr>
          <p:spPr>
            <a:xfrm>
              <a:off x="1207008" y="3246120"/>
              <a:ext cx="1417320" cy="416052"/>
            </a:xfrm>
            <a:prstGeom prst="rect">
              <a:avLst/>
            </a:prstGeom>
            <a:solidFill>
              <a:srgbClr val="EEF8F5"/>
            </a:solidFill>
            <a:ln w="6350">
              <a:solidFill>
                <a:srgbClr val="D1DDE8"/>
              </a:solidFill>
              <a:prstDash val="solid"/>
            </a:ln>
          </p:spPr>
          <p:txBody>
            <a:bodyPr/>
            <a:lstStyle/>
            <a:p>
              <a:endParaRPr lang="en-US"/>
            </a:p>
          </p:txBody>
        </p:sp>
        <p:sp>
          <p:nvSpPr>
            <p:cNvPr id="55" name="Text 53"/>
            <p:cNvSpPr/>
            <p:nvPr/>
          </p:nvSpPr>
          <p:spPr>
            <a:xfrm>
              <a:off x="1243584" y="3264408"/>
              <a:ext cx="134416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Modify Auth Process</a:t>
              </a:r>
              <a:endParaRPr lang="en-US" sz="850" dirty="0"/>
            </a:p>
          </p:txBody>
        </p:sp>
        <p:sp>
          <p:nvSpPr>
            <p:cNvPr id="56" name="Shape 54"/>
            <p:cNvSpPr/>
            <p:nvPr/>
          </p:nvSpPr>
          <p:spPr>
            <a:xfrm>
              <a:off x="2642616" y="3246120"/>
              <a:ext cx="3154680" cy="416052"/>
            </a:xfrm>
            <a:prstGeom prst="rect">
              <a:avLst/>
            </a:prstGeom>
            <a:solidFill>
              <a:srgbClr val="EEF8F5"/>
            </a:solidFill>
            <a:ln w="6350">
              <a:solidFill>
                <a:srgbClr val="D1DDE8"/>
              </a:solidFill>
              <a:prstDash val="solid"/>
            </a:ln>
          </p:spPr>
          <p:txBody>
            <a:bodyPr/>
            <a:lstStyle/>
            <a:p>
              <a:endParaRPr lang="en-US"/>
            </a:p>
          </p:txBody>
        </p:sp>
        <p:sp>
          <p:nvSpPr>
            <p:cNvPr id="57" name="Text 55"/>
            <p:cNvSpPr/>
            <p:nvPr/>
          </p:nvSpPr>
          <p:spPr>
            <a:xfrm>
              <a:off x="2679192" y="3264408"/>
              <a:ext cx="308152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Skeleton key, malicious password filter DLL on domain controller</a:t>
              </a:r>
              <a:endParaRPr lang="en-US" sz="850" dirty="0"/>
            </a:p>
          </p:txBody>
        </p:sp>
        <p:sp>
          <p:nvSpPr>
            <p:cNvPr id="58" name="Shape 56"/>
            <p:cNvSpPr/>
            <p:nvPr/>
          </p:nvSpPr>
          <p:spPr>
            <a:xfrm>
              <a:off x="5815584" y="3246120"/>
              <a:ext cx="3383280" cy="416052"/>
            </a:xfrm>
            <a:prstGeom prst="rect">
              <a:avLst/>
            </a:prstGeom>
            <a:solidFill>
              <a:srgbClr val="EEF8F5"/>
            </a:solidFill>
            <a:ln w="6350">
              <a:solidFill>
                <a:srgbClr val="D1DDE8"/>
              </a:solidFill>
              <a:prstDash val="solid"/>
            </a:ln>
          </p:spPr>
          <p:txBody>
            <a:bodyPr/>
            <a:lstStyle/>
            <a:p>
              <a:endParaRPr lang="en-US"/>
            </a:p>
          </p:txBody>
        </p:sp>
        <p:sp>
          <p:nvSpPr>
            <p:cNvPr id="59" name="Text 57"/>
            <p:cNvSpPr/>
            <p:nvPr/>
          </p:nvSpPr>
          <p:spPr>
            <a:xfrm>
              <a:off x="5852160" y="3264408"/>
              <a:ext cx="331012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EDR on DCs; monitor LSA package changes; baseline auth DLLs</a:t>
              </a:r>
              <a:endParaRPr lang="en-US" sz="850" dirty="0"/>
            </a:p>
          </p:txBody>
        </p:sp>
        <p:sp>
          <p:nvSpPr>
            <p:cNvPr id="60" name="Shape 58"/>
            <p:cNvSpPr/>
            <p:nvPr/>
          </p:nvSpPr>
          <p:spPr>
            <a:xfrm>
              <a:off x="182880" y="3662172"/>
              <a:ext cx="1005840" cy="416052"/>
            </a:xfrm>
            <a:prstGeom prst="rect">
              <a:avLst/>
            </a:prstGeom>
            <a:solidFill>
              <a:srgbClr val="FFFFFF"/>
            </a:solidFill>
            <a:ln w="6350">
              <a:solidFill>
                <a:srgbClr val="D1DDE8"/>
              </a:solidFill>
              <a:prstDash val="solid"/>
            </a:ln>
          </p:spPr>
          <p:txBody>
            <a:bodyPr/>
            <a:lstStyle/>
            <a:p>
              <a:endParaRPr lang="en-US"/>
            </a:p>
          </p:txBody>
        </p:sp>
        <p:sp>
          <p:nvSpPr>
            <p:cNvPr id="61" name="Text 59"/>
            <p:cNvSpPr/>
            <p:nvPr/>
          </p:nvSpPr>
          <p:spPr>
            <a:xfrm>
              <a:off x="219456" y="3680460"/>
              <a:ext cx="93268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T1621</a:t>
              </a:r>
              <a:endParaRPr lang="en-US" sz="850" dirty="0"/>
            </a:p>
          </p:txBody>
        </p:sp>
        <p:sp>
          <p:nvSpPr>
            <p:cNvPr id="62" name="Shape 60"/>
            <p:cNvSpPr/>
            <p:nvPr/>
          </p:nvSpPr>
          <p:spPr>
            <a:xfrm>
              <a:off x="1207008" y="3662172"/>
              <a:ext cx="1417320" cy="416052"/>
            </a:xfrm>
            <a:prstGeom prst="rect">
              <a:avLst/>
            </a:prstGeom>
            <a:solidFill>
              <a:srgbClr val="FFFFFF"/>
            </a:solidFill>
            <a:ln w="6350">
              <a:solidFill>
                <a:srgbClr val="D1DDE8"/>
              </a:solidFill>
              <a:prstDash val="solid"/>
            </a:ln>
          </p:spPr>
          <p:txBody>
            <a:bodyPr/>
            <a:lstStyle/>
            <a:p>
              <a:endParaRPr lang="en-US"/>
            </a:p>
          </p:txBody>
        </p:sp>
        <p:sp>
          <p:nvSpPr>
            <p:cNvPr id="63" name="Text 61"/>
            <p:cNvSpPr/>
            <p:nvPr/>
          </p:nvSpPr>
          <p:spPr>
            <a:xfrm>
              <a:off x="1243584" y="3680460"/>
              <a:ext cx="134416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MFA Fatigue</a:t>
              </a:r>
              <a:endParaRPr lang="en-US" sz="850" dirty="0"/>
            </a:p>
          </p:txBody>
        </p:sp>
        <p:sp>
          <p:nvSpPr>
            <p:cNvPr id="64" name="Shape 62"/>
            <p:cNvSpPr/>
            <p:nvPr/>
          </p:nvSpPr>
          <p:spPr>
            <a:xfrm>
              <a:off x="2642616" y="3662172"/>
              <a:ext cx="3154680" cy="416052"/>
            </a:xfrm>
            <a:prstGeom prst="rect">
              <a:avLst/>
            </a:prstGeom>
            <a:solidFill>
              <a:srgbClr val="FFFFFF"/>
            </a:solidFill>
            <a:ln w="6350">
              <a:solidFill>
                <a:srgbClr val="D1DDE8"/>
              </a:solidFill>
              <a:prstDash val="solid"/>
            </a:ln>
          </p:spPr>
          <p:txBody>
            <a:bodyPr/>
            <a:lstStyle/>
            <a:p>
              <a:endParaRPr lang="en-US"/>
            </a:p>
          </p:txBody>
        </p:sp>
        <p:sp>
          <p:nvSpPr>
            <p:cNvPr id="65" name="Text 63"/>
            <p:cNvSpPr/>
            <p:nvPr/>
          </p:nvSpPr>
          <p:spPr>
            <a:xfrm>
              <a:off x="2679192" y="3680460"/>
              <a:ext cx="308152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Flood user with push notifications until accidental approval</a:t>
              </a:r>
              <a:endParaRPr lang="en-US" sz="850" dirty="0"/>
            </a:p>
          </p:txBody>
        </p:sp>
        <p:sp>
          <p:nvSpPr>
            <p:cNvPr id="66" name="Shape 64"/>
            <p:cNvSpPr/>
            <p:nvPr/>
          </p:nvSpPr>
          <p:spPr>
            <a:xfrm>
              <a:off x="5815584" y="3662172"/>
              <a:ext cx="3383280" cy="416052"/>
            </a:xfrm>
            <a:prstGeom prst="rect">
              <a:avLst/>
            </a:prstGeom>
            <a:solidFill>
              <a:srgbClr val="FFFFFF"/>
            </a:solidFill>
            <a:ln w="6350">
              <a:solidFill>
                <a:srgbClr val="D1DDE8"/>
              </a:solidFill>
              <a:prstDash val="solid"/>
            </a:ln>
          </p:spPr>
          <p:txBody>
            <a:bodyPr/>
            <a:lstStyle/>
            <a:p>
              <a:endParaRPr lang="en-US"/>
            </a:p>
          </p:txBody>
        </p:sp>
        <p:sp>
          <p:nvSpPr>
            <p:cNvPr id="67" name="Text 65"/>
            <p:cNvSpPr/>
            <p:nvPr/>
          </p:nvSpPr>
          <p:spPr>
            <a:xfrm>
              <a:off x="5852160" y="3680460"/>
              <a:ext cx="331012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Number matching required; fraud button; push rate limits</a:t>
              </a:r>
              <a:endParaRPr lang="en-US" sz="850" dirty="0"/>
            </a:p>
          </p:txBody>
        </p:sp>
        <p:sp>
          <p:nvSpPr>
            <p:cNvPr id="68" name="Shape 66"/>
            <p:cNvSpPr/>
            <p:nvPr/>
          </p:nvSpPr>
          <p:spPr>
            <a:xfrm>
              <a:off x="182880" y="4078224"/>
              <a:ext cx="1005840" cy="416052"/>
            </a:xfrm>
            <a:prstGeom prst="rect">
              <a:avLst/>
            </a:prstGeom>
            <a:solidFill>
              <a:srgbClr val="EEF8F5"/>
            </a:solidFill>
            <a:ln w="6350">
              <a:solidFill>
                <a:srgbClr val="D1DDE8"/>
              </a:solidFill>
              <a:prstDash val="solid"/>
            </a:ln>
          </p:spPr>
          <p:txBody>
            <a:bodyPr/>
            <a:lstStyle/>
            <a:p>
              <a:endParaRPr lang="en-US"/>
            </a:p>
          </p:txBody>
        </p:sp>
        <p:sp>
          <p:nvSpPr>
            <p:cNvPr id="69" name="Text 67"/>
            <p:cNvSpPr/>
            <p:nvPr/>
          </p:nvSpPr>
          <p:spPr>
            <a:xfrm>
              <a:off x="219456" y="4096512"/>
              <a:ext cx="93268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T1111</a:t>
              </a:r>
              <a:endParaRPr lang="en-US" sz="850" dirty="0"/>
            </a:p>
          </p:txBody>
        </p:sp>
        <p:sp>
          <p:nvSpPr>
            <p:cNvPr id="70" name="Shape 68"/>
            <p:cNvSpPr/>
            <p:nvPr/>
          </p:nvSpPr>
          <p:spPr>
            <a:xfrm>
              <a:off x="1207008" y="4078224"/>
              <a:ext cx="1417320" cy="416052"/>
            </a:xfrm>
            <a:prstGeom prst="rect">
              <a:avLst/>
            </a:prstGeom>
            <a:solidFill>
              <a:srgbClr val="EEF8F5"/>
            </a:solidFill>
            <a:ln w="6350">
              <a:solidFill>
                <a:srgbClr val="D1DDE8"/>
              </a:solidFill>
              <a:prstDash val="solid"/>
            </a:ln>
          </p:spPr>
          <p:txBody>
            <a:bodyPr/>
            <a:lstStyle/>
            <a:p>
              <a:endParaRPr lang="en-US"/>
            </a:p>
          </p:txBody>
        </p:sp>
        <p:sp>
          <p:nvSpPr>
            <p:cNvPr id="71" name="Text 69"/>
            <p:cNvSpPr/>
            <p:nvPr/>
          </p:nvSpPr>
          <p:spPr>
            <a:xfrm>
              <a:off x="1243584" y="4096512"/>
              <a:ext cx="134416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MFA Interception</a:t>
              </a:r>
              <a:endParaRPr lang="en-US" sz="850" dirty="0"/>
            </a:p>
            <a:p>
              <a:pPr marL="0" indent="0">
                <a:buNone/>
              </a:pPr>
              <a:r>
                <a:rPr lang="en-US" sz="850" dirty="0">
                  <a:solidFill>
                    <a:srgbClr val="1A2E44"/>
                  </a:solidFill>
                  <a:latin typeface="Calibri" pitchFamily="34" charset="0"/>
                  <a:ea typeface="Calibri" pitchFamily="34" charset="-122"/>
                  <a:cs typeface="Calibri" pitchFamily="34" charset="-120"/>
                </a:rPr>
                <a:t>(AiTM Phishing)</a:t>
              </a:r>
              <a:endParaRPr lang="en-US" sz="850" dirty="0"/>
            </a:p>
          </p:txBody>
        </p:sp>
        <p:sp>
          <p:nvSpPr>
            <p:cNvPr id="72" name="Shape 70"/>
            <p:cNvSpPr/>
            <p:nvPr/>
          </p:nvSpPr>
          <p:spPr>
            <a:xfrm>
              <a:off x="2642616" y="4078224"/>
              <a:ext cx="3154680" cy="416052"/>
            </a:xfrm>
            <a:prstGeom prst="rect">
              <a:avLst/>
            </a:prstGeom>
            <a:solidFill>
              <a:srgbClr val="EEF8F5"/>
            </a:solidFill>
            <a:ln w="6350">
              <a:solidFill>
                <a:srgbClr val="D1DDE8"/>
              </a:solidFill>
              <a:prstDash val="solid"/>
            </a:ln>
          </p:spPr>
          <p:txBody>
            <a:bodyPr/>
            <a:lstStyle/>
            <a:p>
              <a:endParaRPr lang="en-US"/>
            </a:p>
          </p:txBody>
        </p:sp>
        <p:sp>
          <p:nvSpPr>
            <p:cNvPr id="73" name="Text 71"/>
            <p:cNvSpPr/>
            <p:nvPr/>
          </p:nvSpPr>
          <p:spPr>
            <a:xfrm>
              <a:off x="2679192" y="4096512"/>
              <a:ext cx="308152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Evilginx/Modlishka proxy intercepts TOTP/push codes in real-time</a:t>
              </a:r>
              <a:endParaRPr lang="en-US" sz="850" dirty="0"/>
            </a:p>
          </p:txBody>
        </p:sp>
        <p:sp>
          <p:nvSpPr>
            <p:cNvPr id="74" name="Shape 72"/>
            <p:cNvSpPr/>
            <p:nvPr/>
          </p:nvSpPr>
          <p:spPr>
            <a:xfrm>
              <a:off x="5815584" y="4078224"/>
              <a:ext cx="3383280" cy="416052"/>
            </a:xfrm>
            <a:prstGeom prst="rect">
              <a:avLst/>
            </a:prstGeom>
            <a:solidFill>
              <a:srgbClr val="EEF8F5"/>
            </a:solidFill>
            <a:ln w="6350">
              <a:solidFill>
                <a:srgbClr val="D1DDE8"/>
              </a:solidFill>
              <a:prstDash val="solid"/>
            </a:ln>
          </p:spPr>
          <p:txBody>
            <a:bodyPr/>
            <a:lstStyle/>
            <a:p>
              <a:endParaRPr lang="en-US"/>
            </a:p>
          </p:txBody>
        </p:sp>
        <p:sp>
          <p:nvSpPr>
            <p:cNvPr id="75" name="Text 73"/>
            <p:cNvSpPr/>
            <p:nvPr/>
          </p:nvSpPr>
          <p:spPr>
            <a:xfrm>
              <a:off x="5852160" y="4096512"/>
              <a:ext cx="331012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FIDO2/WebAuthn (phishing-resistant only); sign-in risk block</a:t>
              </a:r>
              <a:endParaRPr lang="en-US" sz="850" dirty="0"/>
            </a:p>
          </p:txBody>
        </p:sp>
        <p:sp>
          <p:nvSpPr>
            <p:cNvPr id="76" name="Shape 74"/>
            <p:cNvSpPr/>
            <p:nvPr/>
          </p:nvSpPr>
          <p:spPr>
            <a:xfrm>
              <a:off x="182880" y="4494276"/>
              <a:ext cx="1005840" cy="416052"/>
            </a:xfrm>
            <a:prstGeom prst="rect">
              <a:avLst/>
            </a:prstGeom>
            <a:solidFill>
              <a:srgbClr val="FFFFFF"/>
            </a:solidFill>
            <a:ln w="6350">
              <a:solidFill>
                <a:srgbClr val="D1DDE8"/>
              </a:solidFill>
              <a:prstDash val="solid"/>
            </a:ln>
          </p:spPr>
          <p:txBody>
            <a:bodyPr/>
            <a:lstStyle/>
            <a:p>
              <a:endParaRPr lang="en-US"/>
            </a:p>
          </p:txBody>
        </p:sp>
        <p:sp>
          <p:nvSpPr>
            <p:cNvPr id="77" name="Text 75"/>
            <p:cNvSpPr/>
            <p:nvPr/>
          </p:nvSpPr>
          <p:spPr>
            <a:xfrm>
              <a:off x="219456" y="4512564"/>
              <a:ext cx="93268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T1550.001</a:t>
              </a:r>
              <a:endParaRPr lang="en-US" sz="850" dirty="0"/>
            </a:p>
          </p:txBody>
        </p:sp>
        <p:sp>
          <p:nvSpPr>
            <p:cNvPr id="78" name="Shape 76"/>
            <p:cNvSpPr/>
            <p:nvPr/>
          </p:nvSpPr>
          <p:spPr>
            <a:xfrm>
              <a:off x="1207008" y="4494276"/>
              <a:ext cx="1417320" cy="416052"/>
            </a:xfrm>
            <a:prstGeom prst="rect">
              <a:avLst/>
            </a:prstGeom>
            <a:solidFill>
              <a:srgbClr val="FFFFFF"/>
            </a:solidFill>
            <a:ln w="6350">
              <a:solidFill>
                <a:srgbClr val="D1DDE8"/>
              </a:solidFill>
              <a:prstDash val="solid"/>
            </a:ln>
          </p:spPr>
          <p:txBody>
            <a:bodyPr/>
            <a:lstStyle/>
            <a:p>
              <a:endParaRPr lang="en-US"/>
            </a:p>
          </p:txBody>
        </p:sp>
        <p:sp>
          <p:nvSpPr>
            <p:cNvPr id="79" name="Text 77"/>
            <p:cNvSpPr/>
            <p:nvPr/>
          </p:nvSpPr>
          <p:spPr>
            <a:xfrm>
              <a:off x="1243584" y="4512564"/>
              <a:ext cx="134416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OAuth Token Abuse</a:t>
              </a:r>
              <a:endParaRPr lang="en-US" sz="850" dirty="0"/>
            </a:p>
          </p:txBody>
        </p:sp>
        <p:sp>
          <p:nvSpPr>
            <p:cNvPr id="80" name="Shape 78"/>
            <p:cNvSpPr/>
            <p:nvPr/>
          </p:nvSpPr>
          <p:spPr>
            <a:xfrm>
              <a:off x="2642616" y="4494276"/>
              <a:ext cx="3154680" cy="416052"/>
            </a:xfrm>
            <a:prstGeom prst="rect">
              <a:avLst/>
            </a:prstGeom>
            <a:solidFill>
              <a:srgbClr val="FFFFFF"/>
            </a:solidFill>
            <a:ln w="6350">
              <a:solidFill>
                <a:srgbClr val="D1DDE8"/>
              </a:solidFill>
              <a:prstDash val="solid"/>
            </a:ln>
          </p:spPr>
          <p:txBody>
            <a:bodyPr/>
            <a:lstStyle/>
            <a:p>
              <a:endParaRPr lang="en-US"/>
            </a:p>
          </p:txBody>
        </p:sp>
        <p:sp>
          <p:nvSpPr>
            <p:cNvPr id="81" name="Text 79"/>
            <p:cNvSpPr/>
            <p:nvPr/>
          </p:nvSpPr>
          <p:spPr>
            <a:xfrm>
              <a:off x="2679192" y="4512564"/>
              <a:ext cx="308152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Stolen OAuth access/refresh tokens reused from different context</a:t>
              </a:r>
              <a:endParaRPr lang="en-US" sz="850" dirty="0"/>
            </a:p>
          </p:txBody>
        </p:sp>
        <p:sp>
          <p:nvSpPr>
            <p:cNvPr id="82" name="Shape 80"/>
            <p:cNvSpPr/>
            <p:nvPr/>
          </p:nvSpPr>
          <p:spPr>
            <a:xfrm>
              <a:off x="5815584" y="4494276"/>
              <a:ext cx="3383280" cy="416052"/>
            </a:xfrm>
            <a:prstGeom prst="rect">
              <a:avLst/>
            </a:prstGeom>
            <a:solidFill>
              <a:srgbClr val="FFFFFF"/>
            </a:solidFill>
            <a:ln w="6350">
              <a:solidFill>
                <a:srgbClr val="D1DDE8"/>
              </a:solidFill>
              <a:prstDash val="solid"/>
            </a:ln>
          </p:spPr>
          <p:txBody>
            <a:bodyPr/>
            <a:lstStyle/>
            <a:p>
              <a:endParaRPr lang="en-US"/>
            </a:p>
          </p:txBody>
        </p:sp>
        <p:sp>
          <p:nvSpPr>
            <p:cNvPr id="83" name="Text 81"/>
            <p:cNvSpPr/>
            <p:nvPr/>
          </p:nvSpPr>
          <p:spPr>
            <a:xfrm>
              <a:off x="5852160" y="4512564"/>
              <a:ext cx="3310128" cy="3794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Refresh Token Rotation; short TTL; token binding; log anomalies</a:t>
              </a:r>
              <a:endParaRPr lang="en-US" sz="850" dirty="0"/>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75"/>
          </a:solidFill>
          <a:ln w="12700">
            <a:solidFill>
              <a:srgbClr val="0F4C75"/>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Identity Attack Surface</a:t>
            </a:r>
            <a:endParaRPr lang="en-US" sz="2200" dirty="0"/>
          </a:p>
        </p:txBody>
      </p:sp>
      <p:grpSp>
        <p:nvGrpSpPr>
          <p:cNvPr id="62" name="Group 61">
            <a:extLst>
              <a:ext uri="{FF2B5EF4-FFF2-40B4-BE49-F238E27FC236}">
                <a16:creationId xmlns:a16="http://schemas.microsoft.com/office/drawing/2014/main" id="{5899B61A-C324-8E08-31D0-81F05F525EB0}"/>
              </a:ext>
            </a:extLst>
          </p:cNvPr>
          <p:cNvGrpSpPr/>
          <p:nvPr/>
        </p:nvGrpSpPr>
        <p:grpSpPr>
          <a:xfrm>
            <a:off x="74728" y="744990"/>
            <a:ext cx="8980784" cy="4311642"/>
            <a:chOff x="182880" y="744990"/>
            <a:chExt cx="8980784" cy="4311642"/>
          </a:xfrm>
        </p:grpSpPr>
        <p:sp>
          <p:nvSpPr>
            <p:cNvPr id="4" name="Shape 2"/>
            <p:cNvSpPr/>
            <p:nvPr/>
          </p:nvSpPr>
          <p:spPr>
            <a:xfrm>
              <a:off x="182880" y="749808"/>
              <a:ext cx="1737360" cy="310896"/>
            </a:xfrm>
            <a:prstGeom prst="rect">
              <a:avLst/>
            </a:prstGeom>
            <a:solidFill>
              <a:srgbClr val="0F4C75"/>
            </a:solidFill>
            <a:ln w="6350">
              <a:solidFill>
                <a:srgbClr val="D1DDE8"/>
              </a:solidFill>
              <a:prstDash val="solid"/>
            </a:ln>
          </p:spPr>
          <p:txBody>
            <a:bodyPr/>
            <a:lstStyle/>
            <a:p>
              <a:endParaRPr lang="en-US"/>
            </a:p>
          </p:txBody>
        </p:sp>
        <p:sp>
          <p:nvSpPr>
            <p:cNvPr id="5" name="Text 3"/>
            <p:cNvSpPr/>
            <p:nvPr/>
          </p:nvSpPr>
          <p:spPr>
            <a:xfrm>
              <a:off x="219456" y="768096"/>
              <a:ext cx="1664208" cy="274320"/>
            </a:xfrm>
            <a:prstGeom prst="rect">
              <a:avLst/>
            </a:prstGeom>
            <a:noFill/>
            <a:ln/>
          </p:spPr>
          <p:txBody>
            <a:bodyPr wrap="square" lIns="0" tIns="0" rIns="0" bIns="0" rtlCol="0" anchor="ctr"/>
            <a:lstStyle/>
            <a:p>
              <a:pPr marL="0" indent="0">
                <a:buNone/>
              </a:pPr>
              <a:r>
                <a:rPr lang="en-US" sz="1000" b="1" dirty="0">
                  <a:solidFill>
                    <a:srgbClr val="1B998B"/>
                  </a:solidFill>
                  <a:latin typeface="Calibri" pitchFamily="34" charset="0"/>
                  <a:ea typeface="Calibri" pitchFamily="34" charset="-122"/>
                  <a:cs typeface="Calibri" pitchFamily="34" charset="-120"/>
                </a:rPr>
                <a:t>Attack Path</a:t>
              </a:r>
              <a:endParaRPr lang="en-US" sz="1000" dirty="0"/>
            </a:p>
          </p:txBody>
        </p:sp>
        <p:sp>
          <p:nvSpPr>
            <p:cNvPr id="6" name="Shape 4"/>
            <p:cNvSpPr/>
            <p:nvPr/>
          </p:nvSpPr>
          <p:spPr>
            <a:xfrm>
              <a:off x="1938528" y="749808"/>
              <a:ext cx="822960" cy="310896"/>
            </a:xfrm>
            <a:prstGeom prst="rect">
              <a:avLst/>
            </a:prstGeom>
            <a:solidFill>
              <a:srgbClr val="0F4C75"/>
            </a:solidFill>
            <a:ln w="6350">
              <a:solidFill>
                <a:srgbClr val="D1DDE8"/>
              </a:solidFill>
              <a:prstDash val="solid"/>
            </a:ln>
          </p:spPr>
          <p:txBody>
            <a:bodyPr/>
            <a:lstStyle/>
            <a:p>
              <a:endParaRPr lang="en-US"/>
            </a:p>
          </p:txBody>
        </p:sp>
        <p:sp>
          <p:nvSpPr>
            <p:cNvPr id="7" name="Text 5"/>
            <p:cNvSpPr/>
            <p:nvPr/>
          </p:nvSpPr>
          <p:spPr>
            <a:xfrm>
              <a:off x="1975104" y="768096"/>
              <a:ext cx="749808" cy="274320"/>
            </a:xfrm>
            <a:prstGeom prst="rect">
              <a:avLst/>
            </a:prstGeom>
            <a:noFill/>
            <a:ln/>
          </p:spPr>
          <p:txBody>
            <a:bodyPr wrap="square" lIns="0" tIns="0" rIns="0" bIns="0" rtlCol="0" anchor="ctr"/>
            <a:lstStyle/>
            <a:p>
              <a:pPr marL="0" indent="0">
                <a:buNone/>
              </a:pPr>
              <a:r>
                <a:rPr lang="en-US" sz="1000" b="1" dirty="0">
                  <a:solidFill>
                    <a:srgbClr val="1B998B"/>
                  </a:solidFill>
                  <a:latin typeface="Calibri" pitchFamily="34" charset="0"/>
                  <a:ea typeface="Calibri" pitchFamily="34" charset="-122"/>
                  <a:cs typeface="Calibri" pitchFamily="34" charset="-120"/>
                </a:rPr>
                <a:t>MITRE ID</a:t>
              </a:r>
              <a:endParaRPr lang="en-US" sz="1000" dirty="0"/>
            </a:p>
          </p:txBody>
        </p:sp>
        <p:sp>
          <p:nvSpPr>
            <p:cNvPr id="8" name="Shape 6"/>
            <p:cNvSpPr/>
            <p:nvPr/>
          </p:nvSpPr>
          <p:spPr>
            <a:xfrm>
              <a:off x="2779776" y="749808"/>
              <a:ext cx="2560320" cy="310896"/>
            </a:xfrm>
            <a:prstGeom prst="rect">
              <a:avLst/>
            </a:prstGeom>
            <a:solidFill>
              <a:srgbClr val="0F4C75"/>
            </a:solidFill>
            <a:ln w="6350">
              <a:solidFill>
                <a:srgbClr val="D1DDE8"/>
              </a:solidFill>
              <a:prstDash val="solid"/>
            </a:ln>
          </p:spPr>
          <p:txBody>
            <a:bodyPr/>
            <a:lstStyle/>
            <a:p>
              <a:endParaRPr lang="en-US"/>
            </a:p>
          </p:txBody>
        </p:sp>
        <p:sp>
          <p:nvSpPr>
            <p:cNvPr id="9" name="Text 7"/>
            <p:cNvSpPr/>
            <p:nvPr/>
          </p:nvSpPr>
          <p:spPr>
            <a:xfrm>
              <a:off x="2816352" y="768096"/>
              <a:ext cx="2487168" cy="274320"/>
            </a:xfrm>
            <a:prstGeom prst="rect">
              <a:avLst/>
            </a:prstGeom>
            <a:noFill/>
            <a:ln/>
          </p:spPr>
          <p:txBody>
            <a:bodyPr wrap="square" lIns="0" tIns="0" rIns="0" bIns="0" rtlCol="0" anchor="ctr"/>
            <a:lstStyle/>
            <a:p>
              <a:pPr marL="0" indent="0">
                <a:buNone/>
              </a:pPr>
              <a:r>
                <a:rPr lang="en-US" sz="1000" b="1" dirty="0">
                  <a:solidFill>
                    <a:srgbClr val="1B998B"/>
                  </a:solidFill>
                  <a:latin typeface="Calibri" pitchFamily="34" charset="0"/>
                  <a:ea typeface="Calibri" pitchFamily="34" charset="-122"/>
                  <a:cs typeface="Calibri" pitchFamily="34" charset="-120"/>
                </a:rPr>
                <a:t>Description</a:t>
              </a:r>
              <a:endParaRPr lang="en-US" sz="1000" dirty="0"/>
            </a:p>
          </p:txBody>
        </p:sp>
        <p:sp>
          <p:nvSpPr>
            <p:cNvPr id="10" name="Shape 8"/>
            <p:cNvSpPr/>
            <p:nvPr/>
          </p:nvSpPr>
          <p:spPr>
            <a:xfrm>
              <a:off x="5323184" y="744990"/>
              <a:ext cx="3840480" cy="310896"/>
            </a:xfrm>
            <a:prstGeom prst="rect">
              <a:avLst/>
            </a:prstGeom>
            <a:solidFill>
              <a:srgbClr val="0F4C75"/>
            </a:solidFill>
            <a:ln w="6350">
              <a:solidFill>
                <a:srgbClr val="D1DDE8"/>
              </a:solidFill>
              <a:prstDash val="solid"/>
            </a:ln>
          </p:spPr>
          <p:txBody>
            <a:bodyPr/>
            <a:lstStyle/>
            <a:p>
              <a:endParaRPr lang="en-US"/>
            </a:p>
          </p:txBody>
        </p:sp>
        <p:sp>
          <p:nvSpPr>
            <p:cNvPr id="11" name="Text 9"/>
            <p:cNvSpPr/>
            <p:nvPr/>
          </p:nvSpPr>
          <p:spPr>
            <a:xfrm>
              <a:off x="5359760" y="763278"/>
              <a:ext cx="3767328" cy="274320"/>
            </a:xfrm>
            <a:prstGeom prst="rect">
              <a:avLst/>
            </a:prstGeom>
            <a:noFill/>
            <a:ln/>
          </p:spPr>
          <p:txBody>
            <a:bodyPr wrap="square" lIns="0" tIns="0" rIns="0" bIns="0" rtlCol="0" anchor="ctr"/>
            <a:lstStyle/>
            <a:p>
              <a:pPr marL="0" indent="0">
                <a:buNone/>
              </a:pPr>
              <a:r>
                <a:rPr lang="en-US" sz="1000" b="1" dirty="0">
                  <a:solidFill>
                    <a:srgbClr val="1B998B"/>
                  </a:solidFill>
                  <a:latin typeface="Calibri" pitchFamily="34" charset="0"/>
                  <a:ea typeface="Calibri" pitchFamily="34" charset="-122"/>
                  <a:cs typeface="Calibri" pitchFamily="34" charset="-120"/>
                </a:rPr>
                <a:t>Mitigations</a:t>
              </a:r>
              <a:endParaRPr lang="en-US" sz="1000" dirty="0"/>
            </a:p>
          </p:txBody>
        </p:sp>
        <p:sp>
          <p:nvSpPr>
            <p:cNvPr id="12" name="Shape 10"/>
            <p:cNvSpPr/>
            <p:nvPr/>
          </p:nvSpPr>
          <p:spPr>
            <a:xfrm>
              <a:off x="182880" y="1078992"/>
              <a:ext cx="1737360" cy="795528"/>
            </a:xfrm>
            <a:prstGeom prst="rect">
              <a:avLst/>
            </a:prstGeom>
            <a:solidFill>
              <a:srgbClr val="EEF8F5"/>
            </a:solidFill>
            <a:ln w="6350">
              <a:solidFill>
                <a:srgbClr val="D1DDE8"/>
              </a:solidFill>
              <a:prstDash val="solid"/>
            </a:ln>
          </p:spPr>
          <p:txBody>
            <a:bodyPr/>
            <a:lstStyle/>
            <a:p>
              <a:endParaRPr lang="en-US"/>
            </a:p>
          </p:txBody>
        </p:sp>
        <p:sp>
          <p:nvSpPr>
            <p:cNvPr id="13" name="Text 11"/>
            <p:cNvSpPr/>
            <p:nvPr/>
          </p:nvSpPr>
          <p:spPr>
            <a:xfrm>
              <a:off x="219456" y="1115568"/>
              <a:ext cx="1664208" cy="722376"/>
            </a:xfrm>
            <a:prstGeom prst="rect">
              <a:avLst/>
            </a:prstGeom>
            <a:noFill/>
            <a:ln/>
          </p:spPr>
          <p:txBody>
            <a:bodyPr wrap="square" lIns="0" tIns="0" rIns="0" bIns="0" rtlCol="0" anchor="ctr"/>
            <a:lstStyle/>
            <a:p>
              <a:pPr marL="0" indent="0">
                <a:buNone/>
              </a:pPr>
              <a:r>
                <a:rPr lang="en-US" sz="900" b="1" dirty="0">
                  <a:solidFill>
                    <a:srgbClr val="DC2626"/>
                  </a:solidFill>
                  <a:latin typeface="Calibri" pitchFamily="34" charset="0"/>
                  <a:ea typeface="Calibri" pitchFamily="34" charset="-122"/>
                  <a:cs typeface="Calibri" pitchFamily="34" charset="-120"/>
                </a:rPr>
                <a:t>Credential Theft</a:t>
              </a:r>
              <a:endParaRPr lang="en-US" sz="900" dirty="0"/>
            </a:p>
          </p:txBody>
        </p:sp>
        <p:sp>
          <p:nvSpPr>
            <p:cNvPr id="14" name="Shape 12"/>
            <p:cNvSpPr/>
            <p:nvPr/>
          </p:nvSpPr>
          <p:spPr>
            <a:xfrm>
              <a:off x="1938528" y="1078992"/>
              <a:ext cx="822960" cy="795528"/>
            </a:xfrm>
            <a:prstGeom prst="rect">
              <a:avLst/>
            </a:prstGeom>
            <a:solidFill>
              <a:srgbClr val="EEF8F5"/>
            </a:solidFill>
            <a:ln w="6350">
              <a:solidFill>
                <a:srgbClr val="D1DDE8"/>
              </a:solidFill>
              <a:prstDash val="solid"/>
            </a:ln>
          </p:spPr>
          <p:txBody>
            <a:bodyPr/>
            <a:lstStyle/>
            <a:p>
              <a:endParaRPr lang="en-US"/>
            </a:p>
          </p:txBody>
        </p:sp>
        <p:sp>
          <p:nvSpPr>
            <p:cNvPr id="15" name="Text 13"/>
            <p:cNvSpPr/>
            <p:nvPr/>
          </p:nvSpPr>
          <p:spPr>
            <a:xfrm>
              <a:off x="1956816" y="1115568"/>
              <a:ext cx="786384" cy="722376"/>
            </a:xfrm>
            <a:prstGeom prst="rect">
              <a:avLst/>
            </a:prstGeom>
            <a:noFill/>
            <a:ln/>
          </p:spPr>
          <p:txBody>
            <a:bodyPr wrap="square" lIns="0" tIns="0" rIns="0" bIns="0" rtlCol="0" anchor="ctr"/>
            <a:lstStyle/>
            <a:p>
              <a:pPr marL="0" indent="0">
                <a:buNone/>
              </a:pPr>
              <a:r>
                <a:rPr lang="en-US" sz="750" dirty="0">
                  <a:solidFill>
                    <a:srgbClr val="4B6076"/>
                  </a:solidFill>
                  <a:latin typeface="Calibri" pitchFamily="34" charset="0"/>
                  <a:ea typeface="Calibri" pitchFamily="34" charset="-122"/>
                  <a:cs typeface="Calibri" pitchFamily="34" charset="-120"/>
                </a:rPr>
                <a:t>T1078, T1110</a:t>
              </a:r>
              <a:endParaRPr lang="en-US" sz="750" dirty="0"/>
            </a:p>
          </p:txBody>
        </p:sp>
        <p:sp>
          <p:nvSpPr>
            <p:cNvPr id="16" name="Shape 14"/>
            <p:cNvSpPr/>
            <p:nvPr/>
          </p:nvSpPr>
          <p:spPr>
            <a:xfrm>
              <a:off x="2779776" y="1078992"/>
              <a:ext cx="2560320" cy="795528"/>
            </a:xfrm>
            <a:prstGeom prst="rect">
              <a:avLst/>
            </a:prstGeom>
            <a:solidFill>
              <a:srgbClr val="EEF8F5"/>
            </a:solidFill>
            <a:ln w="6350">
              <a:solidFill>
                <a:srgbClr val="D1DDE8"/>
              </a:solidFill>
              <a:prstDash val="solid"/>
            </a:ln>
          </p:spPr>
          <p:txBody>
            <a:bodyPr/>
            <a:lstStyle/>
            <a:p>
              <a:endParaRPr lang="en-US"/>
            </a:p>
          </p:txBody>
        </p:sp>
        <p:sp>
          <p:nvSpPr>
            <p:cNvPr id="17" name="Text 15"/>
            <p:cNvSpPr/>
            <p:nvPr/>
          </p:nvSpPr>
          <p:spPr>
            <a:xfrm>
              <a:off x="2816352" y="1115568"/>
              <a:ext cx="2487168" cy="7223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Stolen passwords via phishing, credential stuffing from breach databases, or password spraying across large account populations.</a:t>
              </a:r>
              <a:endParaRPr lang="en-US" sz="850" dirty="0"/>
            </a:p>
          </p:txBody>
        </p:sp>
        <p:sp>
          <p:nvSpPr>
            <p:cNvPr id="18" name="Shape 16"/>
            <p:cNvSpPr/>
            <p:nvPr/>
          </p:nvSpPr>
          <p:spPr>
            <a:xfrm>
              <a:off x="5323184" y="1074174"/>
              <a:ext cx="3840480" cy="795528"/>
            </a:xfrm>
            <a:prstGeom prst="rect">
              <a:avLst/>
            </a:prstGeom>
            <a:solidFill>
              <a:srgbClr val="EEF8F5"/>
            </a:solidFill>
            <a:ln w="6350">
              <a:solidFill>
                <a:srgbClr val="D1DDE8"/>
              </a:solidFill>
              <a:prstDash val="solid"/>
            </a:ln>
          </p:spPr>
          <p:txBody>
            <a:bodyPr/>
            <a:lstStyle/>
            <a:p>
              <a:endParaRPr lang="en-US"/>
            </a:p>
          </p:txBody>
        </p:sp>
        <p:sp>
          <p:nvSpPr>
            <p:cNvPr id="19" name="Text 17"/>
            <p:cNvSpPr/>
            <p:nvPr/>
          </p:nvSpPr>
          <p:spPr>
            <a:xfrm>
              <a:off x="5378048" y="1129038"/>
              <a:ext cx="3730752" cy="210312"/>
            </a:xfrm>
            <a:prstGeom prst="rect">
              <a:avLst/>
            </a:prstGeom>
            <a:noFill/>
            <a:ln/>
          </p:spPr>
          <p:txBody>
            <a:bodyPr wrap="square" lIns="0" tIns="0" rIns="0" bIns="0" rtlCol="0" anchor="ctr"/>
            <a:lstStyle/>
            <a:p>
              <a:pPr marL="0" indent="0">
                <a:buNone/>
              </a:pPr>
              <a:r>
                <a:rPr lang="en-US" sz="850" b="1" dirty="0">
                  <a:solidFill>
                    <a:srgbClr val="0D9488"/>
                  </a:solidFill>
                  <a:latin typeface="Calibri" pitchFamily="34" charset="0"/>
                  <a:ea typeface="Calibri" pitchFamily="34" charset="-122"/>
                  <a:cs typeface="Calibri" pitchFamily="34" charset="-120"/>
                </a:rPr>
                <a:t>✓ </a:t>
              </a:r>
              <a:r>
                <a:rPr lang="en-US" sz="850" dirty="0">
                  <a:solidFill>
                    <a:srgbClr val="1A2E44"/>
                  </a:solidFill>
                  <a:latin typeface="Calibri" pitchFamily="34" charset="0"/>
                  <a:ea typeface="Calibri" pitchFamily="34" charset="-122"/>
                  <a:cs typeface="Calibri" pitchFamily="34" charset="-120"/>
                </a:rPr>
                <a:t>FIDO2/WebAuthn (phishing-resistant)</a:t>
              </a:r>
              <a:endParaRPr lang="en-US" sz="850" dirty="0"/>
            </a:p>
          </p:txBody>
        </p:sp>
        <p:sp>
          <p:nvSpPr>
            <p:cNvPr id="20" name="Text 18"/>
            <p:cNvSpPr/>
            <p:nvPr/>
          </p:nvSpPr>
          <p:spPr>
            <a:xfrm>
              <a:off x="5378048" y="1366782"/>
              <a:ext cx="3730752" cy="210312"/>
            </a:xfrm>
            <a:prstGeom prst="rect">
              <a:avLst/>
            </a:prstGeom>
            <a:noFill/>
            <a:ln/>
          </p:spPr>
          <p:txBody>
            <a:bodyPr wrap="square" lIns="0" tIns="0" rIns="0" bIns="0" rtlCol="0" anchor="ctr"/>
            <a:lstStyle/>
            <a:p>
              <a:pPr marL="0" indent="0">
                <a:buNone/>
              </a:pPr>
              <a:r>
                <a:rPr lang="en-US" sz="850" b="1" dirty="0">
                  <a:solidFill>
                    <a:srgbClr val="0D9488"/>
                  </a:solidFill>
                  <a:latin typeface="Calibri" pitchFamily="34" charset="0"/>
                  <a:ea typeface="Calibri" pitchFamily="34" charset="-122"/>
                  <a:cs typeface="Calibri" pitchFamily="34" charset="-120"/>
                </a:rPr>
                <a:t>✓ </a:t>
              </a:r>
              <a:r>
                <a:rPr lang="en-US" sz="850" dirty="0">
                  <a:solidFill>
                    <a:srgbClr val="1A2E44"/>
                  </a:solidFill>
                  <a:latin typeface="Calibri" pitchFamily="34" charset="0"/>
                  <a:ea typeface="Calibri" pitchFamily="34" charset="-122"/>
                  <a:cs typeface="Calibri" pitchFamily="34" charset="-120"/>
                </a:rPr>
                <a:t>Conditional Access + sign-in risk policy</a:t>
              </a:r>
              <a:endParaRPr lang="en-US" sz="850" dirty="0"/>
            </a:p>
          </p:txBody>
        </p:sp>
        <p:sp>
          <p:nvSpPr>
            <p:cNvPr id="21" name="Text 19"/>
            <p:cNvSpPr/>
            <p:nvPr/>
          </p:nvSpPr>
          <p:spPr>
            <a:xfrm>
              <a:off x="5378048" y="1604526"/>
              <a:ext cx="3730752" cy="210312"/>
            </a:xfrm>
            <a:prstGeom prst="rect">
              <a:avLst/>
            </a:prstGeom>
            <a:noFill/>
            <a:ln/>
          </p:spPr>
          <p:txBody>
            <a:bodyPr wrap="square" lIns="0" tIns="0" rIns="0" bIns="0" rtlCol="0" anchor="ctr"/>
            <a:lstStyle/>
            <a:p>
              <a:pPr marL="0" indent="0">
                <a:buNone/>
              </a:pPr>
              <a:r>
                <a:rPr lang="en-US" sz="850" b="1" dirty="0">
                  <a:solidFill>
                    <a:srgbClr val="0D9488"/>
                  </a:solidFill>
                  <a:latin typeface="Calibri" pitchFamily="34" charset="0"/>
                  <a:ea typeface="Calibri" pitchFamily="34" charset="-122"/>
                  <a:cs typeface="Calibri" pitchFamily="34" charset="-120"/>
                </a:rPr>
                <a:t>✓ </a:t>
              </a:r>
              <a:r>
                <a:rPr lang="en-US" sz="850" dirty="0">
                  <a:solidFill>
                    <a:srgbClr val="1A2E44"/>
                  </a:solidFill>
                  <a:latin typeface="Calibri" pitchFamily="34" charset="0"/>
                  <a:ea typeface="Calibri" pitchFamily="34" charset="-122"/>
                  <a:cs typeface="Calibri" pitchFamily="34" charset="-120"/>
                </a:rPr>
                <a:t>Breached password detection (HIBP)</a:t>
              </a:r>
              <a:endParaRPr lang="en-US" sz="850" dirty="0"/>
            </a:p>
          </p:txBody>
        </p:sp>
        <p:sp>
          <p:nvSpPr>
            <p:cNvPr id="22" name="Shape 20"/>
            <p:cNvSpPr/>
            <p:nvPr/>
          </p:nvSpPr>
          <p:spPr>
            <a:xfrm>
              <a:off x="182880" y="1874520"/>
              <a:ext cx="1737360" cy="795528"/>
            </a:xfrm>
            <a:prstGeom prst="rect">
              <a:avLst/>
            </a:prstGeom>
            <a:solidFill>
              <a:srgbClr val="FFFFFF"/>
            </a:solidFill>
            <a:ln w="6350">
              <a:solidFill>
                <a:srgbClr val="D1DDE8"/>
              </a:solidFill>
              <a:prstDash val="solid"/>
            </a:ln>
          </p:spPr>
          <p:txBody>
            <a:bodyPr/>
            <a:lstStyle/>
            <a:p>
              <a:endParaRPr lang="en-US"/>
            </a:p>
          </p:txBody>
        </p:sp>
        <p:sp>
          <p:nvSpPr>
            <p:cNvPr id="23" name="Text 21"/>
            <p:cNvSpPr/>
            <p:nvPr/>
          </p:nvSpPr>
          <p:spPr>
            <a:xfrm>
              <a:off x="219456" y="1911096"/>
              <a:ext cx="1664208" cy="722376"/>
            </a:xfrm>
            <a:prstGeom prst="rect">
              <a:avLst/>
            </a:prstGeom>
            <a:noFill/>
            <a:ln/>
          </p:spPr>
          <p:txBody>
            <a:bodyPr wrap="square" lIns="0" tIns="0" rIns="0" bIns="0" rtlCol="0" anchor="ctr"/>
            <a:lstStyle/>
            <a:p>
              <a:pPr marL="0" indent="0">
                <a:buNone/>
              </a:pPr>
              <a:r>
                <a:rPr lang="en-US" sz="900" b="1" dirty="0">
                  <a:solidFill>
                    <a:srgbClr val="F4A261"/>
                  </a:solidFill>
                  <a:latin typeface="Calibri" pitchFamily="34" charset="0"/>
                  <a:ea typeface="Calibri" pitchFamily="34" charset="-122"/>
                  <a:cs typeface="Calibri" pitchFamily="34" charset="-120"/>
                </a:rPr>
                <a:t>Token Hijacking</a:t>
              </a:r>
              <a:endParaRPr lang="en-US" sz="900" dirty="0"/>
            </a:p>
          </p:txBody>
        </p:sp>
        <p:sp>
          <p:nvSpPr>
            <p:cNvPr id="24" name="Shape 22"/>
            <p:cNvSpPr/>
            <p:nvPr/>
          </p:nvSpPr>
          <p:spPr>
            <a:xfrm>
              <a:off x="1938528" y="1874520"/>
              <a:ext cx="822960" cy="795528"/>
            </a:xfrm>
            <a:prstGeom prst="rect">
              <a:avLst/>
            </a:prstGeom>
            <a:solidFill>
              <a:srgbClr val="FFFFFF"/>
            </a:solidFill>
            <a:ln w="6350">
              <a:solidFill>
                <a:srgbClr val="D1DDE8"/>
              </a:solidFill>
              <a:prstDash val="solid"/>
            </a:ln>
          </p:spPr>
          <p:txBody>
            <a:bodyPr/>
            <a:lstStyle/>
            <a:p>
              <a:endParaRPr lang="en-US"/>
            </a:p>
          </p:txBody>
        </p:sp>
        <p:sp>
          <p:nvSpPr>
            <p:cNvPr id="25" name="Text 23"/>
            <p:cNvSpPr/>
            <p:nvPr/>
          </p:nvSpPr>
          <p:spPr>
            <a:xfrm>
              <a:off x="1956816" y="1911096"/>
              <a:ext cx="786384" cy="722376"/>
            </a:xfrm>
            <a:prstGeom prst="rect">
              <a:avLst/>
            </a:prstGeom>
            <a:noFill/>
            <a:ln/>
          </p:spPr>
          <p:txBody>
            <a:bodyPr wrap="square" lIns="0" tIns="0" rIns="0" bIns="0" rtlCol="0" anchor="ctr"/>
            <a:lstStyle/>
            <a:p>
              <a:pPr marL="0" indent="0">
                <a:buNone/>
              </a:pPr>
              <a:r>
                <a:rPr lang="en-US" sz="750" dirty="0">
                  <a:solidFill>
                    <a:srgbClr val="4B6076"/>
                  </a:solidFill>
                  <a:latin typeface="Calibri" pitchFamily="34" charset="0"/>
                  <a:ea typeface="Calibri" pitchFamily="34" charset="-122"/>
                  <a:cs typeface="Calibri" pitchFamily="34" charset="-120"/>
                </a:rPr>
                <a:t>T1539, T1550.001</a:t>
              </a:r>
              <a:endParaRPr lang="en-US" sz="750" dirty="0"/>
            </a:p>
          </p:txBody>
        </p:sp>
        <p:sp>
          <p:nvSpPr>
            <p:cNvPr id="26" name="Shape 24"/>
            <p:cNvSpPr/>
            <p:nvPr/>
          </p:nvSpPr>
          <p:spPr>
            <a:xfrm>
              <a:off x="2779776" y="1874520"/>
              <a:ext cx="2560320" cy="795528"/>
            </a:xfrm>
            <a:prstGeom prst="rect">
              <a:avLst/>
            </a:prstGeom>
            <a:solidFill>
              <a:srgbClr val="FFFFFF"/>
            </a:solidFill>
            <a:ln w="6350">
              <a:solidFill>
                <a:srgbClr val="D1DDE8"/>
              </a:solidFill>
              <a:prstDash val="solid"/>
            </a:ln>
          </p:spPr>
          <p:txBody>
            <a:bodyPr/>
            <a:lstStyle/>
            <a:p>
              <a:endParaRPr lang="en-US"/>
            </a:p>
          </p:txBody>
        </p:sp>
        <p:sp>
          <p:nvSpPr>
            <p:cNvPr id="27" name="Text 25"/>
            <p:cNvSpPr/>
            <p:nvPr/>
          </p:nvSpPr>
          <p:spPr>
            <a:xfrm>
              <a:off x="2816352" y="1911096"/>
              <a:ext cx="2487168" cy="7223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XSS to steal tokens from browser storage; network capture of unprotected tokens; OAuth token replay from different client.</a:t>
              </a:r>
              <a:endParaRPr lang="en-US" sz="850" dirty="0"/>
            </a:p>
          </p:txBody>
        </p:sp>
        <p:sp>
          <p:nvSpPr>
            <p:cNvPr id="28" name="Shape 26"/>
            <p:cNvSpPr/>
            <p:nvPr/>
          </p:nvSpPr>
          <p:spPr>
            <a:xfrm>
              <a:off x="5323184" y="1869702"/>
              <a:ext cx="3840480" cy="795528"/>
            </a:xfrm>
            <a:prstGeom prst="rect">
              <a:avLst/>
            </a:prstGeom>
            <a:solidFill>
              <a:srgbClr val="FFFFFF"/>
            </a:solidFill>
            <a:ln w="6350">
              <a:solidFill>
                <a:srgbClr val="D1DDE8"/>
              </a:solidFill>
              <a:prstDash val="solid"/>
            </a:ln>
          </p:spPr>
          <p:txBody>
            <a:bodyPr/>
            <a:lstStyle/>
            <a:p>
              <a:endParaRPr lang="en-US"/>
            </a:p>
          </p:txBody>
        </p:sp>
        <p:sp>
          <p:nvSpPr>
            <p:cNvPr id="29" name="Text 27"/>
            <p:cNvSpPr/>
            <p:nvPr/>
          </p:nvSpPr>
          <p:spPr>
            <a:xfrm>
              <a:off x="5378048" y="1924566"/>
              <a:ext cx="3730752" cy="210312"/>
            </a:xfrm>
            <a:prstGeom prst="rect">
              <a:avLst/>
            </a:prstGeom>
            <a:noFill/>
            <a:ln/>
          </p:spPr>
          <p:txBody>
            <a:bodyPr wrap="square" lIns="0" tIns="0" rIns="0" bIns="0" rtlCol="0" anchor="ctr"/>
            <a:lstStyle/>
            <a:p>
              <a:pPr marL="0" indent="0">
                <a:buNone/>
              </a:pPr>
              <a:r>
                <a:rPr lang="en-US" sz="850" b="1" dirty="0">
                  <a:solidFill>
                    <a:srgbClr val="0D9488"/>
                  </a:solidFill>
                  <a:latin typeface="Calibri" pitchFamily="34" charset="0"/>
                  <a:ea typeface="Calibri" pitchFamily="34" charset="-122"/>
                  <a:cs typeface="Calibri" pitchFamily="34" charset="-120"/>
                </a:rPr>
                <a:t>✓ </a:t>
              </a:r>
              <a:r>
                <a:rPr lang="en-US" sz="850" dirty="0">
                  <a:solidFill>
                    <a:srgbClr val="1A2E44"/>
                  </a:solidFill>
                  <a:latin typeface="Calibri" pitchFamily="34" charset="0"/>
                  <a:ea typeface="Calibri" pitchFamily="34" charset="-122"/>
                  <a:cs typeface="Calibri" pitchFamily="34" charset="-120"/>
                </a:rPr>
                <a:t>HttpOnly + Secure cookie flags</a:t>
              </a:r>
              <a:endParaRPr lang="en-US" sz="850" dirty="0"/>
            </a:p>
          </p:txBody>
        </p:sp>
        <p:sp>
          <p:nvSpPr>
            <p:cNvPr id="30" name="Text 28"/>
            <p:cNvSpPr/>
            <p:nvPr/>
          </p:nvSpPr>
          <p:spPr>
            <a:xfrm>
              <a:off x="5378048" y="2162310"/>
              <a:ext cx="3730752" cy="210312"/>
            </a:xfrm>
            <a:prstGeom prst="rect">
              <a:avLst/>
            </a:prstGeom>
            <a:noFill/>
            <a:ln/>
          </p:spPr>
          <p:txBody>
            <a:bodyPr wrap="square" lIns="0" tIns="0" rIns="0" bIns="0" rtlCol="0" anchor="ctr"/>
            <a:lstStyle/>
            <a:p>
              <a:pPr marL="0" indent="0">
                <a:buNone/>
              </a:pPr>
              <a:r>
                <a:rPr lang="en-US" sz="850" b="1" dirty="0">
                  <a:solidFill>
                    <a:srgbClr val="0D9488"/>
                  </a:solidFill>
                  <a:latin typeface="Calibri" pitchFamily="34" charset="0"/>
                  <a:ea typeface="Calibri" pitchFamily="34" charset="-122"/>
                  <a:cs typeface="Calibri" pitchFamily="34" charset="-120"/>
                </a:rPr>
                <a:t>✓ </a:t>
              </a:r>
              <a:r>
                <a:rPr lang="en-US" sz="850" dirty="0">
                  <a:solidFill>
                    <a:srgbClr val="1A2E44"/>
                  </a:solidFill>
                  <a:latin typeface="Calibri" pitchFamily="34" charset="0"/>
                  <a:ea typeface="Calibri" pitchFamily="34" charset="-122"/>
                  <a:cs typeface="Calibri" pitchFamily="34" charset="-120"/>
                </a:rPr>
                <a:t>DPoP (RFC 9449) sender-constraint</a:t>
              </a:r>
              <a:endParaRPr lang="en-US" sz="850" dirty="0"/>
            </a:p>
          </p:txBody>
        </p:sp>
        <p:sp>
          <p:nvSpPr>
            <p:cNvPr id="31" name="Text 29"/>
            <p:cNvSpPr/>
            <p:nvPr/>
          </p:nvSpPr>
          <p:spPr>
            <a:xfrm>
              <a:off x="5378048" y="2400054"/>
              <a:ext cx="3730752" cy="210312"/>
            </a:xfrm>
            <a:prstGeom prst="rect">
              <a:avLst/>
            </a:prstGeom>
            <a:noFill/>
            <a:ln/>
          </p:spPr>
          <p:txBody>
            <a:bodyPr wrap="square" lIns="0" tIns="0" rIns="0" bIns="0" rtlCol="0" anchor="ctr"/>
            <a:lstStyle/>
            <a:p>
              <a:pPr marL="0" indent="0">
                <a:buNone/>
              </a:pPr>
              <a:r>
                <a:rPr lang="en-US" sz="850" b="1" dirty="0">
                  <a:solidFill>
                    <a:srgbClr val="0D9488"/>
                  </a:solidFill>
                  <a:latin typeface="Calibri" pitchFamily="34" charset="0"/>
                  <a:ea typeface="Calibri" pitchFamily="34" charset="-122"/>
                  <a:cs typeface="Calibri" pitchFamily="34" charset="-120"/>
                </a:rPr>
                <a:t>✓ </a:t>
              </a:r>
              <a:r>
                <a:rPr lang="en-US" sz="850" dirty="0">
                  <a:solidFill>
                    <a:srgbClr val="1A2E44"/>
                  </a:solidFill>
                  <a:latin typeface="Calibri" pitchFamily="34" charset="0"/>
                  <a:ea typeface="Calibri" pitchFamily="34" charset="-122"/>
                  <a:cs typeface="Calibri" pitchFamily="34" charset="-120"/>
                </a:rPr>
                <a:t>Short-lived ATs (15 min)</a:t>
              </a:r>
              <a:endParaRPr lang="en-US" sz="850" dirty="0"/>
            </a:p>
          </p:txBody>
        </p:sp>
        <p:sp>
          <p:nvSpPr>
            <p:cNvPr id="32" name="Shape 30"/>
            <p:cNvSpPr/>
            <p:nvPr/>
          </p:nvSpPr>
          <p:spPr>
            <a:xfrm>
              <a:off x="182880" y="2670048"/>
              <a:ext cx="1737360" cy="795528"/>
            </a:xfrm>
            <a:prstGeom prst="rect">
              <a:avLst/>
            </a:prstGeom>
            <a:solidFill>
              <a:srgbClr val="EEF8F5"/>
            </a:solidFill>
            <a:ln w="6350">
              <a:solidFill>
                <a:srgbClr val="D1DDE8"/>
              </a:solidFill>
              <a:prstDash val="solid"/>
            </a:ln>
          </p:spPr>
          <p:txBody>
            <a:bodyPr/>
            <a:lstStyle/>
            <a:p>
              <a:endParaRPr lang="en-US"/>
            </a:p>
          </p:txBody>
        </p:sp>
        <p:sp>
          <p:nvSpPr>
            <p:cNvPr id="33" name="Text 31"/>
            <p:cNvSpPr/>
            <p:nvPr/>
          </p:nvSpPr>
          <p:spPr>
            <a:xfrm>
              <a:off x="219456" y="2706624"/>
              <a:ext cx="1664208" cy="722376"/>
            </a:xfrm>
            <a:prstGeom prst="rect">
              <a:avLst/>
            </a:prstGeom>
            <a:noFill/>
            <a:ln/>
          </p:spPr>
          <p:txBody>
            <a:bodyPr wrap="square" lIns="0" tIns="0" rIns="0" bIns="0"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Token Forgery</a:t>
              </a:r>
              <a:endParaRPr lang="en-US" sz="900" dirty="0"/>
            </a:p>
          </p:txBody>
        </p:sp>
        <p:sp>
          <p:nvSpPr>
            <p:cNvPr id="34" name="Shape 32"/>
            <p:cNvSpPr/>
            <p:nvPr/>
          </p:nvSpPr>
          <p:spPr>
            <a:xfrm>
              <a:off x="1938528" y="2670048"/>
              <a:ext cx="822960" cy="795528"/>
            </a:xfrm>
            <a:prstGeom prst="rect">
              <a:avLst/>
            </a:prstGeom>
            <a:solidFill>
              <a:srgbClr val="EEF8F5"/>
            </a:solidFill>
            <a:ln w="6350">
              <a:solidFill>
                <a:srgbClr val="D1DDE8"/>
              </a:solidFill>
              <a:prstDash val="solid"/>
            </a:ln>
          </p:spPr>
          <p:txBody>
            <a:bodyPr/>
            <a:lstStyle/>
            <a:p>
              <a:endParaRPr lang="en-US"/>
            </a:p>
          </p:txBody>
        </p:sp>
        <p:sp>
          <p:nvSpPr>
            <p:cNvPr id="35" name="Text 33"/>
            <p:cNvSpPr/>
            <p:nvPr/>
          </p:nvSpPr>
          <p:spPr>
            <a:xfrm>
              <a:off x="1956816" y="2706624"/>
              <a:ext cx="786384" cy="722376"/>
            </a:xfrm>
            <a:prstGeom prst="rect">
              <a:avLst/>
            </a:prstGeom>
            <a:noFill/>
            <a:ln/>
          </p:spPr>
          <p:txBody>
            <a:bodyPr wrap="square" lIns="0" tIns="0" rIns="0" bIns="0" rtlCol="0" anchor="ctr"/>
            <a:lstStyle/>
            <a:p>
              <a:pPr marL="0" indent="0">
                <a:buNone/>
              </a:pPr>
              <a:r>
                <a:rPr lang="en-US" sz="750" dirty="0">
                  <a:solidFill>
                    <a:srgbClr val="4B6076"/>
                  </a:solidFill>
                  <a:latin typeface="Calibri" pitchFamily="34" charset="0"/>
                  <a:ea typeface="Calibri" pitchFamily="34" charset="-122"/>
                  <a:cs typeface="Calibri" pitchFamily="34" charset="-120"/>
                </a:rPr>
                <a:t>T1606.001/002</a:t>
              </a:r>
              <a:endParaRPr lang="en-US" sz="750" dirty="0"/>
            </a:p>
          </p:txBody>
        </p:sp>
        <p:sp>
          <p:nvSpPr>
            <p:cNvPr id="36" name="Shape 34"/>
            <p:cNvSpPr/>
            <p:nvPr/>
          </p:nvSpPr>
          <p:spPr>
            <a:xfrm>
              <a:off x="2779776" y="2670048"/>
              <a:ext cx="2560320" cy="795528"/>
            </a:xfrm>
            <a:prstGeom prst="rect">
              <a:avLst/>
            </a:prstGeom>
            <a:solidFill>
              <a:srgbClr val="EEF8F5"/>
            </a:solidFill>
            <a:ln w="6350">
              <a:solidFill>
                <a:srgbClr val="D1DDE8"/>
              </a:solidFill>
              <a:prstDash val="solid"/>
            </a:ln>
          </p:spPr>
          <p:txBody>
            <a:bodyPr/>
            <a:lstStyle/>
            <a:p>
              <a:endParaRPr lang="en-US"/>
            </a:p>
          </p:txBody>
        </p:sp>
        <p:sp>
          <p:nvSpPr>
            <p:cNvPr id="37" name="Text 35"/>
            <p:cNvSpPr/>
            <p:nvPr/>
          </p:nvSpPr>
          <p:spPr>
            <a:xfrm>
              <a:off x="2816352" y="2706624"/>
              <a:ext cx="2487168" cy="7223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JWT algorithm confusion attacks (alg:none), weak HS256 key brute-force, or Golden SAML via stolen ADFS token-signing certificate.</a:t>
              </a:r>
              <a:endParaRPr lang="en-US" sz="850" dirty="0"/>
            </a:p>
          </p:txBody>
        </p:sp>
        <p:sp>
          <p:nvSpPr>
            <p:cNvPr id="38" name="Shape 36"/>
            <p:cNvSpPr/>
            <p:nvPr/>
          </p:nvSpPr>
          <p:spPr>
            <a:xfrm>
              <a:off x="5323184" y="2665230"/>
              <a:ext cx="3840480" cy="795528"/>
            </a:xfrm>
            <a:prstGeom prst="rect">
              <a:avLst/>
            </a:prstGeom>
            <a:solidFill>
              <a:srgbClr val="EEF8F5"/>
            </a:solidFill>
            <a:ln w="6350">
              <a:solidFill>
                <a:srgbClr val="D1DDE8"/>
              </a:solidFill>
              <a:prstDash val="solid"/>
            </a:ln>
          </p:spPr>
          <p:txBody>
            <a:bodyPr/>
            <a:lstStyle/>
            <a:p>
              <a:endParaRPr lang="en-US"/>
            </a:p>
          </p:txBody>
        </p:sp>
        <p:sp>
          <p:nvSpPr>
            <p:cNvPr id="39" name="Text 37"/>
            <p:cNvSpPr/>
            <p:nvPr/>
          </p:nvSpPr>
          <p:spPr>
            <a:xfrm>
              <a:off x="5378048" y="2720094"/>
              <a:ext cx="3730752" cy="210312"/>
            </a:xfrm>
            <a:prstGeom prst="rect">
              <a:avLst/>
            </a:prstGeom>
            <a:noFill/>
            <a:ln/>
          </p:spPr>
          <p:txBody>
            <a:bodyPr wrap="square" lIns="0" tIns="0" rIns="0" bIns="0" rtlCol="0" anchor="ctr"/>
            <a:lstStyle/>
            <a:p>
              <a:pPr marL="0" indent="0">
                <a:buNone/>
              </a:pPr>
              <a:r>
                <a:rPr lang="en-US" sz="850" b="1" dirty="0">
                  <a:solidFill>
                    <a:srgbClr val="0D9488"/>
                  </a:solidFill>
                  <a:latin typeface="Calibri" pitchFamily="34" charset="0"/>
                  <a:ea typeface="Calibri" pitchFamily="34" charset="-122"/>
                  <a:cs typeface="Calibri" pitchFamily="34" charset="-120"/>
                </a:rPr>
                <a:t>✓ </a:t>
              </a:r>
              <a:r>
                <a:rPr lang="en-US" sz="850" dirty="0">
                  <a:solidFill>
                    <a:srgbClr val="1A2E44"/>
                  </a:solidFill>
                  <a:latin typeface="Calibri" pitchFamily="34" charset="0"/>
                  <a:ea typeface="Calibri" pitchFamily="34" charset="-122"/>
                  <a:cs typeface="Calibri" pitchFamily="34" charset="-120"/>
                </a:rPr>
                <a:t>Algorithm allow-list (RS256/ES256 only)</a:t>
              </a:r>
              <a:endParaRPr lang="en-US" sz="850" dirty="0"/>
            </a:p>
          </p:txBody>
        </p:sp>
        <p:sp>
          <p:nvSpPr>
            <p:cNvPr id="40" name="Text 38"/>
            <p:cNvSpPr/>
            <p:nvPr/>
          </p:nvSpPr>
          <p:spPr>
            <a:xfrm>
              <a:off x="5378048" y="2957838"/>
              <a:ext cx="3730752" cy="210312"/>
            </a:xfrm>
            <a:prstGeom prst="rect">
              <a:avLst/>
            </a:prstGeom>
            <a:noFill/>
            <a:ln/>
          </p:spPr>
          <p:txBody>
            <a:bodyPr wrap="square" lIns="0" tIns="0" rIns="0" bIns="0" rtlCol="0" anchor="ctr"/>
            <a:lstStyle/>
            <a:p>
              <a:pPr marL="0" indent="0">
                <a:buNone/>
              </a:pPr>
              <a:r>
                <a:rPr lang="en-US" sz="850" b="1" dirty="0">
                  <a:solidFill>
                    <a:srgbClr val="0D9488"/>
                  </a:solidFill>
                  <a:latin typeface="Calibri" pitchFamily="34" charset="0"/>
                  <a:ea typeface="Calibri" pitchFamily="34" charset="-122"/>
                  <a:cs typeface="Calibri" pitchFamily="34" charset="-120"/>
                </a:rPr>
                <a:t>✓ </a:t>
              </a:r>
              <a:r>
                <a:rPr lang="en-US" sz="850" dirty="0">
                  <a:solidFill>
                    <a:srgbClr val="1A2E44"/>
                  </a:solidFill>
                  <a:latin typeface="Calibri" pitchFamily="34" charset="0"/>
                  <a:ea typeface="Calibri" pitchFamily="34" charset="-122"/>
                  <a:cs typeface="Calibri" pitchFamily="34" charset="-120"/>
                </a:rPr>
                <a:t>Protect ADFS as Tier 0 (equal to DC)</a:t>
              </a:r>
              <a:endParaRPr lang="en-US" sz="850" dirty="0"/>
            </a:p>
          </p:txBody>
        </p:sp>
        <p:sp>
          <p:nvSpPr>
            <p:cNvPr id="41" name="Text 39"/>
            <p:cNvSpPr/>
            <p:nvPr/>
          </p:nvSpPr>
          <p:spPr>
            <a:xfrm>
              <a:off x="5378048" y="3195582"/>
              <a:ext cx="3730752" cy="210312"/>
            </a:xfrm>
            <a:prstGeom prst="rect">
              <a:avLst/>
            </a:prstGeom>
            <a:noFill/>
            <a:ln/>
          </p:spPr>
          <p:txBody>
            <a:bodyPr wrap="square" lIns="0" tIns="0" rIns="0" bIns="0" rtlCol="0" anchor="ctr"/>
            <a:lstStyle/>
            <a:p>
              <a:pPr marL="0" indent="0">
                <a:buNone/>
              </a:pPr>
              <a:r>
                <a:rPr lang="en-US" sz="850" b="1" dirty="0">
                  <a:solidFill>
                    <a:srgbClr val="0D9488"/>
                  </a:solidFill>
                  <a:latin typeface="Calibri" pitchFamily="34" charset="0"/>
                  <a:ea typeface="Calibri" pitchFamily="34" charset="-122"/>
                  <a:cs typeface="Calibri" pitchFamily="34" charset="-120"/>
                </a:rPr>
                <a:t>✓ </a:t>
              </a:r>
              <a:r>
                <a:rPr lang="en-US" sz="850" dirty="0">
                  <a:solidFill>
                    <a:srgbClr val="1A2E44"/>
                  </a:solidFill>
                  <a:latin typeface="Calibri" pitchFamily="34" charset="0"/>
                  <a:ea typeface="Calibri" pitchFamily="34" charset="-122"/>
                  <a:cs typeface="Calibri" pitchFamily="34" charset="-120"/>
                </a:rPr>
                <a:t>Key rotation on schedule</a:t>
              </a:r>
              <a:endParaRPr lang="en-US" sz="850" dirty="0"/>
            </a:p>
          </p:txBody>
        </p:sp>
        <p:sp>
          <p:nvSpPr>
            <p:cNvPr id="42" name="Shape 40"/>
            <p:cNvSpPr/>
            <p:nvPr/>
          </p:nvSpPr>
          <p:spPr>
            <a:xfrm>
              <a:off x="182880" y="3465576"/>
              <a:ext cx="1737360" cy="795528"/>
            </a:xfrm>
            <a:prstGeom prst="rect">
              <a:avLst/>
            </a:prstGeom>
            <a:solidFill>
              <a:srgbClr val="FFFFFF"/>
            </a:solidFill>
            <a:ln w="6350">
              <a:solidFill>
                <a:srgbClr val="D1DDE8"/>
              </a:solidFill>
              <a:prstDash val="solid"/>
            </a:ln>
          </p:spPr>
          <p:txBody>
            <a:bodyPr/>
            <a:lstStyle/>
            <a:p>
              <a:endParaRPr lang="en-US"/>
            </a:p>
          </p:txBody>
        </p:sp>
        <p:sp>
          <p:nvSpPr>
            <p:cNvPr id="43" name="Text 41"/>
            <p:cNvSpPr/>
            <p:nvPr/>
          </p:nvSpPr>
          <p:spPr>
            <a:xfrm>
              <a:off x="219456" y="3502152"/>
              <a:ext cx="1664208" cy="722376"/>
            </a:xfrm>
            <a:prstGeom prst="rect">
              <a:avLst/>
            </a:prstGeom>
            <a:noFill/>
            <a:ln/>
          </p:spPr>
          <p:txBody>
            <a:bodyPr wrap="square" lIns="0" tIns="0" rIns="0" bIns="0" rtlCol="0" anchor="ctr"/>
            <a:lstStyle/>
            <a:p>
              <a:pPr marL="0" indent="0">
                <a:buNone/>
              </a:pPr>
              <a:r>
                <a:rPr lang="en-US" sz="900" b="1" dirty="0">
                  <a:solidFill>
                    <a:srgbClr val="8B0000"/>
                  </a:solidFill>
                  <a:latin typeface="Calibri" pitchFamily="34" charset="0"/>
                  <a:ea typeface="Calibri" pitchFamily="34" charset="-122"/>
                  <a:cs typeface="Calibri" pitchFamily="34" charset="-120"/>
                </a:rPr>
                <a:t>MFA Bypass</a:t>
              </a:r>
              <a:endParaRPr lang="en-US" sz="900" dirty="0"/>
            </a:p>
          </p:txBody>
        </p:sp>
        <p:sp>
          <p:nvSpPr>
            <p:cNvPr id="44" name="Shape 42"/>
            <p:cNvSpPr/>
            <p:nvPr/>
          </p:nvSpPr>
          <p:spPr>
            <a:xfrm>
              <a:off x="1938528" y="3465576"/>
              <a:ext cx="822960" cy="795528"/>
            </a:xfrm>
            <a:prstGeom prst="rect">
              <a:avLst/>
            </a:prstGeom>
            <a:solidFill>
              <a:srgbClr val="FFFFFF"/>
            </a:solidFill>
            <a:ln w="6350">
              <a:solidFill>
                <a:srgbClr val="D1DDE8"/>
              </a:solidFill>
              <a:prstDash val="solid"/>
            </a:ln>
          </p:spPr>
          <p:txBody>
            <a:bodyPr/>
            <a:lstStyle/>
            <a:p>
              <a:endParaRPr lang="en-US"/>
            </a:p>
          </p:txBody>
        </p:sp>
        <p:sp>
          <p:nvSpPr>
            <p:cNvPr id="45" name="Text 43"/>
            <p:cNvSpPr/>
            <p:nvPr/>
          </p:nvSpPr>
          <p:spPr>
            <a:xfrm>
              <a:off x="1956816" y="3502152"/>
              <a:ext cx="786384" cy="722376"/>
            </a:xfrm>
            <a:prstGeom prst="rect">
              <a:avLst/>
            </a:prstGeom>
            <a:noFill/>
            <a:ln/>
          </p:spPr>
          <p:txBody>
            <a:bodyPr wrap="square" lIns="0" tIns="0" rIns="0" bIns="0" rtlCol="0" anchor="ctr"/>
            <a:lstStyle/>
            <a:p>
              <a:pPr marL="0" indent="0">
                <a:buNone/>
              </a:pPr>
              <a:r>
                <a:rPr lang="en-US" sz="750" dirty="0">
                  <a:solidFill>
                    <a:srgbClr val="4B6076"/>
                  </a:solidFill>
                  <a:latin typeface="Calibri" pitchFamily="34" charset="0"/>
                  <a:ea typeface="Calibri" pitchFamily="34" charset="-122"/>
                  <a:cs typeface="Calibri" pitchFamily="34" charset="-120"/>
                </a:rPr>
                <a:t>T1621, T1111</a:t>
              </a:r>
              <a:endParaRPr lang="en-US" sz="750" dirty="0"/>
            </a:p>
          </p:txBody>
        </p:sp>
        <p:sp>
          <p:nvSpPr>
            <p:cNvPr id="46" name="Shape 44"/>
            <p:cNvSpPr/>
            <p:nvPr/>
          </p:nvSpPr>
          <p:spPr>
            <a:xfrm>
              <a:off x="2779776" y="3465576"/>
              <a:ext cx="2560320" cy="795528"/>
            </a:xfrm>
            <a:prstGeom prst="rect">
              <a:avLst/>
            </a:prstGeom>
            <a:solidFill>
              <a:srgbClr val="FFFFFF"/>
            </a:solidFill>
            <a:ln w="6350">
              <a:solidFill>
                <a:srgbClr val="D1DDE8"/>
              </a:solidFill>
              <a:prstDash val="solid"/>
            </a:ln>
          </p:spPr>
          <p:txBody>
            <a:bodyPr/>
            <a:lstStyle/>
            <a:p>
              <a:endParaRPr lang="en-US"/>
            </a:p>
          </p:txBody>
        </p:sp>
        <p:sp>
          <p:nvSpPr>
            <p:cNvPr id="47" name="Text 45"/>
            <p:cNvSpPr/>
            <p:nvPr/>
          </p:nvSpPr>
          <p:spPr>
            <a:xfrm>
              <a:off x="2816352" y="3502152"/>
              <a:ext cx="2487168" cy="7223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MFA fatigue attacks (push floods) or AiTM proxy (Evilginx) intercepts TOTP/push codes, bypassing all non-phishing-resistant MFA.</a:t>
              </a:r>
              <a:endParaRPr lang="en-US" sz="850" dirty="0"/>
            </a:p>
          </p:txBody>
        </p:sp>
        <p:sp>
          <p:nvSpPr>
            <p:cNvPr id="48" name="Shape 46"/>
            <p:cNvSpPr/>
            <p:nvPr/>
          </p:nvSpPr>
          <p:spPr>
            <a:xfrm>
              <a:off x="5323184" y="3460758"/>
              <a:ext cx="3840480" cy="795528"/>
            </a:xfrm>
            <a:prstGeom prst="rect">
              <a:avLst/>
            </a:prstGeom>
            <a:solidFill>
              <a:srgbClr val="FFFFFF"/>
            </a:solidFill>
            <a:ln w="6350">
              <a:solidFill>
                <a:srgbClr val="D1DDE8"/>
              </a:solidFill>
              <a:prstDash val="solid"/>
            </a:ln>
          </p:spPr>
          <p:txBody>
            <a:bodyPr/>
            <a:lstStyle/>
            <a:p>
              <a:endParaRPr lang="en-US"/>
            </a:p>
          </p:txBody>
        </p:sp>
        <p:sp>
          <p:nvSpPr>
            <p:cNvPr id="49" name="Text 47"/>
            <p:cNvSpPr/>
            <p:nvPr/>
          </p:nvSpPr>
          <p:spPr>
            <a:xfrm>
              <a:off x="5378048" y="3515622"/>
              <a:ext cx="3730752" cy="210312"/>
            </a:xfrm>
            <a:prstGeom prst="rect">
              <a:avLst/>
            </a:prstGeom>
            <a:noFill/>
            <a:ln/>
          </p:spPr>
          <p:txBody>
            <a:bodyPr wrap="square" lIns="0" tIns="0" rIns="0" bIns="0" rtlCol="0" anchor="ctr"/>
            <a:lstStyle/>
            <a:p>
              <a:pPr marL="0" indent="0">
                <a:buNone/>
              </a:pPr>
              <a:r>
                <a:rPr lang="en-US" sz="850" b="1" dirty="0">
                  <a:solidFill>
                    <a:srgbClr val="0D9488"/>
                  </a:solidFill>
                  <a:latin typeface="Calibri" pitchFamily="34" charset="0"/>
                  <a:ea typeface="Calibri" pitchFamily="34" charset="-122"/>
                  <a:cs typeface="Calibri" pitchFamily="34" charset="-120"/>
                </a:rPr>
                <a:t>✓ </a:t>
              </a:r>
              <a:r>
                <a:rPr lang="en-US" sz="850" dirty="0">
                  <a:solidFill>
                    <a:srgbClr val="1A2E44"/>
                  </a:solidFill>
                  <a:latin typeface="Calibri" pitchFamily="34" charset="0"/>
                  <a:ea typeface="Calibri" pitchFamily="34" charset="-122"/>
                  <a:cs typeface="Calibri" pitchFamily="34" charset="-120"/>
                </a:rPr>
                <a:t>Migrate to FIDO2/WebAuthn</a:t>
              </a:r>
              <a:endParaRPr lang="en-US" sz="850" dirty="0"/>
            </a:p>
          </p:txBody>
        </p:sp>
        <p:sp>
          <p:nvSpPr>
            <p:cNvPr id="50" name="Text 48"/>
            <p:cNvSpPr/>
            <p:nvPr/>
          </p:nvSpPr>
          <p:spPr>
            <a:xfrm>
              <a:off x="5378048" y="3753366"/>
              <a:ext cx="3730752" cy="210312"/>
            </a:xfrm>
            <a:prstGeom prst="rect">
              <a:avLst/>
            </a:prstGeom>
            <a:noFill/>
            <a:ln/>
          </p:spPr>
          <p:txBody>
            <a:bodyPr wrap="square" lIns="0" tIns="0" rIns="0" bIns="0" rtlCol="0" anchor="ctr"/>
            <a:lstStyle/>
            <a:p>
              <a:pPr marL="0" indent="0">
                <a:buNone/>
              </a:pPr>
              <a:r>
                <a:rPr lang="en-US" sz="850" b="1" dirty="0">
                  <a:solidFill>
                    <a:srgbClr val="0D9488"/>
                  </a:solidFill>
                  <a:latin typeface="Calibri" pitchFamily="34" charset="0"/>
                  <a:ea typeface="Calibri" pitchFamily="34" charset="-122"/>
                  <a:cs typeface="Calibri" pitchFamily="34" charset="-120"/>
                </a:rPr>
                <a:t>✓ </a:t>
              </a:r>
              <a:r>
                <a:rPr lang="en-US" sz="850" dirty="0">
                  <a:solidFill>
                    <a:srgbClr val="1A2E44"/>
                  </a:solidFill>
                  <a:latin typeface="Calibri" pitchFamily="34" charset="0"/>
                  <a:ea typeface="Calibri" pitchFamily="34" charset="-122"/>
                  <a:cs typeface="Calibri" pitchFamily="34" charset="-120"/>
                </a:rPr>
                <a:t>Number matching (blocks fatigue)</a:t>
              </a:r>
              <a:endParaRPr lang="en-US" sz="850" dirty="0"/>
            </a:p>
          </p:txBody>
        </p:sp>
        <p:sp>
          <p:nvSpPr>
            <p:cNvPr id="51" name="Text 49"/>
            <p:cNvSpPr/>
            <p:nvPr/>
          </p:nvSpPr>
          <p:spPr>
            <a:xfrm>
              <a:off x="5378048" y="3991110"/>
              <a:ext cx="3730752" cy="210312"/>
            </a:xfrm>
            <a:prstGeom prst="rect">
              <a:avLst/>
            </a:prstGeom>
            <a:noFill/>
            <a:ln/>
          </p:spPr>
          <p:txBody>
            <a:bodyPr wrap="square" lIns="0" tIns="0" rIns="0" bIns="0" rtlCol="0" anchor="ctr"/>
            <a:lstStyle/>
            <a:p>
              <a:pPr marL="0" indent="0">
                <a:buNone/>
              </a:pPr>
              <a:r>
                <a:rPr lang="en-US" sz="850" b="1" dirty="0">
                  <a:solidFill>
                    <a:srgbClr val="0D9488"/>
                  </a:solidFill>
                  <a:latin typeface="Calibri" pitchFamily="34" charset="0"/>
                  <a:ea typeface="Calibri" pitchFamily="34" charset="-122"/>
                  <a:cs typeface="Calibri" pitchFamily="34" charset="-120"/>
                </a:rPr>
                <a:t>✓ </a:t>
              </a:r>
              <a:r>
                <a:rPr lang="en-US" sz="850" dirty="0">
                  <a:solidFill>
                    <a:srgbClr val="1A2E44"/>
                  </a:solidFill>
                  <a:latin typeface="Calibri" pitchFamily="34" charset="0"/>
                  <a:ea typeface="Calibri" pitchFamily="34" charset="-122"/>
                  <a:cs typeface="Calibri" pitchFamily="34" charset="-120"/>
                </a:rPr>
                <a:t>Sign-in risk + impossible travel block</a:t>
              </a:r>
              <a:endParaRPr lang="en-US" sz="850" dirty="0"/>
            </a:p>
          </p:txBody>
        </p:sp>
        <p:sp>
          <p:nvSpPr>
            <p:cNvPr id="52" name="Shape 50"/>
            <p:cNvSpPr/>
            <p:nvPr/>
          </p:nvSpPr>
          <p:spPr>
            <a:xfrm>
              <a:off x="182880" y="4261104"/>
              <a:ext cx="1737360" cy="795528"/>
            </a:xfrm>
            <a:prstGeom prst="rect">
              <a:avLst/>
            </a:prstGeom>
            <a:solidFill>
              <a:srgbClr val="EEF8F5"/>
            </a:solidFill>
            <a:ln w="6350">
              <a:solidFill>
                <a:srgbClr val="D1DDE8"/>
              </a:solidFill>
              <a:prstDash val="solid"/>
            </a:ln>
          </p:spPr>
          <p:txBody>
            <a:bodyPr/>
            <a:lstStyle/>
            <a:p>
              <a:endParaRPr lang="en-US"/>
            </a:p>
          </p:txBody>
        </p:sp>
        <p:sp>
          <p:nvSpPr>
            <p:cNvPr id="53" name="Text 51"/>
            <p:cNvSpPr/>
            <p:nvPr/>
          </p:nvSpPr>
          <p:spPr>
            <a:xfrm>
              <a:off x="219456" y="4297680"/>
              <a:ext cx="1664208" cy="722376"/>
            </a:xfrm>
            <a:prstGeom prst="rect">
              <a:avLst/>
            </a:prstGeom>
            <a:noFill/>
            <a:ln/>
          </p:spPr>
          <p:txBody>
            <a:bodyPr wrap="square" lIns="0" tIns="0" rIns="0" bIns="0" rtlCol="0" anchor="ctr"/>
            <a:lstStyle/>
            <a:p>
              <a:pPr marL="0" indent="0">
                <a:buNone/>
              </a:pPr>
              <a:r>
                <a:rPr lang="en-US" sz="900" b="1" dirty="0">
                  <a:solidFill>
                    <a:srgbClr val="6B21A8"/>
                  </a:solidFill>
                  <a:latin typeface="Calibri" pitchFamily="34" charset="0"/>
                  <a:ea typeface="Calibri" pitchFamily="34" charset="-122"/>
                  <a:cs typeface="Calibri" pitchFamily="34" charset="-120"/>
                </a:rPr>
                <a:t>OAuth Abuse</a:t>
              </a:r>
              <a:endParaRPr lang="en-US" sz="900" dirty="0"/>
            </a:p>
          </p:txBody>
        </p:sp>
        <p:sp>
          <p:nvSpPr>
            <p:cNvPr id="54" name="Shape 52"/>
            <p:cNvSpPr/>
            <p:nvPr/>
          </p:nvSpPr>
          <p:spPr>
            <a:xfrm>
              <a:off x="1938528" y="4261104"/>
              <a:ext cx="822960" cy="795528"/>
            </a:xfrm>
            <a:prstGeom prst="rect">
              <a:avLst/>
            </a:prstGeom>
            <a:solidFill>
              <a:srgbClr val="EEF8F5"/>
            </a:solidFill>
            <a:ln w="6350">
              <a:solidFill>
                <a:srgbClr val="D1DDE8"/>
              </a:solidFill>
              <a:prstDash val="solid"/>
            </a:ln>
          </p:spPr>
          <p:txBody>
            <a:bodyPr/>
            <a:lstStyle/>
            <a:p>
              <a:endParaRPr lang="en-US"/>
            </a:p>
          </p:txBody>
        </p:sp>
        <p:sp>
          <p:nvSpPr>
            <p:cNvPr id="55" name="Text 53"/>
            <p:cNvSpPr/>
            <p:nvPr/>
          </p:nvSpPr>
          <p:spPr>
            <a:xfrm>
              <a:off x="1956816" y="4297680"/>
              <a:ext cx="786384" cy="722376"/>
            </a:xfrm>
            <a:prstGeom prst="rect">
              <a:avLst/>
            </a:prstGeom>
            <a:noFill/>
            <a:ln/>
          </p:spPr>
          <p:txBody>
            <a:bodyPr wrap="square" lIns="0" tIns="0" rIns="0" bIns="0" rtlCol="0" anchor="ctr"/>
            <a:lstStyle/>
            <a:p>
              <a:pPr marL="0" indent="0">
                <a:buNone/>
              </a:pPr>
              <a:r>
                <a:rPr lang="en-US" sz="750" dirty="0">
                  <a:solidFill>
                    <a:srgbClr val="4B6076"/>
                  </a:solidFill>
                  <a:latin typeface="Calibri" pitchFamily="34" charset="0"/>
                  <a:ea typeface="Calibri" pitchFamily="34" charset="-122"/>
                  <a:cs typeface="Calibri" pitchFamily="34" charset="-120"/>
                </a:rPr>
                <a:t>T1528, T1550.001</a:t>
              </a:r>
              <a:endParaRPr lang="en-US" sz="750" dirty="0"/>
            </a:p>
          </p:txBody>
        </p:sp>
        <p:sp>
          <p:nvSpPr>
            <p:cNvPr id="56" name="Shape 54"/>
            <p:cNvSpPr/>
            <p:nvPr/>
          </p:nvSpPr>
          <p:spPr>
            <a:xfrm>
              <a:off x="2779776" y="4261104"/>
              <a:ext cx="2560320" cy="795528"/>
            </a:xfrm>
            <a:prstGeom prst="rect">
              <a:avLst/>
            </a:prstGeom>
            <a:solidFill>
              <a:srgbClr val="EEF8F5"/>
            </a:solidFill>
            <a:ln w="6350">
              <a:solidFill>
                <a:srgbClr val="D1DDE8"/>
              </a:solidFill>
              <a:prstDash val="solid"/>
            </a:ln>
          </p:spPr>
          <p:txBody>
            <a:bodyPr/>
            <a:lstStyle/>
            <a:p>
              <a:endParaRPr lang="en-US"/>
            </a:p>
          </p:txBody>
        </p:sp>
        <p:sp>
          <p:nvSpPr>
            <p:cNvPr id="57" name="Text 55"/>
            <p:cNvSpPr/>
            <p:nvPr/>
          </p:nvSpPr>
          <p:spPr>
            <a:xfrm>
              <a:off x="2816352" y="4297680"/>
              <a:ext cx="2487168" cy="722376"/>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Malicious OAuth app consent grants persistent API access to attacker-controlled apps; stolen refresh tokens reused across sessions.</a:t>
              </a:r>
              <a:endParaRPr lang="en-US" sz="850" dirty="0"/>
            </a:p>
          </p:txBody>
        </p:sp>
        <p:sp>
          <p:nvSpPr>
            <p:cNvPr id="58" name="Shape 56"/>
            <p:cNvSpPr/>
            <p:nvPr/>
          </p:nvSpPr>
          <p:spPr>
            <a:xfrm>
              <a:off x="5323184" y="4256286"/>
              <a:ext cx="3840480" cy="795528"/>
            </a:xfrm>
            <a:prstGeom prst="rect">
              <a:avLst/>
            </a:prstGeom>
            <a:solidFill>
              <a:srgbClr val="EEF8F5"/>
            </a:solidFill>
            <a:ln w="6350">
              <a:solidFill>
                <a:srgbClr val="D1DDE8"/>
              </a:solidFill>
              <a:prstDash val="solid"/>
            </a:ln>
          </p:spPr>
          <p:txBody>
            <a:bodyPr/>
            <a:lstStyle/>
            <a:p>
              <a:endParaRPr lang="en-US"/>
            </a:p>
          </p:txBody>
        </p:sp>
        <p:sp>
          <p:nvSpPr>
            <p:cNvPr id="59" name="Text 57"/>
            <p:cNvSpPr/>
            <p:nvPr/>
          </p:nvSpPr>
          <p:spPr>
            <a:xfrm>
              <a:off x="5378048" y="4311150"/>
              <a:ext cx="3730752" cy="210312"/>
            </a:xfrm>
            <a:prstGeom prst="rect">
              <a:avLst/>
            </a:prstGeom>
            <a:noFill/>
            <a:ln/>
          </p:spPr>
          <p:txBody>
            <a:bodyPr wrap="square" lIns="0" tIns="0" rIns="0" bIns="0" rtlCol="0" anchor="ctr"/>
            <a:lstStyle/>
            <a:p>
              <a:pPr marL="0" indent="0">
                <a:buNone/>
              </a:pPr>
              <a:r>
                <a:rPr lang="en-US" sz="850" b="1" dirty="0">
                  <a:solidFill>
                    <a:srgbClr val="0D9488"/>
                  </a:solidFill>
                  <a:latin typeface="Calibri" pitchFamily="34" charset="0"/>
                  <a:ea typeface="Calibri" pitchFamily="34" charset="-122"/>
                  <a:cs typeface="Calibri" pitchFamily="34" charset="-120"/>
                </a:rPr>
                <a:t>✓ </a:t>
              </a:r>
              <a:r>
                <a:rPr lang="en-US" sz="850" dirty="0">
                  <a:solidFill>
                    <a:srgbClr val="1A2E44"/>
                  </a:solidFill>
                  <a:latin typeface="Calibri" pitchFamily="34" charset="0"/>
                  <a:ea typeface="Calibri" pitchFamily="34" charset="-122"/>
                  <a:cs typeface="Calibri" pitchFamily="34" charset="-120"/>
                </a:rPr>
                <a:t>Admin-approved app consent policy</a:t>
              </a:r>
              <a:endParaRPr lang="en-US" sz="850" dirty="0"/>
            </a:p>
          </p:txBody>
        </p:sp>
        <p:sp>
          <p:nvSpPr>
            <p:cNvPr id="60" name="Text 58"/>
            <p:cNvSpPr/>
            <p:nvPr/>
          </p:nvSpPr>
          <p:spPr>
            <a:xfrm>
              <a:off x="5378048" y="4548894"/>
              <a:ext cx="3730752" cy="210312"/>
            </a:xfrm>
            <a:prstGeom prst="rect">
              <a:avLst/>
            </a:prstGeom>
            <a:noFill/>
            <a:ln/>
          </p:spPr>
          <p:txBody>
            <a:bodyPr wrap="square" lIns="0" tIns="0" rIns="0" bIns="0" rtlCol="0" anchor="ctr"/>
            <a:lstStyle/>
            <a:p>
              <a:pPr marL="0" indent="0">
                <a:buNone/>
              </a:pPr>
              <a:r>
                <a:rPr lang="en-US" sz="850" b="1" dirty="0">
                  <a:solidFill>
                    <a:srgbClr val="0D9488"/>
                  </a:solidFill>
                  <a:latin typeface="Calibri" pitchFamily="34" charset="0"/>
                  <a:ea typeface="Calibri" pitchFamily="34" charset="-122"/>
                  <a:cs typeface="Calibri" pitchFamily="34" charset="-120"/>
                </a:rPr>
                <a:t>✓ </a:t>
              </a:r>
              <a:r>
                <a:rPr lang="en-US" sz="850" dirty="0">
                  <a:solidFill>
                    <a:srgbClr val="1A2E44"/>
                  </a:solidFill>
                  <a:latin typeface="Calibri" pitchFamily="34" charset="0"/>
                  <a:ea typeface="Calibri" pitchFamily="34" charset="-122"/>
                  <a:cs typeface="Calibri" pitchFamily="34" charset="-120"/>
                </a:rPr>
                <a:t>Refresh token rotation on every use</a:t>
              </a:r>
              <a:endParaRPr lang="en-US" sz="850" dirty="0"/>
            </a:p>
          </p:txBody>
        </p:sp>
        <p:sp>
          <p:nvSpPr>
            <p:cNvPr id="61" name="Text 59"/>
            <p:cNvSpPr/>
            <p:nvPr/>
          </p:nvSpPr>
          <p:spPr>
            <a:xfrm>
              <a:off x="5378048" y="4786638"/>
              <a:ext cx="3730752" cy="210312"/>
            </a:xfrm>
            <a:prstGeom prst="rect">
              <a:avLst/>
            </a:prstGeom>
            <a:noFill/>
            <a:ln/>
          </p:spPr>
          <p:txBody>
            <a:bodyPr wrap="square" lIns="0" tIns="0" rIns="0" bIns="0" rtlCol="0" anchor="ctr"/>
            <a:lstStyle/>
            <a:p>
              <a:pPr marL="0" indent="0">
                <a:buNone/>
              </a:pPr>
              <a:r>
                <a:rPr lang="en-US" sz="850" b="1" dirty="0">
                  <a:solidFill>
                    <a:srgbClr val="0D9488"/>
                  </a:solidFill>
                  <a:latin typeface="Calibri" pitchFamily="34" charset="0"/>
                  <a:ea typeface="Calibri" pitchFamily="34" charset="-122"/>
                  <a:cs typeface="Calibri" pitchFamily="34" charset="-120"/>
                </a:rPr>
                <a:t>✓ </a:t>
              </a:r>
              <a:r>
                <a:rPr lang="en-US" sz="850" dirty="0">
                  <a:solidFill>
                    <a:srgbClr val="1A2E44"/>
                  </a:solidFill>
                  <a:latin typeface="Calibri" pitchFamily="34" charset="0"/>
                  <a:ea typeface="Calibri" pitchFamily="34" charset="-122"/>
                  <a:cs typeface="Calibri" pitchFamily="34" charset="-120"/>
                </a:rPr>
                <a:t>OAuth app anomaly monitoring in SIEM</a:t>
              </a:r>
              <a:endParaRPr lang="en-US" sz="850" dirty="0"/>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4C75"/>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98B"/>
          </a:solidFill>
          <a:ln w="12700">
            <a:solidFill>
              <a:srgbClr val="1B998B"/>
            </a:solidFill>
            <a:prstDash val="solid"/>
          </a:ln>
        </p:spPr>
        <p:txBody>
          <a:bodyPr/>
          <a:lstStyle/>
          <a:p>
            <a:endParaRPr lang="en-US"/>
          </a:p>
        </p:txBody>
      </p:sp>
      <p:sp>
        <p:nvSpPr>
          <p:cNvPr id="3" name="Text 1"/>
          <p:cNvSpPr/>
          <p:nvPr/>
        </p:nvSpPr>
        <p:spPr>
          <a:xfrm>
            <a:off x="6858000" y="731520"/>
            <a:ext cx="2103120" cy="2560320"/>
          </a:xfrm>
          <a:prstGeom prst="rect">
            <a:avLst/>
          </a:prstGeom>
          <a:noFill/>
          <a:ln/>
        </p:spPr>
        <p:txBody>
          <a:bodyPr wrap="square" lIns="0" tIns="0" rIns="0" bIns="0" rtlCol="0" anchor="ctr"/>
          <a:lstStyle/>
          <a:p>
            <a:pPr marL="0" indent="0" algn="r">
              <a:buNone/>
            </a:pPr>
            <a:r>
              <a:rPr lang="en-US" sz="14000" b="1" dirty="0">
                <a:solidFill>
                  <a:srgbClr val="1A4A66"/>
                </a:solidFill>
                <a:latin typeface="Calibri" pitchFamily="34" charset="0"/>
                <a:ea typeface="Calibri" pitchFamily="34" charset="-122"/>
                <a:cs typeface="Calibri" pitchFamily="34" charset="-120"/>
              </a:rPr>
              <a:t>08</a:t>
            </a:r>
            <a:endParaRPr lang="en-US" sz="14000" dirty="0"/>
          </a:p>
        </p:txBody>
      </p:sp>
      <p:sp>
        <p:nvSpPr>
          <p:cNvPr id="4" name="Text 2"/>
          <p:cNvSpPr/>
          <p:nvPr/>
        </p:nvSpPr>
        <p:spPr>
          <a:xfrm>
            <a:off x="320040" y="1600200"/>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Vendor Landscape</a:t>
            </a:r>
            <a:endParaRPr lang="en-US" sz="3000" dirty="0"/>
          </a:p>
        </p:txBody>
      </p:sp>
      <p:sp>
        <p:nvSpPr>
          <p:cNvPr id="5" name="Shape 3"/>
          <p:cNvSpPr/>
          <p:nvPr/>
        </p:nvSpPr>
        <p:spPr>
          <a:xfrm>
            <a:off x="320040" y="2468880"/>
            <a:ext cx="6217920" cy="0"/>
          </a:xfrm>
          <a:prstGeom prst="line">
            <a:avLst/>
          </a:prstGeom>
          <a:noFill/>
          <a:ln w="6350">
            <a:solidFill>
              <a:srgbClr val="8AAFC4"/>
            </a:solidFill>
            <a:prstDash val="solid"/>
          </a:ln>
        </p:spPr>
        <p:txBody>
          <a:bodyPr/>
          <a:lstStyle/>
          <a:p>
            <a:endParaRPr lang="en-US"/>
          </a:p>
        </p:txBody>
      </p:sp>
      <p:sp>
        <p:nvSpPr>
          <p:cNvPr id="6" name="Text 4"/>
          <p:cNvSpPr/>
          <p:nvPr/>
        </p:nvSpPr>
        <p:spPr>
          <a:xfrm>
            <a:off x="320040" y="2542032"/>
            <a:ext cx="6400800" cy="457200"/>
          </a:xfrm>
          <a:prstGeom prst="rect">
            <a:avLst/>
          </a:prstGeom>
          <a:noFill/>
          <a:ln/>
        </p:spPr>
        <p:txBody>
          <a:bodyPr wrap="square" lIns="0" tIns="0" rIns="0" bIns="0" rtlCol="0" anchor="ctr"/>
          <a:lstStyle/>
          <a:p>
            <a:pPr marL="0" indent="0">
              <a:buNone/>
            </a:pPr>
            <a:r>
              <a:rPr lang="en-US" sz="1400" i="1" dirty="0">
                <a:solidFill>
                  <a:srgbClr val="C9E4F0"/>
                </a:solidFill>
                <a:latin typeface="Calibri" pitchFamily="34" charset="0"/>
                <a:ea typeface="Calibri" pitchFamily="34" charset="-122"/>
                <a:cs typeface="Calibri" pitchFamily="34" charset="-120"/>
              </a:rPr>
              <a:t>Microsoft Entra, Okta, Ping, Keycloak, ADFS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75"/>
          </a:solidFill>
          <a:ln w="12700">
            <a:solidFill>
              <a:srgbClr val="0F4C75"/>
            </a:solidFill>
            <a:prstDash val="solid"/>
          </a:ln>
        </p:spPr>
        <p:txBody>
          <a:bodyPr/>
          <a:lstStyle/>
          <a:p>
            <a:endParaRPr lang="en-US"/>
          </a:p>
        </p:txBody>
      </p:sp>
      <p:sp>
        <p:nvSpPr>
          <p:cNvPr id="3" name="Text 1"/>
          <p:cNvSpPr/>
          <p:nvPr/>
        </p:nvSpPr>
        <p:spPr>
          <a:xfrm>
            <a:off x="457200" y="0"/>
            <a:ext cx="82296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IdP &amp; SSO Vendor Landscape</a:t>
            </a:r>
            <a:endParaRPr lang="en-US" sz="2200" dirty="0"/>
          </a:p>
        </p:txBody>
      </p:sp>
      <p:sp>
        <p:nvSpPr>
          <p:cNvPr id="4" name="Shape 2"/>
          <p:cNvSpPr/>
          <p:nvPr/>
        </p:nvSpPr>
        <p:spPr>
          <a:xfrm>
            <a:off x="182880" y="804672"/>
            <a:ext cx="2743200" cy="192024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5" name="Shape 3"/>
          <p:cNvSpPr/>
          <p:nvPr/>
        </p:nvSpPr>
        <p:spPr>
          <a:xfrm>
            <a:off x="182880" y="804672"/>
            <a:ext cx="2743200" cy="365760"/>
          </a:xfrm>
          <a:prstGeom prst="rect">
            <a:avLst/>
          </a:prstGeom>
          <a:solidFill>
            <a:srgbClr val="0078D4"/>
          </a:solidFill>
          <a:ln w="12700">
            <a:solidFill>
              <a:srgbClr val="0078D4"/>
            </a:solidFill>
            <a:prstDash val="solid"/>
          </a:ln>
        </p:spPr>
        <p:txBody>
          <a:bodyPr/>
          <a:lstStyle/>
          <a:p>
            <a:endParaRPr lang="en-US"/>
          </a:p>
        </p:txBody>
      </p:sp>
      <p:sp>
        <p:nvSpPr>
          <p:cNvPr id="6" name="Text 4"/>
          <p:cNvSpPr/>
          <p:nvPr/>
        </p:nvSpPr>
        <p:spPr>
          <a:xfrm>
            <a:off x="256032" y="804672"/>
            <a:ext cx="182880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Microsoft Entra ID</a:t>
            </a:r>
            <a:endParaRPr lang="en-US" sz="1200" dirty="0"/>
          </a:p>
        </p:txBody>
      </p:sp>
      <p:sp>
        <p:nvSpPr>
          <p:cNvPr id="7" name="Text 5"/>
          <p:cNvSpPr/>
          <p:nvPr/>
        </p:nvSpPr>
        <p:spPr>
          <a:xfrm>
            <a:off x="1920240" y="868680"/>
            <a:ext cx="914400" cy="237744"/>
          </a:xfrm>
          <a:prstGeom prst="rect">
            <a:avLst/>
          </a:prstGeom>
          <a:noFill/>
          <a:ln/>
        </p:spPr>
        <p:txBody>
          <a:bodyPr wrap="square" lIns="0" tIns="0" rIns="0" bIns="0" rtlCol="0" anchor="ctr"/>
          <a:lstStyle/>
          <a:p>
            <a:pPr marL="0" indent="0" algn="r">
              <a:buNone/>
            </a:pPr>
            <a:r>
              <a:rPr lang="en-US" sz="800" i="1" dirty="0">
                <a:solidFill>
                  <a:srgbClr val="FFFFFF"/>
                </a:solidFill>
                <a:latin typeface="Calibri" pitchFamily="34" charset="0"/>
                <a:ea typeface="Calibri" pitchFamily="34" charset="-122"/>
                <a:cs typeface="Calibri" pitchFamily="34" charset="-120"/>
              </a:rPr>
              <a:t>Market Leader</a:t>
            </a:r>
            <a:endParaRPr lang="en-US" sz="800" dirty="0"/>
          </a:p>
        </p:txBody>
      </p:sp>
      <p:sp>
        <p:nvSpPr>
          <p:cNvPr id="8" name="Text 6"/>
          <p:cNvSpPr/>
          <p:nvPr/>
        </p:nvSpPr>
        <p:spPr>
          <a:xfrm>
            <a:off x="274320" y="1207008"/>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Deepest Microsoft 365 / Azure integration</a:t>
            </a:r>
            <a:endParaRPr lang="en-US" sz="900" dirty="0"/>
          </a:p>
        </p:txBody>
      </p:sp>
      <p:sp>
        <p:nvSpPr>
          <p:cNvPr id="9" name="Text 7"/>
          <p:cNvSpPr/>
          <p:nvPr/>
        </p:nvSpPr>
        <p:spPr>
          <a:xfrm>
            <a:off x="274320" y="1508760"/>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Conditional Access + Identity Protection (P2)</a:t>
            </a:r>
            <a:endParaRPr lang="en-US" sz="900" dirty="0"/>
          </a:p>
        </p:txBody>
      </p:sp>
      <p:sp>
        <p:nvSpPr>
          <p:cNvPr id="10" name="Text 8"/>
          <p:cNvSpPr/>
          <p:nvPr/>
        </p:nvSpPr>
        <p:spPr>
          <a:xfrm>
            <a:off x="274320" y="1810512"/>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Entra ID PIM for JIT privileged access</a:t>
            </a:r>
            <a:endParaRPr lang="en-US" sz="900" dirty="0"/>
          </a:p>
        </p:txBody>
      </p:sp>
      <p:sp>
        <p:nvSpPr>
          <p:cNvPr id="11" name="Text 9"/>
          <p:cNvSpPr/>
          <p:nvPr/>
        </p:nvSpPr>
        <p:spPr>
          <a:xfrm>
            <a:off x="274320" y="2112264"/>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CAE support for M365; passkey support</a:t>
            </a:r>
            <a:endParaRPr lang="en-US" sz="900" dirty="0"/>
          </a:p>
        </p:txBody>
      </p:sp>
      <p:sp>
        <p:nvSpPr>
          <p:cNvPr id="12" name="Text 10"/>
          <p:cNvSpPr/>
          <p:nvPr/>
        </p:nvSpPr>
        <p:spPr>
          <a:xfrm>
            <a:off x="274320" y="2414016"/>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Best for: Microsoft-centric environments</a:t>
            </a:r>
            <a:endParaRPr lang="en-US" sz="900" dirty="0"/>
          </a:p>
        </p:txBody>
      </p:sp>
      <p:sp>
        <p:nvSpPr>
          <p:cNvPr id="13" name="Shape 11"/>
          <p:cNvSpPr/>
          <p:nvPr/>
        </p:nvSpPr>
        <p:spPr>
          <a:xfrm>
            <a:off x="3108960" y="804672"/>
            <a:ext cx="2743200" cy="192024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14" name="Shape 12"/>
          <p:cNvSpPr/>
          <p:nvPr/>
        </p:nvSpPr>
        <p:spPr>
          <a:xfrm>
            <a:off x="3108960" y="804672"/>
            <a:ext cx="2743200" cy="365760"/>
          </a:xfrm>
          <a:prstGeom prst="rect">
            <a:avLst/>
          </a:prstGeom>
          <a:solidFill>
            <a:srgbClr val="007DC1"/>
          </a:solidFill>
          <a:ln w="12700">
            <a:solidFill>
              <a:srgbClr val="007DC1"/>
            </a:solidFill>
            <a:prstDash val="solid"/>
          </a:ln>
        </p:spPr>
        <p:txBody>
          <a:bodyPr/>
          <a:lstStyle/>
          <a:p>
            <a:endParaRPr lang="en-US"/>
          </a:p>
        </p:txBody>
      </p:sp>
      <p:sp>
        <p:nvSpPr>
          <p:cNvPr id="15" name="Text 13"/>
          <p:cNvSpPr/>
          <p:nvPr/>
        </p:nvSpPr>
        <p:spPr>
          <a:xfrm>
            <a:off x="3182112" y="804672"/>
            <a:ext cx="182880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Okta Workforce</a:t>
            </a:r>
            <a:endParaRPr lang="en-US" sz="1200" dirty="0"/>
          </a:p>
        </p:txBody>
      </p:sp>
      <p:sp>
        <p:nvSpPr>
          <p:cNvPr id="16" name="Text 14"/>
          <p:cNvSpPr/>
          <p:nvPr/>
        </p:nvSpPr>
        <p:spPr>
          <a:xfrm>
            <a:off x="4846320" y="868680"/>
            <a:ext cx="914400" cy="237744"/>
          </a:xfrm>
          <a:prstGeom prst="rect">
            <a:avLst/>
          </a:prstGeom>
          <a:noFill/>
          <a:ln/>
        </p:spPr>
        <p:txBody>
          <a:bodyPr wrap="square" lIns="0" tIns="0" rIns="0" bIns="0" rtlCol="0" anchor="ctr"/>
          <a:lstStyle/>
          <a:p>
            <a:pPr marL="0" indent="0" algn="r">
              <a:buNone/>
            </a:pPr>
            <a:r>
              <a:rPr lang="en-US" sz="800" i="1" dirty="0">
                <a:solidFill>
                  <a:srgbClr val="FFFFFF"/>
                </a:solidFill>
                <a:latin typeface="Calibri" pitchFamily="34" charset="0"/>
                <a:ea typeface="Calibri" pitchFamily="34" charset="-122"/>
                <a:cs typeface="Calibri" pitchFamily="34" charset="-120"/>
              </a:rPr>
              <a:t>Market Leader</a:t>
            </a:r>
            <a:endParaRPr lang="en-US" sz="800" dirty="0"/>
          </a:p>
        </p:txBody>
      </p:sp>
      <p:sp>
        <p:nvSpPr>
          <p:cNvPr id="17" name="Text 15"/>
          <p:cNvSpPr/>
          <p:nvPr/>
        </p:nvSpPr>
        <p:spPr>
          <a:xfrm>
            <a:off x="3200400" y="1207008"/>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7,000+ pre-built app integrations</a:t>
            </a:r>
            <a:endParaRPr lang="en-US" sz="900" dirty="0"/>
          </a:p>
        </p:txBody>
      </p:sp>
      <p:sp>
        <p:nvSpPr>
          <p:cNvPr id="18" name="Text 16"/>
          <p:cNvSpPr/>
          <p:nvPr/>
        </p:nvSpPr>
        <p:spPr>
          <a:xfrm>
            <a:off x="3200400" y="1508760"/>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Lifecycle Management (SCIM/HRDR sync)</a:t>
            </a:r>
            <a:endParaRPr lang="en-US" sz="900" dirty="0"/>
          </a:p>
        </p:txBody>
      </p:sp>
      <p:sp>
        <p:nvSpPr>
          <p:cNvPr id="19" name="Text 17"/>
          <p:cNvSpPr/>
          <p:nvPr/>
        </p:nvSpPr>
        <p:spPr>
          <a:xfrm>
            <a:off x="3200400" y="1810512"/>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ThreatInsight for adaptive auth</a:t>
            </a:r>
            <a:endParaRPr lang="en-US" sz="900" dirty="0"/>
          </a:p>
        </p:txBody>
      </p:sp>
      <p:sp>
        <p:nvSpPr>
          <p:cNvPr id="20" name="Text 18"/>
          <p:cNvSpPr/>
          <p:nvPr/>
        </p:nvSpPr>
        <p:spPr>
          <a:xfrm>
            <a:off x="3200400" y="2112264"/>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Okta FastPass for passwordless</a:t>
            </a:r>
            <a:endParaRPr lang="en-US" sz="900" dirty="0"/>
          </a:p>
        </p:txBody>
      </p:sp>
      <p:sp>
        <p:nvSpPr>
          <p:cNvPr id="21" name="Text 19"/>
          <p:cNvSpPr/>
          <p:nvPr/>
        </p:nvSpPr>
        <p:spPr>
          <a:xfrm>
            <a:off x="3200400" y="2414016"/>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Best for: Multi-cloud, vendor-neutral</a:t>
            </a:r>
            <a:endParaRPr lang="en-US" sz="900" dirty="0"/>
          </a:p>
        </p:txBody>
      </p:sp>
      <p:sp>
        <p:nvSpPr>
          <p:cNvPr id="22" name="Shape 20"/>
          <p:cNvSpPr/>
          <p:nvPr/>
        </p:nvSpPr>
        <p:spPr>
          <a:xfrm>
            <a:off x="6035040" y="804672"/>
            <a:ext cx="2743200" cy="192024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23" name="Shape 21"/>
          <p:cNvSpPr/>
          <p:nvPr/>
        </p:nvSpPr>
        <p:spPr>
          <a:xfrm>
            <a:off x="6035040" y="804672"/>
            <a:ext cx="2743200" cy="365760"/>
          </a:xfrm>
          <a:prstGeom prst="rect">
            <a:avLst/>
          </a:prstGeom>
          <a:solidFill>
            <a:srgbClr val="E1393A"/>
          </a:solidFill>
          <a:ln w="12700">
            <a:solidFill>
              <a:srgbClr val="E1393A"/>
            </a:solidFill>
            <a:prstDash val="solid"/>
          </a:ln>
        </p:spPr>
        <p:txBody>
          <a:bodyPr/>
          <a:lstStyle/>
          <a:p>
            <a:endParaRPr lang="en-US"/>
          </a:p>
        </p:txBody>
      </p:sp>
      <p:sp>
        <p:nvSpPr>
          <p:cNvPr id="24" name="Text 22"/>
          <p:cNvSpPr/>
          <p:nvPr/>
        </p:nvSpPr>
        <p:spPr>
          <a:xfrm>
            <a:off x="6108192" y="804672"/>
            <a:ext cx="182880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Ping Identity</a:t>
            </a:r>
            <a:endParaRPr lang="en-US" sz="1200" dirty="0"/>
          </a:p>
        </p:txBody>
      </p:sp>
      <p:sp>
        <p:nvSpPr>
          <p:cNvPr id="25" name="Text 23"/>
          <p:cNvSpPr/>
          <p:nvPr/>
        </p:nvSpPr>
        <p:spPr>
          <a:xfrm>
            <a:off x="7772400" y="868680"/>
            <a:ext cx="914400" cy="237744"/>
          </a:xfrm>
          <a:prstGeom prst="rect">
            <a:avLst/>
          </a:prstGeom>
          <a:noFill/>
          <a:ln/>
        </p:spPr>
        <p:txBody>
          <a:bodyPr wrap="square" lIns="0" tIns="0" rIns="0" bIns="0" rtlCol="0" anchor="ctr"/>
          <a:lstStyle/>
          <a:p>
            <a:pPr marL="0" indent="0" algn="r">
              <a:buNone/>
            </a:pPr>
            <a:r>
              <a:rPr lang="en-US" sz="800" i="1" dirty="0">
                <a:solidFill>
                  <a:srgbClr val="FFFFFF"/>
                </a:solidFill>
                <a:latin typeface="Calibri" pitchFamily="34" charset="0"/>
                <a:ea typeface="Calibri" pitchFamily="34" charset="-122"/>
                <a:cs typeface="Calibri" pitchFamily="34" charset="-120"/>
              </a:rPr>
              <a:t>Enterprise</a:t>
            </a:r>
            <a:endParaRPr lang="en-US" sz="800" dirty="0"/>
          </a:p>
        </p:txBody>
      </p:sp>
      <p:sp>
        <p:nvSpPr>
          <p:cNvPr id="26" name="Text 24"/>
          <p:cNvSpPr/>
          <p:nvPr/>
        </p:nvSpPr>
        <p:spPr>
          <a:xfrm>
            <a:off x="6126480" y="1207008"/>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PingFederate: SAML/OIDC/OAuth hub</a:t>
            </a:r>
            <a:endParaRPr lang="en-US" sz="900" dirty="0"/>
          </a:p>
        </p:txBody>
      </p:sp>
      <p:sp>
        <p:nvSpPr>
          <p:cNvPr id="27" name="Text 25"/>
          <p:cNvSpPr/>
          <p:nvPr/>
        </p:nvSpPr>
        <p:spPr>
          <a:xfrm>
            <a:off x="6126480" y="1508760"/>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PingAccess: API gateway + SSO proxy</a:t>
            </a:r>
            <a:endParaRPr lang="en-US" sz="900" dirty="0"/>
          </a:p>
        </p:txBody>
      </p:sp>
      <p:sp>
        <p:nvSpPr>
          <p:cNvPr id="28" name="Text 26"/>
          <p:cNvSpPr/>
          <p:nvPr/>
        </p:nvSpPr>
        <p:spPr>
          <a:xfrm>
            <a:off x="6126480" y="1810512"/>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Strong regulated industry presence</a:t>
            </a:r>
            <a:endParaRPr lang="en-US" sz="900" dirty="0"/>
          </a:p>
        </p:txBody>
      </p:sp>
      <p:sp>
        <p:nvSpPr>
          <p:cNvPr id="29" name="Text 27"/>
          <p:cNvSpPr/>
          <p:nvPr/>
        </p:nvSpPr>
        <p:spPr>
          <a:xfrm>
            <a:off x="6126480" y="2112264"/>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On-prem, SaaS, and hybrid options</a:t>
            </a:r>
            <a:endParaRPr lang="en-US" sz="900" dirty="0"/>
          </a:p>
        </p:txBody>
      </p:sp>
      <p:sp>
        <p:nvSpPr>
          <p:cNvPr id="30" name="Text 28"/>
          <p:cNvSpPr/>
          <p:nvPr/>
        </p:nvSpPr>
        <p:spPr>
          <a:xfrm>
            <a:off x="6126480" y="2414016"/>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Best for: Complex federation, regulated sectors</a:t>
            </a:r>
            <a:endParaRPr lang="en-US" sz="900" dirty="0"/>
          </a:p>
        </p:txBody>
      </p:sp>
      <p:sp>
        <p:nvSpPr>
          <p:cNvPr id="31" name="Shape 29"/>
          <p:cNvSpPr/>
          <p:nvPr/>
        </p:nvSpPr>
        <p:spPr>
          <a:xfrm>
            <a:off x="182880" y="2889504"/>
            <a:ext cx="2743200" cy="192024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32" name="Shape 30"/>
          <p:cNvSpPr/>
          <p:nvPr/>
        </p:nvSpPr>
        <p:spPr>
          <a:xfrm>
            <a:off x="182880" y="2889504"/>
            <a:ext cx="2743200" cy="365760"/>
          </a:xfrm>
          <a:prstGeom prst="rect">
            <a:avLst/>
          </a:prstGeom>
          <a:solidFill>
            <a:srgbClr val="2E7D32"/>
          </a:solidFill>
          <a:ln w="12700">
            <a:solidFill>
              <a:srgbClr val="2E7D32"/>
            </a:solidFill>
            <a:prstDash val="solid"/>
          </a:ln>
        </p:spPr>
        <p:txBody>
          <a:bodyPr/>
          <a:lstStyle/>
          <a:p>
            <a:endParaRPr lang="en-US"/>
          </a:p>
        </p:txBody>
      </p:sp>
      <p:sp>
        <p:nvSpPr>
          <p:cNvPr id="33" name="Text 31"/>
          <p:cNvSpPr/>
          <p:nvPr/>
        </p:nvSpPr>
        <p:spPr>
          <a:xfrm>
            <a:off x="256032" y="2889504"/>
            <a:ext cx="182880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Keycloak</a:t>
            </a:r>
            <a:endParaRPr lang="en-US" sz="1200" dirty="0"/>
          </a:p>
        </p:txBody>
      </p:sp>
      <p:sp>
        <p:nvSpPr>
          <p:cNvPr id="34" name="Text 32"/>
          <p:cNvSpPr/>
          <p:nvPr/>
        </p:nvSpPr>
        <p:spPr>
          <a:xfrm>
            <a:off x="1920240" y="2953512"/>
            <a:ext cx="914400" cy="237744"/>
          </a:xfrm>
          <a:prstGeom prst="rect">
            <a:avLst/>
          </a:prstGeom>
          <a:noFill/>
          <a:ln/>
        </p:spPr>
        <p:txBody>
          <a:bodyPr wrap="square" lIns="0" tIns="0" rIns="0" bIns="0" rtlCol="0" anchor="ctr"/>
          <a:lstStyle/>
          <a:p>
            <a:pPr marL="0" indent="0" algn="r">
              <a:buNone/>
            </a:pPr>
            <a:r>
              <a:rPr lang="en-US" sz="800" i="1" dirty="0">
                <a:solidFill>
                  <a:srgbClr val="FFFFFF"/>
                </a:solidFill>
                <a:latin typeface="Calibri" pitchFamily="34" charset="0"/>
                <a:ea typeface="Calibri" pitchFamily="34" charset="-122"/>
                <a:cs typeface="Calibri" pitchFamily="34" charset="-120"/>
              </a:rPr>
              <a:t>Open Source</a:t>
            </a:r>
            <a:endParaRPr lang="en-US" sz="800" dirty="0"/>
          </a:p>
        </p:txBody>
      </p:sp>
      <p:sp>
        <p:nvSpPr>
          <p:cNvPr id="35" name="Text 33"/>
          <p:cNvSpPr/>
          <p:nvPr/>
        </p:nvSpPr>
        <p:spPr>
          <a:xfrm>
            <a:off x="274320" y="3291840"/>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OIDC, SAML, OAuth 2.0 built-in</a:t>
            </a:r>
            <a:endParaRPr lang="en-US" sz="900" dirty="0"/>
          </a:p>
        </p:txBody>
      </p:sp>
      <p:sp>
        <p:nvSpPr>
          <p:cNvPr id="36" name="Text 34"/>
          <p:cNvSpPr/>
          <p:nvPr/>
        </p:nvSpPr>
        <p:spPr>
          <a:xfrm>
            <a:off x="274320" y="3593592"/>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Highly extensible via SPIs</a:t>
            </a:r>
            <a:endParaRPr lang="en-US" sz="900" dirty="0"/>
          </a:p>
        </p:txBody>
      </p:sp>
      <p:sp>
        <p:nvSpPr>
          <p:cNvPr id="37" name="Text 35"/>
          <p:cNvSpPr/>
          <p:nvPr/>
        </p:nvSpPr>
        <p:spPr>
          <a:xfrm>
            <a:off x="274320" y="3895344"/>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Red Hat SSO (enterprise support)</a:t>
            </a:r>
            <a:endParaRPr lang="en-US" sz="900" dirty="0"/>
          </a:p>
        </p:txBody>
      </p:sp>
      <p:sp>
        <p:nvSpPr>
          <p:cNvPr id="38" name="Text 36"/>
          <p:cNvSpPr/>
          <p:nvPr/>
        </p:nvSpPr>
        <p:spPr>
          <a:xfrm>
            <a:off x="274320" y="4197096"/>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No licensing cost</a:t>
            </a:r>
            <a:endParaRPr lang="en-US" sz="900" dirty="0"/>
          </a:p>
        </p:txBody>
      </p:sp>
      <p:sp>
        <p:nvSpPr>
          <p:cNvPr id="39" name="Text 37"/>
          <p:cNvSpPr/>
          <p:nvPr/>
        </p:nvSpPr>
        <p:spPr>
          <a:xfrm>
            <a:off x="274320" y="4498848"/>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Best for: Cost-sensitive, custom flows</a:t>
            </a:r>
            <a:endParaRPr lang="en-US" sz="900" dirty="0"/>
          </a:p>
        </p:txBody>
      </p:sp>
      <p:sp>
        <p:nvSpPr>
          <p:cNvPr id="40" name="Shape 38"/>
          <p:cNvSpPr/>
          <p:nvPr/>
        </p:nvSpPr>
        <p:spPr>
          <a:xfrm>
            <a:off x="3108960" y="2889504"/>
            <a:ext cx="2743200" cy="192024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41" name="Shape 39"/>
          <p:cNvSpPr/>
          <p:nvPr/>
        </p:nvSpPr>
        <p:spPr>
          <a:xfrm>
            <a:off x="3108960" y="2889504"/>
            <a:ext cx="2743200" cy="365760"/>
          </a:xfrm>
          <a:prstGeom prst="rect">
            <a:avLst/>
          </a:prstGeom>
          <a:solidFill>
            <a:srgbClr val="555555"/>
          </a:solidFill>
          <a:ln w="12700">
            <a:solidFill>
              <a:srgbClr val="555555"/>
            </a:solidFill>
            <a:prstDash val="solid"/>
          </a:ln>
        </p:spPr>
        <p:txBody>
          <a:bodyPr/>
          <a:lstStyle/>
          <a:p>
            <a:endParaRPr lang="en-US"/>
          </a:p>
        </p:txBody>
      </p:sp>
      <p:sp>
        <p:nvSpPr>
          <p:cNvPr id="42" name="Text 40"/>
          <p:cNvSpPr/>
          <p:nvPr/>
        </p:nvSpPr>
        <p:spPr>
          <a:xfrm>
            <a:off x="3182112" y="2889504"/>
            <a:ext cx="182880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ADFS (Microsoft)</a:t>
            </a:r>
            <a:endParaRPr lang="en-US" sz="1200" dirty="0"/>
          </a:p>
        </p:txBody>
      </p:sp>
      <p:sp>
        <p:nvSpPr>
          <p:cNvPr id="43" name="Text 41"/>
          <p:cNvSpPr/>
          <p:nvPr/>
        </p:nvSpPr>
        <p:spPr>
          <a:xfrm>
            <a:off x="4846320" y="2953512"/>
            <a:ext cx="914400" cy="237744"/>
          </a:xfrm>
          <a:prstGeom prst="rect">
            <a:avLst/>
          </a:prstGeom>
          <a:noFill/>
          <a:ln/>
        </p:spPr>
        <p:txBody>
          <a:bodyPr wrap="square" lIns="0" tIns="0" rIns="0" bIns="0" rtlCol="0" anchor="ctr"/>
          <a:lstStyle/>
          <a:p>
            <a:pPr marL="0" indent="0" algn="r">
              <a:buNone/>
            </a:pPr>
            <a:r>
              <a:rPr lang="en-US" sz="800" i="1" dirty="0">
                <a:solidFill>
                  <a:srgbClr val="FFFFFF"/>
                </a:solidFill>
                <a:latin typeface="Calibri" pitchFamily="34" charset="0"/>
                <a:ea typeface="Calibri" pitchFamily="34" charset="-122"/>
                <a:cs typeface="Calibri" pitchFamily="34" charset="-120"/>
              </a:rPr>
              <a:t>Legacy On-Prem</a:t>
            </a:r>
            <a:endParaRPr lang="en-US" sz="800" dirty="0"/>
          </a:p>
        </p:txBody>
      </p:sp>
      <p:sp>
        <p:nvSpPr>
          <p:cNvPr id="44" name="Text 42"/>
          <p:cNvSpPr/>
          <p:nvPr/>
        </p:nvSpPr>
        <p:spPr>
          <a:xfrm>
            <a:off x="3200400" y="3291840"/>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Free with Windows Server</a:t>
            </a:r>
            <a:endParaRPr lang="en-US" sz="900" dirty="0"/>
          </a:p>
        </p:txBody>
      </p:sp>
      <p:sp>
        <p:nvSpPr>
          <p:cNvPr id="45" name="Text 43"/>
          <p:cNvSpPr/>
          <p:nvPr/>
        </p:nvSpPr>
        <p:spPr>
          <a:xfrm>
            <a:off x="3200400" y="3593592"/>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SAML 2.0 + OAuth 2.0 + WS-Fed</a:t>
            </a:r>
            <a:endParaRPr lang="en-US" sz="900" dirty="0"/>
          </a:p>
        </p:txBody>
      </p:sp>
      <p:sp>
        <p:nvSpPr>
          <p:cNvPr id="46" name="Text 44"/>
          <p:cNvSpPr/>
          <p:nvPr/>
        </p:nvSpPr>
        <p:spPr>
          <a:xfrm>
            <a:off x="3200400" y="3895344"/>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Direct on-premises AD integration</a:t>
            </a:r>
            <a:endParaRPr lang="en-US" sz="900" dirty="0"/>
          </a:p>
        </p:txBody>
      </p:sp>
      <p:sp>
        <p:nvSpPr>
          <p:cNvPr id="47" name="Text 45"/>
          <p:cNvSpPr/>
          <p:nvPr/>
        </p:nvSpPr>
        <p:spPr>
          <a:xfrm>
            <a:off x="3200400" y="4197096"/>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No cloud dependency</a:t>
            </a:r>
            <a:endParaRPr lang="en-US" sz="900" dirty="0"/>
          </a:p>
        </p:txBody>
      </p:sp>
      <p:sp>
        <p:nvSpPr>
          <p:cNvPr id="48" name="Text 46"/>
          <p:cNvSpPr/>
          <p:nvPr/>
        </p:nvSpPr>
        <p:spPr>
          <a:xfrm>
            <a:off x="3200400" y="4498848"/>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Best for: Air-gapped, strict data residency</a:t>
            </a:r>
            <a:endParaRPr lang="en-US" sz="900" dirty="0"/>
          </a:p>
        </p:txBody>
      </p:sp>
      <p:sp>
        <p:nvSpPr>
          <p:cNvPr id="49" name="Shape 47"/>
          <p:cNvSpPr/>
          <p:nvPr/>
        </p:nvSpPr>
        <p:spPr>
          <a:xfrm>
            <a:off x="6035040" y="2889504"/>
            <a:ext cx="2743200" cy="192024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50" name="Shape 48"/>
          <p:cNvSpPr/>
          <p:nvPr/>
        </p:nvSpPr>
        <p:spPr>
          <a:xfrm>
            <a:off x="6035040" y="2889504"/>
            <a:ext cx="2743200" cy="365760"/>
          </a:xfrm>
          <a:prstGeom prst="rect">
            <a:avLst/>
          </a:prstGeom>
          <a:solidFill>
            <a:srgbClr val="FF9900"/>
          </a:solidFill>
          <a:ln w="12700">
            <a:solidFill>
              <a:srgbClr val="FF9900"/>
            </a:solidFill>
            <a:prstDash val="solid"/>
          </a:ln>
        </p:spPr>
        <p:txBody>
          <a:bodyPr/>
          <a:lstStyle/>
          <a:p>
            <a:endParaRPr lang="en-US"/>
          </a:p>
        </p:txBody>
      </p:sp>
      <p:sp>
        <p:nvSpPr>
          <p:cNvPr id="51" name="Text 49"/>
          <p:cNvSpPr/>
          <p:nvPr/>
        </p:nvSpPr>
        <p:spPr>
          <a:xfrm>
            <a:off x="6108192" y="2889504"/>
            <a:ext cx="182880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AWS IAM Identity Center</a:t>
            </a:r>
            <a:endParaRPr lang="en-US" sz="1200" dirty="0"/>
          </a:p>
        </p:txBody>
      </p:sp>
      <p:sp>
        <p:nvSpPr>
          <p:cNvPr id="52" name="Text 50"/>
          <p:cNvSpPr/>
          <p:nvPr/>
        </p:nvSpPr>
        <p:spPr>
          <a:xfrm>
            <a:off x="7772400" y="2953512"/>
            <a:ext cx="914400" cy="237744"/>
          </a:xfrm>
          <a:prstGeom prst="rect">
            <a:avLst/>
          </a:prstGeom>
          <a:noFill/>
          <a:ln/>
        </p:spPr>
        <p:txBody>
          <a:bodyPr wrap="square" lIns="0" tIns="0" rIns="0" bIns="0" rtlCol="0" anchor="ctr"/>
          <a:lstStyle/>
          <a:p>
            <a:pPr marL="0" indent="0" algn="r">
              <a:buNone/>
            </a:pPr>
            <a:r>
              <a:rPr lang="en-US" sz="800" i="1" dirty="0">
                <a:solidFill>
                  <a:srgbClr val="FFFFFF"/>
                </a:solidFill>
                <a:latin typeface="Calibri" pitchFamily="34" charset="0"/>
                <a:ea typeface="Calibri" pitchFamily="34" charset="-122"/>
                <a:cs typeface="Calibri" pitchFamily="34" charset="-120"/>
              </a:rPr>
              <a:t>Cloud-Native</a:t>
            </a:r>
            <a:endParaRPr lang="en-US" sz="800" dirty="0"/>
          </a:p>
        </p:txBody>
      </p:sp>
      <p:sp>
        <p:nvSpPr>
          <p:cNvPr id="53" name="Text 51"/>
          <p:cNvSpPr/>
          <p:nvPr/>
        </p:nvSpPr>
        <p:spPr>
          <a:xfrm>
            <a:off x="6126480" y="3291840"/>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Native AWS multi-account SSO</a:t>
            </a:r>
            <a:endParaRPr lang="en-US" sz="900" dirty="0"/>
          </a:p>
        </p:txBody>
      </p:sp>
      <p:sp>
        <p:nvSpPr>
          <p:cNvPr id="54" name="Text 52"/>
          <p:cNvSpPr/>
          <p:nvPr/>
        </p:nvSpPr>
        <p:spPr>
          <a:xfrm>
            <a:off x="6126480" y="3593592"/>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SAML/OIDC federation with external IdPs</a:t>
            </a:r>
            <a:endParaRPr lang="en-US" sz="900" dirty="0"/>
          </a:p>
        </p:txBody>
      </p:sp>
      <p:sp>
        <p:nvSpPr>
          <p:cNvPr id="55" name="Text 53"/>
          <p:cNvSpPr/>
          <p:nvPr/>
        </p:nvSpPr>
        <p:spPr>
          <a:xfrm>
            <a:off x="6126480" y="3895344"/>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Permission Sets for AWS access control</a:t>
            </a:r>
            <a:endParaRPr lang="en-US" sz="900" dirty="0"/>
          </a:p>
        </p:txBody>
      </p:sp>
      <p:sp>
        <p:nvSpPr>
          <p:cNvPr id="56" name="Text 54"/>
          <p:cNvSpPr/>
          <p:nvPr/>
        </p:nvSpPr>
        <p:spPr>
          <a:xfrm>
            <a:off x="6126480" y="4197096"/>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Integrated with AWS Organizations</a:t>
            </a:r>
            <a:endParaRPr lang="en-US" sz="900" dirty="0"/>
          </a:p>
        </p:txBody>
      </p:sp>
      <p:sp>
        <p:nvSpPr>
          <p:cNvPr id="57" name="Text 55"/>
          <p:cNvSpPr/>
          <p:nvPr/>
        </p:nvSpPr>
        <p:spPr>
          <a:xfrm>
            <a:off x="6126480" y="4498848"/>
            <a:ext cx="2560320" cy="274320"/>
          </a:xfrm>
          <a:prstGeom prst="rect">
            <a:avLst/>
          </a:prstGeom>
          <a:noFill/>
          <a:ln/>
        </p:spPr>
        <p:txBody>
          <a:bodyPr wrap="square" lIns="0" tIns="0" rIns="0" bIns="0" rtlCol="0" anchor="ctr"/>
          <a:lstStyle/>
          <a:p>
            <a:pPr marL="0" indent="0">
              <a:buNone/>
            </a:pPr>
            <a:r>
              <a:rPr lang="en-US" sz="900" b="1" dirty="0">
                <a:solidFill>
                  <a:srgbClr val="1B998B"/>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Best for: AWS-primary environments</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4C75"/>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98B"/>
          </a:solidFill>
          <a:ln w="12700">
            <a:solidFill>
              <a:srgbClr val="1B998B"/>
            </a:solidFill>
            <a:prstDash val="solid"/>
          </a:ln>
        </p:spPr>
        <p:txBody>
          <a:bodyPr/>
          <a:lstStyle/>
          <a:p>
            <a:endParaRPr lang="en-US"/>
          </a:p>
        </p:txBody>
      </p:sp>
      <p:sp>
        <p:nvSpPr>
          <p:cNvPr id="3" name="Text 1"/>
          <p:cNvSpPr/>
          <p:nvPr/>
        </p:nvSpPr>
        <p:spPr>
          <a:xfrm>
            <a:off x="6858000" y="731520"/>
            <a:ext cx="2103120" cy="2560320"/>
          </a:xfrm>
          <a:prstGeom prst="rect">
            <a:avLst/>
          </a:prstGeom>
          <a:noFill/>
          <a:ln/>
        </p:spPr>
        <p:txBody>
          <a:bodyPr wrap="square" lIns="0" tIns="0" rIns="0" bIns="0" rtlCol="0" anchor="ctr"/>
          <a:lstStyle/>
          <a:p>
            <a:pPr marL="0" indent="0" algn="r">
              <a:buNone/>
            </a:pPr>
            <a:r>
              <a:rPr lang="en-US" sz="14000" b="1" dirty="0">
                <a:solidFill>
                  <a:srgbClr val="1A4A66"/>
                </a:solidFill>
                <a:latin typeface="Calibri" pitchFamily="34" charset="0"/>
                <a:ea typeface="Calibri" pitchFamily="34" charset="-122"/>
                <a:cs typeface="Calibri" pitchFamily="34" charset="-120"/>
              </a:rPr>
              <a:t>09</a:t>
            </a:r>
            <a:endParaRPr lang="en-US" sz="14000" dirty="0"/>
          </a:p>
        </p:txBody>
      </p:sp>
      <p:sp>
        <p:nvSpPr>
          <p:cNvPr id="4" name="Text 2"/>
          <p:cNvSpPr/>
          <p:nvPr/>
        </p:nvSpPr>
        <p:spPr>
          <a:xfrm>
            <a:off x="320040" y="1600200"/>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NIST Controls</a:t>
            </a:r>
            <a:endParaRPr lang="en-US" sz="3000" dirty="0"/>
          </a:p>
        </p:txBody>
      </p:sp>
      <p:sp>
        <p:nvSpPr>
          <p:cNvPr id="5" name="Shape 3"/>
          <p:cNvSpPr/>
          <p:nvPr/>
        </p:nvSpPr>
        <p:spPr>
          <a:xfrm>
            <a:off x="320040" y="2468880"/>
            <a:ext cx="6217920" cy="0"/>
          </a:xfrm>
          <a:prstGeom prst="line">
            <a:avLst/>
          </a:prstGeom>
          <a:noFill/>
          <a:ln w="6350">
            <a:solidFill>
              <a:srgbClr val="8AAFC4"/>
            </a:solidFill>
            <a:prstDash val="solid"/>
          </a:ln>
        </p:spPr>
        <p:txBody>
          <a:bodyPr/>
          <a:lstStyle/>
          <a:p>
            <a:endParaRPr lang="en-US"/>
          </a:p>
        </p:txBody>
      </p:sp>
      <p:sp>
        <p:nvSpPr>
          <p:cNvPr id="6" name="Text 4"/>
          <p:cNvSpPr/>
          <p:nvPr/>
        </p:nvSpPr>
        <p:spPr>
          <a:xfrm>
            <a:off x="320040" y="2542032"/>
            <a:ext cx="6400800" cy="457200"/>
          </a:xfrm>
          <a:prstGeom prst="rect">
            <a:avLst/>
          </a:prstGeom>
          <a:noFill/>
          <a:ln/>
        </p:spPr>
        <p:txBody>
          <a:bodyPr wrap="square" lIns="0" tIns="0" rIns="0" bIns="0" rtlCol="0" anchor="ctr"/>
          <a:lstStyle/>
          <a:p>
            <a:pPr marL="0" indent="0">
              <a:buNone/>
            </a:pPr>
            <a:r>
              <a:rPr lang="en-US" sz="1400" i="1" dirty="0">
                <a:solidFill>
                  <a:srgbClr val="C9E4F0"/>
                </a:solidFill>
                <a:latin typeface="Calibri" pitchFamily="34" charset="0"/>
                <a:ea typeface="Calibri" pitchFamily="34" charset="-122"/>
                <a:cs typeface="Calibri" pitchFamily="34" charset="-120"/>
              </a:rPr>
              <a:t>SP 800-53 Rev 5 and SP 800-63B mapping</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75"/>
          </a:solidFill>
          <a:ln w="12700">
            <a:solidFill>
              <a:srgbClr val="0F4C75"/>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NIST SP 800-53 Rev 5 &amp; SP 800-63B — Control Mapping</a:t>
            </a:r>
            <a:endParaRPr lang="en-US" sz="1800" dirty="0"/>
          </a:p>
        </p:txBody>
      </p:sp>
      <p:sp>
        <p:nvSpPr>
          <p:cNvPr id="4" name="Shape 2"/>
          <p:cNvSpPr/>
          <p:nvPr/>
        </p:nvSpPr>
        <p:spPr>
          <a:xfrm>
            <a:off x="182880" y="749808"/>
            <a:ext cx="777240" cy="346710"/>
          </a:xfrm>
          <a:prstGeom prst="rect">
            <a:avLst/>
          </a:prstGeom>
          <a:solidFill>
            <a:srgbClr val="0F4C75"/>
          </a:solidFill>
          <a:ln w="6350">
            <a:solidFill>
              <a:srgbClr val="D1DDE8"/>
            </a:solidFill>
            <a:prstDash val="solid"/>
          </a:ln>
        </p:spPr>
        <p:txBody>
          <a:bodyPr/>
          <a:lstStyle/>
          <a:p>
            <a:endParaRPr lang="en-US"/>
          </a:p>
        </p:txBody>
      </p:sp>
      <p:sp>
        <p:nvSpPr>
          <p:cNvPr id="5" name="Text 3"/>
          <p:cNvSpPr/>
          <p:nvPr/>
        </p:nvSpPr>
        <p:spPr>
          <a:xfrm>
            <a:off x="219456" y="768096"/>
            <a:ext cx="704088" cy="310134"/>
          </a:xfrm>
          <a:prstGeom prst="rect">
            <a:avLst/>
          </a:prstGeom>
          <a:noFill/>
          <a:ln/>
        </p:spPr>
        <p:txBody>
          <a:bodyPr wrap="square" lIns="0" tIns="0" rIns="0" bIns="0" rtlCol="0" anchor="ctr"/>
          <a:lstStyle/>
          <a:p>
            <a:pPr marL="0" indent="0">
              <a:buNone/>
            </a:pPr>
            <a:r>
              <a:rPr lang="en-US" sz="1100" b="1" dirty="0">
                <a:solidFill>
                  <a:srgbClr val="1B998B"/>
                </a:solidFill>
                <a:latin typeface="Calibri" pitchFamily="34" charset="0"/>
                <a:ea typeface="Calibri" pitchFamily="34" charset="-122"/>
                <a:cs typeface="Calibri" pitchFamily="34" charset="-120"/>
              </a:rPr>
              <a:t>Control</a:t>
            </a:r>
            <a:endParaRPr lang="en-US" sz="1100" dirty="0"/>
          </a:p>
        </p:txBody>
      </p:sp>
      <p:sp>
        <p:nvSpPr>
          <p:cNvPr id="6" name="Shape 4"/>
          <p:cNvSpPr/>
          <p:nvPr/>
        </p:nvSpPr>
        <p:spPr>
          <a:xfrm>
            <a:off x="987552" y="749808"/>
            <a:ext cx="1645920" cy="346710"/>
          </a:xfrm>
          <a:prstGeom prst="rect">
            <a:avLst/>
          </a:prstGeom>
          <a:solidFill>
            <a:srgbClr val="0F4C75"/>
          </a:solidFill>
          <a:ln w="6350">
            <a:solidFill>
              <a:srgbClr val="D1DDE8"/>
            </a:solidFill>
            <a:prstDash val="solid"/>
          </a:ln>
        </p:spPr>
        <p:txBody>
          <a:bodyPr/>
          <a:lstStyle/>
          <a:p>
            <a:endParaRPr lang="en-US"/>
          </a:p>
        </p:txBody>
      </p:sp>
      <p:sp>
        <p:nvSpPr>
          <p:cNvPr id="7" name="Text 5"/>
          <p:cNvSpPr/>
          <p:nvPr/>
        </p:nvSpPr>
        <p:spPr>
          <a:xfrm>
            <a:off x="1024128" y="768096"/>
            <a:ext cx="1572768" cy="310134"/>
          </a:xfrm>
          <a:prstGeom prst="rect">
            <a:avLst/>
          </a:prstGeom>
          <a:noFill/>
          <a:ln/>
        </p:spPr>
        <p:txBody>
          <a:bodyPr wrap="square" lIns="0" tIns="0" rIns="0" bIns="0" rtlCol="0" anchor="ctr"/>
          <a:lstStyle/>
          <a:p>
            <a:pPr marL="0" indent="0">
              <a:buNone/>
            </a:pPr>
            <a:r>
              <a:rPr lang="en-US" sz="1100" b="1" dirty="0">
                <a:solidFill>
                  <a:srgbClr val="1B998B"/>
                </a:solidFill>
                <a:latin typeface="Calibri" pitchFamily="34" charset="0"/>
                <a:ea typeface="Calibri" pitchFamily="34" charset="-122"/>
                <a:cs typeface="Calibri" pitchFamily="34" charset="-120"/>
              </a:rPr>
              <a:t>Name</a:t>
            </a:r>
            <a:endParaRPr lang="en-US" sz="1100" dirty="0"/>
          </a:p>
        </p:txBody>
      </p:sp>
      <p:sp>
        <p:nvSpPr>
          <p:cNvPr id="8" name="Shape 6"/>
          <p:cNvSpPr/>
          <p:nvPr/>
        </p:nvSpPr>
        <p:spPr>
          <a:xfrm>
            <a:off x="2651760" y="749808"/>
            <a:ext cx="6080760" cy="346710"/>
          </a:xfrm>
          <a:prstGeom prst="rect">
            <a:avLst/>
          </a:prstGeom>
          <a:solidFill>
            <a:srgbClr val="0F4C75"/>
          </a:solidFill>
          <a:ln w="6350">
            <a:solidFill>
              <a:srgbClr val="D1DDE8"/>
            </a:solidFill>
            <a:prstDash val="solid"/>
          </a:ln>
        </p:spPr>
        <p:txBody>
          <a:bodyPr/>
          <a:lstStyle/>
          <a:p>
            <a:endParaRPr lang="en-US"/>
          </a:p>
        </p:txBody>
      </p:sp>
      <p:sp>
        <p:nvSpPr>
          <p:cNvPr id="9" name="Text 7"/>
          <p:cNvSpPr/>
          <p:nvPr/>
        </p:nvSpPr>
        <p:spPr>
          <a:xfrm>
            <a:off x="2688336" y="768096"/>
            <a:ext cx="6007608" cy="310134"/>
          </a:xfrm>
          <a:prstGeom prst="rect">
            <a:avLst/>
          </a:prstGeom>
          <a:noFill/>
          <a:ln/>
        </p:spPr>
        <p:txBody>
          <a:bodyPr wrap="square" lIns="0" tIns="0" rIns="0" bIns="0" rtlCol="0" anchor="ctr"/>
          <a:lstStyle/>
          <a:p>
            <a:pPr marL="0" indent="0">
              <a:buNone/>
            </a:pPr>
            <a:r>
              <a:rPr lang="en-US" sz="1100" b="1" dirty="0">
                <a:solidFill>
                  <a:srgbClr val="1B998B"/>
                </a:solidFill>
                <a:latin typeface="Calibri" pitchFamily="34" charset="0"/>
                <a:ea typeface="Calibri" pitchFamily="34" charset="-122"/>
                <a:cs typeface="Calibri" pitchFamily="34" charset="-120"/>
              </a:rPr>
              <a:t>AuthN/AuthZ/SSO Implementation</a:t>
            </a:r>
            <a:endParaRPr lang="en-US" sz="1100" dirty="0"/>
          </a:p>
        </p:txBody>
      </p:sp>
      <p:sp>
        <p:nvSpPr>
          <p:cNvPr id="10" name="Shape 8"/>
          <p:cNvSpPr/>
          <p:nvPr/>
        </p:nvSpPr>
        <p:spPr>
          <a:xfrm>
            <a:off x="182880" y="1096518"/>
            <a:ext cx="777240" cy="346710"/>
          </a:xfrm>
          <a:prstGeom prst="rect">
            <a:avLst/>
          </a:prstGeom>
          <a:solidFill>
            <a:srgbClr val="FFFFFF"/>
          </a:solidFill>
          <a:ln w="6350">
            <a:solidFill>
              <a:srgbClr val="D1DDE8"/>
            </a:solidFill>
            <a:prstDash val="solid"/>
          </a:ln>
        </p:spPr>
        <p:txBody>
          <a:bodyPr/>
          <a:lstStyle/>
          <a:p>
            <a:endParaRPr lang="en-US"/>
          </a:p>
        </p:txBody>
      </p:sp>
      <p:sp>
        <p:nvSpPr>
          <p:cNvPr id="11" name="Text 9"/>
          <p:cNvSpPr/>
          <p:nvPr/>
        </p:nvSpPr>
        <p:spPr>
          <a:xfrm>
            <a:off x="219456" y="1114806"/>
            <a:ext cx="70408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IA-2</a:t>
            </a:r>
            <a:endParaRPr lang="en-US" sz="850" dirty="0"/>
          </a:p>
        </p:txBody>
      </p:sp>
      <p:sp>
        <p:nvSpPr>
          <p:cNvPr id="12" name="Shape 10"/>
          <p:cNvSpPr/>
          <p:nvPr/>
        </p:nvSpPr>
        <p:spPr>
          <a:xfrm>
            <a:off x="987552" y="1096518"/>
            <a:ext cx="1645920" cy="346710"/>
          </a:xfrm>
          <a:prstGeom prst="rect">
            <a:avLst/>
          </a:prstGeom>
          <a:solidFill>
            <a:srgbClr val="FFFFFF"/>
          </a:solidFill>
          <a:ln w="6350">
            <a:solidFill>
              <a:srgbClr val="D1DDE8"/>
            </a:solidFill>
            <a:prstDash val="solid"/>
          </a:ln>
        </p:spPr>
        <p:txBody>
          <a:bodyPr/>
          <a:lstStyle/>
          <a:p>
            <a:endParaRPr lang="en-US"/>
          </a:p>
        </p:txBody>
      </p:sp>
      <p:sp>
        <p:nvSpPr>
          <p:cNvPr id="13" name="Text 11"/>
          <p:cNvSpPr/>
          <p:nvPr/>
        </p:nvSpPr>
        <p:spPr>
          <a:xfrm>
            <a:off x="1024128" y="1114806"/>
            <a:ext cx="157276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Identification &amp; Authentication</a:t>
            </a:r>
            <a:endParaRPr lang="en-US" sz="850" dirty="0"/>
          </a:p>
        </p:txBody>
      </p:sp>
      <p:sp>
        <p:nvSpPr>
          <p:cNvPr id="14" name="Shape 12"/>
          <p:cNvSpPr/>
          <p:nvPr/>
        </p:nvSpPr>
        <p:spPr>
          <a:xfrm>
            <a:off x="2651760" y="1096518"/>
            <a:ext cx="6080760" cy="346710"/>
          </a:xfrm>
          <a:prstGeom prst="rect">
            <a:avLst/>
          </a:prstGeom>
          <a:solidFill>
            <a:srgbClr val="FFFFFF"/>
          </a:solidFill>
          <a:ln w="6350">
            <a:solidFill>
              <a:srgbClr val="D1DDE8"/>
            </a:solidFill>
            <a:prstDash val="solid"/>
          </a:ln>
        </p:spPr>
        <p:txBody>
          <a:bodyPr/>
          <a:lstStyle/>
          <a:p>
            <a:endParaRPr lang="en-US"/>
          </a:p>
        </p:txBody>
      </p:sp>
      <p:sp>
        <p:nvSpPr>
          <p:cNvPr id="15" name="Text 13"/>
          <p:cNvSpPr/>
          <p:nvPr/>
        </p:nvSpPr>
        <p:spPr>
          <a:xfrm>
            <a:off x="2688336" y="1114806"/>
            <a:ext cx="600760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All users authenticated via IdP SSO; centralized authentication enforcement for all integrated applications</a:t>
            </a:r>
            <a:endParaRPr lang="en-US" sz="850" dirty="0"/>
          </a:p>
        </p:txBody>
      </p:sp>
      <p:sp>
        <p:nvSpPr>
          <p:cNvPr id="16" name="Shape 14"/>
          <p:cNvSpPr/>
          <p:nvPr/>
        </p:nvSpPr>
        <p:spPr>
          <a:xfrm>
            <a:off x="182880" y="1443228"/>
            <a:ext cx="777240" cy="346710"/>
          </a:xfrm>
          <a:prstGeom prst="rect">
            <a:avLst/>
          </a:prstGeom>
          <a:solidFill>
            <a:srgbClr val="EEF8F5"/>
          </a:solidFill>
          <a:ln w="6350">
            <a:solidFill>
              <a:srgbClr val="D1DDE8"/>
            </a:solidFill>
            <a:prstDash val="solid"/>
          </a:ln>
        </p:spPr>
        <p:txBody>
          <a:bodyPr/>
          <a:lstStyle/>
          <a:p>
            <a:endParaRPr lang="en-US"/>
          </a:p>
        </p:txBody>
      </p:sp>
      <p:sp>
        <p:nvSpPr>
          <p:cNvPr id="17" name="Text 15"/>
          <p:cNvSpPr/>
          <p:nvPr/>
        </p:nvSpPr>
        <p:spPr>
          <a:xfrm>
            <a:off x="219456" y="1461516"/>
            <a:ext cx="70408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IA-2(1)</a:t>
            </a:r>
            <a:endParaRPr lang="en-US" sz="850" dirty="0"/>
          </a:p>
        </p:txBody>
      </p:sp>
      <p:sp>
        <p:nvSpPr>
          <p:cNvPr id="18" name="Shape 16"/>
          <p:cNvSpPr/>
          <p:nvPr/>
        </p:nvSpPr>
        <p:spPr>
          <a:xfrm>
            <a:off x="987552" y="1443228"/>
            <a:ext cx="1645920" cy="346710"/>
          </a:xfrm>
          <a:prstGeom prst="rect">
            <a:avLst/>
          </a:prstGeom>
          <a:solidFill>
            <a:srgbClr val="EEF8F5"/>
          </a:solidFill>
          <a:ln w="6350">
            <a:solidFill>
              <a:srgbClr val="D1DDE8"/>
            </a:solidFill>
            <a:prstDash val="solid"/>
          </a:ln>
        </p:spPr>
        <p:txBody>
          <a:bodyPr/>
          <a:lstStyle/>
          <a:p>
            <a:endParaRPr lang="en-US"/>
          </a:p>
        </p:txBody>
      </p:sp>
      <p:sp>
        <p:nvSpPr>
          <p:cNvPr id="19" name="Text 17"/>
          <p:cNvSpPr/>
          <p:nvPr/>
        </p:nvSpPr>
        <p:spPr>
          <a:xfrm>
            <a:off x="1024128" y="1461516"/>
            <a:ext cx="157276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MFA — Privileged Accounts</a:t>
            </a:r>
            <a:endParaRPr lang="en-US" sz="850" dirty="0"/>
          </a:p>
        </p:txBody>
      </p:sp>
      <p:sp>
        <p:nvSpPr>
          <p:cNvPr id="20" name="Shape 18"/>
          <p:cNvSpPr/>
          <p:nvPr/>
        </p:nvSpPr>
        <p:spPr>
          <a:xfrm>
            <a:off x="2651760" y="1443228"/>
            <a:ext cx="6080760" cy="346710"/>
          </a:xfrm>
          <a:prstGeom prst="rect">
            <a:avLst/>
          </a:prstGeom>
          <a:solidFill>
            <a:srgbClr val="EEF8F5"/>
          </a:solidFill>
          <a:ln w="6350">
            <a:solidFill>
              <a:srgbClr val="D1DDE8"/>
            </a:solidFill>
            <a:prstDash val="solid"/>
          </a:ln>
        </p:spPr>
        <p:txBody>
          <a:bodyPr/>
          <a:lstStyle/>
          <a:p>
            <a:endParaRPr lang="en-US"/>
          </a:p>
        </p:txBody>
      </p:sp>
      <p:sp>
        <p:nvSpPr>
          <p:cNvPr id="21" name="Text 19"/>
          <p:cNvSpPr/>
          <p:nvPr/>
        </p:nvSpPr>
        <p:spPr>
          <a:xfrm>
            <a:off x="2688336" y="1461516"/>
            <a:ext cx="600760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AAL3 (FIDO2/phishing-resistant) required for all privileged accounts; enforced via Conditional Access</a:t>
            </a:r>
            <a:endParaRPr lang="en-US" sz="850" dirty="0"/>
          </a:p>
        </p:txBody>
      </p:sp>
      <p:sp>
        <p:nvSpPr>
          <p:cNvPr id="22" name="Shape 20"/>
          <p:cNvSpPr/>
          <p:nvPr/>
        </p:nvSpPr>
        <p:spPr>
          <a:xfrm>
            <a:off x="182880" y="1789938"/>
            <a:ext cx="777240" cy="346710"/>
          </a:xfrm>
          <a:prstGeom prst="rect">
            <a:avLst/>
          </a:prstGeom>
          <a:solidFill>
            <a:srgbClr val="FFFFFF"/>
          </a:solidFill>
          <a:ln w="6350">
            <a:solidFill>
              <a:srgbClr val="D1DDE8"/>
            </a:solidFill>
            <a:prstDash val="solid"/>
          </a:ln>
        </p:spPr>
        <p:txBody>
          <a:bodyPr/>
          <a:lstStyle/>
          <a:p>
            <a:endParaRPr lang="en-US"/>
          </a:p>
        </p:txBody>
      </p:sp>
      <p:sp>
        <p:nvSpPr>
          <p:cNvPr id="23" name="Text 21"/>
          <p:cNvSpPr/>
          <p:nvPr/>
        </p:nvSpPr>
        <p:spPr>
          <a:xfrm>
            <a:off x="219456" y="1808226"/>
            <a:ext cx="70408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IA-2(2)</a:t>
            </a:r>
            <a:endParaRPr lang="en-US" sz="850" dirty="0"/>
          </a:p>
        </p:txBody>
      </p:sp>
      <p:sp>
        <p:nvSpPr>
          <p:cNvPr id="24" name="Shape 22"/>
          <p:cNvSpPr/>
          <p:nvPr/>
        </p:nvSpPr>
        <p:spPr>
          <a:xfrm>
            <a:off x="987552" y="1789938"/>
            <a:ext cx="1645920" cy="346710"/>
          </a:xfrm>
          <a:prstGeom prst="rect">
            <a:avLst/>
          </a:prstGeom>
          <a:solidFill>
            <a:srgbClr val="FFFFFF"/>
          </a:solidFill>
          <a:ln w="6350">
            <a:solidFill>
              <a:srgbClr val="D1DDE8"/>
            </a:solidFill>
            <a:prstDash val="solid"/>
          </a:ln>
        </p:spPr>
        <p:txBody>
          <a:bodyPr/>
          <a:lstStyle/>
          <a:p>
            <a:endParaRPr lang="en-US"/>
          </a:p>
        </p:txBody>
      </p:sp>
      <p:sp>
        <p:nvSpPr>
          <p:cNvPr id="25" name="Text 23"/>
          <p:cNvSpPr/>
          <p:nvPr/>
        </p:nvSpPr>
        <p:spPr>
          <a:xfrm>
            <a:off x="1024128" y="1808226"/>
            <a:ext cx="157276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MFA — Non-Privileged</a:t>
            </a:r>
            <a:endParaRPr lang="en-US" sz="850" dirty="0"/>
          </a:p>
        </p:txBody>
      </p:sp>
      <p:sp>
        <p:nvSpPr>
          <p:cNvPr id="26" name="Shape 24"/>
          <p:cNvSpPr/>
          <p:nvPr/>
        </p:nvSpPr>
        <p:spPr>
          <a:xfrm>
            <a:off x="2651760" y="1789938"/>
            <a:ext cx="6080760" cy="346710"/>
          </a:xfrm>
          <a:prstGeom prst="rect">
            <a:avLst/>
          </a:prstGeom>
          <a:solidFill>
            <a:srgbClr val="FFFFFF"/>
          </a:solidFill>
          <a:ln w="6350">
            <a:solidFill>
              <a:srgbClr val="D1DDE8"/>
            </a:solidFill>
            <a:prstDash val="solid"/>
          </a:ln>
        </p:spPr>
        <p:txBody>
          <a:bodyPr/>
          <a:lstStyle/>
          <a:p>
            <a:endParaRPr lang="en-US"/>
          </a:p>
        </p:txBody>
      </p:sp>
      <p:sp>
        <p:nvSpPr>
          <p:cNvPr id="27" name="Text 25"/>
          <p:cNvSpPr/>
          <p:nvPr/>
        </p:nvSpPr>
        <p:spPr>
          <a:xfrm>
            <a:off x="2688336" y="1808226"/>
            <a:ext cx="600760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AAL2 (TOTP or push with number matching) for all workforce users; block authentication without MFA</a:t>
            </a:r>
            <a:endParaRPr lang="en-US" sz="850" dirty="0"/>
          </a:p>
        </p:txBody>
      </p:sp>
      <p:sp>
        <p:nvSpPr>
          <p:cNvPr id="28" name="Shape 26"/>
          <p:cNvSpPr/>
          <p:nvPr/>
        </p:nvSpPr>
        <p:spPr>
          <a:xfrm>
            <a:off x="182880" y="2136648"/>
            <a:ext cx="777240" cy="346710"/>
          </a:xfrm>
          <a:prstGeom prst="rect">
            <a:avLst/>
          </a:prstGeom>
          <a:solidFill>
            <a:srgbClr val="EEF8F5"/>
          </a:solidFill>
          <a:ln w="6350">
            <a:solidFill>
              <a:srgbClr val="D1DDE8"/>
            </a:solidFill>
            <a:prstDash val="solid"/>
          </a:ln>
        </p:spPr>
        <p:txBody>
          <a:bodyPr/>
          <a:lstStyle/>
          <a:p>
            <a:endParaRPr lang="en-US"/>
          </a:p>
        </p:txBody>
      </p:sp>
      <p:sp>
        <p:nvSpPr>
          <p:cNvPr id="29" name="Text 27"/>
          <p:cNvSpPr/>
          <p:nvPr/>
        </p:nvSpPr>
        <p:spPr>
          <a:xfrm>
            <a:off x="219456" y="2154936"/>
            <a:ext cx="70408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IA-3</a:t>
            </a:r>
            <a:endParaRPr lang="en-US" sz="850" dirty="0"/>
          </a:p>
        </p:txBody>
      </p:sp>
      <p:sp>
        <p:nvSpPr>
          <p:cNvPr id="30" name="Shape 28"/>
          <p:cNvSpPr/>
          <p:nvPr/>
        </p:nvSpPr>
        <p:spPr>
          <a:xfrm>
            <a:off x="987552" y="2136648"/>
            <a:ext cx="1645920" cy="346710"/>
          </a:xfrm>
          <a:prstGeom prst="rect">
            <a:avLst/>
          </a:prstGeom>
          <a:solidFill>
            <a:srgbClr val="EEF8F5"/>
          </a:solidFill>
          <a:ln w="6350">
            <a:solidFill>
              <a:srgbClr val="D1DDE8"/>
            </a:solidFill>
            <a:prstDash val="solid"/>
          </a:ln>
        </p:spPr>
        <p:txBody>
          <a:bodyPr/>
          <a:lstStyle/>
          <a:p>
            <a:endParaRPr lang="en-US"/>
          </a:p>
        </p:txBody>
      </p:sp>
      <p:sp>
        <p:nvSpPr>
          <p:cNvPr id="31" name="Text 29"/>
          <p:cNvSpPr/>
          <p:nvPr/>
        </p:nvSpPr>
        <p:spPr>
          <a:xfrm>
            <a:off x="1024128" y="2154936"/>
            <a:ext cx="157276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Device Auth</a:t>
            </a:r>
            <a:endParaRPr lang="en-US" sz="850" dirty="0"/>
          </a:p>
        </p:txBody>
      </p:sp>
      <p:sp>
        <p:nvSpPr>
          <p:cNvPr id="32" name="Shape 30"/>
          <p:cNvSpPr/>
          <p:nvPr/>
        </p:nvSpPr>
        <p:spPr>
          <a:xfrm>
            <a:off x="2651760" y="2136648"/>
            <a:ext cx="6080760" cy="346710"/>
          </a:xfrm>
          <a:prstGeom prst="rect">
            <a:avLst/>
          </a:prstGeom>
          <a:solidFill>
            <a:srgbClr val="EEF8F5"/>
          </a:solidFill>
          <a:ln w="6350">
            <a:solidFill>
              <a:srgbClr val="D1DDE8"/>
            </a:solidFill>
            <a:prstDash val="solid"/>
          </a:ln>
        </p:spPr>
        <p:txBody>
          <a:bodyPr/>
          <a:lstStyle/>
          <a:p>
            <a:endParaRPr lang="en-US"/>
          </a:p>
        </p:txBody>
      </p:sp>
      <p:sp>
        <p:nvSpPr>
          <p:cNvPr id="33" name="Text 31"/>
          <p:cNvSpPr/>
          <p:nvPr/>
        </p:nvSpPr>
        <p:spPr>
          <a:xfrm>
            <a:off x="2688336" y="2154936"/>
            <a:ext cx="600760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Device authentication using device identity signals (certificates, MDM compliance, device trust posture); enforced as Conditional Access signal</a:t>
            </a:r>
            <a:endParaRPr lang="en-US" sz="850" dirty="0"/>
          </a:p>
        </p:txBody>
      </p:sp>
      <p:sp>
        <p:nvSpPr>
          <p:cNvPr id="34" name="Shape 32"/>
          <p:cNvSpPr/>
          <p:nvPr/>
        </p:nvSpPr>
        <p:spPr>
          <a:xfrm>
            <a:off x="182880" y="2483358"/>
            <a:ext cx="777240" cy="346710"/>
          </a:xfrm>
          <a:prstGeom prst="rect">
            <a:avLst/>
          </a:prstGeom>
          <a:solidFill>
            <a:srgbClr val="FFFFFF"/>
          </a:solidFill>
          <a:ln w="6350">
            <a:solidFill>
              <a:srgbClr val="D1DDE8"/>
            </a:solidFill>
            <a:prstDash val="solid"/>
          </a:ln>
        </p:spPr>
        <p:txBody>
          <a:bodyPr/>
          <a:lstStyle/>
          <a:p>
            <a:endParaRPr lang="en-US"/>
          </a:p>
        </p:txBody>
      </p:sp>
      <p:sp>
        <p:nvSpPr>
          <p:cNvPr id="35" name="Text 33"/>
          <p:cNvSpPr/>
          <p:nvPr/>
        </p:nvSpPr>
        <p:spPr>
          <a:xfrm>
            <a:off x="219456" y="2501646"/>
            <a:ext cx="70408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IA-5</a:t>
            </a:r>
            <a:endParaRPr lang="en-US" sz="850" dirty="0"/>
          </a:p>
        </p:txBody>
      </p:sp>
      <p:sp>
        <p:nvSpPr>
          <p:cNvPr id="36" name="Shape 34"/>
          <p:cNvSpPr/>
          <p:nvPr/>
        </p:nvSpPr>
        <p:spPr>
          <a:xfrm>
            <a:off x="987552" y="2483358"/>
            <a:ext cx="1645920" cy="346710"/>
          </a:xfrm>
          <a:prstGeom prst="rect">
            <a:avLst/>
          </a:prstGeom>
          <a:solidFill>
            <a:srgbClr val="FFFFFF"/>
          </a:solidFill>
          <a:ln w="6350">
            <a:solidFill>
              <a:srgbClr val="D1DDE8"/>
            </a:solidFill>
            <a:prstDash val="solid"/>
          </a:ln>
        </p:spPr>
        <p:txBody>
          <a:bodyPr/>
          <a:lstStyle/>
          <a:p>
            <a:endParaRPr lang="en-US"/>
          </a:p>
        </p:txBody>
      </p:sp>
      <p:sp>
        <p:nvSpPr>
          <p:cNvPr id="37" name="Text 35"/>
          <p:cNvSpPr/>
          <p:nvPr/>
        </p:nvSpPr>
        <p:spPr>
          <a:xfrm>
            <a:off x="1024128" y="2501646"/>
            <a:ext cx="157276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Authenticator Mgmt</a:t>
            </a:r>
            <a:endParaRPr lang="en-US" sz="850" dirty="0"/>
          </a:p>
        </p:txBody>
      </p:sp>
      <p:sp>
        <p:nvSpPr>
          <p:cNvPr id="38" name="Shape 36"/>
          <p:cNvSpPr/>
          <p:nvPr/>
        </p:nvSpPr>
        <p:spPr>
          <a:xfrm>
            <a:off x="2651760" y="2483358"/>
            <a:ext cx="6080760" cy="346710"/>
          </a:xfrm>
          <a:prstGeom prst="rect">
            <a:avLst/>
          </a:prstGeom>
          <a:solidFill>
            <a:srgbClr val="FFFFFF"/>
          </a:solidFill>
          <a:ln w="6350">
            <a:solidFill>
              <a:srgbClr val="D1DDE8"/>
            </a:solidFill>
            <a:prstDash val="solid"/>
          </a:ln>
        </p:spPr>
        <p:txBody>
          <a:bodyPr/>
          <a:lstStyle/>
          <a:p>
            <a:endParaRPr lang="en-US"/>
          </a:p>
        </p:txBody>
      </p:sp>
      <p:sp>
        <p:nvSpPr>
          <p:cNvPr id="39" name="Text 37"/>
          <p:cNvSpPr/>
          <p:nvPr/>
        </p:nvSpPr>
        <p:spPr>
          <a:xfrm>
            <a:off x="2688336" y="2501646"/>
            <a:ext cx="600760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Breached password detection; FIDO2 key lifecycle; certificate rotation; MFA registration workflow</a:t>
            </a:r>
            <a:endParaRPr lang="en-US" sz="850" dirty="0"/>
          </a:p>
        </p:txBody>
      </p:sp>
      <p:sp>
        <p:nvSpPr>
          <p:cNvPr id="40" name="Shape 38"/>
          <p:cNvSpPr/>
          <p:nvPr/>
        </p:nvSpPr>
        <p:spPr>
          <a:xfrm>
            <a:off x="182880" y="2830068"/>
            <a:ext cx="777240" cy="346710"/>
          </a:xfrm>
          <a:prstGeom prst="rect">
            <a:avLst/>
          </a:prstGeom>
          <a:solidFill>
            <a:srgbClr val="EEF8F5"/>
          </a:solidFill>
          <a:ln w="6350">
            <a:solidFill>
              <a:srgbClr val="D1DDE8"/>
            </a:solidFill>
            <a:prstDash val="solid"/>
          </a:ln>
        </p:spPr>
        <p:txBody>
          <a:bodyPr/>
          <a:lstStyle/>
          <a:p>
            <a:endParaRPr lang="en-US"/>
          </a:p>
        </p:txBody>
      </p:sp>
      <p:sp>
        <p:nvSpPr>
          <p:cNvPr id="41" name="Text 39"/>
          <p:cNvSpPr/>
          <p:nvPr/>
        </p:nvSpPr>
        <p:spPr>
          <a:xfrm>
            <a:off x="219456" y="2848356"/>
            <a:ext cx="70408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AC-2</a:t>
            </a:r>
            <a:endParaRPr lang="en-US" sz="850" dirty="0"/>
          </a:p>
        </p:txBody>
      </p:sp>
      <p:sp>
        <p:nvSpPr>
          <p:cNvPr id="42" name="Shape 40"/>
          <p:cNvSpPr/>
          <p:nvPr/>
        </p:nvSpPr>
        <p:spPr>
          <a:xfrm>
            <a:off x="987552" y="2830068"/>
            <a:ext cx="1645920" cy="346710"/>
          </a:xfrm>
          <a:prstGeom prst="rect">
            <a:avLst/>
          </a:prstGeom>
          <a:solidFill>
            <a:srgbClr val="EEF8F5"/>
          </a:solidFill>
          <a:ln w="6350">
            <a:solidFill>
              <a:srgbClr val="D1DDE8"/>
            </a:solidFill>
            <a:prstDash val="solid"/>
          </a:ln>
        </p:spPr>
        <p:txBody>
          <a:bodyPr/>
          <a:lstStyle/>
          <a:p>
            <a:endParaRPr lang="en-US"/>
          </a:p>
        </p:txBody>
      </p:sp>
      <p:sp>
        <p:nvSpPr>
          <p:cNvPr id="43" name="Text 41"/>
          <p:cNvSpPr/>
          <p:nvPr/>
        </p:nvSpPr>
        <p:spPr>
          <a:xfrm>
            <a:off x="1024128" y="2848356"/>
            <a:ext cx="157276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Account Management</a:t>
            </a:r>
            <a:endParaRPr lang="en-US" sz="850" dirty="0"/>
          </a:p>
        </p:txBody>
      </p:sp>
      <p:sp>
        <p:nvSpPr>
          <p:cNvPr id="44" name="Shape 42"/>
          <p:cNvSpPr/>
          <p:nvPr/>
        </p:nvSpPr>
        <p:spPr>
          <a:xfrm>
            <a:off x="2651760" y="2830068"/>
            <a:ext cx="6080760" cy="346710"/>
          </a:xfrm>
          <a:prstGeom prst="rect">
            <a:avLst/>
          </a:prstGeom>
          <a:solidFill>
            <a:srgbClr val="EEF8F5"/>
          </a:solidFill>
          <a:ln w="6350">
            <a:solidFill>
              <a:srgbClr val="D1DDE8"/>
            </a:solidFill>
            <a:prstDash val="solid"/>
          </a:ln>
        </p:spPr>
        <p:txBody>
          <a:bodyPr/>
          <a:lstStyle/>
          <a:p>
            <a:endParaRPr lang="en-US"/>
          </a:p>
        </p:txBody>
      </p:sp>
      <p:sp>
        <p:nvSpPr>
          <p:cNvPr id="45" name="Text 43"/>
          <p:cNvSpPr/>
          <p:nvPr/>
        </p:nvSpPr>
        <p:spPr>
          <a:xfrm>
            <a:off x="2688336" y="2848356"/>
            <a:ext cx="600760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SCIM 2.0 automated provisioning to all SSO-integrated apps; deprovisioning removes all access within SLA</a:t>
            </a:r>
            <a:endParaRPr lang="en-US" sz="850" dirty="0"/>
          </a:p>
        </p:txBody>
      </p:sp>
      <p:sp>
        <p:nvSpPr>
          <p:cNvPr id="46" name="Shape 44"/>
          <p:cNvSpPr/>
          <p:nvPr/>
        </p:nvSpPr>
        <p:spPr>
          <a:xfrm>
            <a:off x="182880" y="3176778"/>
            <a:ext cx="777240" cy="346710"/>
          </a:xfrm>
          <a:prstGeom prst="rect">
            <a:avLst/>
          </a:prstGeom>
          <a:solidFill>
            <a:srgbClr val="FFFFFF"/>
          </a:solidFill>
          <a:ln w="6350">
            <a:solidFill>
              <a:srgbClr val="D1DDE8"/>
            </a:solidFill>
            <a:prstDash val="solid"/>
          </a:ln>
        </p:spPr>
        <p:txBody>
          <a:bodyPr/>
          <a:lstStyle/>
          <a:p>
            <a:endParaRPr lang="en-US"/>
          </a:p>
        </p:txBody>
      </p:sp>
      <p:sp>
        <p:nvSpPr>
          <p:cNvPr id="47" name="Text 45"/>
          <p:cNvSpPr/>
          <p:nvPr/>
        </p:nvSpPr>
        <p:spPr>
          <a:xfrm>
            <a:off x="219456" y="3195066"/>
            <a:ext cx="70408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AC-3</a:t>
            </a:r>
            <a:endParaRPr lang="en-US" sz="850" dirty="0"/>
          </a:p>
        </p:txBody>
      </p:sp>
      <p:sp>
        <p:nvSpPr>
          <p:cNvPr id="48" name="Shape 46"/>
          <p:cNvSpPr/>
          <p:nvPr/>
        </p:nvSpPr>
        <p:spPr>
          <a:xfrm>
            <a:off x="987552" y="3176778"/>
            <a:ext cx="1645920" cy="346710"/>
          </a:xfrm>
          <a:prstGeom prst="rect">
            <a:avLst/>
          </a:prstGeom>
          <a:solidFill>
            <a:srgbClr val="FFFFFF"/>
          </a:solidFill>
          <a:ln w="6350">
            <a:solidFill>
              <a:srgbClr val="D1DDE8"/>
            </a:solidFill>
            <a:prstDash val="solid"/>
          </a:ln>
        </p:spPr>
        <p:txBody>
          <a:bodyPr/>
          <a:lstStyle/>
          <a:p>
            <a:endParaRPr lang="en-US"/>
          </a:p>
        </p:txBody>
      </p:sp>
      <p:sp>
        <p:nvSpPr>
          <p:cNvPr id="49" name="Text 47"/>
          <p:cNvSpPr/>
          <p:nvPr/>
        </p:nvSpPr>
        <p:spPr>
          <a:xfrm>
            <a:off x="1024128" y="3195066"/>
            <a:ext cx="157276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Access Enforcement</a:t>
            </a:r>
            <a:endParaRPr lang="en-US" sz="850" dirty="0"/>
          </a:p>
        </p:txBody>
      </p:sp>
      <p:sp>
        <p:nvSpPr>
          <p:cNvPr id="50" name="Shape 48"/>
          <p:cNvSpPr/>
          <p:nvPr/>
        </p:nvSpPr>
        <p:spPr>
          <a:xfrm>
            <a:off x="2651760" y="3176778"/>
            <a:ext cx="6080760" cy="346710"/>
          </a:xfrm>
          <a:prstGeom prst="rect">
            <a:avLst/>
          </a:prstGeom>
          <a:solidFill>
            <a:srgbClr val="FFFFFF"/>
          </a:solidFill>
          <a:ln w="6350">
            <a:solidFill>
              <a:srgbClr val="D1DDE8"/>
            </a:solidFill>
            <a:prstDash val="solid"/>
          </a:ln>
        </p:spPr>
        <p:txBody>
          <a:bodyPr/>
          <a:lstStyle/>
          <a:p>
            <a:endParaRPr lang="en-US"/>
          </a:p>
        </p:txBody>
      </p:sp>
      <p:sp>
        <p:nvSpPr>
          <p:cNvPr id="51" name="Text 49"/>
          <p:cNvSpPr/>
          <p:nvPr/>
        </p:nvSpPr>
        <p:spPr>
          <a:xfrm>
            <a:off x="2688336" y="3195066"/>
            <a:ext cx="600760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RBAC via IdP groups; SAML attribute assertions and OIDC scopes carry role claims to applications</a:t>
            </a:r>
            <a:endParaRPr lang="en-US" sz="850" dirty="0"/>
          </a:p>
        </p:txBody>
      </p:sp>
      <p:sp>
        <p:nvSpPr>
          <p:cNvPr id="52" name="Shape 50"/>
          <p:cNvSpPr/>
          <p:nvPr/>
        </p:nvSpPr>
        <p:spPr>
          <a:xfrm>
            <a:off x="182880" y="3523488"/>
            <a:ext cx="777240" cy="346710"/>
          </a:xfrm>
          <a:prstGeom prst="rect">
            <a:avLst/>
          </a:prstGeom>
          <a:solidFill>
            <a:srgbClr val="EEF8F5"/>
          </a:solidFill>
          <a:ln w="6350">
            <a:solidFill>
              <a:srgbClr val="D1DDE8"/>
            </a:solidFill>
            <a:prstDash val="solid"/>
          </a:ln>
        </p:spPr>
        <p:txBody>
          <a:bodyPr/>
          <a:lstStyle/>
          <a:p>
            <a:endParaRPr lang="en-US"/>
          </a:p>
        </p:txBody>
      </p:sp>
      <p:sp>
        <p:nvSpPr>
          <p:cNvPr id="53" name="Text 51"/>
          <p:cNvSpPr/>
          <p:nvPr/>
        </p:nvSpPr>
        <p:spPr>
          <a:xfrm>
            <a:off x="219456" y="3541776"/>
            <a:ext cx="70408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AC-17</a:t>
            </a:r>
            <a:endParaRPr lang="en-US" sz="850" dirty="0"/>
          </a:p>
        </p:txBody>
      </p:sp>
      <p:sp>
        <p:nvSpPr>
          <p:cNvPr id="54" name="Shape 52"/>
          <p:cNvSpPr/>
          <p:nvPr/>
        </p:nvSpPr>
        <p:spPr>
          <a:xfrm>
            <a:off x="987552" y="3523488"/>
            <a:ext cx="1645920" cy="346710"/>
          </a:xfrm>
          <a:prstGeom prst="rect">
            <a:avLst/>
          </a:prstGeom>
          <a:solidFill>
            <a:srgbClr val="EEF8F5"/>
          </a:solidFill>
          <a:ln w="6350">
            <a:solidFill>
              <a:srgbClr val="D1DDE8"/>
            </a:solidFill>
            <a:prstDash val="solid"/>
          </a:ln>
        </p:spPr>
        <p:txBody>
          <a:bodyPr/>
          <a:lstStyle/>
          <a:p>
            <a:endParaRPr lang="en-US"/>
          </a:p>
        </p:txBody>
      </p:sp>
      <p:sp>
        <p:nvSpPr>
          <p:cNvPr id="55" name="Text 53"/>
          <p:cNvSpPr/>
          <p:nvPr/>
        </p:nvSpPr>
        <p:spPr>
          <a:xfrm>
            <a:off x="1024128" y="3541776"/>
            <a:ext cx="157276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Remote Access</a:t>
            </a:r>
            <a:endParaRPr lang="en-US" sz="850" dirty="0"/>
          </a:p>
        </p:txBody>
      </p:sp>
      <p:sp>
        <p:nvSpPr>
          <p:cNvPr id="56" name="Shape 54"/>
          <p:cNvSpPr/>
          <p:nvPr/>
        </p:nvSpPr>
        <p:spPr>
          <a:xfrm>
            <a:off x="2651760" y="3523488"/>
            <a:ext cx="6080760" cy="346710"/>
          </a:xfrm>
          <a:prstGeom prst="rect">
            <a:avLst/>
          </a:prstGeom>
          <a:solidFill>
            <a:srgbClr val="EEF8F5"/>
          </a:solidFill>
          <a:ln w="6350">
            <a:solidFill>
              <a:srgbClr val="D1DDE8"/>
            </a:solidFill>
            <a:prstDash val="solid"/>
          </a:ln>
        </p:spPr>
        <p:txBody>
          <a:bodyPr/>
          <a:lstStyle/>
          <a:p>
            <a:endParaRPr lang="en-US"/>
          </a:p>
        </p:txBody>
      </p:sp>
      <p:sp>
        <p:nvSpPr>
          <p:cNvPr id="57" name="Text 55"/>
          <p:cNvSpPr/>
          <p:nvPr/>
        </p:nvSpPr>
        <p:spPr>
          <a:xfrm>
            <a:off x="2688336" y="3541776"/>
            <a:ext cx="600760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ZTNA (ZPA/Cloudflare) + IdP authentication replaces VPN; device posture check required for all remote access</a:t>
            </a:r>
            <a:endParaRPr lang="en-US" sz="850" dirty="0"/>
          </a:p>
        </p:txBody>
      </p:sp>
      <p:sp>
        <p:nvSpPr>
          <p:cNvPr id="58" name="Shape 56"/>
          <p:cNvSpPr/>
          <p:nvPr/>
        </p:nvSpPr>
        <p:spPr>
          <a:xfrm>
            <a:off x="182880" y="3870198"/>
            <a:ext cx="777240" cy="346710"/>
          </a:xfrm>
          <a:prstGeom prst="rect">
            <a:avLst/>
          </a:prstGeom>
          <a:solidFill>
            <a:srgbClr val="FFFFFF"/>
          </a:solidFill>
          <a:ln w="6350">
            <a:solidFill>
              <a:srgbClr val="D1DDE8"/>
            </a:solidFill>
            <a:prstDash val="solid"/>
          </a:ln>
        </p:spPr>
        <p:txBody>
          <a:bodyPr/>
          <a:lstStyle/>
          <a:p>
            <a:endParaRPr lang="en-US"/>
          </a:p>
        </p:txBody>
      </p:sp>
      <p:sp>
        <p:nvSpPr>
          <p:cNvPr id="59" name="Text 57"/>
          <p:cNvSpPr/>
          <p:nvPr/>
        </p:nvSpPr>
        <p:spPr>
          <a:xfrm>
            <a:off x="219456" y="3888486"/>
            <a:ext cx="70408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AU-2</a:t>
            </a:r>
            <a:endParaRPr lang="en-US" sz="850" dirty="0"/>
          </a:p>
        </p:txBody>
      </p:sp>
      <p:sp>
        <p:nvSpPr>
          <p:cNvPr id="60" name="Shape 58"/>
          <p:cNvSpPr/>
          <p:nvPr/>
        </p:nvSpPr>
        <p:spPr>
          <a:xfrm>
            <a:off x="987552" y="3870198"/>
            <a:ext cx="1645920" cy="346710"/>
          </a:xfrm>
          <a:prstGeom prst="rect">
            <a:avLst/>
          </a:prstGeom>
          <a:solidFill>
            <a:srgbClr val="FFFFFF"/>
          </a:solidFill>
          <a:ln w="6350">
            <a:solidFill>
              <a:srgbClr val="D1DDE8"/>
            </a:solidFill>
            <a:prstDash val="solid"/>
          </a:ln>
        </p:spPr>
        <p:txBody>
          <a:bodyPr/>
          <a:lstStyle/>
          <a:p>
            <a:endParaRPr lang="en-US"/>
          </a:p>
        </p:txBody>
      </p:sp>
      <p:sp>
        <p:nvSpPr>
          <p:cNvPr id="61" name="Text 59"/>
          <p:cNvSpPr/>
          <p:nvPr/>
        </p:nvSpPr>
        <p:spPr>
          <a:xfrm>
            <a:off x="1024128" y="3888486"/>
            <a:ext cx="157276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Event Logging</a:t>
            </a:r>
            <a:endParaRPr lang="en-US" sz="850" dirty="0"/>
          </a:p>
        </p:txBody>
      </p:sp>
      <p:sp>
        <p:nvSpPr>
          <p:cNvPr id="62" name="Shape 60"/>
          <p:cNvSpPr/>
          <p:nvPr/>
        </p:nvSpPr>
        <p:spPr>
          <a:xfrm>
            <a:off x="2651760" y="3870198"/>
            <a:ext cx="6080760" cy="346710"/>
          </a:xfrm>
          <a:prstGeom prst="rect">
            <a:avLst/>
          </a:prstGeom>
          <a:solidFill>
            <a:srgbClr val="FFFFFF"/>
          </a:solidFill>
          <a:ln w="6350">
            <a:solidFill>
              <a:srgbClr val="D1DDE8"/>
            </a:solidFill>
            <a:prstDash val="solid"/>
          </a:ln>
        </p:spPr>
        <p:txBody>
          <a:bodyPr/>
          <a:lstStyle/>
          <a:p>
            <a:endParaRPr lang="en-US"/>
          </a:p>
        </p:txBody>
      </p:sp>
      <p:sp>
        <p:nvSpPr>
          <p:cNvPr id="63" name="Text 61"/>
          <p:cNvSpPr/>
          <p:nvPr/>
        </p:nvSpPr>
        <p:spPr>
          <a:xfrm>
            <a:off x="2688336" y="3888486"/>
            <a:ext cx="600760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All IdP authentication events (success, failure, MFA outcome, Conditional Access decision) sent to SIEM</a:t>
            </a:r>
            <a:endParaRPr lang="en-US" sz="850" dirty="0"/>
          </a:p>
        </p:txBody>
      </p:sp>
      <p:sp>
        <p:nvSpPr>
          <p:cNvPr id="64" name="Shape 62"/>
          <p:cNvSpPr/>
          <p:nvPr/>
        </p:nvSpPr>
        <p:spPr>
          <a:xfrm>
            <a:off x="182880" y="4216908"/>
            <a:ext cx="777240" cy="346710"/>
          </a:xfrm>
          <a:prstGeom prst="rect">
            <a:avLst/>
          </a:prstGeom>
          <a:solidFill>
            <a:srgbClr val="EEF8F5"/>
          </a:solidFill>
          <a:ln w="6350">
            <a:solidFill>
              <a:srgbClr val="D1DDE8"/>
            </a:solidFill>
            <a:prstDash val="solid"/>
          </a:ln>
        </p:spPr>
        <p:txBody>
          <a:bodyPr/>
          <a:lstStyle/>
          <a:p>
            <a:endParaRPr lang="en-US"/>
          </a:p>
        </p:txBody>
      </p:sp>
      <p:sp>
        <p:nvSpPr>
          <p:cNvPr id="65" name="Text 63"/>
          <p:cNvSpPr/>
          <p:nvPr/>
        </p:nvSpPr>
        <p:spPr>
          <a:xfrm>
            <a:off x="219456" y="4235196"/>
            <a:ext cx="70408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SC-8</a:t>
            </a:r>
            <a:endParaRPr lang="en-US" sz="850" dirty="0"/>
          </a:p>
        </p:txBody>
      </p:sp>
      <p:sp>
        <p:nvSpPr>
          <p:cNvPr id="66" name="Shape 64"/>
          <p:cNvSpPr/>
          <p:nvPr/>
        </p:nvSpPr>
        <p:spPr>
          <a:xfrm>
            <a:off x="987552" y="4216908"/>
            <a:ext cx="1645920" cy="346710"/>
          </a:xfrm>
          <a:prstGeom prst="rect">
            <a:avLst/>
          </a:prstGeom>
          <a:solidFill>
            <a:srgbClr val="EEF8F5"/>
          </a:solidFill>
          <a:ln w="6350">
            <a:solidFill>
              <a:srgbClr val="D1DDE8"/>
            </a:solidFill>
            <a:prstDash val="solid"/>
          </a:ln>
        </p:spPr>
        <p:txBody>
          <a:bodyPr/>
          <a:lstStyle/>
          <a:p>
            <a:endParaRPr lang="en-US"/>
          </a:p>
        </p:txBody>
      </p:sp>
      <p:sp>
        <p:nvSpPr>
          <p:cNvPr id="67" name="Text 65"/>
          <p:cNvSpPr/>
          <p:nvPr/>
        </p:nvSpPr>
        <p:spPr>
          <a:xfrm>
            <a:off x="1024128" y="4235196"/>
            <a:ext cx="157276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Transmission Security</a:t>
            </a:r>
            <a:endParaRPr lang="en-US" sz="850" dirty="0"/>
          </a:p>
        </p:txBody>
      </p:sp>
      <p:sp>
        <p:nvSpPr>
          <p:cNvPr id="68" name="Shape 66"/>
          <p:cNvSpPr/>
          <p:nvPr/>
        </p:nvSpPr>
        <p:spPr>
          <a:xfrm>
            <a:off x="2651760" y="4216908"/>
            <a:ext cx="6080760" cy="346710"/>
          </a:xfrm>
          <a:prstGeom prst="rect">
            <a:avLst/>
          </a:prstGeom>
          <a:solidFill>
            <a:srgbClr val="EEF8F5"/>
          </a:solidFill>
          <a:ln w="6350">
            <a:solidFill>
              <a:srgbClr val="D1DDE8"/>
            </a:solidFill>
            <a:prstDash val="solid"/>
          </a:ln>
        </p:spPr>
        <p:txBody>
          <a:bodyPr/>
          <a:lstStyle/>
          <a:p>
            <a:endParaRPr lang="en-US"/>
          </a:p>
        </p:txBody>
      </p:sp>
      <p:sp>
        <p:nvSpPr>
          <p:cNvPr id="69" name="Text 67"/>
          <p:cNvSpPr/>
          <p:nvPr/>
        </p:nvSpPr>
        <p:spPr>
          <a:xfrm>
            <a:off x="2688336" y="4235196"/>
            <a:ext cx="600760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TLS 1.2+ for all auth traffic; SAML assertions signed with RSA-2048+; JWT signed with RS256 or ES256</a:t>
            </a:r>
            <a:endParaRPr lang="en-US" sz="850" dirty="0"/>
          </a:p>
        </p:txBody>
      </p:sp>
      <p:sp>
        <p:nvSpPr>
          <p:cNvPr id="70" name="Shape 68"/>
          <p:cNvSpPr/>
          <p:nvPr/>
        </p:nvSpPr>
        <p:spPr>
          <a:xfrm>
            <a:off x="182880" y="4563618"/>
            <a:ext cx="777240" cy="346710"/>
          </a:xfrm>
          <a:prstGeom prst="rect">
            <a:avLst/>
          </a:prstGeom>
          <a:solidFill>
            <a:srgbClr val="FFFFFF"/>
          </a:solidFill>
          <a:ln w="6350">
            <a:solidFill>
              <a:srgbClr val="D1DDE8"/>
            </a:solidFill>
            <a:prstDash val="solid"/>
          </a:ln>
        </p:spPr>
        <p:txBody>
          <a:bodyPr/>
          <a:lstStyle/>
          <a:p>
            <a:endParaRPr lang="en-US"/>
          </a:p>
        </p:txBody>
      </p:sp>
      <p:sp>
        <p:nvSpPr>
          <p:cNvPr id="71" name="Text 69"/>
          <p:cNvSpPr/>
          <p:nvPr/>
        </p:nvSpPr>
        <p:spPr>
          <a:xfrm>
            <a:off x="219456" y="4581906"/>
            <a:ext cx="70408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800-63B AAL3</a:t>
            </a:r>
            <a:endParaRPr lang="en-US" sz="850" dirty="0"/>
          </a:p>
        </p:txBody>
      </p:sp>
      <p:sp>
        <p:nvSpPr>
          <p:cNvPr id="72" name="Shape 70"/>
          <p:cNvSpPr/>
          <p:nvPr/>
        </p:nvSpPr>
        <p:spPr>
          <a:xfrm>
            <a:off x="987552" y="4563618"/>
            <a:ext cx="1645920" cy="346710"/>
          </a:xfrm>
          <a:prstGeom prst="rect">
            <a:avLst/>
          </a:prstGeom>
          <a:solidFill>
            <a:srgbClr val="FFFFFF"/>
          </a:solidFill>
          <a:ln w="6350">
            <a:solidFill>
              <a:srgbClr val="D1DDE8"/>
            </a:solidFill>
            <a:prstDash val="solid"/>
          </a:ln>
        </p:spPr>
        <p:txBody>
          <a:bodyPr/>
          <a:lstStyle/>
          <a:p>
            <a:endParaRPr lang="en-US"/>
          </a:p>
        </p:txBody>
      </p:sp>
      <p:sp>
        <p:nvSpPr>
          <p:cNvPr id="73" name="Text 71"/>
          <p:cNvSpPr/>
          <p:nvPr/>
        </p:nvSpPr>
        <p:spPr>
          <a:xfrm>
            <a:off x="1024128" y="4581906"/>
            <a:ext cx="157276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Phishing-Resistant MFA</a:t>
            </a:r>
            <a:endParaRPr lang="en-US" sz="850" dirty="0"/>
          </a:p>
        </p:txBody>
      </p:sp>
      <p:sp>
        <p:nvSpPr>
          <p:cNvPr id="74" name="Shape 72"/>
          <p:cNvSpPr/>
          <p:nvPr/>
        </p:nvSpPr>
        <p:spPr>
          <a:xfrm>
            <a:off x="2651760" y="4563618"/>
            <a:ext cx="6080760" cy="346710"/>
          </a:xfrm>
          <a:prstGeom prst="rect">
            <a:avLst/>
          </a:prstGeom>
          <a:solidFill>
            <a:srgbClr val="FFFFFF"/>
          </a:solidFill>
          <a:ln w="6350">
            <a:solidFill>
              <a:srgbClr val="D1DDE8"/>
            </a:solidFill>
            <a:prstDash val="solid"/>
          </a:ln>
        </p:spPr>
        <p:txBody>
          <a:bodyPr/>
          <a:lstStyle/>
          <a:p>
            <a:endParaRPr lang="en-US"/>
          </a:p>
        </p:txBody>
      </p:sp>
      <p:sp>
        <p:nvSpPr>
          <p:cNvPr id="75" name="Text 73"/>
          <p:cNvSpPr/>
          <p:nvPr/>
        </p:nvSpPr>
        <p:spPr>
          <a:xfrm>
            <a:off x="2688336" y="4581906"/>
            <a:ext cx="6007608" cy="31013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FIDO2/WebAuthn (hardware key or platform) required for high-value accounts per NIST 800-63B AAL3</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4C75"/>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98B"/>
          </a:solidFill>
          <a:ln w="12700">
            <a:solidFill>
              <a:srgbClr val="1B998B"/>
            </a:solidFill>
            <a:prstDash val="solid"/>
          </a:ln>
        </p:spPr>
        <p:txBody>
          <a:bodyPr/>
          <a:lstStyle/>
          <a:p>
            <a:endParaRPr lang="en-US"/>
          </a:p>
        </p:txBody>
      </p:sp>
      <p:sp>
        <p:nvSpPr>
          <p:cNvPr id="3" name="Text 1"/>
          <p:cNvSpPr/>
          <p:nvPr/>
        </p:nvSpPr>
        <p:spPr>
          <a:xfrm>
            <a:off x="6858000" y="731520"/>
            <a:ext cx="2103120" cy="2560320"/>
          </a:xfrm>
          <a:prstGeom prst="rect">
            <a:avLst/>
          </a:prstGeom>
          <a:noFill/>
          <a:ln/>
        </p:spPr>
        <p:txBody>
          <a:bodyPr wrap="square" lIns="0" tIns="0" rIns="0" bIns="0" rtlCol="0" anchor="ctr"/>
          <a:lstStyle/>
          <a:p>
            <a:pPr marL="0" indent="0" algn="r">
              <a:buNone/>
            </a:pPr>
            <a:r>
              <a:rPr lang="en-US" sz="14000" b="1" dirty="0">
                <a:solidFill>
                  <a:srgbClr val="1A4A66"/>
                </a:solidFill>
                <a:latin typeface="Calibri" pitchFamily="34" charset="0"/>
                <a:ea typeface="Calibri" pitchFamily="34" charset="-122"/>
                <a:cs typeface="Calibri" pitchFamily="34" charset="-120"/>
              </a:rPr>
              <a:t>10</a:t>
            </a:r>
            <a:endParaRPr lang="en-US" sz="14000" dirty="0"/>
          </a:p>
        </p:txBody>
      </p:sp>
      <p:sp>
        <p:nvSpPr>
          <p:cNvPr id="4" name="Text 2"/>
          <p:cNvSpPr/>
          <p:nvPr/>
        </p:nvSpPr>
        <p:spPr>
          <a:xfrm>
            <a:off x="320040" y="1600200"/>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Roadmap</a:t>
            </a:r>
            <a:endParaRPr lang="en-US" sz="3000" dirty="0"/>
          </a:p>
        </p:txBody>
      </p:sp>
      <p:sp>
        <p:nvSpPr>
          <p:cNvPr id="5" name="Shape 3"/>
          <p:cNvSpPr/>
          <p:nvPr/>
        </p:nvSpPr>
        <p:spPr>
          <a:xfrm>
            <a:off x="320040" y="2468880"/>
            <a:ext cx="6217920" cy="0"/>
          </a:xfrm>
          <a:prstGeom prst="line">
            <a:avLst/>
          </a:prstGeom>
          <a:noFill/>
          <a:ln w="6350">
            <a:solidFill>
              <a:srgbClr val="8AAFC4"/>
            </a:solidFill>
            <a:prstDash val="solid"/>
          </a:ln>
        </p:spPr>
        <p:txBody>
          <a:bodyPr/>
          <a:lstStyle/>
          <a:p>
            <a:endParaRPr lang="en-US"/>
          </a:p>
        </p:txBody>
      </p:sp>
      <p:sp>
        <p:nvSpPr>
          <p:cNvPr id="6" name="Text 4"/>
          <p:cNvSpPr/>
          <p:nvPr/>
        </p:nvSpPr>
        <p:spPr>
          <a:xfrm>
            <a:off x="320040" y="2542032"/>
            <a:ext cx="6400800" cy="457200"/>
          </a:xfrm>
          <a:prstGeom prst="rect">
            <a:avLst/>
          </a:prstGeom>
          <a:noFill/>
          <a:ln/>
        </p:spPr>
        <p:txBody>
          <a:bodyPr wrap="square" lIns="0" tIns="0" rIns="0" bIns="0" rtlCol="0" anchor="ctr"/>
          <a:lstStyle/>
          <a:p>
            <a:pPr marL="0" indent="0">
              <a:buNone/>
            </a:pPr>
            <a:r>
              <a:rPr lang="en-US" sz="1400" i="1" dirty="0">
                <a:solidFill>
                  <a:srgbClr val="C9E4F0"/>
                </a:solidFill>
                <a:latin typeface="Calibri" pitchFamily="34" charset="0"/>
                <a:ea typeface="Calibri" pitchFamily="34" charset="-122"/>
                <a:cs typeface="Calibri" pitchFamily="34" charset="-120"/>
              </a:rPr>
              <a:t>4-phase implementation plan</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75"/>
          </a:solidFill>
          <a:ln w="12700">
            <a:solidFill>
              <a:srgbClr val="0F4C75"/>
            </a:solidFill>
            <a:prstDash val="solid"/>
          </a:ln>
        </p:spPr>
        <p:txBody>
          <a:bodyPr/>
          <a:lstStyle/>
          <a:p>
            <a:endParaRPr lang="en-US"/>
          </a:p>
        </p:txBody>
      </p:sp>
      <p:sp>
        <p:nvSpPr>
          <p:cNvPr id="3" name="Text 1"/>
          <p:cNvSpPr/>
          <p:nvPr/>
        </p:nvSpPr>
        <p:spPr>
          <a:xfrm>
            <a:off x="457200" y="0"/>
            <a:ext cx="82296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Implementation Roadmap</a:t>
            </a:r>
            <a:endParaRPr lang="en-US" sz="2200" dirty="0"/>
          </a:p>
        </p:txBody>
      </p:sp>
      <p:sp>
        <p:nvSpPr>
          <p:cNvPr id="4" name="Shape 2"/>
          <p:cNvSpPr/>
          <p:nvPr/>
        </p:nvSpPr>
        <p:spPr>
          <a:xfrm>
            <a:off x="274320" y="868680"/>
            <a:ext cx="8595360" cy="274320"/>
          </a:xfrm>
          <a:prstGeom prst="rect">
            <a:avLst/>
          </a:prstGeom>
          <a:solidFill>
            <a:srgbClr val="C9E4F0"/>
          </a:solidFill>
          <a:ln w="12700">
            <a:solidFill>
              <a:srgbClr val="C9E4F0"/>
            </a:solidFill>
            <a:prstDash val="solid"/>
          </a:ln>
        </p:spPr>
        <p:txBody>
          <a:bodyPr/>
          <a:lstStyle/>
          <a:p>
            <a:endParaRPr lang="en-US"/>
          </a:p>
        </p:txBody>
      </p:sp>
      <p:sp>
        <p:nvSpPr>
          <p:cNvPr id="5" name="Shape 3"/>
          <p:cNvSpPr/>
          <p:nvPr/>
        </p:nvSpPr>
        <p:spPr>
          <a:xfrm>
            <a:off x="274320" y="868680"/>
            <a:ext cx="2148840" cy="274320"/>
          </a:xfrm>
          <a:prstGeom prst="rect">
            <a:avLst/>
          </a:prstGeom>
          <a:solidFill>
            <a:srgbClr val="F4A261"/>
          </a:solidFill>
          <a:ln w="12700">
            <a:solidFill>
              <a:srgbClr val="F4A261"/>
            </a:solidFill>
            <a:prstDash val="solid"/>
          </a:ln>
        </p:spPr>
        <p:txBody>
          <a:bodyPr/>
          <a:lstStyle/>
          <a:p>
            <a:endParaRPr lang="en-US"/>
          </a:p>
        </p:txBody>
      </p:sp>
      <p:sp>
        <p:nvSpPr>
          <p:cNvPr id="6" name="Text 4"/>
          <p:cNvSpPr/>
          <p:nvPr/>
        </p:nvSpPr>
        <p:spPr>
          <a:xfrm>
            <a:off x="274320" y="868680"/>
            <a:ext cx="214884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Months 1-3</a:t>
            </a:r>
            <a:endParaRPr lang="en-US" sz="900" dirty="0"/>
          </a:p>
        </p:txBody>
      </p:sp>
      <p:sp>
        <p:nvSpPr>
          <p:cNvPr id="7" name="Shape 5"/>
          <p:cNvSpPr/>
          <p:nvPr/>
        </p:nvSpPr>
        <p:spPr>
          <a:xfrm>
            <a:off x="2423160" y="868680"/>
            <a:ext cx="2148840" cy="274320"/>
          </a:xfrm>
          <a:prstGeom prst="rect">
            <a:avLst/>
          </a:prstGeom>
          <a:solidFill>
            <a:srgbClr val="1B998B"/>
          </a:solidFill>
          <a:ln w="12700">
            <a:solidFill>
              <a:srgbClr val="1B998B"/>
            </a:solidFill>
            <a:prstDash val="solid"/>
          </a:ln>
        </p:spPr>
        <p:txBody>
          <a:bodyPr/>
          <a:lstStyle/>
          <a:p>
            <a:endParaRPr lang="en-US"/>
          </a:p>
        </p:txBody>
      </p:sp>
      <p:sp>
        <p:nvSpPr>
          <p:cNvPr id="8" name="Text 6"/>
          <p:cNvSpPr/>
          <p:nvPr/>
        </p:nvSpPr>
        <p:spPr>
          <a:xfrm>
            <a:off x="2423160" y="868680"/>
            <a:ext cx="214884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Months 4-6</a:t>
            </a:r>
            <a:endParaRPr lang="en-US" sz="900" dirty="0"/>
          </a:p>
        </p:txBody>
      </p:sp>
      <p:sp>
        <p:nvSpPr>
          <p:cNvPr id="9" name="Shape 7"/>
          <p:cNvSpPr/>
          <p:nvPr/>
        </p:nvSpPr>
        <p:spPr>
          <a:xfrm>
            <a:off x="4572000" y="868680"/>
            <a:ext cx="2148840" cy="274320"/>
          </a:xfrm>
          <a:prstGeom prst="rect">
            <a:avLst/>
          </a:prstGeom>
          <a:solidFill>
            <a:srgbClr val="0F4C75"/>
          </a:solidFill>
          <a:ln w="12700">
            <a:solidFill>
              <a:srgbClr val="0F4C75"/>
            </a:solidFill>
            <a:prstDash val="solid"/>
          </a:ln>
        </p:spPr>
        <p:txBody>
          <a:bodyPr/>
          <a:lstStyle/>
          <a:p>
            <a:endParaRPr lang="en-US"/>
          </a:p>
        </p:txBody>
      </p:sp>
      <p:sp>
        <p:nvSpPr>
          <p:cNvPr id="10" name="Text 8"/>
          <p:cNvSpPr/>
          <p:nvPr/>
        </p:nvSpPr>
        <p:spPr>
          <a:xfrm>
            <a:off x="4572000" y="868680"/>
            <a:ext cx="214884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Months 7-12</a:t>
            </a:r>
            <a:endParaRPr lang="en-US" sz="900" dirty="0"/>
          </a:p>
        </p:txBody>
      </p:sp>
      <p:sp>
        <p:nvSpPr>
          <p:cNvPr id="11" name="Shape 9"/>
          <p:cNvSpPr/>
          <p:nvPr/>
        </p:nvSpPr>
        <p:spPr>
          <a:xfrm>
            <a:off x="6720840" y="868680"/>
            <a:ext cx="2148840" cy="274320"/>
          </a:xfrm>
          <a:prstGeom prst="rect">
            <a:avLst/>
          </a:prstGeom>
          <a:solidFill>
            <a:srgbClr val="6B21A8"/>
          </a:solidFill>
          <a:ln w="12700">
            <a:solidFill>
              <a:srgbClr val="6B21A8"/>
            </a:solidFill>
            <a:prstDash val="solid"/>
          </a:ln>
        </p:spPr>
        <p:txBody>
          <a:bodyPr/>
          <a:lstStyle/>
          <a:p>
            <a:endParaRPr lang="en-US"/>
          </a:p>
        </p:txBody>
      </p:sp>
      <p:sp>
        <p:nvSpPr>
          <p:cNvPr id="12" name="Text 10"/>
          <p:cNvSpPr/>
          <p:nvPr/>
        </p:nvSpPr>
        <p:spPr>
          <a:xfrm>
            <a:off x="6720840" y="868680"/>
            <a:ext cx="214884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Months 12+</a:t>
            </a:r>
            <a:endParaRPr lang="en-US" sz="900" dirty="0"/>
          </a:p>
        </p:txBody>
      </p:sp>
      <p:sp>
        <p:nvSpPr>
          <p:cNvPr id="13" name="Shape 11"/>
          <p:cNvSpPr/>
          <p:nvPr/>
        </p:nvSpPr>
        <p:spPr>
          <a:xfrm>
            <a:off x="274320" y="1216152"/>
            <a:ext cx="2057400" cy="365760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14" name="Shape 12"/>
          <p:cNvSpPr/>
          <p:nvPr/>
        </p:nvSpPr>
        <p:spPr>
          <a:xfrm>
            <a:off x="274320" y="1216152"/>
            <a:ext cx="2057400" cy="457200"/>
          </a:xfrm>
          <a:prstGeom prst="rect">
            <a:avLst/>
          </a:prstGeom>
          <a:solidFill>
            <a:srgbClr val="F4A261"/>
          </a:solidFill>
          <a:ln w="12700">
            <a:solidFill>
              <a:srgbClr val="F4A261"/>
            </a:solidFill>
            <a:prstDash val="solid"/>
          </a:ln>
        </p:spPr>
        <p:txBody>
          <a:bodyPr/>
          <a:lstStyle/>
          <a:p>
            <a:endParaRPr lang="en-US"/>
          </a:p>
        </p:txBody>
      </p:sp>
      <p:sp>
        <p:nvSpPr>
          <p:cNvPr id="15" name="Text 13"/>
          <p:cNvSpPr/>
          <p:nvPr/>
        </p:nvSpPr>
        <p:spPr>
          <a:xfrm>
            <a:off x="347472" y="1216152"/>
            <a:ext cx="594360" cy="4572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Phase 1</a:t>
            </a:r>
            <a:endParaRPr lang="en-US" sz="1100" dirty="0"/>
          </a:p>
        </p:txBody>
      </p:sp>
      <p:sp>
        <p:nvSpPr>
          <p:cNvPr id="16" name="Text 14"/>
          <p:cNvSpPr/>
          <p:nvPr/>
        </p:nvSpPr>
        <p:spPr>
          <a:xfrm>
            <a:off x="932688" y="1216152"/>
            <a:ext cx="1325880" cy="457200"/>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Foundation</a:t>
            </a:r>
            <a:endParaRPr lang="en-US" sz="1000" dirty="0"/>
          </a:p>
        </p:txBody>
      </p:sp>
      <p:sp>
        <p:nvSpPr>
          <p:cNvPr id="17" name="Text 15"/>
          <p:cNvSpPr/>
          <p:nvPr/>
        </p:nvSpPr>
        <p:spPr>
          <a:xfrm>
            <a:off x="365760" y="1746504"/>
            <a:ext cx="1874520" cy="530352"/>
          </a:xfrm>
          <a:prstGeom prst="rect">
            <a:avLst/>
          </a:prstGeom>
          <a:noFill/>
          <a:ln/>
        </p:spPr>
        <p:txBody>
          <a:bodyPr wrap="square" lIns="0" tIns="0" rIns="0" bIns="0" rtlCol="0" anchor="ctr"/>
          <a:lstStyle/>
          <a:p>
            <a:pPr marL="0" indent="0">
              <a:buNone/>
            </a:pPr>
            <a:r>
              <a:rPr lang="en-US" sz="950" b="1" dirty="0">
                <a:solidFill>
                  <a:srgbClr val="F4A261"/>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Cloud IdP deployment (Entra ID or Okta)</a:t>
            </a:r>
            <a:endParaRPr lang="en-US" sz="950" dirty="0"/>
          </a:p>
        </p:txBody>
      </p:sp>
      <p:sp>
        <p:nvSpPr>
          <p:cNvPr id="18" name="Text 16"/>
          <p:cNvSpPr/>
          <p:nvPr/>
        </p:nvSpPr>
        <p:spPr>
          <a:xfrm>
            <a:off x="365760" y="2322576"/>
            <a:ext cx="1874520" cy="530352"/>
          </a:xfrm>
          <a:prstGeom prst="rect">
            <a:avLst/>
          </a:prstGeom>
          <a:noFill/>
          <a:ln/>
        </p:spPr>
        <p:txBody>
          <a:bodyPr wrap="square" lIns="0" tIns="0" rIns="0" bIns="0" rtlCol="0" anchor="ctr"/>
          <a:lstStyle/>
          <a:p>
            <a:pPr marL="0" indent="0">
              <a:buNone/>
            </a:pPr>
            <a:r>
              <a:rPr lang="en-US" sz="950" b="1" dirty="0">
                <a:solidFill>
                  <a:srgbClr val="F4A261"/>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AD sync + SSO for top 20 apps</a:t>
            </a:r>
            <a:endParaRPr lang="en-US" sz="950" dirty="0"/>
          </a:p>
        </p:txBody>
      </p:sp>
      <p:sp>
        <p:nvSpPr>
          <p:cNvPr id="19" name="Text 17"/>
          <p:cNvSpPr/>
          <p:nvPr/>
        </p:nvSpPr>
        <p:spPr>
          <a:xfrm>
            <a:off x="365760" y="2898648"/>
            <a:ext cx="1874520" cy="530352"/>
          </a:xfrm>
          <a:prstGeom prst="rect">
            <a:avLst/>
          </a:prstGeom>
          <a:noFill/>
          <a:ln/>
        </p:spPr>
        <p:txBody>
          <a:bodyPr wrap="square" lIns="0" tIns="0" rIns="0" bIns="0" rtlCol="0" anchor="ctr"/>
          <a:lstStyle/>
          <a:p>
            <a:pPr marL="0" indent="0">
              <a:buNone/>
            </a:pPr>
            <a:r>
              <a:rPr lang="en-US" sz="950" b="1" dirty="0">
                <a:solidFill>
                  <a:srgbClr val="F4A261"/>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MFA enrollment — 100% coverage in 90 days</a:t>
            </a:r>
            <a:endParaRPr lang="en-US" sz="950" dirty="0"/>
          </a:p>
        </p:txBody>
      </p:sp>
      <p:sp>
        <p:nvSpPr>
          <p:cNvPr id="20" name="Text 18"/>
          <p:cNvSpPr/>
          <p:nvPr/>
        </p:nvSpPr>
        <p:spPr>
          <a:xfrm>
            <a:off x="365760" y="3474720"/>
            <a:ext cx="1874520" cy="530352"/>
          </a:xfrm>
          <a:prstGeom prst="rect">
            <a:avLst/>
          </a:prstGeom>
          <a:noFill/>
          <a:ln/>
        </p:spPr>
        <p:txBody>
          <a:bodyPr wrap="square" lIns="0" tIns="0" rIns="0" bIns="0" rtlCol="0" anchor="ctr"/>
          <a:lstStyle/>
          <a:p>
            <a:pPr marL="0" indent="0">
              <a:buNone/>
            </a:pPr>
            <a:r>
              <a:rPr lang="en-US" sz="950" b="1" dirty="0">
                <a:solidFill>
                  <a:srgbClr val="F4A261"/>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Disable Basic Auth / legacy protocols</a:t>
            </a:r>
            <a:endParaRPr lang="en-US" sz="950" dirty="0"/>
          </a:p>
        </p:txBody>
      </p:sp>
      <p:sp>
        <p:nvSpPr>
          <p:cNvPr id="21" name="Text 19"/>
          <p:cNvSpPr/>
          <p:nvPr/>
        </p:nvSpPr>
        <p:spPr>
          <a:xfrm>
            <a:off x="365760" y="4050792"/>
            <a:ext cx="1874520" cy="530352"/>
          </a:xfrm>
          <a:prstGeom prst="rect">
            <a:avLst/>
          </a:prstGeom>
          <a:noFill/>
          <a:ln/>
        </p:spPr>
        <p:txBody>
          <a:bodyPr wrap="square" lIns="0" tIns="0" rIns="0" bIns="0" rtlCol="0" anchor="ctr"/>
          <a:lstStyle/>
          <a:p>
            <a:pPr marL="0" indent="0">
              <a:buNone/>
            </a:pPr>
            <a:r>
              <a:rPr lang="en-US" sz="950" b="1" dirty="0">
                <a:solidFill>
                  <a:srgbClr val="F4A261"/>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Auth logging to SIEM</a:t>
            </a:r>
            <a:endParaRPr lang="en-US" sz="950" dirty="0"/>
          </a:p>
        </p:txBody>
      </p:sp>
      <p:sp>
        <p:nvSpPr>
          <p:cNvPr id="22" name="Shape 20"/>
          <p:cNvSpPr/>
          <p:nvPr/>
        </p:nvSpPr>
        <p:spPr>
          <a:xfrm>
            <a:off x="2423160" y="1216152"/>
            <a:ext cx="2057400" cy="365760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23" name="Shape 21"/>
          <p:cNvSpPr/>
          <p:nvPr/>
        </p:nvSpPr>
        <p:spPr>
          <a:xfrm>
            <a:off x="2423160" y="1216152"/>
            <a:ext cx="2057400" cy="457200"/>
          </a:xfrm>
          <a:prstGeom prst="rect">
            <a:avLst/>
          </a:prstGeom>
          <a:solidFill>
            <a:srgbClr val="1B998B"/>
          </a:solidFill>
          <a:ln w="12700">
            <a:solidFill>
              <a:srgbClr val="1B998B"/>
            </a:solidFill>
            <a:prstDash val="solid"/>
          </a:ln>
        </p:spPr>
        <p:txBody>
          <a:bodyPr/>
          <a:lstStyle/>
          <a:p>
            <a:endParaRPr lang="en-US"/>
          </a:p>
        </p:txBody>
      </p:sp>
      <p:sp>
        <p:nvSpPr>
          <p:cNvPr id="24" name="Text 22"/>
          <p:cNvSpPr/>
          <p:nvPr/>
        </p:nvSpPr>
        <p:spPr>
          <a:xfrm>
            <a:off x="2496312" y="1216152"/>
            <a:ext cx="594360" cy="4572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Phase 2</a:t>
            </a:r>
            <a:endParaRPr lang="en-US" sz="1100" dirty="0"/>
          </a:p>
        </p:txBody>
      </p:sp>
      <p:sp>
        <p:nvSpPr>
          <p:cNvPr id="25" name="Text 23"/>
          <p:cNvSpPr/>
          <p:nvPr/>
        </p:nvSpPr>
        <p:spPr>
          <a:xfrm>
            <a:off x="3081528" y="1216152"/>
            <a:ext cx="1325880" cy="457200"/>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Strengthen</a:t>
            </a:r>
            <a:endParaRPr lang="en-US" sz="1000" dirty="0"/>
          </a:p>
        </p:txBody>
      </p:sp>
      <p:sp>
        <p:nvSpPr>
          <p:cNvPr id="26" name="Text 24"/>
          <p:cNvSpPr/>
          <p:nvPr/>
        </p:nvSpPr>
        <p:spPr>
          <a:xfrm>
            <a:off x="2514600" y="1746504"/>
            <a:ext cx="1874520" cy="530352"/>
          </a:xfrm>
          <a:prstGeom prst="rect">
            <a:avLst/>
          </a:prstGeom>
          <a:noFill/>
          <a:ln/>
        </p:spPr>
        <p:txBody>
          <a:bodyPr wrap="square" lIns="0" tIns="0" rIns="0" bIns="0" rtlCol="0" anchor="ctr"/>
          <a:lstStyle/>
          <a:p>
            <a:pPr marL="0" indent="0">
              <a:buNone/>
            </a:pPr>
            <a:r>
              <a:rPr lang="en-US" sz="950" b="1" dirty="0">
                <a:solidFill>
                  <a:srgbClr val="1B998B"/>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FIDO2 for privileged users + executives</a:t>
            </a:r>
            <a:endParaRPr lang="en-US" sz="950" dirty="0"/>
          </a:p>
        </p:txBody>
      </p:sp>
      <p:sp>
        <p:nvSpPr>
          <p:cNvPr id="27" name="Text 25"/>
          <p:cNvSpPr/>
          <p:nvPr/>
        </p:nvSpPr>
        <p:spPr>
          <a:xfrm>
            <a:off x="2514600" y="2322576"/>
            <a:ext cx="1874520" cy="530352"/>
          </a:xfrm>
          <a:prstGeom prst="rect">
            <a:avLst/>
          </a:prstGeom>
          <a:noFill/>
          <a:ln/>
        </p:spPr>
        <p:txBody>
          <a:bodyPr wrap="square" lIns="0" tIns="0" rIns="0" bIns="0" rtlCol="0" anchor="ctr"/>
          <a:lstStyle/>
          <a:p>
            <a:pPr marL="0" indent="0">
              <a:buNone/>
            </a:pPr>
            <a:r>
              <a:rPr lang="en-US" sz="950" b="1" dirty="0">
                <a:solidFill>
                  <a:srgbClr val="1B998B"/>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Conditional Access: device + risk + location</a:t>
            </a:r>
            <a:endParaRPr lang="en-US" sz="950" dirty="0"/>
          </a:p>
        </p:txBody>
      </p:sp>
      <p:sp>
        <p:nvSpPr>
          <p:cNvPr id="28" name="Text 26"/>
          <p:cNvSpPr/>
          <p:nvPr/>
        </p:nvSpPr>
        <p:spPr>
          <a:xfrm>
            <a:off x="2514600" y="2898648"/>
            <a:ext cx="1874520" cy="530352"/>
          </a:xfrm>
          <a:prstGeom prst="rect">
            <a:avLst/>
          </a:prstGeom>
          <a:noFill/>
          <a:ln/>
        </p:spPr>
        <p:txBody>
          <a:bodyPr wrap="square" lIns="0" tIns="0" rIns="0" bIns="0" rtlCol="0" anchor="ctr"/>
          <a:lstStyle/>
          <a:p>
            <a:pPr marL="0" indent="0">
              <a:buNone/>
            </a:pPr>
            <a:r>
              <a:rPr lang="en-US" sz="950" b="1" dirty="0">
                <a:solidFill>
                  <a:srgbClr val="1B998B"/>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SCIM automated provisioning</a:t>
            </a:r>
            <a:endParaRPr lang="en-US" sz="950" dirty="0"/>
          </a:p>
        </p:txBody>
      </p:sp>
      <p:sp>
        <p:nvSpPr>
          <p:cNvPr id="29" name="Text 27"/>
          <p:cNvSpPr/>
          <p:nvPr/>
        </p:nvSpPr>
        <p:spPr>
          <a:xfrm>
            <a:off x="2514600" y="3474720"/>
            <a:ext cx="1874520" cy="530352"/>
          </a:xfrm>
          <a:prstGeom prst="rect">
            <a:avLst/>
          </a:prstGeom>
          <a:noFill/>
          <a:ln/>
        </p:spPr>
        <p:txBody>
          <a:bodyPr wrap="square" lIns="0" tIns="0" rIns="0" bIns="0" rtlCol="0" anchor="ctr"/>
          <a:lstStyle/>
          <a:p>
            <a:pPr marL="0" indent="0">
              <a:buNone/>
            </a:pPr>
            <a:r>
              <a:rPr lang="en-US" sz="950" b="1" dirty="0">
                <a:solidFill>
                  <a:srgbClr val="1B998B"/>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Breached password detection</a:t>
            </a:r>
            <a:endParaRPr lang="en-US" sz="950" dirty="0"/>
          </a:p>
        </p:txBody>
      </p:sp>
      <p:sp>
        <p:nvSpPr>
          <p:cNvPr id="30" name="Text 28"/>
          <p:cNvSpPr/>
          <p:nvPr/>
        </p:nvSpPr>
        <p:spPr>
          <a:xfrm>
            <a:off x="2514600" y="4050792"/>
            <a:ext cx="1874520" cy="530352"/>
          </a:xfrm>
          <a:prstGeom prst="rect">
            <a:avLst/>
          </a:prstGeom>
          <a:noFill/>
          <a:ln/>
        </p:spPr>
        <p:txBody>
          <a:bodyPr wrap="square" lIns="0" tIns="0" rIns="0" bIns="0" rtlCol="0" anchor="ctr"/>
          <a:lstStyle/>
          <a:p>
            <a:pPr marL="0" indent="0">
              <a:buNone/>
            </a:pPr>
            <a:r>
              <a:rPr lang="en-US" sz="950" b="1" dirty="0">
                <a:solidFill>
                  <a:srgbClr val="1B998B"/>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OAuth 2.0 + PKCE for all new apps</a:t>
            </a:r>
            <a:endParaRPr lang="en-US" sz="950" dirty="0"/>
          </a:p>
        </p:txBody>
      </p:sp>
      <p:sp>
        <p:nvSpPr>
          <p:cNvPr id="31" name="Shape 29"/>
          <p:cNvSpPr/>
          <p:nvPr/>
        </p:nvSpPr>
        <p:spPr>
          <a:xfrm>
            <a:off x="4572000" y="1216152"/>
            <a:ext cx="2057400" cy="365760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32" name="Shape 30"/>
          <p:cNvSpPr/>
          <p:nvPr/>
        </p:nvSpPr>
        <p:spPr>
          <a:xfrm>
            <a:off x="4572000" y="1216152"/>
            <a:ext cx="2057400" cy="457200"/>
          </a:xfrm>
          <a:prstGeom prst="rect">
            <a:avLst/>
          </a:prstGeom>
          <a:solidFill>
            <a:srgbClr val="0F4C75"/>
          </a:solidFill>
          <a:ln w="12700">
            <a:solidFill>
              <a:srgbClr val="0F4C75"/>
            </a:solidFill>
            <a:prstDash val="solid"/>
          </a:ln>
        </p:spPr>
        <p:txBody>
          <a:bodyPr/>
          <a:lstStyle/>
          <a:p>
            <a:endParaRPr lang="en-US"/>
          </a:p>
        </p:txBody>
      </p:sp>
      <p:sp>
        <p:nvSpPr>
          <p:cNvPr id="33" name="Text 31"/>
          <p:cNvSpPr/>
          <p:nvPr/>
        </p:nvSpPr>
        <p:spPr>
          <a:xfrm>
            <a:off x="4645152" y="1216152"/>
            <a:ext cx="594360" cy="4572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Phase 3</a:t>
            </a:r>
            <a:endParaRPr lang="en-US" sz="1100" dirty="0"/>
          </a:p>
        </p:txBody>
      </p:sp>
      <p:sp>
        <p:nvSpPr>
          <p:cNvPr id="34" name="Text 32"/>
          <p:cNvSpPr/>
          <p:nvPr/>
        </p:nvSpPr>
        <p:spPr>
          <a:xfrm>
            <a:off x="5230368" y="1216152"/>
            <a:ext cx="1325880" cy="457200"/>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Advanced</a:t>
            </a:r>
            <a:endParaRPr lang="en-US" sz="1000" dirty="0"/>
          </a:p>
        </p:txBody>
      </p:sp>
      <p:sp>
        <p:nvSpPr>
          <p:cNvPr id="35" name="Text 33"/>
          <p:cNvSpPr/>
          <p:nvPr/>
        </p:nvSpPr>
        <p:spPr>
          <a:xfrm>
            <a:off x="4663440" y="1746504"/>
            <a:ext cx="1874520" cy="530352"/>
          </a:xfrm>
          <a:prstGeom prst="rect">
            <a:avLst/>
          </a:prstGeom>
          <a:noFill/>
          <a:ln/>
        </p:spPr>
        <p:txBody>
          <a:bodyPr wrap="square" lIns="0" tIns="0" rIns="0" bIns="0" rtlCol="0" anchor="ctr"/>
          <a:lstStyle/>
          <a:p>
            <a:pPr marL="0" indent="0">
              <a:buNone/>
            </a:pPr>
            <a:r>
              <a:rPr lang="en-US" sz="950" b="1" dirty="0">
                <a:solidFill>
                  <a:srgbClr val="0F4C75"/>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ZTNA replaces VPN (ZPA / Cloudflare)</a:t>
            </a:r>
            <a:endParaRPr lang="en-US" sz="950" dirty="0"/>
          </a:p>
        </p:txBody>
      </p:sp>
      <p:sp>
        <p:nvSpPr>
          <p:cNvPr id="36" name="Text 34"/>
          <p:cNvSpPr/>
          <p:nvPr/>
        </p:nvSpPr>
        <p:spPr>
          <a:xfrm>
            <a:off x="4663440" y="2322576"/>
            <a:ext cx="1874520" cy="530352"/>
          </a:xfrm>
          <a:prstGeom prst="rect">
            <a:avLst/>
          </a:prstGeom>
          <a:noFill/>
          <a:ln/>
        </p:spPr>
        <p:txBody>
          <a:bodyPr wrap="square" lIns="0" tIns="0" rIns="0" bIns="0" rtlCol="0" anchor="ctr"/>
          <a:lstStyle/>
          <a:p>
            <a:pPr marL="0" indent="0">
              <a:buNone/>
            </a:pPr>
            <a:r>
              <a:rPr lang="en-US" sz="950" b="1" dirty="0">
                <a:solidFill>
                  <a:srgbClr val="0F4C75"/>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CAE for M365 + key applications</a:t>
            </a:r>
            <a:endParaRPr lang="en-US" sz="950" dirty="0"/>
          </a:p>
        </p:txBody>
      </p:sp>
      <p:sp>
        <p:nvSpPr>
          <p:cNvPr id="37" name="Text 35"/>
          <p:cNvSpPr/>
          <p:nvPr/>
        </p:nvSpPr>
        <p:spPr>
          <a:xfrm>
            <a:off x="4663440" y="2898648"/>
            <a:ext cx="1874520" cy="530352"/>
          </a:xfrm>
          <a:prstGeom prst="rect">
            <a:avLst/>
          </a:prstGeom>
          <a:noFill/>
          <a:ln/>
        </p:spPr>
        <p:txBody>
          <a:bodyPr wrap="square" lIns="0" tIns="0" rIns="0" bIns="0" rtlCol="0" anchor="ctr"/>
          <a:lstStyle/>
          <a:p>
            <a:pPr marL="0" indent="0">
              <a:buNone/>
            </a:pPr>
            <a:r>
              <a:rPr lang="en-US" sz="950" b="1" dirty="0">
                <a:solidFill>
                  <a:srgbClr val="0F4C75"/>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OPA for Kubernetes + API authz</a:t>
            </a:r>
            <a:endParaRPr lang="en-US" sz="950" dirty="0"/>
          </a:p>
        </p:txBody>
      </p:sp>
      <p:sp>
        <p:nvSpPr>
          <p:cNvPr id="38" name="Text 36"/>
          <p:cNvSpPr/>
          <p:nvPr/>
        </p:nvSpPr>
        <p:spPr>
          <a:xfrm>
            <a:off x="4663440" y="3474720"/>
            <a:ext cx="1874520" cy="530352"/>
          </a:xfrm>
          <a:prstGeom prst="rect">
            <a:avLst/>
          </a:prstGeom>
          <a:noFill/>
          <a:ln/>
        </p:spPr>
        <p:txBody>
          <a:bodyPr wrap="square" lIns="0" tIns="0" rIns="0" bIns="0" rtlCol="0" anchor="ctr"/>
          <a:lstStyle/>
          <a:p>
            <a:pPr marL="0" indent="0">
              <a:buNone/>
            </a:pPr>
            <a:r>
              <a:rPr lang="en-US" sz="950" b="1" dirty="0">
                <a:solidFill>
                  <a:srgbClr val="0F4C75"/>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Identity risk analytics in SIEM</a:t>
            </a:r>
            <a:endParaRPr lang="en-US" sz="950" dirty="0"/>
          </a:p>
        </p:txBody>
      </p:sp>
      <p:sp>
        <p:nvSpPr>
          <p:cNvPr id="39" name="Text 37"/>
          <p:cNvSpPr/>
          <p:nvPr/>
        </p:nvSpPr>
        <p:spPr>
          <a:xfrm>
            <a:off x="4663440" y="4050792"/>
            <a:ext cx="1874520" cy="530352"/>
          </a:xfrm>
          <a:prstGeom prst="rect">
            <a:avLst/>
          </a:prstGeom>
          <a:noFill/>
          <a:ln/>
        </p:spPr>
        <p:txBody>
          <a:bodyPr wrap="square" lIns="0" tIns="0" rIns="0" bIns="0" rtlCol="0" anchor="ctr"/>
          <a:lstStyle/>
          <a:p>
            <a:pPr marL="0" indent="0">
              <a:buNone/>
            </a:pPr>
            <a:r>
              <a:rPr lang="en-US" sz="950" b="1" dirty="0">
                <a:solidFill>
                  <a:srgbClr val="0F4C75"/>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Federated B2B access for partners</a:t>
            </a:r>
            <a:endParaRPr lang="en-US" sz="950" dirty="0"/>
          </a:p>
        </p:txBody>
      </p:sp>
      <p:sp>
        <p:nvSpPr>
          <p:cNvPr id="40" name="Shape 38"/>
          <p:cNvSpPr/>
          <p:nvPr/>
        </p:nvSpPr>
        <p:spPr>
          <a:xfrm>
            <a:off x="6720840" y="1216152"/>
            <a:ext cx="2057400" cy="3657600"/>
          </a:xfrm>
          <a:prstGeom prst="rect">
            <a:avLst/>
          </a:prstGeom>
          <a:solidFill>
            <a:srgbClr val="FFFFFF"/>
          </a:solidFill>
          <a:ln w="12700">
            <a:solidFill>
              <a:srgbClr val="C9E4F0"/>
            </a:solidFill>
            <a:prstDash val="solid"/>
          </a:ln>
          <a:effectLst>
            <a:outerShdw blurRad="63500" dist="25400" dir="8100000" algn="bl" rotWithShape="0">
              <a:srgbClr val="000000">
                <a:alpha val="12000"/>
              </a:srgbClr>
            </a:outerShdw>
          </a:effectLst>
        </p:spPr>
        <p:txBody>
          <a:bodyPr/>
          <a:lstStyle/>
          <a:p>
            <a:endParaRPr lang="en-US"/>
          </a:p>
        </p:txBody>
      </p:sp>
      <p:sp>
        <p:nvSpPr>
          <p:cNvPr id="41" name="Shape 39"/>
          <p:cNvSpPr/>
          <p:nvPr/>
        </p:nvSpPr>
        <p:spPr>
          <a:xfrm>
            <a:off x="6720840" y="1216152"/>
            <a:ext cx="2057400" cy="457200"/>
          </a:xfrm>
          <a:prstGeom prst="rect">
            <a:avLst/>
          </a:prstGeom>
          <a:solidFill>
            <a:srgbClr val="6B21A8"/>
          </a:solidFill>
          <a:ln w="12700">
            <a:solidFill>
              <a:srgbClr val="6B21A8"/>
            </a:solidFill>
            <a:prstDash val="solid"/>
          </a:ln>
        </p:spPr>
        <p:txBody>
          <a:bodyPr/>
          <a:lstStyle/>
          <a:p>
            <a:endParaRPr lang="en-US"/>
          </a:p>
        </p:txBody>
      </p:sp>
      <p:sp>
        <p:nvSpPr>
          <p:cNvPr id="42" name="Text 40"/>
          <p:cNvSpPr/>
          <p:nvPr/>
        </p:nvSpPr>
        <p:spPr>
          <a:xfrm>
            <a:off x="6793992" y="1216152"/>
            <a:ext cx="594360" cy="4572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Phase 4</a:t>
            </a:r>
            <a:endParaRPr lang="en-US" sz="1100" dirty="0"/>
          </a:p>
        </p:txBody>
      </p:sp>
      <p:sp>
        <p:nvSpPr>
          <p:cNvPr id="43" name="Text 41"/>
          <p:cNvSpPr/>
          <p:nvPr/>
        </p:nvSpPr>
        <p:spPr>
          <a:xfrm>
            <a:off x="7379208" y="1216152"/>
            <a:ext cx="1325880" cy="457200"/>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Maturity</a:t>
            </a:r>
            <a:endParaRPr lang="en-US" sz="1000" dirty="0"/>
          </a:p>
        </p:txBody>
      </p:sp>
      <p:sp>
        <p:nvSpPr>
          <p:cNvPr id="44" name="Text 42"/>
          <p:cNvSpPr/>
          <p:nvPr/>
        </p:nvSpPr>
        <p:spPr>
          <a:xfrm>
            <a:off x="6812280" y="1746504"/>
            <a:ext cx="1874520" cy="530352"/>
          </a:xfrm>
          <a:prstGeom prst="rect">
            <a:avLst/>
          </a:prstGeom>
          <a:noFill/>
          <a:ln/>
        </p:spPr>
        <p:txBody>
          <a:bodyPr wrap="square" lIns="0" tIns="0" rIns="0" bIns="0" rtlCol="0" anchor="ctr"/>
          <a:lstStyle/>
          <a:p>
            <a:pPr marL="0" indent="0">
              <a:buNone/>
            </a:pPr>
            <a:r>
              <a:rPr lang="en-US" sz="950" b="1" dirty="0">
                <a:solidFill>
                  <a:srgbClr val="6B21A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Passkey rollout — eliminate passwords</a:t>
            </a:r>
            <a:endParaRPr lang="en-US" sz="950" dirty="0"/>
          </a:p>
        </p:txBody>
      </p:sp>
      <p:sp>
        <p:nvSpPr>
          <p:cNvPr id="45" name="Text 43"/>
          <p:cNvSpPr/>
          <p:nvPr/>
        </p:nvSpPr>
        <p:spPr>
          <a:xfrm>
            <a:off x="6812280" y="2322576"/>
            <a:ext cx="1874520" cy="530352"/>
          </a:xfrm>
          <a:prstGeom prst="rect">
            <a:avLst/>
          </a:prstGeom>
          <a:noFill/>
          <a:ln/>
        </p:spPr>
        <p:txBody>
          <a:bodyPr wrap="square" lIns="0" tIns="0" rIns="0" bIns="0" rtlCol="0" anchor="ctr"/>
          <a:lstStyle/>
          <a:p>
            <a:pPr marL="0" indent="0">
              <a:buNone/>
            </a:pPr>
            <a:r>
              <a:rPr lang="en-US" sz="950" b="1" dirty="0">
                <a:solidFill>
                  <a:srgbClr val="6B21A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M2M mTLS / OAuth Client Creds (no API keys)</a:t>
            </a:r>
            <a:endParaRPr lang="en-US" sz="950" dirty="0"/>
          </a:p>
        </p:txBody>
      </p:sp>
      <p:sp>
        <p:nvSpPr>
          <p:cNvPr id="46" name="Text 44"/>
          <p:cNvSpPr/>
          <p:nvPr/>
        </p:nvSpPr>
        <p:spPr>
          <a:xfrm>
            <a:off x="6812280" y="2898648"/>
            <a:ext cx="1874520" cy="530352"/>
          </a:xfrm>
          <a:prstGeom prst="rect">
            <a:avLst/>
          </a:prstGeom>
          <a:noFill/>
          <a:ln/>
        </p:spPr>
        <p:txBody>
          <a:bodyPr wrap="square" lIns="0" tIns="0" rIns="0" bIns="0" rtlCol="0" anchor="ctr"/>
          <a:lstStyle/>
          <a:p>
            <a:pPr marL="0" indent="0">
              <a:buNone/>
            </a:pPr>
            <a:r>
              <a:rPr lang="en-US" sz="950" b="1" dirty="0">
                <a:solidFill>
                  <a:srgbClr val="6B21A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Identity threat hunting in SIEM/UEBA</a:t>
            </a:r>
            <a:endParaRPr lang="en-US" sz="950" dirty="0"/>
          </a:p>
        </p:txBody>
      </p:sp>
      <p:sp>
        <p:nvSpPr>
          <p:cNvPr id="47" name="Text 45"/>
          <p:cNvSpPr/>
          <p:nvPr/>
        </p:nvSpPr>
        <p:spPr>
          <a:xfrm>
            <a:off x="6812280" y="3474720"/>
            <a:ext cx="1874520" cy="530352"/>
          </a:xfrm>
          <a:prstGeom prst="rect">
            <a:avLst/>
          </a:prstGeom>
          <a:noFill/>
          <a:ln/>
        </p:spPr>
        <p:txBody>
          <a:bodyPr wrap="square" lIns="0" tIns="0" rIns="0" bIns="0" rtlCol="0" anchor="ctr"/>
          <a:lstStyle/>
          <a:p>
            <a:pPr marL="0" indent="0">
              <a:buNone/>
            </a:pPr>
            <a:r>
              <a:rPr lang="en-US" sz="950" b="1" dirty="0">
                <a:solidFill>
                  <a:srgbClr val="6B21A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Continuous access reviews (IGA)</a:t>
            </a:r>
            <a:endParaRPr lang="en-US" sz="950" dirty="0"/>
          </a:p>
        </p:txBody>
      </p:sp>
      <p:sp>
        <p:nvSpPr>
          <p:cNvPr id="48" name="Text 46"/>
          <p:cNvSpPr/>
          <p:nvPr/>
        </p:nvSpPr>
        <p:spPr>
          <a:xfrm>
            <a:off x="6812280" y="4050792"/>
            <a:ext cx="1874520" cy="530352"/>
          </a:xfrm>
          <a:prstGeom prst="rect">
            <a:avLst/>
          </a:prstGeom>
          <a:noFill/>
          <a:ln/>
        </p:spPr>
        <p:txBody>
          <a:bodyPr wrap="square" lIns="0" tIns="0" rIns="0" bIns="0" rtlCol="0" anchor="ctr"/>
          <a:lstStyle/>
          <a:p>
            <a:pPr marL="0" indent="0">
              <a:buNone/>
            </a:pPr>
            <a:r>
              <a:rPr lang="en-US" sz="950" b="1" dirty="0">
                <a:solidFill>
                  <a:srgbClr val="6B21A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Red team AuthN/AuthZ testing</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4C7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B998B"/>
          </a:solidFill>
          <a:ln w="12700">
            <a:solidFill>
              <a:srgbClr val="1B998B"/>
            </a:solidFill>
            <a:prstDash val="solid"/>
          </a:ln>
        </p:spPr>
        <p:txBody>
          <a:bodyPr/>
          <a:lstStyle/>
          <a:p>
            <a:endParaRPr lang="en-US"/>
          </a:p>
        </p:txBody>
      </p:sp>
      <p:sp>
        <p:nvSpPr>
          <p:cNvPr id="3" name="Shape 1"/>
          <p:cNvSpPr/>
          <p:nvPr/>
        </p:nvSpPr>
        <p:spPr>
          <a:xfrm>
            <a:off x="0" y="73152"/>
            <a:ext cx="9144000" cy="36576"/>
          </a:xfrm>
          <a:prstGeom prst="rect">
            <a:avLst/>
          </a:prstGeom>
          <a:solidFill>
            <a:srgbClr val="F4A261"/>
          </a:solidFill>
          <a:ln w="12700">
            <a:solidFill>
              <a:srgbClr val="F4A261"/>
            </a:solidFill>
            <a:prstDash val="solid"/>
          </a:ln>
        </p:spPr>
        <p:txBody>
          <a:bodyPr/>
          <a:lstStyle/>
          <a:p>
            <a:endParaRPr lang="en-US"/>
          </a:p>
        </p:txBody>
      </p:sp>
      <p:sp>
        <p:nvSpPr>
          <p:cNvPr id="4" name="Text 2"/>
          <p:cNvSpPr/>
          <p:nvPr/>
        </p:nvSpPr>
        <p:spPr>
          <a:xfrm>
            <a:off x="548640" y="502920"/>
            <a:ext cx="804672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Key Takeaways</a:t>
            </a:r>
            <a:endParaRPr lang="en-US" sz="2800" dirty="0"/>
          </a:p>
        </p:txBody>
      </p:sp>
      <p:sp>
        <p:nvSpPr>
          <p:cNvPr id="5" name="Shape 3"/>
          <p:cNvSpPr/>
          <p:nvPr/>
        </p:nvSpPr>
        <p:spPr>
          <a:xfrm>
            <a:off x="548640" y="1097280"/>
            <a:ext cx="8046720" cy="0"/>
          </a:xfrm>
          <a:prstGeom prst="line">
            <a:avLst/>
          </a:prstGeom>
          <a:noFill/>
          <a:ln w="25400">
            <a:solidFill>
              <a:srgbClr val="1B998B"/>
            </a:solidFill>
            <a:prstDash val="solid"/>
          </a:ln>
        </p:spPr>
        <p:txBody>
          <a:bodyPr/>
          <a:lstStyle/>
          <a:p>
            <a:endParaRPr lang="en-US"/>
          </a:p>
        </p:txBody>
      </p:sp>
      <p:sp>
        <p:nvSpPr>
          <p:cNvPr id="6" name="Shape 4"/>
          <p:cNvSpPr/>
          <p:nvPr/>
        </p:nvSpPr>
        <p:spPr>
          <a:xfrm>
            <a:off x="548640" y="1234440"/>
            <a:ext cx="502920" cy="502920"/>
          </a:xfrm>
          <a:prstGeom prst="rect">
            <a:avLst/>
          </a:prstGeom>
          <a:solidFill>
            <a:srgbClr val="1B998B"/>
          </a:solidFill>
          <a:ln w="12700">
            <a:solidFill>
              <a:srgbClr val="1B998B"/>
            </a:solidFill>
            <a:prstDash val="solid"/>
          </a:ln>
        </p:spPr>
        <p:txBody>
          <a:bodyPr/>
          <a:lstStyle/>
          <a:p>
            <a:endParaRPr lang="en-US"/>
          </a:p>
        </p:txBody>
      </p:sp>
      <p:sp>
        <p:nvSpPr>
          <p:cNvPr id="7" name="Text 5"/>
          <p:cNvSpPr/>
          <p:nvPr/>
        </p:nvSpPr>
        <p:spPr>
          <a:xfrm>
            <a:off x="548640" y="12344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170432" y="1271016"/>
            <a:ext cx="7406640" cy="457200"/>
          </a:xfrm>
          <a:prstGeom prst="rect">
            <a:avLst/>
          </a:prstGeom>
          <a:noFill/>
          <a:ln/>
        </p:spPr>
        <p:txBody>
          <a:bodyPr wrap="square" lIns="0" tIns="0" rIns="0" bIns="0" rtlCol="0" anchor="ctr"/>
          <a:lstStyle/>
          <a:p>
            <a:pPr marL="0" indent="0">
              <a:buNone/>
            </a:pPr>
            <a:r>
              <a:rPr lang="en-US" sz="1250" dirty="0">
                <a:solidFill>
                  <a:srgbClr val="C9E4F0"/>
                </a:solidFill>
                <a:latin typeface="Calibri" pitchFamily="34" charset="0"/>
                <a:ea typeface="Calibri" pitchFamily="34" charset="-122"/>
                <a:cs typeface="Calibri" pitchFamily="34" charset="-120"/>
              </a:rPr>
              <a:t>Identity is the new perimeter. In Zero Trust, every request is authenticated and authorized regardless of network location. There is no trusted zone.</a:t>
            </a:r>
            <a:endParaRPr lang="en-US" sz="1250" dirty="0"/>
          </a:p>
        </p:txBody>
      </p:sp>
      <p:sp>
        <p:nvSpPr>
          <p:cNvPr id="9" name="Shape 7"/>
          <p:cNvSpPr/>
          <p:nvPr/>
        </p:nvSpPr>
        <p:spPr>
          <a:xfrm>
            <a:off x="548640" y="1984248"/>
            <a:ext cx="502920" cy="502920"/>
          </a:xfrm>
          <a:prstGeom prst="rect">
            <a:avLst/>
          </a:prstGeom>
          <a:solidFill>
            <a:srgbClr val="1B998B"/>
          </a:solidFill>
          <a:ln w="12700">
            <a:solidFill>
              <a:srgbClr val="1B998B"/>
            </a:solidFill>
            <a:prstDash val="solid"/>
          </a:ln>
        </p:spPr>
        <p:txBody>
          <a:bodyPr/>
          <a:lstStyle/>
          <a:p>
            <a:endParaRPr lang="en-US"/>
          </a:p>
        </p:txBody>
      </p:sp>
      <p:sp>
        <p:nvSpPr>
          <p:cNvPr id="10" name="Text 8"/>
          <p:cNvSpPr/>
          <p:nvPr/>
        </p:nvSpPr>
        <p:spPr>
          <a:xfrm>
            <a:off x="548640" y="198424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1170432" y="2020824"/>
            <a:ext cx="7406640" cy="457200"/>
          </a:xfrm>
          <a:prstGeom prst="rect">
            <a:avLst/>
          </a:prstGeom>
          <a:noFill/>
          <a:ln/>
        </p:spPr>
        <p:txBody>
          <a:bodyPr wrap="square" lIns="0" tIns="0" rIns="0" bIns="0" rtlCol="0" anchor="ctr"/>
          <a:lstStyle/>
          <a:p>
            <a:pPr marL="0" indent="0">
              <a:buNone/>
            </a:pPr>
            <a:r>
              <a:rPr lang="en-US" sz="1250" dirty="0">
                <a:solidFill>
                  <a:srgbClr val="C9E4F0"/>
                </a:solidFill>
                <a:latin typeface="Calibri" pitchFamily="34" charset="0"/>
                <a:ea typeface="Calibri" pitchFamily="34" charset="-122"/>
                <a:cs typeface="Calibri" pitchFamily="34" charset="-120"/>
              </a:rPr>
              <a:t>FIDO2/WebAuthn and PIV/PKI-based authenticators are the only NIST-recognized phishing-resistant MFA classes. TOTP and push are vulnerable to AiTM proxies. Deploy FIDO2 for all high-value accounts now.</a:t>
            </a:r>
            <a:endParaRPr lang="en-US" sz="1250" dirty="0"/>
          </a:p>
        </p:txBody>
      </p:sp>
      <p:sp>
        <p:nvSpPr>
          <p:cNvPr id="12" name="Shape 10"/>
          <p:cNvSpPr/>
          <p:nvPr/>
        </p:nvSpPr>
        <p:spPr>
          <a:xfrm>
            <a:off x="548640" y="2734056"/>
            <a:ext cx="502920" cy="502920"/>
          </a:xfrm>
          <a:prstGeom prst="rect">
            <a:avLst/>
          </a:prstGeom>
          <a:solidFill>
            <a:srgbClr val="1B998B"/>
          </a:solidFill>
          <a:ln w="12700">
            <a:solidFill>
              <a:srgbClr val="1B998B"/>
            </a:solidFill>
            <a:prstDash val="solid"/>
          </a:ln>
        </p:spPr>
        <p:txBody>
          <a:bodyPr/>
          <a:lstStyle/>
          <a:p>
            <a:endParaRPr lang="en-US"/>
          </a:p>
        </p:txBody>
      </p:sp>
      <p:sp>
        <p:nvSpPr>
          <p:cNvPr id="13" name="Text 11"/>
          <p:cNvSpPr/>
          <p:nvPr/>
        </p:nvSpPr>
        <p:spPr>
          <a:xfrm>
            <a:off x="548640" y="2734056"/>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p:nvPr/>
        </p:nvSpPr>
        <p:spPr>
          <a:xfrm>
            <a:off x="1170432" y="2770632"/>
            <a:ext cx="7406640" cy="457200"/>
          </a:xfrm>
          <a:prstGeom prst="rect">
            <a:avLst/>
          </a:prstGeom>
          <a:noFill/>
          <a:ln/>
        </p:spPr>
        <p:txBody>
          <a:bodyPr wrap="square" lIns="0" tIns="0" rIns="0" bIns="0" rtlCol="0" anchor="ctr"/>
          <a:lstStyle/>
          <a:p>
            <a:pPr marL="0" indent="0">
              <a:buNone/>
            </a:pPr>
            <a:r>
              <a:rPr lang="en-US" sz="1250" dirty="0">
                <a:solidFill>
                  <a:srgbClr val="C9E4F0"/>
                </a:solidFill>
                <a:latin typeface="Calibri" pitchFamily="34" charset="0"/>
                <a:ea typeface="Calibri" pitchFamily="34" charset="-122"/>
                <a:cs typeface="Calibri" pitchFamily="34" charset="-120"/>
              </a:rPr>
              <a:t>SSO is a security control, not just convenience. It creates the single enforcement point for MFA, device trust, and risk-based access across all applications.</a:t>
            </a:r>
            <a:endParaRPr lang="en-US" sz="1250" dirty="0"/>
          </a:p>
        </p:txBody>
      </p:sp>
      <p:sp>
        <p:nvSpPr>
          <p:cNvPr id="15" name="Shape 13"/>
          <p:cNvSpPr/>
          <p:nvPr/>
        </p:nvSpPr>
        <p:spPr>
          <a:xfrm>
            <a:off x="548640" y="3483864"/>
            <a:ext cx="502920" cy="502920"/>
          </a:xfrm>
          <a:prstGeom prst="rect">
            <a:avLst/>
          </a:prstGeom>
          <a:solidFill>
            <a:srgbClr val="1B998B"/>
          </a:solidFill>
          <a:ln w="12700">
            <a:solidFill>
              <a:srgbClr val="1B998B"/>
            </a:solidFill>
            <a:prstDash val="solid"/>
          </a:ln>
        </p:spPr>
        <p:txBody>
          <a:bodyPr/>
          <a:lstStyle/>
          <a:p>
            <a:endParaRPr lang="en-US"/>
          </a:p>
        </p:txBody>
      </p:sp>
      <p:sp>
        <p:nvSpPr>
          <p:cNvPr id="16" name="Text 14"/>
          <p:cNvSpPr/>
          <p:nvPr/>
        </p:nvSpPr>
        <p:spPr>
          <a:xfrm>
            <a:off x="548640" y="3483864"/>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7" name="Text 15"/>
          <p:cNvSpPr/>
          <p:nvPr/>
        </p:nvSpPr>
        <p:spPr>
          <a:xfrm>
            <a:off x="1170432" y="3520440"/>
            <a:ext cx="7406640" cy="457200"/>
          </a:xfrm>
          <a:prstGeom prst="rect">
            <a:avLst/>
          </a:prstGeom>
          <a:noFill/>
          <a:ln/>
        </p:spPr>
        <p:txBody>
          <a:bodyPr wrap="square" lIns="0" tIns="0" rIns="0" bIns="0" rtlCol="0" anchor="ctr"/>
          <a:lstStyle/>
          <a:p>
            <a:pPr marL="0" indent="0">
              <a:buNone/>
            </a:pPr>
            <a:r>
              <a:rPr lang="en-US" sz="1250" dirty="0">
                <a:solidFill>
                  <a:srgbClr val="C9E4F0"/>
                </a:solidFill>
                <a:latin typeface="Calibri" pitchFamily="34" charset="0"/>
                <a:ea typeface="Calibri" pitchFamily="34" charset="-122"/>
                <a:cs typeface="Calibri" pitchFamily="34" charset="-120"/>
              </a:rPr>
              <a:t>Externalize authorization from applications. OPA and ABAC policies managed centrally are auditable, testable, and consistent. In-app hardcoded rules are not.</a:t>
            </a:r>
            <a:endParaRPr lang="en-US" sz="1250" dirty="0"/>
          </a:p>
        </p:txBody>
      </p:sp>
      <p:sp>
        <p:nvSpPr>
          <p:cNvPr id="18" name="Shape 16"/>
          <p:cNvSpPr/>
          <p:nvPr/>
        </p:nvSpPr>
        <p:spPr>
          <a:xfrm>
            <a:off x="548640" y="4233672"/>
            <a:ext cx="502920" cy="502920"/>
          </a:xfrm>
          <a:prstGeom prst="rect">
            <a:avLst/>
          </a:prstGeom>
          <a:solidFill>
            <a:srgbClr val="1B998B"/>
          </a:solidFill>
          <a:ln w="12700">
            <a:solidFill>
              <a:srgbClr val="1B998B"/>
            </a:solidFill>
            <a:prstDash val="solid"/>
          </a:ln>
        </p:spPr>
        <p:txBody>
          <a:bodyPr/>
          <a:lstStyle/>
          <a:p>
            <a:endParaRPr lang="en-US"/>
          </a:p>
        </p:txBody>
      </p:sp>
      <p:sp>
        <p:nvSpPr>
          <p:cNvPr id="19" name="Text 17"/>
          <p:cNvSpPr/>
          <p:nvPr/>
        </p:nvSpPr>
        <p:spPr>
          <a:xfrm>
            <a:off x="548640" y="423367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0" name="Text 18"/>
          <p:cNvSpPr/>
          <p:nvPr/>
        </p:nvSpPr>
        <p:spPr>
          <a:xfrm>
            <a:off x="1170432" y="4270248"/>
            <a:ext cx="7406640" cy="457200"/>
          </a:xfrm>
          <a:prstGeom prst="rect">
            <a:avLst/>
          </a:prstGeom>
          <a:noFill/>
          <a:ln/>
        </p:spPr>
        <p:txBody>
          <a:bodyPr wrap="square" lIns="0" tIns="0" rIns="0" bIns="0" rtlCol="0" anchor="ctr"/>
          <a:lstStyle/>
          <a:p>
            <a:pPr marL="0" indent="0">
              <a:buNone/>
            </a:pPr>
            <a:r>
              <a:rPr lang="en-US" sz="1250" dirty="0">
                <a:solidFill>
                  <a:srgbClr val="C9E4F0"/>
                </a:solidFill>
                <a:latin typeface="Calibri" pitchFamily="34" charset="0"/>
                <a:ea typeface="Calibri" pitchFamily="34" charset="-122"/>
                <a:cs typeface="Calibri" pitchFamily="34" charset="-120"/>
              </a:rPr>
              <a:t>CAE and short token lifetimes close the post-compromise dwell gap. Stolen tokens must be useless quickly. Design for token revocation from day one.</a:t>
            </a:r>
            <a:endParaRPr lang="en-US" sz="1250" dirty="0"/>
          </a:p>
        </p:txBody>
      </p:sp>
      <p:sp>
        <p:nvSpPr>
          <p:cNvPr id="21" name="Shape 19"/>
          <p:cNvSpPr/>
          <p:nvPr/>
        </p:nvSpPr>
        <p:spPr>
          <a:xfrm>
            <a:off x="0" y="4869180"/>
            <a:ext cx="9144000" cy="274320"/>
          </a:xfrm>
          <a:prstGeom prst="rect">
            <a:avLst/>
          </a:prstGeom>
          <a:solidFill>
            <a:srgbClr val="0A3050"/>
          </a:solidFill>
          <a:ln w="12700">
            <a:solidFill>
              <a:srgbClr val="0A3050"/>
            </a:solidFill>
            <a:prstDash val="solid"/>
          </a:ln>
        </p:spPr>
        <p:txBody>
          <a:bodyPr/>
          <a:lstStyle/>
          <a:p>
            <a:endParaRPr lang="en-US"/>
          </a:p>
        </p:txBody>
      </p:sp>
      <p:sp>
        <p:nvSpPr>
          <p:cNvPr id="22" name="Text 20"/>
          <p:cNvSpPr/>
          <p:nvPr/>
        </p:nvSpPr>
        <p:spPr>
          <a:xfrm>
            <a:off x="274320" y="4873752"/>
            <a:ext cx="8595360" cy="256032"/>
          </a:xfrm>
          <a:prstGeom prst="rect">
            <a:avLst/>
          </a:prstGeom>
          <a:noFill/>
          <a:ln/>
        </p:spPr>
        <p:txBody>
          <a:bodyPr wrap="square" lIns="0" tIns="0" rIns="0" bIns="0" rtlCol="0" anchor="ctr"/>
          <a:lstStyle/>
          <a:p>
            <a:pPr marL="0" indent="0" algn="ctr">
              <a:buNone/>
            </a:pPr>
            <a:r>
              <a:rPr lang="en-US" sz="900" dirty="0">
                <a:solidFill>
                  <a:srgbClr val="8AAFC4"/>
                </a:solidFill>
                <a:latin typeface="Calibri" pitchFamily="34" charset="0"/>
                <a:ea typeface="Calibri" pitchFamily="34" charset="-122"/>
                <a:cs typeface="Calibri" pitchFamily="34" charset="-120"/>
              </a:rPr>
              <a:t>AuthN / AuthZ / SSO Security Architecture Reference  |  Version 1.0  |  March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6047</Words>
  <Application>Microsoft Macintosh PowerPoint</Application>
  <PresentationFormat>On-screen Show (16:9)</PresentationFormat>
  <Paragraphs>684</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Authentication, Authorization &amp; SSO — Security Architecture</dc:title>
  <dc:subject>AuthN AuthZ SSO Architecture</dc:subject>
  <dc:creator>Eran Shpigelman</dc:creator>
  <cp:lastModifiedBy>Eran Shpigelman</cp:lastModifiedBy>
  <cp:revision>3</cp:revision>
  <dcterms:created xsi:type="dcterms:W3CDTF">2026-03-05T03:37:32Z</dcterms:created>
  <dcterms:modified xsi:type="dcterms:W3CDTF">2026-03-05T03:48:06Z</dcterms:modified>
</cp:coreProperties>
</file>