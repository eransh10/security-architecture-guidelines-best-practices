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302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4610"/>
  </p:normalViewPr>
  <p:slideViewPr>
    <p:cSldViewPr snapToGrid="0" snapToObjects="1">
      <p:cViewPr>
        <p:scale>
          <a:sx n="80" d="100"/>
          <a:sy n="80" d="100"/>
        </p:scale>
        <p:origin x="2344" y="1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41098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46304" y="3048000"/>
            <a:ext cx="12045696" cy="36576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779519" y="2438400"/>
            <a:ext cx="1341120" cy="463295"/>
          </a:xfrm>
          <a:prstGeom prst="roundRect">
            <a:avLst>
              <a:gd name="adj" fmla="val 15789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779519" y="2438400"/>
            <a:ext cx="1341120" cy="4632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2438400"/>
            <a:ext cx="1341120" cy="463295"/>
          </a:xfrm>
          <a:prstGeom prst="roundRect">
            <a:avLst>
              <a:gd name="adj" fmla="val 157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0" y="2438400"/>
            <a:ext cx="1341120" cy="4632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193280" y="2438400"/>
            <a:ext cx="1341120" cy="463295"/>
          </a:xfrm>
          <a:prstGeom prst="roundRect">
            <a:avLst>
              <a:gd name="adj" fmla="val 15789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193280" y="2438400"/>
            <a:ext cx="1341120" cy="4632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7680" y="670560"/>
            <a:ext cx="11216640" cy="7924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87680" y="1584959"/>
            <a:ext cx="1121664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 for AWS  ·  Azure  ·  GCP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87680" y="2170176"/>
            <a:ext cx="11216640" cy="316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Architecture Reference  |  March 2026  |  Eran Shpigelman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7680" y="6035039"/>
            <a:ext cx="1121664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Trust  ·  Workload Identity  ·  Private-by-Default  ·  Policy-as-Code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516623"/>
            <a:ext cx="8534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1582400" y="6516623"/>
            <a:ext cx="48768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877824"/>
            <a:ext cx="585216" cy="585216"/>
          </a:xfrm>
          <a:prstGeom prst="roundRect">
            <a:avLst>
              <a:gd name="adj" fmla="val 14583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877824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72895" y="999744"/>
            <a:ext cx="6827519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1901952"/>
            <a:ext cx="585216" cy="585216"/>
          </a:xfrm>
          <a:prstGeom prst="roundRect">
            <a:avLst>
              <a:gd name="adj" fmla="val 14583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190195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72895" y="2023871"/>
            <a:ext cx="6827519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Security Architecture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926080"/>
            <a:ext cx="585216" cy="585216"/>
          </a:xfrm>
          <a:prstGeom prst="roundRect">
            <a:avLst>
              <a:gd name="adj" fmla="val 14583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65760" y="292608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72895" y="3048000"/>
            <a:ext cx="6827519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Security Architecture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950207"/>
            <a:ext cx="585216" cy="585216"/>
          </a:xfrm>
          <a:prstGeom prst="roundRect">
            <a:avLst>
              <a:gd name="adj" fmla="val 14583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65760" y="3950207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72895" y="4072128"/>
            <a:ext cx="6827519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Security Architecture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974335"/>
            <a:ext cx="585216" cy="585216"/>
          </a:xfrm>
          <a:prstGeom prst="roundRect">
            <a:avLst>
              <a:gd name="adj" fmla="val 14583"/>
            </a:avLst>
          </a:prstGeom>
          <a:solidFill>
            <a:srgbClr val="0F4C75"/>
          </a:solidFill>
          <a:ln w="12700">
            <a:solidFill>
              <a:srgbClr val="0F4C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65760" y="4974335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72895" y="5096256"/>
            <a:ext cx="6827519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Security Domains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90559" y="877824"/>
            <a:ext cx="585216" cy="585216"/>
          </a:xfrm>
          <a:prstGeom prst="roundRect">
            <a:avLst>
              <a:gd name="adj" fmla="val 14583"/>
            </a:avLst>
          </a:prstGeom>
          <a:solidFill>
            <a:srgbClr val="0F4C75"/>
          </a:solidFill>
          <a:ln w="12700">
            <a:solidFill>
              <a:srgbClr val="0F4C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290559" y="877824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997696" y="999744"/>
            <a:ext cx="6949439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Multi-Cloud Zero Trust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290559" y="1901952"/>
            <a:ext cx="585216" cy="585216"/>
          </a:xfrm>
          <a:prstGeom prst="roundRect">
            <a:avLst>
              <a:gd name="adj" fmla="val 14583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290559" y="190195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997696" y="2023871"/>
            <a:ext cx="6949439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for Cloud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90559" y="2926080"/>
            <a:ext cx="585216" cy="585216"/>
          </a:xfrm>
          <a:prstGeom prst="roundRect">
            <a:avLst>
              <a:gd name="adj" fmla="val 14583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290559" y="292608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997696" y="3048000"/>
            <a:ext cx="6949439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SP 800-53 Mapping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290559" y="3950207"/>
            <a:ext cx="585216" cy="585216"/>
          </a:xfrm>
          <a:prstGeom prst="roundRect">
            <a:avLst>
              <a:gd name="adj" fmla="val 14583"/>
            </a:avLst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290559" y="3950207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997696" y="4072128"/>
            <a:ext cx="6949439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Roadmap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90559" y="4974335"/>
            <a:ext cx="585216" cy="585216"/>
          </a:xfrm>
          <a:prstGeom prst="roundRect">
            <a:avLst>
              <a:gd name="adj" fmla="val 14583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290559" y="4974335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997696" y="5096256"/>
            <a:ext cx="6949439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Security · Attack Paths · Metrics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87680" y="1706879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1565C0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87680" y="2865119"/>
            <a:ext cx="10972800" cy="7924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87680" y="3755135"/>
            <a:ext cx="10972800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Imperatives  ·  Core Principles  ·  Shared Responsibility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7680" y="4267200"/>
            <a:ext cx="3657600" cy="48768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6516623"/>
            <a:ext cx="8534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582400" y="6516623"/>
            <a:ext cx="48768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Summary: Cloud Security Imperatives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516623"/>
            <a:ext cx="8534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1582400" y="6516623"/>
            <a:ext cx="48768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43840" y="914400"/>
            <a:ext cx="5730239" cy="262128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  <a:effectLst>
            <a:outerShdw blurRad="50800" dist="25400" dir="27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43840" y="914400"/>
            <a:ext cx="5730239" cy="341376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5760" y="914400"/>
            <a:ext cx="5486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is the Perimeter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0144" y="1280159"/>
            <a:ext cx="5462016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implicit trust inside cloud boundaries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90144" y="1524000"/>
            <a:ext cx="5462016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All workloads use managed/workload identities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90144" y="1767839"/>
            <a:ext cx="5462016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JIT privilege with zero standing access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90144" y="2011679"/>
            <a:ext cx="5462016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MFA + Conditional Access everywhere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339839" y="914400"/>
            <a:ext cx="5730239" cy="262128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  <a:effectLst>
            <a:outerShdw blurRad="50800" dist="25400" dir="27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339839" y="914400"/>
            <a:ext cx="5730239" cy="341376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61760" y="914400"/>
            <a:ext cx="5486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by Default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86144" y="1280159"/>
            <a:ext cx="5462016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All services via private endpoints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86144" y="1524000"/>
            <a:ext cx="5462016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public IPs on compute or storage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86144" y="1767839"/>
            <a:ext cx="5462016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Network segmentation with least-privilege egress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86144" y="2011679"/>
            <a:ext cx="5462016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VPC Service Controls / PrivateLink / PSC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43840" y="3718559"/>
            <a:ext cx="5730239" cy="262128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  <a:effectLst>
            <a:outerShdw blurRad="50800" dist="25400" dir="27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43840" y="3718559"/>
            <a:ext cx="5730239" cy="341376"/>
          </a:xfrm>
          <a:prstGeom prst="rect">
            <a:avLst/>
          </a:prstGeom>
          <a:solidFill>
            <a:srgbClr val="4285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65760" y="3718559"/>
            <a:ext cx="5486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 Everything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90144" y="4084319"/>
            <a:ext cx="5462016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Customer-managed keys (CMK) for all data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90144" y="4328159"/>
            <a:ext cx="5462016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 rotation automated (annual minimum)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90144" y="4572000"/>
            <a:ext cx="5462016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Secrets via dedicated vaults — never env vars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90144" y="4815839"/>
            <a:ext cx="5462016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TLS 1.2+ in transit; at-rest encryption enforced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339839" y="3718559"/>
            <a:ext cx="5730239" cy="262128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  <a:effectLst>
            <a:outerShdw blurRad="50800" dist="25400" dir="2700000" algn="bl" rotWithShape="0">
              <a:srgbClr val="88888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339839" y="3718559"/>
            <a:ext cx="5730239" cy="341376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461760" y="3718559"/>
            <a:ext cx="5486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and Govern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86144" y="4084319"/>
            <a:ext cx="5462016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CSPM enabled across all cloud accounts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486144" y="4328159"/>
            <a:ext cx="5462016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Policy-as-Code enforces guardrails at deploy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86144" y="4572000"/>
            <a:ext cx="5462016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Centralized SIEM with cloud-native logs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86144" y="4815839"/>
            <a:ext cx="5462016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Audit trails immutable and cross-account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6096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Security Principles</a:t>
            </a:r>
            <a:endParaRPr lang="en-US" sz="22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4174EEE-DD3A-641F-38FA-75B5DF4FF5C2}"/>
              </a:ext>
            </a:extLst>
          </p:cNvPr>
          <p:cNvGrpSpPr/>
          <p:nvPr/>
        </p:nvGrpSpPr>
        <p:grpSpPr>
          <a:xfrm>
            <a:off x="243840" y="877825"/>
            <a:ext cx="11855685" cy="5833872"/>
            <a:chOff x="243840" y="877824"/>
            <a:chExt cx="11855685" cy="7400543"/>
          </a:xfrm>
        </p:grpSpPr>
        <p:sp>
          <p:nvSpPr>
            <p:cNvPr id="5" name="Shape 3"/>
            <p:cNvSpPr/>
            <p:nvPr/>
          </p:nvSpPr>
          <p:spPr>
            <a:xfrm>
              <a:off x="243840" y="877824"/>
              <a:ext cx="11802386" cy="140208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Shape 4"/>
            <p:cNvSpPr/>
            <p:nvPr/>
          </p:nvSpPr>
          <p:spPr>
            <a:xfrm>
              <a:off x="243840" y="877824"/>
              <a:ext cx="55324" cy="1402080"/>
            </a:xfrm>
            <a:prstGeom prst="rect">
              <a:avLst/>
            </a:prstGeom>
            <a:solidFill>
              <a:srgbClr val="1565C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Shape 5"/>
            <p:cNvSpPr/>
            <p:nvPr/>
          </p:nvSpPr>
          <p:spPr>
            <a:xfrm>
              <a:off x="438912" y="1267967"/>
              <a:ext cx="479471" cy="633983"/>
            </a:xfrm>
            <a:prstGeom prst="roundRect">
              <a:avLst>
                <a:gd name="adj" fmla="val 11538"/>
              </a:avLst>
            </a:prstGeom>
            <a:solidFill>
              <a:srgbClr val="1565C0"/>
            </a:solidFill>
            <a:ln w="12700">
              <a:solidFill>
                <a:srgbClr val="1565C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 6"/>
            <p:cNvSpPr/>
            <p:nvPr/>
          </p:nvSpPr>
          <p:spPr>
            <a:xfrm>
              <a:off x="438912" y="1267967"/>
              <a:ext cx="479471" cy="63398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01</a:t>
              </a:r>
              <a:endParaRPr lang="en-US" sz="13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1219200" y="999744"/>
              <a:ext cx="5071338" cy="3901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F4C7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Private-by-default networking</a:t>
              </a:r>
              <a:endParaRPr lang="en-US" sz="12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1219200" y="1414271"/>
              <a:ext cx="10880325" cy="75590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Cloud services accessed through private endpoints. Public exposure minimized and justified through documented exception processes.</a:t>
              </a:r>
              <a:endParaRPr lang="en-US" sz="9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43840" y="2377440"/>
              <a:ext cx="11802386" cy="140208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Shape 10"/>
            <p:cNvSpPr/>
            <p:nvPr/>
          </p:nvSpPr>
          <p:spPr>
            <a:xfrm>
              <a:off x="243840" y="2377440"/>
              <a:ext cx="55324" cy="1402080"/>
            </a:xfrm>
            <a:prstGeom prst="rect">
              <a:avLst/>
            </a:prstGeom>
            <a:solidFill>
              <a:srgbClr val="0F4C75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Shape 11"/>
            <p:cNvSpPr/>
            <p:nvPr/>
          </p:nvSpPr>
          <p:spPr>
            <a:xfrm>
              <a:off x="438912" y="2767584"/>
              <a:ext cx="479471" cy="633983"/>
            </a:xfrm>
            <a:prstGeom prst="roundRect">
              <a:avLst>
                <a:gd name="adj" fmla="val 11538"/>
              </a:avLst>
            </a:prstGeom>
            <a:solidFill>
              <a:srgbClr val="0F4C75"/>
            </a:solidFill>
            <a:ln w="12700">
              <a:solidFill>
                <a:srgbClr val="0F4C7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 12"/>
            <p:cNvSpPr/>
            <p:nvPr/>
          </p:nvSpPr>
          <p:spPr>
            <a:xfrm>
              <a:off x="438912" y="2767584"/>
              <a:ext cx="479471" cy="63398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02</a:t>
              </a:r>
              <a:endParaRPr lang="en-US" sz="13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1219200" y="2499360"/>
              <a:ext cx="5071338" cy="3901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F4C7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Workload identity instead of static credentials</a:t>
              </a:r>
              <a:endParaRPr lang="en-US" sz="12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1219200" y="2913888"/>
              <a:ext cx="10880325" cy="75590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Machine identities use federated workload identity and short-lived tokens. No long-lived credentials stored in code, environment variables, or container images.</a:t>
              </a:r>
              <a:endParaRPr lang="en-US" sz="9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243840" y="3877055"/>
              <a:ext cx="11802386" cy="140208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Shape 16"/>
            <p:cNvSpPr/>
            <p:nvPr/>
          </p:nvSpPr>
          <p:spPr>
            <a:xfrm>
              <a:off x="243840" y="3877055"/>
              <a:ext cx="55324" cy="1402080"/>
            </a:xfrm>
            <a:prstGeom prst="rect">
              <a:avLst/>
            </a:prstGeom>
            <a:solidFill>
              <a:srgbClr val="4285F4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Shape 17"/>
            <p:cNvSpPr/>
            <p:nvPr/>
          </p:nvSpPr>
          <p:spPr>
            <a:xfrm>
              <a:off x="438912" y="4267200"/>
              <a:ext cx="479471" cy="633983"/>
            </a:xfrm>
            <a:prstGeom prst="roundRect">
              <a:avLst>
                <a:gd name="adj" fmla="val 11538"/>
              </a:avLst>
            </a:prstGeom>
            <a:solidFill>
              <a:srgbClr val="4285F4"/>
            </a:solidFill>
            <a:ln w="12700">
              <a:solidFill>
                <a:srgbClr val="4285F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 18"/>
            <p:cNvSpPr/>
            <p:nvPr/>
          </p:nvSpPr>
          <p:spPr>
            <a:xfrm>
              <a:off x="438912" y="4267200"/>
              <a:ext cx="479471" cy="63398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03</a:t>
              </a:r>
              <a:endParaRPr lang="en-US" sz="13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1219200" y="3998976"/>
              <a:ext cx="5071338" cy="3901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F4C7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Least privilege for humans and workloads</a:t>
              </a:r>
              <a:endParaRPr lang="en-US" sz="12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1219200" y="4413504"/>
              <a:ext cx="10880325" cy="75590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Every identity — human or machine — holds only the permissions required. Access Analyzer, SCPs, and Org Policies enforce this continuously.</a:t>
              </a:r>
              <a:endParaRPr lang="en-US" sz="9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43840" y="5376671"/>
              <a:ext cx="11802386" cy="140208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Shape 22"/>
            <p:cNvSpPr/>
            <p:nvPr/>
          </p:nvSpPr>
          <p:spPr>
            <a:xfrm>
              <a:off x="243840" y="5376671"/>
              <a:ext cx="55324" cy="1402080"/>
            </a:xfrm>
            <a:prstGeom prst="rect">
              <a:avLst/>
            </a:prstGeom>
            <a:solidFill>
              <a:srgbClr val="FF990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Shape 23"/>
            <p:cNvSpPr/>
            <p:nvPr/>
          </p:nvSpPr>
          <p:spPr>
            <a:xfrm>
              <a:off x="438912" y="5766816"/>
              <a:ext cx="479471" cy="633983"/>
            </a:xfrm>
            <a:prstGeom prst="roundRect">
              <a:avLst>
                <a:gd name="adj" fmla="val 11538"/>
              </a:avLst>
            </a:prstGeom>
            <a:solidFill>
              <a:srgbClr val="FF9900"/>
            </a:solidFill>
            <a:ln w="12700">
              <a:solidFill>
                <a:srgbClr val="FF990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 24"/>
            <p:cNvSpPr/>
            <p:nvPr/>
          </p:nvSpPr>
          <p:spPr>
            <a:xfrm>
              <a:off x="438912" y="5766816"/>
              <a:ext cx="479471" cy="63398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04</a:t>
              </a:r>
              <a:endParaRPr lang="en-US" sz="13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1219200" y="5498592"/>
              <a:ext cx="5071338" cy="3901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F4C7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Encryption for sensitive data</a:t>
              </a:r>
              <a:endParaRPr lang="en-US" sz="12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1219200" y="5913120"/>
              <a:ext cx="10880325" cy="75590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All sensitive data encrypted at rest and in transit. Customer-managed keys used where regulatory, operational, or separation-of-duty requirements apply.</a:t>
              </a:r>
              <a:endParaRPr lang="en-US" sz="9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243840" y="6876287"/>
              <a:ext cx="11802386" cy="140208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Shape 28"/>
            <p:cNvSpPr/>
            <p:nvPr/>
          </p:nvSpPr>
          <p:spPr>
            <a:xfrm>
              <a:off x="243840" y="6876287"/>
              <a:ext cx="55324" cy="1402080"/>
            </a:xfrm>
            <a:prstGeom prst="rect">
              <a:avLst/>
            </a:prstGeom>
            <a:solidFill>
              <a:srgbClr val="2E7D32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Shape 29"/>
            <p:cNvSpPr/>
            <p:nvPr/>
          </p:nvSpPr>
          <p:spPr>
            <a:xfrm>
              <a:off x="438912" y="7266432"/>
              <a:ext cx="479471" cy="633983"/>
            </a:xfrm>
            <a:prstGeom prst="roundRect">
              <a:avLst>
                <a:gd name="adj" fmla="val 11538"/>
              </a:avLst>
            </a:prstGeom>
            <a:solidFill>
              <a:srgbClr val="2E7D32"/>
            </a:solidFill>
            <a:ln w="12700">
              <a:solidFill>
                <a:srgbClr val="2E7D3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 30"/>
            <p:cNvSpPr/>
            <p:nvPr/>
          </p:nvSpPr>
          <p:spPr>
            <a:xfrm>
              <a:off x="438912" y="7266432"/>
              <a:ext cx="479471" cy="63398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05</a:t>
              </a:r>
              <a:endParaRPr lang="en-US" sz="13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1219200" y="6998208"/>
              <a:ext cx="5071338" cy="3901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F4C7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Continuous monitoring and automated response</a:t>
              </a:r>
              <a:endParaRPr lang="en-US" sz="12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1219200" y="7412735"/>
              <a:ext cx="10880325" cy="75590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CSPM, runtime detection, and centralized SIEM always on. Automated remediation for common misconfigurations. Security controls measured, not assumed.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Responsibility Model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516623"/>
            <a:ext cx="8534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1582400" y="6516623"/>
            <a:ext cx="48768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43840" y="914400"/>
            <a:ext cx="2438400" cy="365760"/>
          </a:xfrm>
          <a:prstGeom prst="rect">
            <a:avLst/>
          </a:prstGeom>
          <a:solidFill>
            <a:srgbClr val="0F4C75"/>
          </a:solidFill>
          <a:ln w="12700">
            <a:solidFill>
              <a:srgbClr val="0F4C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04800" y="914400"/>
            <a:ext cx="2316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82240" y="914400"/>
            <a:ext cx="2438400" cy="365760"/>
          </a:xfrm>
          <a:prstGeom prst="rect">
            <a:avLst/>
          </a:prstGeom>
          <a:solidFill>
            <a:srgbClr val="0F4C75"/>
          </a:solidFill>
          <a:ln w="12700">
            <a:solidFill>
              <a:srgbClr val="0F4C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0" y="914400"/>
            <a:ext cx="2316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39" y="914400"/>
            <a:ext cx="2255519" cy="365760"/>
          </a:xfrm>
          <a:prstGeom prst="rect">
            <a:avLst/>
          </a:prstGeom>
          <a:solidFill>
            <a:srgbClr val="0F4C75"/>
          </a:solidFill>
          <a:ln w="12700">
            <a:solidFill>
              <a:srgbClr val="0F4C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181600" y="914400"/>
            <a:ext cx="213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376159" y="914400"/>
            <a:ext cx="2255519" cy="365760"/>
          </a:xfrm>
          <a:prstGeom prst="rect">
            <a:avLst/>
          </a:prstGeom>
          <a:solidFill>
            <a:srgbClr val="0F4C75"/>
          </a:solidFill>
          <a:ln w="12700">
            <a:solidFill>
              <a:srgbClr val="0F4C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437119" y="914400"/>
            <a:ext cx="213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679" y="914400"/>
            <a:ext cx="2255519" cy="365760"/>
          </a:xfrm>
          <a:prstGeom prst="rect">
            <a:avLst/>
          </a:prstGeom>
          <a:solidFill>
            <a:srgbClr val="0F4C75"/>
          </a:solidFill>
          <a:ln w="12700">
            <a:solidFill>
              <a:srgbClr val="0F4C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692640" y="914400"/>
            <a:ext cx="213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43840" y="1316736"/>
            <a:ext cx="2438400" cy="67056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16991" y="1316736"/>
            <a:ext cx="229209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682240" y="1316736"/>
            <a:ext cx="2438400" cy="670560"/>
          </a:xfrm>
          <a:prstGeom prst="rect">
            <a:avLst/>
          </a:prstGeom>
          <a:solidFill>
            <a:srgbClr val="C62828">
              <a:alpha val="13000"/>
            </a:srgbClr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755391" y="1316736"/>
            <a:ext cx="229209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ownership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120639" y="1316736"/>
            <a:ext cx="2255519" cy="67056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193792" y="1316736"/>
            <a:ext cx="210921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only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376159" y="1316736"/>
            <a:ext cx="2255519" cy="67056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449311" y="1316736"/>
            <a:ext cx="210921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only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9631679" y="1316736"/>
            <a:ext cx="2255519" cy="67056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704832" y="1316736"/>
            <a:ext cx="210921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only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43840" y="2048255"/>
            <a:ext cx="2438400" cy="6705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16991" y="2048255"/>
            <a:ext cx="229209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Access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682240" y="2048255"/>
            <a:ext cx="2438400" cy="670560"/>
          </a:xfrm>
          <a:prstGeom prst="rect">
            <a:avLst/>
          </a:prstGeom>
          <a:solidFill>
            <a:srgbClr val="C62828">
              <a:alpha val="13000"/>
            </a:srgbClr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755391" y="2048255"/>
            <a:ext cx="229209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ownership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120639" y="2048255"/>
            <a:ext cx="2255519" cy="6705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193792" y="2048255"/>
            <a:ext cx="210921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primitives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376159" y="2048255"/>
            <a:ext cx="2255519" cy="6705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7449311" y="2048255"/>
            <a:ext cx="210921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primitives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631679" y="2048255"/>
            <a:ext cx="2255519" cy="6705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9704832" y="2048255"/>
            <a:ext cx="210921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primitives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43840" y="2779776"/>
            <a:ext cx="2438400" cy="67056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16991" y="2779776"/>
            <a:ext cx="229209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/ Workload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682240" y="2779776"/>
            <a:ext cx="2438400" cy="670560"/>
          </a:xfrm>
          <a:prstGeom prst="rect">
            <a:avLst/>
          </a:prstGeom>
          <a:solidFill>
            <a:srgbClr val="C62828">
              <a:alpha val="13000"/>
            </a:srgbClr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2755391" y="2779776"/>
            <a:ext cx="229209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ownership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120639" y="2779776"/>
            <a:ext cx="2255519" cy="67056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193792" y="2779776"/>
            <a:ext cx="210921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env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7376159" y="2779776"/>
            <a:ext cx="2255519" cy="67056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7449311" y="2779776"/>
            <a:ext cx="210921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env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9631679" y="2779776"/>
            <a:ext cx="2255519" cy="67056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9704832" y="2779776"/>
            <a:ext cx="210921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env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43840" y="3511296"/>
            <a:ext cx="2438400" cy="6705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316991" y="3511296"/>
            <a:ext cx="229209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Controls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2682240" y="3511296"/>
            <a:ext cx="2438400" cy="670560"/>
          </a:xfrm>
          <a:prstGeom prst="rect">
            <a:avLst/>
          </a:prstGeom>
          <a:solidFill>
            <a:srgbClr val="F4A261">
              <a:alpha val="13000"/>
            </a:srgbClr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2755391" y="3511296"/>
            <a:ext cx="229209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config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120639" y="3511296"/>
            <a:ext cx="2255519" cy="6705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5193792" y="3511296"/>
            <a:ext cx="210921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infra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7376159" y="3511296"/>
            <a:ext cx="2255519" cy="6705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7449311" y="3511296"/>
            <a:ext cx="210921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VNet infra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9631679" y="3511296"/>
            <a:ext cx="2255519" cy="6705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9704832" y="3511296"/>
            <a:ext cx="210921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infra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243840" y="4242816"/>
            <a:ext cx="2438400" cy="67056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316991" y="4242816"/>
            <a:ext cx="229209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/ Container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2682240" y="4242816"/>
            <a:ext cx="2438400" cy="670560"/>
          </a:xfrm>
          <a:prstGeom prst="rect">
            <a:avLst/>
          </a:prstGeom>
          <a:solidFill>
            <a:srgbClr val="F4A261">
              <a:alpha val="13000"/>
            </a:srgbClr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2755391" y="4242816"/>
            <a:ext cx="229209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(IaaS)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5120639" y="4242816"/>
            <a:ext cx="2255519" cy="67056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5193792" y="4242816"/>
            <a:ext cx="210921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PaaS/SaaS: shared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7376159" y="4242816"/>
            <a:ext cx="2255519" cy="67056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7449311" y="4242816"/>
            <a:ext cx="210921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PaaS/SaaS: shared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9631679" y="4242816"/>
            <a:ext cx="2255519" cy="67056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9704832" y="4242816"/>
            <a:ext cx="210921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PaaS/SaaS: shared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243840" y="4974335"/>
            <a:ext cx="2438400" cy="6705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316991" y="4974335"/>
            <a:ext cx="229209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/ Compute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2682240" y="4974335"/>
            <a:ext cx="2438400" cy="670560"/>
          </a:xfrm>
          <a:prstGeom prst="rect">
            <a:avLst/>
          </a:prstGeom>
          <a:solidFill>
            <a:srgbClr val="2E7D32">
              <a:alpha val="13000"/>
            </a:srgbClr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2755391" y="4974335"/>
            <a:ext cx="229209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5120639" y="4974335"/>
            <a:ext cx="2255519" cy="6705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5193792" y="4974335"/>
            <a:ext cx="210921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ownership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7376159" y="4974335"/>
            <a:ext cx="2255519" cy="6705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7449311" y="4974335"/>
            <a:ext cx="210921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ownership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9631679" y="4974335"/>
            <a:ext cx="2255519" cy="6705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9704832" y="4974335"/>
            <a:ext cx="210921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ownership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243840" y="6187439"/>
            <a:ext cx="11582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Customer-owned (Red)  ·  Shared (Amber)  ·  Provider-owned (Green)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87680" y="1706879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9900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87680" y="2865119"/>
            <a:ext cx="10972800" cy="7924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Security Architecture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87680" y="3755135"/>
            <a:ext cx="10972800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 ·  Network  ·  Data  ·  Detection  ·  Governance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7680" y="4267200"/>
            <a:ext cx="3657600" cy="48768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6516623"/>
            <a:ext cx="8534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582400" y="6516623"/>
            <a:ext cx="48768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Identity &amp; Access Management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1094720" y="219456"/>
            <a:ext cx="877824" cy="341376"/>
          </a:xfrm>
          <a:prstGeom prst="roundRect">
            <a:avLst>
              <a:gd name="adj" fmla="val 17857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094720" y="219456"/>
            <a:ext cx="877824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6516623"/>
            <a:ext cx="8534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582400" y="6516623"/>
            <a:ext cx="48768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43840" y="890016"/>
            <a:ext cx="3742943" cy="39014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5760" y="890016"/>
            <a:ext cx="3499104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Guardrails (SCPs)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3840" y="1341120"/>
            <a:ext cx="3742943" cy="536447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90144" y="1341120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SCPs restrict max permissions — not grants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43840" y="1926336"/>
            <a:ext cx="3742943" cy="536447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0144" y="1926336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 regions outside approved list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43840" y="2511552"/>
            <a:ext cx="3742943" cy="536447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90144" y="2511552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 IAM actions that create root credentials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43840" y="3096767"/>
            <a:ext cx="3742943" cy="536447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90144" y="3096767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 MFA on sensitive actions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43840" y="3681983"/>
            <a:ext cx="3742943" cy="536447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90144" y="3681983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at OU level via Control Tower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169664" y="890016"/>
            <a:ext cx="3742943" cy="39014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291583" y="890016"/>
            <a:ext cx="3499104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Identity (IRSA)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169664" y="1341120"/>
            <a:ext cx="3742943" cy="536447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315968" y="1341120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IRSA: bind IAM role to K8s ServiceAccount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69664" y="1926336"/>
            <a:ext cx="3742943" cy="536447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315968" y="1926336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Task Roles for containerized workloads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69664" y="2511552"/>
            <a:ext cx="3742943" cy="536447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315968" y="2511552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 Profiles for EC2 (avoid long-term keys)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169664" y="3096767"/>
            <a:ext cx="3742943" cy="536447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315968" y="3096767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long-lived credentials — workloads receive short-lived tokens via STS or OIDC federation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169664" y="3681983"/>
            <a:ext cx="3742943" cy="536447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315968" y="3681983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rotation via Secrets Manager for remaining service accounts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083296" y="890016"/>
            <a:ext cx="3742943" cy="390144"/>
          </a:xfrm>
          <a:prstGeom prst="rect">
            <a:avLst/>
          </a:prstGeom>
          <a:solidFill>
            <a:srgbClr val="0F4C75"/>
          </a:solidFill>
          <a:ln w="12700">
            <a:solidFill>
              <a:srgbClr val="0F4C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205215" y="890016"/>
            <a:ext cx="3499104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 Enforcement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083296" y="1341120"/>
            <a:ext cx="3742943" cy="536447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8229600" y="1341120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Boundaries cap role max permissions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083296" y="1926336"/>
            <a:ext cx="3742943" cy="536447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8229600" y="1926336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Analyzer detects overly-permissive roles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083296" y="2511552"/>
            <a:ext cx="3742943" cy="536447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8229600" y="2511552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aws:RequestedRegion + aws:PrincipalAccount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083296" y="3096767"/>
            <a:ext cx="3742943" cy="536447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8229600" y="3096767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Access Advisor shows unused permissions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083296" y="3681983"/>
            <a:ext cx="3742943" cy="536447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8229600" y="3681983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standing privileged access via JIT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43840" y="6187439"/>
            <a:ext cx="11582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controls: SCPs (deny-first guardrails) · Permission Boundaries · IRSA · Access Analyzer · JIT elevation via aws-vault or Vault AWS secrets engine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Network Security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1094720" y="219456"/>
            <a:ext cx="877824" cy="341376"/>
          </a:xfrm>
          <a:prstGeom prst="roundRect">
            <a:avLst>
              <a:gd name="adj" fmla="val 17857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094720" y="219456"/>
            <a:ext cx="877824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6516623"/>
            <a:ext cx="8534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582400" y="6516623"/>
            <a:ext cx="48768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43840" y="914400"/>
            <a:ext cx="5730239" cy="13411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43840" y="914400"/>
            <a:ext cx="73152" cy="134112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38912" y="975360"/>
            <a:ext cx="536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Design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8912" y="1280159"/>
            <a:ext cx="53644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Multi-AZ, separate subnets: public (ALB only), private (compute), isolated (data). No public IPs on EC2/RDS.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43840" y="2328672"/>
            <a:ext cx="5730239" cy="13411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43840" y="2328672"/>
            <a:ext cx="73152" cy="134112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38912" y="2389632"/>
            <a:ext cx="536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VPC Endpoints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8912" y="2694432"/>
            <a:ext cx="53644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VPC endpoints for critical services such as S3, DynamoDB, Secrets Manager, KMS, and ECR. Traffic stays on the AWS network. PrivateLink for cross-account inter-service comms.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43840" y="3742943"/>
            <a:ext cx="5730239" cy="13411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43840" y="3742943"/>
            <a:ext cx="73152" cy="134112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38912" y="3803904"/>
            <a:ext cx="536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Groups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8912" y="4108704"/>
            <a:ext cx="53644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Stateful. Allow-list only — no 0.0.0.0/0 ingress. Least-privilege source: security group reference over CIDR. No 0/0 egress.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43840" y="5157216"/>
            <a:ext cx="5730239" cy="13411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43840" y="5157216"/>
            <a:ext cx="73152" cy="134112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38912" y="5218176"/>
            <a:ext cx="536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ACLs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38912" y="5522976"/>
            <a:ext cx="53644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second layer. Block known malicious CIDRs. Deny all by default; allow only required egress ports.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339839" y="914400"/>
            <a:ext cx="5730239" cy="13411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339839" y="914400"/>
            <a:ext cx="73152" cy="134112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534911" y="975360"/>
            <a:ext cx="536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WAF + Shield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534911" y="1280159"/>
            <a:ext cx="53644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 on ALBs and CloudFront. Managed rule groups (OWASP, AWS Managed Core). Shield Advanced for DDoS on public endpoints.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339839" y="2328672"/>
            <a:ext cx="5730239" cy="13411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339839" y="2328672"/>
            <a:ext cx="73152" cy="134112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534911" y="2389632"/>
            <a:ext cx="536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Flow Logs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34911" y="2694432"/>
            <a:ext cx="53644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on all VPCs. Ship to CloudWatch Logs or S3. Feed into Security Hub / SIEM for east-west anomaly detection.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339839" y="3742943"/>
            <a:ext cx="5730239" cy="13411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339839" y="3742943"/>
            <a:ext cx="73152" cy="134112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534911" y="3803904"/>
            <a:ext cx="536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 Gateway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34911" y="4108704"/>
            <a:ext cx="53644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Hub-and-spoke for multi-account connectivity. Route tables per attachment — segment prod/non-prod/shared services.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339839" y="5157216"/>
            <a:ext cx="5730239" cy="13411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339839" y="5157216"/>
            <a:ext cx="73152" cy="134112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534911" y="5218176"/>
            <a:ext cx="536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Egress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534911" y="5522976"/>
            <a:ext cx="53644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 for outbound-only; no inbound. Restrict egress to required FQDNs via inspection VPC (e.g., AWS Network Firewall).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Data Protection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1094720" y="219456"/>
            <a:ext cx="877824" cy="341376"/>
          </a:xfrm>
          <a:prstGeom prst="roundRect">
            <a:avLst>
              <a:gd name="adj" fmla="val 17857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094720" y="219456"/>
            <a:ext cx="877824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6516623"/>
            <a:ext cx="8534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582400" y="6516623"/>
            <a:ext cx="48768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43840" y="950976"/>
            <a:ext cx="5730239" cy="26822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1072895"/>
            <a:ext cx="609600" cy="463295"/>
          </a:xfrm>
          <a:prstGeom prst="roundRect">
            <a:avLst>
              <a:gd name="adj" fmla="val 13158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1072895"/>
            <a:ext cx="609600" cy="4632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97280" y="1146048"/>
            <a:ext cx="475488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Management (KMS CMKs)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6719" y="1633727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Customer-managed keys (CMKs) for all S3, EBS, RDS, DynamoDB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26719" y="2072639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 policies: deny kms:* without aws:PrincipalOrgID condition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26719" y="2511552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Automatic key rotation enabled (annual); asymmetric keys for signing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26719" y="2950464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CloudHSM for FIPS 140-2 Level 3 hardware key storage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339839" y="950976"/>
            <a:ext cx="5730239" cy="26822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461760" y="1072895"/>
            <a:ext cx="609600" cy="463295"/>
          </a:xfrm>
          <a:prstGeom prst="roundRect">
            <a:avLst>
              <a:gd name="adj" fmla="val 13158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61760" y="1072895"/>
            <a:ext cx="609600" cy="4632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193280" y="1146048"/>
            <a:ext cx="475488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Data Governance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22719" y="1633727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Block Public Access enforced at account + bucket level (SCP)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522719" y="2072639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S3 Object Ownership: BucketOwnerEnforced (disable ACLs)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522719" y="2511552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S3 Bucket Policy: deny s3:PutObject without SSE-KMS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522719" y="2950464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S3 Versioning + MFA Delete on sensitive buckets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43840" y="3755135"/>
            <a:ext cx="5730239" cy="26822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65760" y="3877055"/>
            <a:ext cx="609600" cy="463295"/>
          </a:xfrm>
          <a:prstGeom prst="roundRect">
            <a:avLst>
              <a:gd name="adj" fmla="val 13158"/>
            </a:avLst>
          </a:prstGeom>
          <a:solidFill>
            <a:srgbClr val="0F4C75"/>
          </a:solidFill>
          <a:ln w="12700">
            <a:solidFill>
              <a:srgbClr val="0F4C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65760" y="3877055"/>
            <a:ext cx="609600" cy="4632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97280" y="3950207"/>
            <a:ext cx="475488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Management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6719" y="4437887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AWS Secrets Manager: automatic rotation with Lambda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26719" y="4876800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Never store credentials in environment variables or code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26719" y="5315712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Cross-account access via resource policies (not role sharing)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26719" y="5754623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Parameter Store for non-sensitive config (Standard tier)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339839" y="3755135"/>
            <a:ext cx="5730239" cy="26822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461760" y="3877055"/>
            <a:ext cx="609600" cy="463295"/>
          </a:xfrm>
          <a:prstGeom prst="roundRect">
            <a:avLst>
              <a:gd name="adj" fmla="val 13158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461760" y="3877055"/>
            <a:ext cx="609600" cy="4632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193280" y="3950207"/>
            <a:ext cx="475488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Macie &amp; DLP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522719" y="4437887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Macie: S3 discovery of PII, PHI, PCI data — auto-classify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522719" y="4876800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Block sensitive findings via EventBridge → Lambda response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522719" y="5315712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CloudTrail data events on sensitive S3 buckets always on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522719" y="5754623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S3 Inventory + Athena for compliance reporting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Detection &amp; Response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1094720" y="219456"/>
            <a:ext cx="877824" cy="341376"/>
          </a:xfrm>
          <a:prstGeom prst="roundRect">
            <a:avLst>
              <a:gd name="adj" fmla="val 17857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094720" y="219456"/>
            <a:ext cx="877824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900" dirty="0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480E897-9648-F41B-F052-EF496AC8448E}"/>
              </a:ext>
            </a:extLst>
          </p:cNvPr>
          <p:cNvGrpSpPr/>
          <p:nvPr/>
        </p:nvGrpSpPr>
        <p:grpSpPr>
          <a:xfrm>
            <a:off x="243840" y="914401"/>
            <a:ext cx="11826240" cy="5797296"/>
            <a:chOff x="243840" y="914400"/>
            <a:chExt cx="11826240" cy="6193535"/>
          </a:xfrm>
        </p:grpSpPr>
        <p:sp>
          <p:nvSpPr>
            <p:cNvPr id="7" name="Text 5"/>
            <p:cNvSpPr/>
            <p:nvPr/>
          </p:nvSpPr>
          <p:spPr>
            <a:xfrm>
              <a:off x="365760" y="6516623"/>
              <a:ext cx="8534400" cy="2682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90A4A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Cloud Security Architecture  |  Eran Shpigelman</a:t>
              </a:r>
              <a:endParaRPr lang="en-US" sz="8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11582400" y="6516623"/>
              <a:ext cx="487680" cy="2682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r">
                <a:buNone/>
              </a:pPr>
              <a:r>
                <a:rPr lang="en-US" sz="800" dirty="0">
                  <a:solidFill>
                    <a:srgbClr val="90A4A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243840" y="914400"/>
              <a:ext cx="5730239" cy="213360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Shape 8"/>
            <p:cNvSpPr/>
            <p:nvPr/>
          </p:nvSpPr>
          <p:spPr>
            <a:xfrm>
              <a:off x="243840" y="914400"/>
              <a:ext cx="5730239" cy="365760"/>
            </a:xfrm>
            <a:prstGeom prst="rect">
              <a:avLst/>
            </a:prstGeom>
            <a:solidFill>
              <a:srgbClr val="FF990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 9"/>
            <p:cNvSpPr/>
            <p:nvPr/>
          </p:nvSpPr>
          <p:spPr>
            <a:xfrm>
              <a:off x="365760" y="914400"/>
              <a:ext cx="54864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CloudTrail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65760" y="1316736"/>
              <a:ext cx="5486400" cy="13411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Management events on all accounts. Data events on sensitive S3/Lambda. Organization trail centralized in security account. Integrity validation enabled.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65760" y="2694432"/>
              <a:ext cx="5486400" cy="2682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FF990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↳ Tampering detection · Compliance audit trail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278880" y="914400"/>
              <a:ext cx="5730239" cy="213360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Shape 13"/>
            <p:cNvSpPr/>
            <p:nvPr/>
          </p:nvSpPr>
          <p:spPr>
            <a:xfrm>
              <a:off x="6278880" y="914400"/>
              <a:ext cx="5730239" cy="365760"/>
            </a:xfrm>
            <a:prstGeom prst="rect">
              <a:avLst/>
            </a:prstGeom>
            <a:solidFill>
              <a:srgbClr val="C62828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 14"/>
            <p:cNvSpPr/>
            <p:nvPr/>
          </p:nvSpPr>
          <p:spPr>
            <a:xfrm>
              <a:off x="6400800" y="914400"/>
              <a:ext cx="54864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GuardDuty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400800" y="1316736"/>
              <a:ext cx="5486400" cy="13411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ML-based threat detection: crypto mining, C2 comms, compromised credentials, unusual API calls. S3 Protection, EKS Runtime Protection enabled. Findings → Security Hub.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400800" y="2694432"/>
              <a:ext cx="5486400" cy="2682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C6282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↳ T1078.004 · T1530 · T1190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243840" y="3267455"/>
              <a:ext cx="5730239" cy="213360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243840" y="3267455"/>
              <a:ext cx="5730239" cy="365760"/>
            </a:xfrm>
            <a:prstGeom prst="rect">
              <a:avLst/>
            </a:prstGeom>
            <a:solidFill>
              <a:srgbClr val="1565C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 19"/>
            <p:cNvSpPr/>
            <p:nvPr/>
          </p:nvSpPr>
          <p:spPr>
            <a:xfrm>
              <a:off x="365760" y="3267455"/>
              <a:ext cx="54864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Security Hub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365760" y="3669791"/>
              <a:ext cx="5486400" cy="13411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Aggregates findings from GuardDuty, Inspector, Macie, Config, IAM Access Analyzer. CIS AWS Foundations Benchmark and AWS FSBP enabled. Custom actions via EventBridge.</a:t>
              </a:r>
              <a:endParaRPr lang="en-US" sz="85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65760" y="5047487"/>
              <a:ext cx="5486400" cy="2682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1565C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↳ CSPM posture scoring · Cross-account aggregation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78880" y="3267455"/>
              <a:ext cx="5730239" cy="213360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Shape 23"/>
            <p:cNvSpPr/>
            <p:nvPr/>
          </p:nvSpPr>
          <p:spPr>
            <a:xfrm>
              <a:off x="6278880" y="3267455"/>
              <a:ext cx="5730239" cy="365760"/>
            </a:xfrm>
            <a:prstGeom prst="rect">
              <a:avLst/>
            </a:prstGeom>
            <a:solidFill>
              <a:srgbClr val="0F4C75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 24"/>
            <p:cNvSpPr/>
            <p:nvPr/>
          </p:nvSpPr>
          <p:spPr>
            <a:xfrm>
              <a:off x="6400800" y="3267455"/>
              <a:ext cx="54864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AWS Config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400800" y="3669791"/>
              <a:ext cx="5486400" cy="13411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Config Rules: enforce encryption, public access block, MFA deletion, VPC flow logs enabled. Conformance Packs for CIS, NIST, PCI DSS. Remediation via SSM Automation.</a:t>
              </a:r>
              <a:endParaRPr lang="en-US" sz="85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6400800" y="5047487"/>
              <a:ext cx="5486400" cy="2682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0F4C7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↳ Policy-as-Code enforcement · Auto-remediation</a:t>
              </a:r>
              <a:endParaRPr lang="en-US" sz="8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243840" y="4974335"/>
              <a:ext cx="5730239" cy="213360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Shape 28"/>
            <p:cNvSpPr/>
            <p:nvPr/>
          </p:nvSpPr>
          <p:spPr>
            <a:xfrm>
              <a:off x="243840" y="4974335"/>
              <a:ext cx="5730239" cy="365760"/>
            </a:xfrm>
            <a:prstGeom prst="rect">
              <a:avLst/>
            </a:prstGeom>
            <a:solidFill>
              <a:srgbClr val="4285F4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 29"/>
            <p:cNvSpPr/>
            <p:nvPr/>
          </p:nvSpPr>
          <p:spPr>
            <a:xfrm>
              <a:off x="365760" y="4974335"/>
              <a:ext cx="54864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CloudWatch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365760" y="5376671"/>
              <a:ext cx="5486400" cy="13411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Metric alarms on root activity, console logins without MFA, Security Group changes. Log groups for all Lambda, EKS, CloudTrail.</a:t>
              </a:r>
              <a:endParaRPr lang="en-US" sz="85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365760" y="6754367"/>
              <a:ext cx="5486400" cy="2682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4285F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↳ UEBA baselines · Real-time alerting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278880" y="4974335"/>
              <a:ext cx="5730239" cy="213360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Shape 33"/>
            <p:cNvSpPr/>
            <p:nvPr/>
          </p:nvSpPr>
          <p:spPr>
            <a:xfrm>
              <a:off x="6278880" y="4974335"/>
              <a:ext cx="5730239" cy="365760"/>
            </a:xfrm>
            <a:prstGeom prst="rect">
              <a:avLst/>
            </a:prstGeom>
            <a:solidFill>
              <a:srgbClr val="2E7D32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 34"/>
            <p:cNvSpPr/>
            <p:nvPr/>
          </p:nvSpPr>
          <p:spPr>
            <a:xfrm>
              <a:off x="6400800" y="4974335"/>
              <a:ext cx="54864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Inspector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6400800" y="5376671"/>
              <a:ext cx="5486400" cy="13411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Continuous CVE scanning: EC2, Lambda, ECR container images. Risk score prioritization. Integration with Security Hub for consolidated vulnerability view.</a:t>
              </a:r>
              <a:endParaRPr lang="en-US" sz="85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400800" y="6754367"/>
              <a:ext cx="5486400" cy="2682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2E7D3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↳ Vuln management · Container scanning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Governance &amp; CSPM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1094720" y="219456"/>
            <a:ext cx="877824" cy="341376"/>
          </a:xfrm>
          <a:prstGeom prst="roundRect">
            <a:avLst>
              <a:gd name="adj" fmla="val 17857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094720" y="219456"/>
            <a:ext cx="877824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6516623"/>
            <a:ext cx="8534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582400" y="6516623"/>
            <a:ext cx="48768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43840" y="914400"/>
            <a:ext cx="11582400" cy="1060704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43840" y="914400"/>
            <a:ext cx="73152" cy="1060704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26719" y="975360"/>
            <a:ext cx="28041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Tower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6719" y="1365504"/>
            <a:ext cx="1584959" cy="292608"/>
          </a:xfrm>
          <a:prstGeom prst="roundRect">
            <a:avLst>
              <a:gd name="adj" fmla="val 16667"/>
            </a:avLst>
          </a:prstGeom>
          <a:solidFill>
            <a:srgbClr val="FF9900">
              <a:alpha val="20000"/>
            </a:srgbClr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26719" y="1365504"/>
            <a:ext cx="158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Multi-account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194560" y="999744"/>
            <a:ext cx="944880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zone with pre-built guardrails. Baseline SCPs, IAM Identity Center SSO, centralized logging account, audit account. Mandatory: Disallow root API keys, Disallow public S3.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43840" y="2060448"/>
            <a:ext cx="11582400" cy="1060704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43840" y="2060448"/>
            <a:ext cx="73152" cy="1060704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26719" y="2121408"/>
            <a:ext cx="28041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Control Policies (SCPs)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26719" y="2511552"/>
            <a:ext cx="1584959" cy="292608"/>
          </a:xfrm>
          <a:prstGeom prst="roundRect">
            <a:avLst>
              <a:gd name="adj" fmla="val 16667"/>
            </a:avLst>
          </a:prstGeom>
          <a:solidFill>
            <a:srgbClr val="C62828">
              <a:alpha val="20000"/>
            </a:srgbClr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26719" y="2511552"/>
            <a:ext cx="158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Org-level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194560" y="2145791"/>
            <a:ext cx="944880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 guardrails. Cannot be overridden by account admins. Critical: Deny us-east-1/us-west-2 bypass; deny disabling GuardDuty/CloudTrail; deny internet IGW on non-allowed accounts.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43840" y="3206496"/>
            <a:ext cx="11582400" cy="1060704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43840" y="3206496"/>
            <a:ext cx="73152" cy="1060704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26719" y="3267455"/>
            <a:ext cx="28041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Config Conformance Packs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719" y="3657600"/>
            <a:ext cx="1584959" cy="292608"/>
          </a:xfrm>
          <a:prstGeom prst="roundRect">
            <a:avLst>
              <a:gd name="adj" fmla="val 16667"/>
            </a:avLst>
          </a:prstGeom>
          <a:solidFill>
            <a:srgbClr val="1565C0">
              <a:alpha val="20000"/>
            </a:srgbClr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26719" y="3657600"/>
            <a:ext cx="158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Account-level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194560" y="3291840"/>
            <a:ext cx="944880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AWS Foundations v1.4, NIST SP 800-53 Rev 5, PCI DSS v3.2.1 built-in packs. Custom rules via Lambda. Auto-remediation with SSM Automation documents.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43840" y="4352544"/>
            <a:ext cx="11582400" cy="1060704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43840" y="4352544"/>
            <a:ext cx="73152" cy="106070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26719" y="4413504"/>
            <a:ext cx="28041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Tags &amp; Cost Governance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6719" y="4803648"/>
            <a:ext cx="1584959" cy="292608"/>
          </a:xfrm>
          <a:prstGeom prst="roundRect">
            <a:avLst>
              <a:gd name="adj" fmla="val 16667"/>
            </a:avLst>
          </a:prstGeom>
          <a:solidFill>
            <a:srgbClr val="0F4C75">
              <a:alpha val="20000"/>
            </a:srgbClr>
          </a:solidFill>
          <a:ln w="12700">
            <a:solidFill>
              <a:srgbClr val="0F4C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26719" y="4803648"/>
            <a:ext cx="158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resources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194560" y="4437887"/>
            <a:ext cx="944880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policies enforced via Organizations. Required tags: owner, env, classification, cost-center. AWS Cost Anomaly Detection on tagged resources for rogue/compromised spend.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43840" y="5498592"/>
            <a:ext cx="11582400" cy="1060704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43840" y="5498592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26719" y="5559552"/>
            <a:ext cx="28041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Resiliency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26719" y="5949696"/>
            <a:ext cx="1584959" cy="292608"/>
          </a:xfrm>
          <a:prstGeom prst="roundRect">
            <a:avLst>
              <a:gd name="adj" fmla="val 16667"/>
            </a:avLst>
          </a:prstGeom>
          <a:solidFill>
            <a:srgbClr val="4285F4">
              <a:alpha val="20000"/>
            </a:srgbClr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26719" y="5949696"/>
            <a:ext cx="158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2194560" y="5583935"/>
            <a:ext cx="944880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Backup with backup plans per classification. Cross-region backup for critical data. Backup Vault Lock (WORM) for ransomware protection. Test restores quarterly.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87680" y="1706879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0078D4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87680" y="2865119"/>
            <a:ext cx="10972800" cy="7924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Security Architecture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87680" y="3755135"/>
            <a:ext cx="10972800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 ·  Network  ·  Data  ·  Detection  ·  Governance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7680" y="4267200"/>
            <a:ext cx="3657600" cy="4876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6516623"/>
            <a:ext cx="8534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582400" y="6516623"/>
            <a:ext cx="48768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Identity &amp; Access Management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0972800" y="219456"/>
            <a:ext cx="877824" cy="341376"/>
          </a:xfrm>
          <a:prstGeom prst="roundRect">
            <a:avLst>
              <a:gd name="adj" fmla="val 17857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972800" y="219456"/>
            <a:ext cx="877824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6516623"/>
            <a:ext cx="8534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582400" y="6516623"/>
            <a:ext cx="48768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43840" y="890016"/>
            <a:ext cx="3742943" cy="390144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5760" y="890016"/>
            <a:ext cx="3499104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Identities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3840" y="1341120"/>
            <a:ext cx="3742943" cy="536447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90144" y="1341120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System-assigned: 1:1 with resource, auto-deleted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43840" y="1926336"/>
            <a:ext cx="3742943" cy="536447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0144" y="1926336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User-assigned: reusable across multiple resources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43840" y="2511552"/>
            <a:ext cx="3742943" cy="536447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90144" y="2511552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credentials stored — token from IMDS endpoint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43840" y="3096767"/>
            <a:ext cx="3742943" cy="536447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90144" y="3096767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 VMs, AKS, App Service, Logic Apps, Functions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43840" y="3681983"/>
            <a:ext cx="3742943" cy="536447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90144" y="3681983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via RBAC on target resource, not broad subscription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169664" y="890016"/>
            <a:ext cx="3742943" cy="390144"/>
          </a:xfrm>
          <a:prstGeom prst="rect">
            <a:avLst/>
          </a:prstGeom>
          <a:solidFill>
            <a:srgbClr val="0F4C75"/>
          </a:solidFill>
          <a:ln w="12700">
            <a:solidFill>
              <a:srgbClr val="0F4C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291583" y="890016"/>
            <a:ext cx="3499104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 + PIM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169664" y="1341120"/>
            <a:ext cx="3742943" cy="536447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315968" y="1341120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PIM: JIT elevation for privileged roles (max 8h)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69664" y="1926336"/>
            <a:ext cx="3742943" cy="536447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315968" y="1926336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workflow + justification for Global Admin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69664" y="2511552"/>
            <a:ext cx="3742943" cy="536447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315968" y="2511552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reviews for permanent role assignments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169664" y="3096767"/>
            <a:ext cx="3742943" cy="536447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315968" y="3096767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Access: require MFA + compliant device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169664" y="3681983"/>
            <a:ext cx="3742943" cy="536447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315968" y="3681983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CAE: continuous access evaluation on sign-in risk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083296" y="890016"/>
            <a:ext cx="3742943" cy="390144"/>
          </a:xfrm>
          <a:prstGeom prst="rect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205215" y="890016"/>
            <a:ext cx="3499104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Identity Federation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083296" y="1341120"/>
            <a:ext cx="3742943" cy="536447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8229600" y="1341120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 GitHub Actions / K8s / GCP service accounts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083296" y="1926336"/>
            <a:ext cx="3742943" cy="536447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8229600" y="1926336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client secrets stored in external systems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083296" y="2511552"/>
            <a:ext cx="3742943" cy="536447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8229600" y="2511552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registration + federated credential configuration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083296" y="3096767"/>
            <a:ext cx="3742943" cy="536447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8229600" y="3096767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 issuer/subject to specific org/repo/branch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083296" y="3681983"/>
            <a:ext cx="3742943" cy="536447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8229600" y="3681983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Audit: monitor token issuance in sign-in logs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43840" y="6187439"/>
            <a:ext cx="11582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controls: Managed Identities · PIM with JIT · Conditional Access · CAE · Workload Identity Federation · Access Reviews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Network Security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0972800" y="219456"/>
            <a:ext cx="877824" cy="341376"/>
          </a:xfrm>
          <a:prstGeom prst="roundRect">
            <a:avLst>
              <a:gd name="adj" fmla="val 17857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972800" y="219456"/>
            <a:ext cx="877824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6516623"/>
            <a:ext cx="8534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582400" y="6516623"/>
            <a:ext cx="48768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43840" y="914400"/>
            <a:ext cx="5730239" cy="13411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43840" y="914400"/>
            <a:ext cx="73152" cy="134112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38912" y="975360"/>
            <a:ext cx="536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Hub-Spoke VNet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8912" y="1280159"/>
            <a:ext cx="53644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Hub VNet with Azure Firewall, VPN/ExpressRoute, DNS. Spoke VNets peered to hub. Prod/non-prod/shared spokes. No direct spoke-to-spoke without hub inspection.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43840" y="2328672"/>
            <a:ext cx="5730239" cy="13411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43840" y="2328672"/>
            <a:ext cx="73152" cy="134112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38912" y="2389632"/>
            <a:ext cx="536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Endpoints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8912" y="2694432"/>
            <a:ext cx="53644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PaaS (Storage, Key Vault, SQL, Service Bus) via Private Endpoint. Disable public network access after PE creation. DNS override via Private DNS Zones.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43840" y="3742943"/>
            <a:ext cx="5730239" cy="13411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43840" y="3742943"/>
            <a:ext cx="73152" cy="134112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38912" y="3803904"/>
            <a:ext cx="536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NSG + ASG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8912" y="4108704"/>
            <a:ext cx="53644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NSGs on subnet level, not NIC. Application Security Groups for workload-aware rules. Deny all inbound default; explicit allow-list. Service Tags for Azure service CIDRs.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43840" y="5157216"/>
            <a:ext cx="5730239" cy="13411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43840" y="5157216"/>
            <a:ext cx="73152" cy="134112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38912" y="5218176"/>
            <a:ext cx="536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Firewall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38912" y="5522976"/>
            <a:ext cx="53644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FQDN filtering for outbound traffic. Threat Intelligence feed blocks known malicious IPs. DNAT rules for inbound (prefer Application Gateway). Premium tier for TLS inspection.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339839" y="914400"/>
            <a:ext cx="5730239" cy="13411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339839" y="914400"/>
            <a:ext cx="73152" cy="134112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534911" y="975360"/>
            <a:ext cx="536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Gateway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534911" y="1280159"/>
            <a:ext cx="53644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 v2 in Prevention mode on all public-facing apps. OWASP 3.2 ruleset. Custom rules for bot protection. End-to-end TLS. No direct public IPs on backend VMs.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339839" y="2328672"/>
            <a:ext cx="5730239" cy="13411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339839" y="2328672"/>
            <a:ext cx="73152" cy="134112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534911" y="2389632"/>
            <a:ext cx="536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Bastion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34911" y="2694432"/>
            <a:ext cx="53644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Browser-based RDP/SSH without exposing public ports. No jump servers with public IPs. Integrate with Entra ID for MFA-protected admin access. Premium tier for native client.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339839" y="3742943"/>
            <a:ext cx="5730239" cy="13411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339839" y="3742943"/>
            <a:ext cx="73152" cy="134112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534911" y="3803904"/>
            <a:ext cx="536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DDoS Protection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34911" y="4108704"/>
            <a:ext cx="53644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DDoS Network Protection on all public VIPs. Standard tier adaptive tuning. Alerts to Azure Monitor. Cost protection included with Standard plan.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339839" y="5157216"/>
            <a:ext cx="5730239" cy="13411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339839" y="5157216"/>
            <a:ext cx="73152" cy="134112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534911" y="5218176"/>
            <a:ext cx="536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Watcher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534911" y="5522976"/>
            <a:ext cx="53644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NSG Flow Logs to Storage + Traffic Analytics. Connection troubleshooting. Packet capture for incident investigation. Flow logs feed Sentinel analytics.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 Protection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0972800" y="219456"/>
            <a:ext cx="877824" cy="341376"/>
          </a:xfrm>
          <a:prstGeom prst="roundRect">
            <a:avLst>
              <a:gd name="adj" fmla="val 17857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972800" y="219456"/>
            <a:ext cx="877824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6516623"/>
            <a:ext cx="8534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582400" y="6516623"/>
            <a:ext cx="48768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43840" y="950976"/>
            <a:ext cx="5730239" cy="26822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1072895"/>
            <a:ext cx="609600" cy="463295"/>
          </a:xfrm>
          <a:prstGeom prst="roundRect">
            <a:avLst>
              <a:gd name="adj" fmla="val 13158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1072895"/>
            <a:ext cx="609600" cy="4632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97280" y="1146048"/>
            <a:ext cx="475488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Key Vault (CMK)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6719" y="1633727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Managed HSM for FIPS 140-2 Level 3 (production workloads)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26719" y="2072639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All Storage, SQL, ADE encryption use customer-managed keys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26719" y="2511552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 rotation policies: 90-day alert, auto-rotation for supported services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26719" y="2950464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 Vault Firewall: restrict access to VNet + private endpoint only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339839" y="950976"/>
            <a:ext cx="5730239" cy="26822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461760" y="1072895"/>
            <a:ext cx="609600" cy="463295"/>
          </a:xfrm>
          <a:prstGeom prst="roundRect">
            <a:avLst>
              <a:gd name="adj" fmla="val 13158"/>
            </a:avLst>
          </a:prstGeom>
          <a:solidFill>
            <a:srgbClr val="0F4C75"/>
          </a:solidFill>
          <a:ln w="12700">
            <a:solidFill>
              <a:srgbClr val="0F4C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61760" y="1072895"/>
            <a:ext cx="609600" cy="4632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193280" y="1146048"/>
            <a:ext cx="475488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Security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22719" y="1633727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Storage Account public access: Disabled (enforced via Azure Policy)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522719" y="2072639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Secure Transfer Required: TLS 1.2 minimum enforced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522719" y="2511552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Blob versioning + soft delete (30 days) + immutability policies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522719" y="2950464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Storage service encryption with CMK for all accounts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43840" y="3755135"/>
            <a:ext cx="5730239" cy="26822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65760" y="3877055"/>
            <a:ext cx="609600" cy="463295"/>
          </a:xfrm>
          <a:prstGeom prst="roundRect">
            <a:avLst>
              <a:gd name="adj" fmla="val 13158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65760" y="3877055"/>
            <a:ext cx="609600" cy="4632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97280" y="3950207"/>
            <a:ext cx="475488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Purview (DLP)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6719" y="4437887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Sensitive data discovery: classify PII, PHI, PCI across Azure storage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26719" y="4876800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DLP policies: prevent sharing of sensitive data via Teams/Email/Cloud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26719" y="5315712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Information Protection labels enforced across M365 and Azure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26719" y="5754623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Compliance Manager for regulatory tracking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339839" y="3755135"/>
            <a:ext cx="5730239" cy="26822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461760" y="3877055"/>
            <a:ext cx="609600" cy="463295"/>
          </a:xfrm>
          <a:prstGeom prst="roundRect">
            <a:avLst>
              <a:gd name="adj" fmla="val 13158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461760" y="3877055"/>
            <a:ext cx="609600" cy="4632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193280" y="3950207"/>
            <a:ext cx="475488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Defender for Storage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522719" y="4437887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Detects: malware upload, anomalous access, suspicious data ops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522719" y="4876800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Alerts integrated into Defender for Cloud + Sentinel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522719" y="5315712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On-upload malware scanning (Defender for Storage Plan 2)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522719" y="5754623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Activity baseline per storage account — alerts on deviations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Detection &amp; Response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0972800" y="219456"/>
            <a:ext cx="877824" cy="341376"/>
          </a:xfrm>
          <a:prstGeom prst="roundRect">
            <a:avLst>
              <a:gd name="adj" fmla="val 17857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972800" y="219456"/>
            <a:ext cx="877824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900" dirty="0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10E9BAC-F0FD-02F3-1EC3-61AEC0D134C6}"/>
              </a:ext>
            </a:extLst>
          </p:cNvPr>
          <p:cNvGrpSpPr/>
          <p:nvPr/>
        </p:nvGrpSpPr>
        <p:grpSpPr>
          <a:xfrm>
            <a:off x="243840" y="914401"/>
            <a:ext cx="11826240" cy="5858255"/>
            <a:chOff x="243840" y="914400"/>
            <a:chExt cx="11826240" cy="6193535"/>
          </a:xfrm>
        </p:grpSpPr>
        <p:sp>
          <p:nvSpPr>
            <p:cNvPr id="7" name="Text 5"/>
            <p:cNvSpPr/>
            <p:nvPr/>
          </p:nvSpPr>
          <p:spPr>
            <a:xfrm>
              <a:off x="365760" y="6516623"/>
              <a:ext cx="8534400" cy="2682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90A4A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Cloud Security Architecture  |  Eran Shpigelman</a:t>
              </a:r>
              <a:endParaRPr lang="en-US" sz="8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11582400" y="6516623"/>
              <a:ext cx="487680" cy="2682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r">
                <a:buNone/>
              </a:pPr>
              <a:r>
                <a:rPr lang="en-US" sz="800" dirty="0">
                  <a:solidFill>
                    <a:srgbClr val="90A4A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16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243840" y="914400"/>
              <a:ext cx="5730239" cy="213360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Shape 8"/>
            <p:cNvSpPr/>
            <p:nvPr/>
          </p:nvSpPr>
          <p:spPr>
            <a:xfrm>
              <a:off x="243840" y="914400"/>
              <a:ext cx="5730239" cy="365760"/>
            </a:xfrm>
            <a:prstGeom prst="rect">
              <a:avLst/>
            </a:prstGeom>
            <a:solidFill>
              <a:srgbClr val="0078D4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 9"/>
            <p:cNvSpPr/>
            <p:nvPr/>
          </p:nvSpPr>
          <p:spPr>
            <a:xfrm>
              <a:off x="365760" y="914400"/>
              <a:ext cx="54864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Microsoft Defender for Cloud</a:t>
              </a:r>
              <a:endParaRPr lang="en-US" sz="95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65760" y="1316736"/>
              <a:ext cx="5486400" cy="13411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CSPM + CWPP. Secure Score measures posture. Defender Plans: Servers, Containers, App Service, SQL, Storage, Key Vault. Attack path analysis identifies exploitable chains.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65760" y="2694432"/>
              <a:ext cx="5486400" cy="2682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0078D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↳ CSPM posture · CWPP runtime · Multi-cloud (AWS, GCP)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278880" y="914400"/>
              <a:ext cx="5730239" cy="213360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Shape 13"/>
            <p:cNvSpPr/>
            <p:nvPr/>
          </p:nvSpPr>
          <p:spPr>
            <a:xfrm>
              <a:off x="6278880" y="914400"/>
              <a:ext cx="5730239" cy="365760"/>
            </a:xfrm>
            <a:prstGeom prst="rect">
              <a:avLst/>
            </a:prstGeom>
            <a:solidFill>
              <a:srgbClr val="0F4C75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 14"/>
            <p:cNvSpPr/>
            <p:nvPr/>
          </p:nvSpPr>
          <p:spPr>
            <a:xfrm>
              <a:off x="6400800" y="914400"/>
              <a:ext cx="54864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Microsoft Sentinel</a:t>
              </a:r>
              <a:endParaRPr lang="en-US" sz="9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400800" y="1316736"/>
              <a:ext cx="5486400" cy="13411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Cloud-native SIEM + SOAR. Connectors for Entra ID, M365, Defender, AWS, GCP. Analytics rules with MITRE ATT&amp;CK tagging. Playbooks (Logic Apps) for automated response.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400800" y="2694432"/>
              <a:ext cx="5486400" cy="2682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0F4C7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↳ SIEM · SOAR · TI integration · UEBA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243840" y="3267455"/>
              <a:ext cx="5730239" cy="213360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243840" y="3267455"/>
              <a:ext cx="5730239" cy="365760"/>
            </a:xfrm>
            <a:prstGeom prst="rect">
              <a:avLst/>
            </a:prstGeom>
            <a:solidFill>
              <a:srgbClr val="4285F4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 19"/>
            <p:cNvSpPr/>
            <p:nvPr/>
          </p:nvSpPr>
          <p:spPr>
            <a:xfrm>
              <a:off x="365760" y="3267455"/>
              <a:ext cx="54864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Entra ID Protection</a:t>
              </a:r>
              <a:endParaRPr lang="en-US" sz="95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365760" y="3669791"/>
              <a:ext cx="5486400" cy="13411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Risk-based Conditional Access. User risk (compromised credentials, impossible travel) and sign-in risk signals. Policy: require MFA on medium risk; block on high. Feed to Sentinel.</a:t>
              </a:r>
              <a:endParaRPr lang="en-US" sz="85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65760" y="5047487"/>
              <a:ext cx="5486400" cy="2682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4285F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↳ T1078 · T1098 · Credential compromise detection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78880" y="3267455"/>
              <a:ext cx="5730239" cy="213360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Shape 23"/>
            <p:cNvSpPr/>
            <p:nvPr/>
          </p:nvSpPr>
          <p:spPr>
            <a:xfrm>
              <a:off x="6278880" y="3267455"/>
              <a:ext cx="5730239" cy="365760"/>
            </a:xfrm>
            <a:prstGeom prst="rect">
              <a:avLst/>
            </a:prstGeom>
            <a:solidFill>
              <a:srgbClr val="C62828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 24"/>
            <p:cNvSpPr/>
            <p:nvPr/>
          </p:nvSpPr>
          <p:spPr>
            <a:xfrm>
              <a:off x="6400800" y="3267455"/>
              <a:ext cx="54864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Defender for Endpoint</a:t>
              </a:r>
              <a:endParaRPr lang="en-US" sz="9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400800" y="3669791"/>
              <a:ext cx="5486400" cy="13411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EDR for Windows/Linux/macOS. Threat &amp; Vulnerability Management. Attack surface reduction rules. Integration with Sentinel and Defender for Cloud. Unified SecOps platform.</a:t>
              </a:r>
              <a:endParaRPr lang="en-US" sz="85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6400800" y="5047487"/>
              <a:ext cx="5486400" cy="2682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C6282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↳ Endpoint detection · Vuln management</a:t>
              </a:r>
              <a:endParaRPr lang="en-US" sz="8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243840" y="4974335"/>
              <a:ext cx="5730239" cy="213360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Shape 28"/>
            <p:cNvSpPr/>
            <p:nvPr/>
          </p:nvSpPr>
          <p:spPr>
            <a:xfrm>
              <a:off x="243840" y="4974335"/>
              <a:ext cx="5730239" cy="365760"/>
            </a:xfrm>
            <a:prstGeom prst="rect">
              <a:avLst/>
            </a:prstGeom>
            <a:solidFill>
              <a:srgbClr val="FF990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 29"/>
            <p:cNvSpPr/>
            <p:nvPr/>
          </p:nvSpPr>
          <p:spPr>
            <a:xfrm>
              <a:off x="365760" y="4974335"/>
              <a:ext cx="54864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Activity Log + Diagnostics</a:t>
              </a:r>
              <a:endParaRPr lang="en-US" sz="9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365760" y="5376671"/>
              <a:ext cx="5486400" cy="13411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Management plane audit: all subscription activities. Diagnostic settings on all resources → Log Analytics workspace. Retention: 90 days minimum; archive to Storage.</a:t>
              </a:r>
              <a:endParaRPr lang="en-US" sz="85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365760" y="6754367"/>
              <a:ext cx="5486400" cy="2682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FF990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↳ Audit trail · Compliance logging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278880" y="4974335"/>
              <a:ext cx="5730239" cy="213360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Shape 33"/>
            <p:cNvSpPr/>
            <p:nvPr/>
          </p:nvSpPr>
          <p:spPr>
            <a:xfrm>
              <a:off x="6278880" y="4974335"/>
              <a:ext cx="5730239" cy="365760"/>
            </a:xfrm>
            <a:prstGeom prst="rect">
              <a:avLst/>
            </a:prstGeom>
            <a:solidFill>
              <a:srgbClr val="2E7D32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 34"/>
            <p:cNvSpPr/>
            <p:nvPr/>
          </p:nvSpPr>
          <p:spPr>
            <a:xfrm>
              <a:off x="6400800" y="4974335"/>
              <a:ext cx="54864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Microsoft Purview Audit</a:t>
              </a:r>
              <a:endParaRPr lang="en-US" sz="95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6400800" y="5376671"/>
              <a:ext cx="5486400" cy="13411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Unified audit log for M365 and Azure. Audit Premium for 1-year retention + advanced queries. Integrate with Sentinel for correlation. Required for compliance frameworks.</a:t>
              </a:r>
              <a:endParaRPr lang="en-US" sz="85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400800" y="6754367"/>
              <a:ext cx="5486400" cy="2682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2E7D3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↳ M365 audit · Long-term retention · Compliance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Governance &amp; Policy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0972800" y="219456"/>
            <a:ext cx="877824" cy="341376"/>
          </a:xfrm>
          <a:prstGeom prst="roundRect">
            <a:avLst>
              <a:gd name="adj" fmla="val 17857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972800" y="219456"/>
            <a:ext cx="877824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6516623"/>
            <a:ext cx="8534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582400" y="6516623"/>
            <a:ext cx="48768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43840" y="914400"/>
            <a:ext cx="11582400" cy="1060704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43840" y="914400"/>
            <a:ext cx="73152" cy="106070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26719" y="975360"/>
            <a:ext cx="30480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Groups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6719" y="1365504"/>
            <a:ext cx="1828800" cy="292608"/>
          </a:xfrm>
          <a:prstGeom prst="roundRect">
            <a:avLst>
              <a:gd name="adj" fmla="val 16667"/>
            </a:avLst>
          </a:prstGeom>
          <a:solidFill>
            <a:srgbClr val="0078D4">
              <a:alpha val="20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26719" y="1365504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Org-level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438400" y="999744"/>
            <a:ext cx="920496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Hierarchy: Root MG → Platform (Connectivity, Identity, Management) → Landing Zones → Sandboxes. Apply policies and RBAC at MG level for inheritance. CAF Landing Zone structure.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43840" y="2060448"/>
            <a:ext cx="11582400" cy="1060704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43840" y="2060448"/>
            <a:ext cx="73152" cy="1060704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26719" y="2121408"/>
            <a:ext cx="30480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Policy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26719" y="2511552"/>
            <a:ext cx="1828800" cy="292608"/>
          </a:xfrm>
          <a:prstGeom prst="roundRect">
            <a:avLst>
              <a:gd name="adj" fmla="val 16667"/>
            </a:avLst>
          </a:prstGeom>
          <a:solidFill>
            <a:srgbClr val="1565C0">
              <a:alpha val="20000"/>
            </a:srgbClr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26719" y="25115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Policy-as-Code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438400" y="2145791"/>
            <a:ext cx="920496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DeployIfNotExists for auto-remediation; Deny for guardrails. Built-in initiatives: CIS Azure Foundations, NIST SP 800-53 R5, ISO 27001. Custom policies in JSON/Bicep via Repos.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43840" y="3206496"/>
            <a:ext cx="11582400" cy="1060704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43840" y="3206496"/>
            <a:ext cx="73152" cy="106070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26719" y="3267455"/>
            <a:ext cx="30480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Blueprints / Bicep IaC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719" y="3657600"/>
            <a:ext cx="1828800" cy="292608"/>
          </a:xfrm>
          <a:prstGeom prst="roundRect">
            <a:avLst>
              <a:gd name="adj" fmla="val 16667"/>
            </a:avLst>
          </a:prstGeom>
          <a:solidFill>
            <a:srgbClr val="0F4C75">
              <a:alpha val="20000"/>
            </a:srgbClr>
          </a:solidFill>
          <a:ln w="12700">
            <a:solidFill>
              <a:srgbClr val="0F4C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26719" y="365760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438400" y="3291840"/>
            <a:ext cx="920496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Landing Zone Bicep modules for repeatable deployments. All infra via IaC — no manual resource creation in production. PR review + policy scan in CI/CD before apply.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43840" y="4352544"/>
            <a:ext cx="11582400" cy="1060704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43840" y="4352544"/>
            <a:ext cx="73152" cy="1060704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26719" y="4413504"/>
            <a:ext cx="30480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Locks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6719" y="4803648"/>
            <a:ext cx="1828800" cy="292608"/>
          </a:xfrm>
          <a:prstGeom prst="roundRect">
            <a:avLst>
              <a:gd name="adj" fmla="val 16667"/>
            </a:avLst>
          </a:prstGeom>
          <a:solidFill>
            <a:srgbClr val="C62828">
              <a:alpha val="20000"/>
            </a:srgbClr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26719" y="4803648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438400" y="4437887"/>
            <a:ext cx="920496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CanNotDelete on production resource groups. Prevents accidental deletion. ReadOnly where applicable. Managed via Blueprints assignment. Review locks quarterly.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43840" y="5498592"/>
            <a:ext cx="11582400" cy="1060704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43840" y="5498592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26719" y="5559552"/>
            <a:ext cx="30480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+ Compliance Mgmt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26719" y="5949696"/>
            <a:ext cx="1828800" cy="292608"/>
          </a:xfrm>
          <a:prstGeom prst="roundRect">
            <a:avLst>
              <a:gd name="adj" fmla="val 16667"/>
            </a:avLst>
          </a:prstGeom>
          <a:solidFill>
            <a:srgbClr val="4285F4">
              <a:alpha val="20000"/>
            </a:srgbClr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26719" y="5949696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2438400" y="5583935"/>
            <a:ext cx="920496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Management budgets with alerts at 80%/100% threshold. Compliance dashboard in Defender for Cloud. Regulatory Compliance: PCI DSS, HIPAA, ISO 27001 built-in assessments.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285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87680" y="1706879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4285F4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87680" y="2865119"/>
            <a:ext cx="10972800" cy="7924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Security Architecture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87680" y="3755135"/>
            <a:ext cx="10972800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 ·  Network  ·  Data  ·  Detection  ·  Governance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7680" y="4267200"/>
            <a:ext cx="3657600" cy="48768"/>
          </a:xfrm>
          <a:prstGeom prst="rect">
            <a:avLst/>
          </a:prstGeom>
          <a:solidFill>
            <a:srgbClr val="4285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6516623"/>
            <a:ext cx="8534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582400" y="6516623"/>
            <a:ext cx="48768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Identity &amp; Access Management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1094720" y="219456"/>
            <a:ext cx="877824" cy="341376"/>
          </a:xfrm>
          <a:prstGeom prst="roundRect">
            <a:avLst>
              <a:gd name="adj" fmla="val 17857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094720" y="219456"/>
            <a:ext cx="877824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6516623"/>
            <a:ext cx="8534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582400" y="6516623"/>
            <a:ext cx="48768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43840" y="890016"/>
            <a:ext cx="3742943" cy="390144"/>
          </a:xfrm>
          <a:prstGeom prst="rect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5760" y="890016"/>
            <a:ext cx="3499104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Identity Federation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43840" y="1341120"/>
            <a:ext cx="3742943" cy="536447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90144" y="1341120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 AWS, Azure, GitHub, K8s without keys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43840" y="1926336"/>
            <a:ext cx="3742943" cy="536447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0144" y="1926336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mappings: restrict to specific repos/subjects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43840" y="2511552"/>
            <a:ext cx="3742943" cy="536447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90144" y="2511552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Impersonate service account via short-lived tokens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43840" y="3096767"/>
            <a:ext cx="3742943" cy="536447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90144" y="3096767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Account Token Creator role scoped narrowly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43840" y="3681983"/>
            <a:ext cx="3742943" cy="536447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90144" y="3681983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Audit: iam.serviceaccounts.actAs in Cloud Audit Logs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169664" y="890016"/>
            <a:ext cx="3742943" cy="390144"/>
          </a:xfrm>
          <a:prstGeom prst="rect">
            <a:avLst/>
          </a:prstGeom>
          <a:solidFill>
            <a:srgbClr val="0F4C75"/>
          </a:solidFill>
          <a:ln w="12700">
            <a:solidFill>
              <a:srgbClr val="0F4C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291583" y="890016"/>
            <a:ext cx="3499104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Best Practices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69664" y="1341120"/>
            <a:ext cx="3742943" cy="536447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315968" y="1341120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Resource-level bindings over project-level where possible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69664" y="1926336"/>
            <a:ext cx="3742943" cy="536447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315968" y="1926336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Restriction Constraint (iam.allowedPolicyMemberDomains)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69664" y="2511552"/>
            <a:ext cx="3742943" cy="536447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315968" y="2511552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service account keys — use Workload Identity or metadata server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169664" y="3096767"/>
            <a:ext cx="3742943" cy="536447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315968" y="3096767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account IAM bindings reviewed via Policy Analyzer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169664" y="3681983"/>
            <a:ext cx="3742943" cy="536447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315968" y="3681983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 access via IAM Recommender or BeyondCorp tools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083296" y="890016"/>
            <a:ext cx="3742943" cy="39014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205215" y="890016"/>
            <a:ext cx="3499104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Policy Constraints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083296" y="1341120"/>
            <a:ext cx="3742943" cy="536447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8229600" y="1341120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compute.requireShieldedVm — enforce Secure Boot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083296" y="1926336"/>
            <a:ext cx="3742943" cy="536447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8229600" y="1926336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compute.skipDefaultNetworkCreation — no default VPC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083296" y="2511552"/>
            <a:ext cx="3742943" cy="536447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8229600" y="2511552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iam.disableServiceAccountKeyCreation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083296" y="3096767"/>
            <a:ext cx="3742943" cy="536447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8229600" y="3096767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constraints/storage.uniformBucketLevelAccess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083296" y="3681983"/>
            <a:ext cx="3742943" cy="536447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8229600" y="3681983"/>
            <a:ext cx="3450335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constraints/gcp.resourceLocations — geo-restriction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43840" y="6187439"/>
            <a:ext cx="11582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controls: Workload Identity Federation · Org Policy Constraints · No service account keys · Domain Restriction · Policy Analyzer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Network Security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1094720" y="219456"/>
            <a:ext cx="877824" cy="341376"/>
          </a:xfrm>
          <a:prstGeom prst="roundRect">
            <a:avLst>
              <a:gd name="adj" fmla="val 17857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094720" y="219456"/>
            <a:ext cx="877824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6516623"/>
            <a:ext cx="8534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582400" y="6516623"/>
            <a:ext cx="48768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43840" y="914400"/>
            <a:ext cx="5730239" cy="13411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43840" y="914400"/>
            <a:ext cx="73152" cy="1341120"/>
          </a:xfrm>
          <a:prstGeom prst="rect">
            <a:avLst/>
          </a:prstGeom>
          <a:solidFill>
            <a:srgbClr val="4285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38912" y="975360"/>
            <a:ext cx="536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Design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8912" y="1280159"/>
            <a:ext cx="53644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VPC for org-wide network governance. No default VPC (Org Policy). Separate VPCs per environment with private Google access. No external IPs unless explicitly required.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43840" y="2328672"/>
            <a:ext cx="5730239" cy="13411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43840" y="2328672"/>
            <a:ext cx="73152" cy="1341120"/>
          </a:xfrm>
          <a:prstGeom prst="rect">
            <a:avLst/>
          </a:prstGeom>
          <a:solidFill>
            <a:srgbClr val="4285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38912" y="2389632"/>
            <a:ext cx="536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Service Controls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8912" y="2694432"/>
            <a:ext cx="53644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exfiltration prevention for BigQuery, GCS, Spanner. Define perimeter around sensitive projects. Ingress/Egress rules control cross-perimeter access. Audit perimeter violations in Cloud Logging.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43840" y="3742943"/>
            <a:ext cx="5730239" cy="13411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43840" y="3742943"/>
            <a:ext cx="73152" cy="1341120"/>
          </a:xfrm>
          <a:prstGeom prst="rect">
            <a:avLst/>
          </a:prstGeom>
          <a:solidFill>
            <a:srgbClr val="4285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38912" y="3803904"/>
            <a:ext cx="536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Firewall Rules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8912" y="4108704"/>
            <a:ext cx="53644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Organization-level rules override project rules. DENY all ingress default. Allow-list specific ports per workload tier. Firewall Insights identifies unused/overly-permissive rules.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43840" y="5157216"/>
            <a:ext cx="5730239" cy="13411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43840" y="5157216"/>
            <a:ext cx="73152" cy="1341120"/>
          </a:xfrm>
          <a:prstGeom prst="rect">
            <a:avLst/>
          </a:prstGeom>
          <a:solidFill>
            <a:srgbClr val="4285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38912" y="5218176"/>
            <a:ext cx="536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Service Connect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38912" y="5522976"/>
            <a:ext cx="53644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Google APIs privately (PSC endpoint). Internal load balancing for service mesh. No public IP traversal. DNS peering to private.googleapis.com and restricted.googleapis.com.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339839" y="914400"/>
            <a:ext cx="5730239" cy="13411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339839" y="914400"/>
            <a:ext cx="73152" cy="1341120"/>
          </a:xfrm>
          <a:prstGeom prst="rect">
            <a:avLst/>
          </a:prstGeom>
          <a:solidFill>
            <a:srgbClr val="4285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534911" y="975360"/>
            <a:ext cx="536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Armor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534911" y="1280159"/>
            <a:ext cx="53644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protection for Layer 7 DDoS. Preconfigured WAF rules (OWASP). Custom rules: rate limiting, geo-restriction, IP allow/deny lists. Security policies on Cloud Load Balancers.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339839" y="2328672"/>
            <a:ext cx="5730239" cy="13411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339839" y="2328672"/>
            <a:ext cx="73152" cy="1341120"/>
          </a:xfrm>
          <a:prstGeom prst="rect">
            <a:avLst/>
          </a:prstGeom>
          <a:solidFill>
            <a:srgbClr val="4285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534911" y="2389632"/>
            <a:ext cx="536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NAT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34911" y="2694432"/>
            <a:ext cx="53644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Outbound-only internet access for private VMs. No inbound connections through NAT. Log all NAT translations to Cloud Logging. Separate NAT per environment.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339839" y="3742943"/>
            <a:ext cx="5730239" cy="13411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339839" y="3742943"/>
            <a:ext cx="73152" cy="1341120"/>
          </a:xfrm>
          <a:prstGeom prst="rect">
            <a:avLst/>
          </a:prstGeom>
          <a:solidFill>
            <a:srgbClr val="4285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534911" y="3803904"/>
            <a:ext cx="536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Identity-Aware Proxy (IAP)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34911" y="4108704"/>
            <a:ext cx="53644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Zero-Trust application access without VPN. Entra/Google identity authentication + context-aware access policies. Replace bastion hosts. BeyondCorp Enterprise integration.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339839" y="5157216"/>
            <a:ext cx="5730239" cy="13411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339839" y="5157216"/>
            <a:ext cx="73152" cy="1341120"/>
          </a:xfrm>
          <a:prstGeom prst="rect">
            <a:avLst/>
          </a:prstGeom>
          <a:solidFill>
            <a:srgbClr val="4285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534911" y="5218176"/>
            <a:ext cx="536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IDS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534911" y="5522976"/>
            <a:ext cx="53644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Palo Alto Networks-powered network threat detection. Out-of-band (no inline latency). Detects: malware, exploits, C2 comms, lateral movement. Alerts to Security Command Center.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Data Protection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1094720" y="219456"/>
            <a:ext cx="877824" cy="341376"/>
          </a:xfrm>
          <a:prstGeom prst="roundRect">
            <a:avLst>
              <a:gd name="adj" fmla="val 17857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094720" y="219456"/>
            <a:ext cx="877824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6516623"/>
            <a:ext cx="8534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582400" y="6516623"/>
            <a:ext cx="48768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43840" y="950976"/>
            <a:ext cx="5730239" cy="26822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1072895"/>
            <a:ext cx="609600" cy="463295"/>
          </a:xfrm>
          <a:prstGeom prst="roundRect">
            <a:avLst>
              <a:gd name="adj" fmla="val 13158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1072895"/>
            <a:ext cx="609600" cy="4632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97280" y="1146048"/>
            <a:ext cx="475488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KMS / CMEK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6719" y="1633727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CMEK for GCS, BigQuery, Pub/Sub, Cloud SQL, GKE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26719" y="2072639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Cloud HSM for FIPS 140-2 Level 3 keys (hardware-backed)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26719" y="2511552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Autokey: automatic CMEK provisioning per resource (preview)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26719" y="2950464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 rotation: 90-day for symmetric, annual for asymmetric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339839" y="950976"/>
            <a:ext cx="5730239" cy="26822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461760" y="1072895"/>
            <a:ext cx="609600" cy="463295"/>
          </a:xfrm>
          <a:prstGeom prst="roundRect">
            <a:avLst>
              <a:gd name="adj" fmla="val 13158"/>
            </a:avLst>
          </a:prstGeom>
          <a:solidFill>
            <a:srgbClr val="0F4C75"/>
          </a:solidFill>
          <a:ln w="12700">
            <a:solidFill>
              <a:srgbClr val="0F4C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61760" y="1072895"/>
            <a:ext cx="609600" cy="4632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193280" y="1146048"/>
            <a:ext cx="475488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Manager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22719" y="1633727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Versioned secrets with CMEK encryption at rest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522719" y="2072639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Secret access via Workload Identity (no service account keys)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522719" y="2511552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Secret replication: automatic or user-managed per region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522719" y="2950464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Audit: secretmanager.versions.access in Cloud Audit Logs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43840" y="3755135"/>
            <a:ext cx="5730239" cy="26822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65760" y="3877055"/>
            <a:ext cx="609600" cy="463295"/>
          </a:xfrm>
          <a:prstGeom prst="roundRect">
            <a:avLst>
              <a:gd name="adj" fmla="val 13158"/>
            </a:avLst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65760" y="3877055"/>
            <a:ext cx="609600" cy="4632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DLP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97280" y="3950207"/>
            <a:ext cx="475488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DLP / Sensitive Data Svc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6719" y="4437887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150+ built-in infoTypes: PII, PCI, PHI, government IDs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26719" y="4876800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De-identification: tokenization, masking, bucketing, date shift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26719" y="5315712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Scan GCS, BigQuery, Datastore; send findings to SCC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26719" y="5754623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DLP recommendations in Security Command Center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339839" y="3755135"/>
            <a:ext cx="5730239" cy="26822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461760" y="3877055"/>
            <a:ext cx="609600" cy="463295"/>
          </a:xfrm>
          <a:prstGeom prst="roundRect">
            <a:avLst>
              <a:gd name="adj" fmla="val 13158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461760" y="3877055"/>
            <a:ext cx="609600" cy="4632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193280" y="3950207"/>
            <a:ext cx="475488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Assured Workloads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522719" y="4437887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Jurisdiction controls: restrict data to specific regions/operators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522719" y="4876800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Compliance frameworks: FedRAMP High, ITAR, HIPAA, CJIS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522719" y="5315712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Controls package: CMEK + restricted services + personnel controls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522719" y="5754623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Org folder with enforced constraints and audit regime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Detection &amp; Response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1094720" y="219456"/>
            <a:ext cx="877824" cy="341376"/>
          </a:xfrm>
          <a:prstGeom prst="roundRect">
            <a:avLst>
              <a:gd name="adj" fmla="val 17857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094720" y="219456"/>
            <a:ext cx="877824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900" dirty="0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D43D56-94D8-01EF-AB88-0265349C8780}"/>
              </a:ext>
            </a:extLst>
          </p:cNvPr>
          <p:cNvGrpSpPr/>
          <p:nvPr/>
        </p:nvGrpSpPr>
        <p:grpSpPr>
          <a:xfrm>
            <a:off x="243840" y="914401"/>
            <a:ext cx="11826240" cy="5797296"/>
            <a:chOff x="243840" y="914400"/>
            <a:chExt cx="11826240" cy="6193535"/>
          </a:xfrm>
        </p:grpSpPr>
        <p:sp>
          <p:nvSpPr>
            <p:cNvPr id="7" name="Text 5"/>
            <p:cNvSpPr/>
            <p:nvPr/>
          </p:nvSpPr>
          <p:spPr>
            <a:xfrm>
              <a:off x="365760" y="6516623"/>
              <a:ext cx="8534400" cy="2682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90A4A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Cloud Security Architecture  |  Eran Shpigelman</a:t>
              </a:r>
              <a:endParaRPr lang="en-US" sz="8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11582400" y="6516623"/>
              <a:ext cx="487680" cy="2682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r">
                <a:buNone/>
              </a:pPr>
              <a:r>
                <a:rPr lang="en-US" sz="800" dirty="0">
                  <a:solidFill>
                    <a:srgbClr val="90A4A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243840" y="914400"/>
              <a:ext cx="5730239" cy="213360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Shape 8"/>
            <p:cNvSpPr/>
            <p:nvPr/>
          </p:nvSpPr>
          <p:spPr>
            <a:xfrm>
              <a:off x="243840" y="914400"/>
              <a:ext cx="5730239" cy="365760"/>
            </a:xfrm>
            <a:prstGeom prst="rect">
              <a:avLst/>
            </a:prstGeom>
            <a:solidFill>
              <a:srgbClr val="4285F4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 9"/>
            <p:cNvSpPr/>
            <p:nvPr/>
          </p:nvSpPr>
          <p:spPr>
            <a:xfrm>
              <a:off x="365760" y="914400"/>
              <a:ext cx="54864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Security Command Center (SCC)</a:t>
              </a:r>
              <a:endParaRPr lang="en-US" sz="95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65760" y="1316736"/>
              <a:ext cx="5486400" cy="13411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CSPM + CWPP for GCP. Threat detection: Event Threat Detection (ETD), Container Threat Detection (CTD), Virtual Machine Threat Detection (VMTD). Premium for compliance reports.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65760" y="2694432"/>
              <a:ext cx="5486400" cy="2682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4285F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↳ CSPM posture · ETD threat intel · Compliance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278880" y="914400"/>
              <a:ext cx="5730239" cy="213360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Shape 13"/>
            <p:cNvSpPr/>
            <p:nvPr/>
          </p:nvSpPr>
          <p:spPr>
            <a:xfrm>
              <a:off x="6278880" y="914400"/>
              <a:ext cx="5730239" cy="365760"/>
            </a:xfrm>
            <a:prstGeom prst="rect">
              <a:avLst/>
            </a:prstGeom>
            <a:solidFill>
              <a:srgbClr val="0F4C75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 14"/>
            <p:cNvSpPr/>
            <p:nvPr/>
          </p:nvSpPr>
          <p:spPr>
            <a:xfrm>
              <a:off x="6400800" y="914400"/>
              <a:ext cx="54864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Chronicle SIEM</a:t>
              </a:r>
              <a:endParaRPr lang="en-US" sz="9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400800" y="1316736"/>
              <a:ext cx="5486400" cy="13411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Google-native SIEM built on UDM. Petabyte-scale ingestion. YARA-L rules for detection. Threat Intelligence from VirusTotal + Google TI. SOAR via Chronicle SOAR (Siemplify).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400800" y="2694432"/>
              <a:ext cx="5486400" cy="2682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0F4C7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↳ SIEM · TI integration · SOAR · Retroactive detection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243840" y="3267455"/>
              <a:ext cx="5730239" cy="213360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243840" y="3267455"/>
              <a:ext cx="5730239" cy="365760"/>
            </a:xfrm>
            <a:prstGeom prst="rect">
              <a:avLst/>
            </a:prstGeom>
            <a:solidFill>
              <a:srgbClr val="FF990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 19"/>
            <p:cNvSpPr/>
            <p:nvPr/>
          </p:nvSpPr>
          <p:spPr>
            <a:xfrm>
              <a:off x="365760" y="3267455"/>
              <a:ext cx="54864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Cloud Audit Logs</a:t>
              </a:r>
              <a:endParaRPr lang="en-US" sz="95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365760" y="3669791"/>
              <a:ext cx="5486400" cy="13411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Admin Activity (always on), Data Access (enable per service), System Events, Policy Denied. Export to Cloud Storage + BigQuery via Log Sinks. Aggregated export from Org sink.</a:t>
              </a:r>
              <a:endParaRPr lang="en-US" sz="85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65760" y="5047487"/>
              <a:ext cx="5486400" cy="2682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FF990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↳ Compliance audit · Forensic investigation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78880" y="3267455"/>
              <a:ext cx="5730239" cy="213360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Shape 23"/>
            <p:cNvSpPr/>
            <p:nvPr/>
          </p:nvSpPr>
          <p:spPr>
            <a:xfrm>
              <a:off x="6278880" y="3267455"/>
              <a:ext cx="5730239" cy="365760"/>
            </a:xfrm>
            <a:prstGeom prst="rect">
              <a:avLst/>
            </a:prstGeom>
            <a:solidFill>
              <a:srgbClr val="C62828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 24"/>
            <p:cNvSpPr/>
            <p:nvPr/>
          </p:nvSpPr>
          <p:spPr>
            <a:xfrm>
              <a:off x="6400800" y="3267455"/>
              <a:ext cx="54864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Event Threat Detection</a:t>
              </a:r>
              <a:endParaRPr lang="en-US" sz="9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400800" y="3669791"/>
              <a:ext cx="5486400" cy="13411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Analyzes Cloud Logging streams in near-real-time. Detects: crypto mining, data exfiltration, brute force, C2 activity, malware, IAM anomalies. Findings exported to SCC.</a:t>
              </a:r>
              <a:endParaRPr lang="en-US" sz="85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6400800" y="5047487"/>
              <a:ext cx="5486400" cy="2682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C6282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↳ T1530 · T1537 · T1078.004 · T1136.003</a:t>
              </a:r>
              <a:endParaRPr lang="en-US" sz="8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243840" y="4974335"/>
              <a:ext cx="5730239" cy="213360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Shape 28"/>
            <p:cNvSpPr/>
            <p:nvPr/>
          </p:nvSpPr>
          <p:spPr>
            <a:xfrm>
              <a:off x="243840" y="4974335"/>
              <a:ext cx="5730239" cy="365760"/>
            </a:xfrm>
            <a:prstGeom prst="rect">
              <a:avLst/>
            </a:prstGeom>
            <a:solidFill>
              <a:srgbClr val="4285F4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 29"/>
            <p:cNvSpPr/>
            <p:nvPr/>
          </p:nvSpPr>
          <p:spPr>
            <a:xfrm>
              <a:off x="365760" y="4974335"/>
              <a:ext cx="54864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Container Threat Detection</a:t>
              </a:r>
              <a:endParaRPr lang="en-US" sz="9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365760" y="5376671"/>
              <a:ext cx="5486400" cy="13411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Runtime kernel-level detection for GKE. Detects: reverse shell, unexpected binary execution, malicious scripts. Zero-overhead: runs in GKE control plane, not node agent.</a:t>
              </a:r>
              <a:endParaRPr lang="en-US" sz="85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365760" y="6754367"/>
              <a:ext cx="5486400" cy="2682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4285F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↳ GKE runtime · Kernel-level detection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278880" y="4974335"/>
              <a:ext cx="5730239" cy="213360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Shape 33"/>
            <p:cNvSpPr/>
            <p:nvPr/>
          </p:nvSpPr>
          <p:spPr>
            <a:xfrm>
              <a:off x="6278880" y="4974335"/>
              <a:ext cx="5730239" cy="365760"/>
            </a:xfrm>
            <a:prstGeom prst="rect">
              <a:avLst/>
            </a:prstGeom>
            <a:solidFill>
              <a:srgbClr val="2E7D32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 34"/>
            <p:cNvSpPr/>
            <p:nvPr/>
          </p:nvSpPr>
          <p:spPr>
            <a:xfrm>
              <a:off x="6400800" y="4974335"/>
              <a:ext cx="54864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Vulnerability Scanning</a:t>
              </a:r>
              <a:endParaRPr lang="en-US" sz="95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6400800" y="5376671"/>
              <a:ext cx="5486400" cy="13411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Container Analysis (Artifact Registry CVE scanning). VM OS inventory + patch gap. Web Security Scanner for App Engine and GCE web apps. Findings to SCC.</a:t>
              </a:r>
              <a:endParaRPr lang="en-US" sz="85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400800" y="6754367"/>
              <a:ext cx="5486400" cy="2682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2E7D3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↳ Container CVE · VM patching · Web app scanning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Governance &amp; CSPM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1094720" y="219456"/>
            <a:ext cx="877824" cy="341376"/>
          </a:xfrm>
          <a:prstGeom prst="roundRect">
            <a:avLst>
              <a:gd name="adj" fmla="val 17857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094720" y="219456"/>
            <a:ext cx="877824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6516623"/>
            <a:ext cx="8534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582400" y="6516623"/>
            <a:ext cx="48768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43840" y="914400"/>
            <a:ext cx="11582400" cy="1060704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43840" y="914400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26719" y="975360"/>
            <a:ext cx="30480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Hierarchy + Folders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6719" y="1365504"/>
            <a:ext cx="1950720" cy="292608"/>
          </a:xfrm>
          <a:prstGeom prst="roundRect">
            <a:avLst>
              <a:gd name="adj" fmla="val 16667"/>
            </a:avLst>
          </a:prstGeom>
          <a:solidFill>
            <a:srgbClr val="4285F4">
              <a:alpha val="20000"/>
            </a:srgbClr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26719" y="1365504"/>
            <a:ext cx="1950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Org-level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560319" y="999744"/>
            <a:ext cx="90830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→ Folders (prod, non-prod, shared, sandbox) → Projects. IAM and Org Policy inherited down hierarchy. Label policy enforced: env, owner, classification, cost-center.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43840" y="2060448"/>
            <a:ext cx="11582400" cy="1060704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43840" y="2060448"/>
            <a:ext cx="73152" cy="1060704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26719" y="2121408"/>
            <a:ext cx="30480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Policy Service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26719" y="2511552"/>
            <a:ext cx="1950720" cy="292608"/>
          </a:xfrm>
          <a:prstGeom prst="roundRect">
            <a:avLst>
              <a:gd name="adj" fmla="val 16667"/>
            </a:avLst>
          </a:prstGeom>
          <a:solidFill>
            <a:srgbClr val="1565C0">
              <a:alpha val="20000"/>
            </a:srgbClr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26719" y="2511552"/>
            <a:ext cx="1950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Policy-as-Code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560319" y="2145791"/>
            <a:ext cx="90830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enforcement at Org/Folder/Project. Critical: disable SA key creation, restrict resource locations, require Shielded VMs, deny internet access without approval, uniform bucket access.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43840" y="3206496"/>
            <a:ext cx="11582400" cy="1060704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43840" y="3206496"/>
            <a:ext cx="73152" cy="106070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26719" y="3267455"/>
            <a:ext cx="30480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Command Center Premium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719" y="3657600"/>
            <a:ext cx="1950720" cy="292608"/>
          </a:xfrm>
          <a:prstGeom prst="roundRect">
            <a:avLst>
              <a:gd name="adj" fmla="val 16667"/>
            </a:avLst>
          </a:prstGeom>
          <a:solidFill>
            <a:srgbClr val="0F4C75">
              <a:alpha val="20000"/>
            </a:srgbClr>
          </a:solidFill>
          <a:ln w="12700">
            <a:solidFill>
              <a:srgbClr val="0F4C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26719" y="3657600"/>
            <a:ext cx="1950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CSPM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560319" y="3291840"/>
            <a:ext cx="90830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CSPM + compliance: CIS GCP Foundations, PCI DSS, HIPAA, ISO 27001 assessments. Continuous posture monitoring. Risk dashboard. SLO-style security score per project.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43840" y="4352544"/>
            <a:ext cx="11582400" cy="1060704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43840" y="4352544"/>
            <a:ext cx="73152" cy="1060704"/>
          </a:xfrm>
          <a:prstGeom prst="rect">
            <a:avLst/>
          </a:prstGeom>
          <a:solidFill>
            <a:srgbClr val="F4A2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26719" y="4413504"/>
            <a:ext cx="30480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Intelligence / Recommender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6719" y="4803648"/>
            <a:ext cx="1950720" cy="292608"/>
          </a:xfrm>
          <a:prstGeom prst="roundRect">
            <a:avLst>
              <a:gd name="adj" fmla="val 16667"/>
            </a:avLst>
          </a:prstGeom>
          <a:solidFill>
            <a:srgbClr val="F4A261">
              <a:alpha val="20000"/>
            </a:srgbClr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26719" y="4803648"/>
            <a:ext cx="1950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Auto-remediation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560319" y="4437887"/>
            <a:ext cx="90830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Recommender: remove unused role bindings automatically. Role Recommender: right-size to predefined roles. Firewall Insights: remove unused/shadowed firewall rules.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43840" y="5498592"/>
            <a:ext cx="11582400" cy="1060704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43840" y="5498592"/>
            <a:ext cx="73152" cy="1060704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26719" y="5559552"/>
            <a:ext cx="30480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Deployment via Config Sync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26719" y="5949696"/>
            <a:ext cx="1950720" cy="292608"/>
          </a:xfrm>
          <a:prstGeom prst="roundRect">
            <a:avLst>
              <a:gd name="adj" fmla="val 16667"/>
            </a:avLst>
          </a:prstGeom>
          <a:solidFill>
            <a:srgbClr val="2E7D32">
              <a:alpha val="20000"/>
            </a:srgbClr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26719" y="5949696"/>
            <a:ext cx="1950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 / GitOps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2560319" y="5583935"/>
            <a:ext cx="90830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for Kubernetes config (Anthos Config Management / Config Sync). Terraform for GCP resources with Terraform Validator (gcloud Policy Library). All changes via PR + CI/CD.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87680" y="1706879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0F4C75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87680" y="2865119"/>
            <a:ext cx="10972800" cy="7924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Security Domains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87680" y="3755135"/>
            <a:ext cx="10972800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Identity  ·  Service ZT  ·  Dynamic Secrets  ·  DSPM  ·  Runtime Detection  ·  Supply Chain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7680" y="4267200"/>
            <a:ext cx="3657600" cy="48768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6516623"/>
            <a:ext cx="8534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582400" y="6516623"/>
            <a:ext cx="48768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Identity Governance</a:t>
            </a:r>
            <a:endParaRPr lang="en-US" sz="2200" dirty="0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0F275C0-1C51-FC65-4BE7-049A59CA97AB}"/>
              </a:ext>
            </a:extLst>
          </p:cNvPr>
          <p:cNvGrpSpPr/>
          <p:nvPr/>
        </p:nvGrpSpPr>
        <p:grpSpPr>
          <a:xfrm>
            <a:off x="243840" y="877825"/>
            <a:ext cx="11802386" cy="5833872"/>
            <a:chOff x="243840" y="877824"/>
            <a:chExt cx="15727678" cy="7351775"/>
          </a:xfrm>
        </p:grpSpPr>
        <p:sp>
          <p:nvSpPr>
            <p:cNvPr id="5" name="Shape 3"/>
            <p:cNvSpPr/>
            <p:nvPr/>
          </p:nvSpPr>
          <p:spPr>
            <a:xfrm>
              <a:off x="243840" y="877824"/>
              <a:ext cx="15605760" cy="365760"/>
            </a:xfrm>
            <a:prstGeom prst="rect">
              <a:avLst/>
            </a:prstGeom>
            <a:solidFill>
              <a:srgbClr val="C62828">
                <a:alpha val="15000"/>
              </a:srgbClr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Shape 4"/>
            <p:cNvSpPr/>
            <p:nvPr/>
          </p:nvSpPr>
          <p:spPr>
            <a:xfrm>
              <a:off x="243840" y="877824"/>
              <a:ext cx="73152" cy="365760"/>
            </a:xfrm>
            <a:prstGeom prst="rect">
              <a:avLst/>
            </a:prstGeom>
            <a:solidFill>
              <a:srgbClr val="C62828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 5"/>
            <p:cNvSpPr/>
            <p:nvPr/>
          </p:nvSpPr>
          <p:spPr>
            <a:xfrm>
              <a:off x="426719" y="877824"/>
              <a:ext cx="15361919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Problem: Machine identities outnumber human users in cloud environments and frequently have excessive privileges.</a:t>
              </a:r>
              <a:endParaRPr lang="en-US" sz="95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243840" y="1341120"/>
              <a:ext cx="5120639" cy="365760"/>
            </a:xfrm>
            <a:prstGeom prst="rect">
              <a:avLst/>
            </a:prstGeom>
            <a:solidFill>
              <a:srgbClr val="1565C0"/>
            </a:solidFill>
            <a:ln w="12700">
              <a:solidFill>
                <a:srgbClr val="1565C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 7"/>
            <p:cNvSpPr/>
            <p:nvPr/>
          </p:nvSpPr>
          <p:spPr>
            <a:xfrm>
              <a:off x="365760" y="1341120"/>
              <a:ext cx="48768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Inventory &amp; Discovery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243840" y="1731264"/>
              <a:ext cx="5120639" cy="156057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 9"/>
            <p:cNvSpPr/>
            <p:nvPr/>
          </p:nvSpPr>
          <p:spPr>
            <a:xfrm>
              <a:off x="390144" y="1767839"/>
              <a:ext cx="4815839" cy="14874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Centralized registry of all service accounts, IAM roles, and workload identities</a:t>
              </a:r>
              <a:endParaRPr lang="en-US" sz="85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243840" y="3377183"/>
              <a:ext cx="5120639" cy="156057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 11"/>
            <p:cNvSpPr/>
            <p:nvPr/>
          </p:nvSpPr>
          <p:spPr>
            <a:xfrm>
              <a:off x="390144" y="3413759"/>
              <a:ext cx="4815839" cy="14874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Automated discovery of stale or unused identities (IAM Access Advisor, GCP Policy Analyzer)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243840" y="5023104"/>
              <a:ext cx="5120639" cy="156057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 13"/>
            <p:cNvSpPr/>
            <p:nvPr/>
          </p:nvSpPr>
          <p:spPr>
            <a:xfrm>
              <a:off x="390144" y="5059680"/>
              <a:ext cx="4815839" cy="14874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Tag all machine identities with owning service and team</a:t>
              </a:r>
              <a:endParaRPr lang="en-US" sz="85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243840" y="6669023"/>
              <a:ext cx="5120639" cy="156057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 15"/>
            <p:cNvSpPr/>
            <p:nvPr/>
          </p:nvSpPr>
          <p:spPr>
            <a:xfrm>
              <a:off x="390144" y="6705600"/>
              <a:ext cx="4815839" cy="14874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Detect unmanaged or shadow identities via CSPM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47360" y="1341120"/>
              <a:ext cx="5120639" cy="365760"/>
            </a:xfrm>
            <a:prstGeom prst="rect">
              <a:avLst/>
            </a:prstGeom>
            <a:solidFill>
              <a:srgbClr val="0F4C75"/>
            </a:solidFill>
            <a:ln w="12700">
              <a:solidFill>
                <a:srgbClr val="0F4C7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 17"/>
            <p:cNvSpPr/>
            <p:nvPr/>
          </p:nvSpPr>
          <p:spPr>
            <a:xfrm>
              <a:off x="5669280" y="1341120"/>
              <a:ext cx="48768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Lifecycle Governance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547360" y="1731264"/>
              <a:ext cx="5120639" cy="156057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 19"/>
            <p:cNvSpPr/>
            <p:nvPr/>
          </p:nvSpPr>
          <p:spPr>
            <a:xfrm>
              <a:off x="5693664" y="1767839"/>
              <a:ext cx="4815839" cy="14874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Short-lived credentials via STS role assumption or OIDC federation</a:t>
              </a:r>
              <a:endParaRPr lang="en-US" sz="85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547360" y="3377183"/>
              <a:ext cx="5120639" cy="156057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 21"/>
            <p:cNvSpPr/>
            <p:nvPr/>
          </p:nvSpPr>
          <p:spPr>
            <a:xfrm>
              <a:off x="5693664" y="3413759"/>
              <a:ext cx="4815839" cy="14874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Automated rotation for any remaining static credentials</a:t>
              </a:r>
              <a:endParaRPr lang="en-US" sz="85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47360" y="5023104"/>
              <a:ext cx="5120639" cy="156057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 23"/>
            <p:cNvSpPr/>
            <p:nvPr/>
          </p:nvSpPr>
          <p:spPr>
            <a:xfrm>
              <a:off x="5693664" y="5059680"/>
              <a:ext cx="4815839" cy="14874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Review and revoke unused roles on a defined schedule</a:t>
              </a:r>
              <a:endParaRPr lang="en-US" sz="85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547360" y="6669023"/>
              <a:ext cx="5120639" cy="156057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 25"/>
            <p:cNvSpPr/>
            <p:nvPr/>
          </p:nvSpPr>
          <p:spPr>
            <a:xfrm>
              <a:off x="5693664" y="6705600"/>
              <a:ext cx="4815839" cy="14874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Enforce least-privilege via Permission Boundaries and Org Policy</a:t>
              </a:r>
              <a:endParaRPr lang="en-US" sz="85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10850879" y="1341120"/>
              <a:ext cx="5120639" cy="365760"/>
            </a:xfrm>
            <a:prstGeom prst="rect">
              <a:avLst/>
            </a:prstGeom>
            <a:solidFill>
              <a:srgbClr val="C62828"/>
            </a:solidFill>
            <a:ln w="12700">
              <a:solidFill>
                <a:srgbClr val="C6282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 27"/>
            <p:cNvSpPr/>
            <p:nvPr/>
          </p:nvSpPr>
          <p:spPr>
            <a:xfrm>
              <a:off x="10972800" y="1341120"/>
              <a:ext cx="48768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Threat Detection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10850879" y="1731264"/>
              <a:ext cx="5120639" cy="156057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 29"/>
            <p:cNvSpPr/>
            <p:nvPr/>
          </p:nvSpPr>
          <p:spPr>
            <a:xfrm>
              <a:off x="10997184" y="1767839"/>
              <a:ext cx="4815839" cy="14874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Alert on new static credentials issued outside approved process</a:t>
              </a:r>
              <a:endParaRPr lang="en-US" sz="85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10850879" y="3377183"/>
              <a:ext cx="5120639" cy="156057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 31"/>
            <p:cNvSpPr/>
            <p:nvPr/>
          </p:nvSpPr>
          <p:spPr>
            <a:xfrm>
              <a:off x="10997184" y="3413759"/>
              <a:ext cx="4815839" cy="14874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IAM Access Analyzer: detect privilege escalation paths</a:t>
              </a:r>
              <a:endParaRPr lang="en-US" sz="85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10850879" y="5023104"/>
              <a:ext cx="5120639" cy="156057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 33"/>
            <p:cNvSpPr/>
            <p:nvPr/>
          </p:nvSpPr>
          <p:spPr>
            <a:xfrm>
              <a:off x="10997184" y="5059680"/>
              <a:ext cx="4815839" cy="14874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Monitor for credential usage from unexpected regions</a:t>
              </a:r>
              <a:endParaRPr lang="en-US" sz="8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10850879" y="6669023"/>
              <a:ext cx="5120639" cy="156057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 35"/>
            <p:cNvSpPr/>
            <p:nvPr/>
          </p:nvSpPr>
          <p:spPr>
            <a:xfrm>
              <a:off x="10997184" y="6705600"/>
              <a:ext cx="4815839" cy="14874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GuardDuty / Defender CSPM policy violation alerts for machine identities</a:t>
              </a:r>
              <a:endParaRPr lang="en-US" sz="85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243840" y="6187439"/>
              <a:ext cx="15605760" cy="2682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i="1" dirty="0">
                  <a:solidFill>
                    <a:srgbClr val="90A4A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Outcome: Machine identities governed with the same rigor as human identities — inventoried, scoped, rotated, and monitored.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Service-to-Service Zero Trust</a:t>
            </a:r>
            <a:endParaRPr lang="en-US" sz="2200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104F3C4-C6DA-6249-49A9-3FCDE8E5CBB2}"/>
              </a:ext>
            </a:extLst>
          </p:cNvPr>
          <p:cNvGrpSpPr/>
          <p:nvPr/>
        </p:nvGrpSpPr>
        <p:grpSpPr>
          <a:xfrm>
            <a:off x="243840" y="877824"/>
            <a:ext cx="11782508" cy="5340096"/>
            <a:chOff x="243840" y="877824"/>
            <a:chExt cx="15605760" cy="5340096"/>
          </a:xfrm>
        </p:grpSpPr>
        <p:sp>
          <p:nvSpPr>
            <p:cNvPr id="5" name="Shape 3"/>
            <p:cNvSpPr/>
            <p:nvPr/>
          </p:nvSpPr>
          <p:spPr>
            <a:xfrm>
              <a:off x="243840" y="877824"/>
              <a:ext cx="15605760" cy="365760"/>
            </a:xfrm>
            <a:prstGeom prst="rect">
              <a:avLst/>
            </a:prstGeom>
            <a:solidFill>
              <a:srgbClr val="F4A261">
                <a:alpha val="20000"/>
              </a:srgbClr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Shape 4"/>
            <p:cNvSpPr/>
            <p:nvPr/>
          </p:nvSpPr>
          <p:spPr>
            <a:xfrm>
              <a:off x="243840" y="877824"/>
              <a:ext cx="73152" cy="365760"/>
            </a:xfrm>
            <a:prstGeom prst="rect">
              <a:avLst/>
            </a:prstGeom>
            <a:solidFill>
              <a:srgbClr val="F4A261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 5"/>
            <p:cNvSpPr/>
            <p:nvPr/>
          </p:nvSpPr>
          <p:spPr>
            <a:xfrm>
              <a:off x="426719" y="877824"/>
              <a:ext cx="15361919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Problem: Traditional network segmentation does not authenticate east-west service communication. Any compromised service has implicit trust.</a:t>
              </a:r>
              <a:endParaRPr lang="en-US" sz="95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267200" y="1402080"/>
              <a:ext cx="7680959" cy="390144"/>
            </a:xfrm>
            <a:prstGeom prst="rect">
              <a:avLst/>
            </a:prstGeom>
            <a:solidFill>
              <a:srgbClr val="0F4C75">
                <a:alpha val="70000"/>
              </a:srgbClr>
            </a:solidFill>
            <a:ln w="12700">
              <a:solidFill>
                <a:srgbClr val="0F4C7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 7"/>
            <p:cNvSpPr/>
            <p:nvPr/>
          </p:nvSpPr>
          <p:spPr>
            <a:xfrm>
              <a:off x="4267200" y="1402080"/>
              <a:ext cx="7680959" cy="3901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Control Plane: SPIFFE/SPIRE  ·  Istiod  ·  Certificate Authority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65760" y="2279904"/>
              <a:ext cx="4267200" cy="1645920"/>
            </a:xfrm>
            <a:prstGeom prst="rect">
              <a:avLst/>
            </a:prstGeom>
            <a:solidFill>
              <a:srgbClr val="1565C0">
                <a:alpha val="12000"/>
              </a:srgbClr>
            </a:solidFill>
            <a:ln w="12700">
              <a:solidFill>
                <a:srgbClr val="1565C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Shape 10"/>
            <p:cNvSpPr/>
            <p:nvPr/>
          </p:nvSpPr>
          <p:spPr>
            <a:xfrm>
              <a:off x="365760" y="2279904"/>
              <a:ext cx="4267200" cy="365760"/>
            </a:xfrm>
            <a:prstGeom prst="rect">
              <a:avLst/>
            </a:prstGeom>
            <a:solidFill>
              <a:srgbClr val="1565C0"/>
            </a:solidFill>
            <a:ln w="12700">
              <a:solidFill>
                <a:srgbClr val="1565C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 11"/>
            <p:cNvSpPr/>
            <p:nvPr/>
          </p:nvSpPr>
          <p:spPr>
            <a:xfrm>
              <a:off x="365760" y="2279904"/>
              <a:ext cx="42672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Service A</a:t>
              </a:r>
              <a:endParaRPr lang="en-US" sz="11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87680" y="2718816"/>
              <a:ext cx="4023359" cy="1146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SPIFFE ID: spiffe://example/svc-a</a:t>
              </a:r>
              <a:endParaRPr lang="en-US" sz="850" dirty="0"/>
            </a:p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SVID cert from SPIRE agent</a:t>
              </a:r>
              <a:endParaRPr lang="en-US" sz="850" dirty="0"/>
            </a:p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Envoy sidecar proxy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93920" y="2865119"/>
              <a:ext cx="3169919" cy="48768"/>
            </a:xfrm>
            <a:prstGeom prst="rect">
              <a:avLst/>
            </a:prstGeom>
            <a:solidFill>
              <a:srgbClr val="2E7D32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 14"/>
            <p:cNvSpPr/>
            <p:nvPr/>
          </p:nvSpPr>
          <p:spPr>
            <a:xfrm>
              <a:off x="4693920" y="2499360"/>
              <a:ext cx="3169919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2E7D3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mTLS  ·  AuthZ Policy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4693920" y="2926080"/>
              <a:ext cx="3169919" cy="63398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50" dirty="0">
                  <a:solidFill>
                    <a:srgbClr val="90A4A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Mutual auth + encrypted</a:t>
              </a:r>
              <a:endParaRPr lang="en-US" sz="750" dirty="0"/>
            </a:p>
            <a:p>
              <a:pPr marL="0" indent="0" algn="ctr">
                <a:buNone/>
              </a:pPr>
              <a:r>
                <a:rPr lang="en-US" sz="750" dirty="0">
                  <a:solidFill>
                    <a:srgbClr val="90A4A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Layer 7 policy enforced</a:t>
              </a:r>
              <a:endParaRPr lang="en-US" sz="7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924800" y="2279904"/>
              <a:ext cx="4267200" cy="1645920"/>
            </a:xfrm>
            <a:prstGeom prst="rect">
              <a:avLst/>
            </a:prstGeom>
            <a:solidFill>
              <a:srgbClr val="4285F4">
                <a:alpha val="12000"/>
              </a:srgbClr>
            </a:solidFill>
            <a:ln w="12700">
              <a:solidFill>
                <a:srgbClr val="4285F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4800" y="2279904"/>
              <a:ext cx="4267200" cy="365760"/>
            </a:xfrm>
            <a:prstGeom prst="rect">
              <a:avLst/>
            </a:prstGeom>
            <a:solidFill>
              <a:srgbClr val="4285F4"/>
            </a:solidFill>
            <a:ln w="12700">
              <a:solidFill>
                <a:srgbClr val="4285F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 18"/>
            <p:cNvSpPr/>
            <p:nvPr/>
          </p:nvSpPr>
          <p:spPr>
            <a:xfrm>
              <a:off x="7924800" y="2279904"/>
              <a:ext cx="42672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Service B</a:t>
              </a:r>
              <a:endParaRPr lang="en-US" sz="11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046719" y="2718816"/>
              <a:ext cx="4023359" cy="1146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SPIFFE ID: spiffe://example/svc-b</a:t>
              </a:r>
              <a:endParaRPr lang="en-US" sz="850" dirty="0"/>
            </a:p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SVID cert verified by Envoy</a:t>
              </a:r>
              <a:endParaRPr lang="en-US" sz="850" dirty="0"/>
            </a:p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AuthorizationPolicy enforced</a:t>
              </a:r>
              <a:endParaRPr lang="en-US" sz="85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243840" y="4267200"/>
              <a:ext cx="15605760" cy="316991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 21"/>
            <p:cNvSpPr/>
            <p:nvPr/>
          </p:nvSpPr>
          <p:spPr>
            <a:xfrm>
              <a:off x="426719" y="4267200"/>
              <a:ext cx="1828800" cy="31699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0F4C7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Technologies: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316480" y="4267200"/>
              <a:ext cx="13289279" cy="31699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Istio or Linkerd service mesh  ·  SPIFFE/SPIRE workload identity  ·  Envoy proxy enforcement  ·  AWS App Mesh  ·  Azure Service Mesh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243840" y="4730496"/>
              <a:ext cx="7559039" cy="316991"/>
            </a:xfrm>
            <a:prstGeom prst="rect">
              <a:avLst/>
            </a:prstGeom>
            <a:solidFill>
              <a:srgbClr val="0F4C75"/>
            </a:solidFill>
            <a:ln w="12700">
              <a:solidFill>
                <a:srgbClr val="0F4C7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 24"/>
            <p:cNvSpPr/>
            <p:nvPr/>
          </p:nvSpPr>
          <p:spPr>
            <a:xfrm>
              <a:off x="365760" y="4730496"/>
              <a:ext cx="7315200" cy="31699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Controls</a:t>
              </a:r>
              <a:endParaRPr lang="en-US" sz="9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65760" y="5071871"/>
              <a:ext cx="73152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Mutual TLS authentication between all services</a:t>
              </a:r>
              <a:endParaRPr lang="en-US" sz="85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365760" y="5462016"/>
              <a:ext cx="73152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Identity-based authorization policies (deny-by-default)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365760" y="5852160"/>
              <a:ext cx="73152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Layer 7 traffic inspection and observability</a:t>
              </a:r>
              <a:endParaRPr lang="en-US" sz="85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8168639" y="4730496"/>
              <a:ext cx="7559039" cy="316991"/>
            </a:xfrm>
            <a:prstGeom prst="rect">
              <a:avLst/>
            </a:prstGeom>
            <a:solidFill>
              <a:srgbClr val="F4A261"/>
            </a:solidFill>
            <a:ln w="12700">
              <a:solidFill>
                <a:srgbClr val="F4A261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 29"/>
            <p:cNvSpPr/>
            <p:nvPr/>
          </p:nvSpPr>
          <p:spPr>
            <a:xfrm>
              <a:off x="8290559" y="4730496"/>
              <a:ext cx="7315200" cy="31699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Operational Note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290559" y="5071871"/>
              <a:ext cx="73152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Assess control plane reliability, cert lifecycle, and team expertise before mandating mesh across all workloads</a:t>
              </a:r>
              <a:endParaRPr lang="en-US" sz="85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290559" y="5462016"/>
              <a:ext cx="73152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Phased adoption starting with high-risk services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Secrets Architecture</a:t>
            </a:r>
            <a:endParaRPr lang="en-US" sz="2200" dirty="0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9C1B510D-C9F0-62EF-E5DD-3D26DDA78C29}"/>
              </a:ext>
            </a:extLst>
          </p:cNvPr>
          <p:cNvGrpSpPr/>
          <p:nvPr/>
        </p:nvGrpSpPr>
        <p:grpSpPr>
          <a:xfrm>
            <a:off x="243840" y="876300"/>
            <a:ext cx="11704319" cy="3685031"/>
            <a:chOff x="243840" y="877824"/>
            <a:chExt cx="15605760" cy="4913375"/>
          </a:xfrm>
        </p:grpSpPr>
        <p:sp>
          <p:nvSpPr>
            <p:cNvPr id="5" name="Shape 3"/>
            <p:cNvSpPr/>
            <p:nvPr/>
          </p:nvSpPr>
          <p:spPr>
            <a:xfrm>
              <a:off x="243840" y="877824"/>
              <a:ext cx="15605760" cy="365760"/>
            </a:xfrm>
            <a:prstGeom prst="rect">
              <a:avLst/>
            </a:prstGeom>
            <a:solidFill>
              <a:srgbClr val="C62828">
                <a:alpha val="15000"/>
              </a:srgbClr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Shape 4"/>
            <p:cNvSpPr/>
            <p:nvPr/>
          </p:nvSpPr>
          <p:spPr>
            <a:xfrm>
              <a:off x="243840" y="877824"/>
              <a:ext cx="73152" cy="365760"/>
            </a:xfrm>
            <a:prstGeom prst="rect">
              <a:avLst/>
            </a:prstGeom>
            <a:solidFill>
              <a:srgbClr val="C62828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 5"/>
            <p:cNvSpPr/>
            <p:nvPr/>
          </p:nvSpPr>
          <p:spPr>
            <a:xfrm>
              <a:off x="426719" y="877824"/>
              <a:ext cx="15361919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Problem: Static credentials embedded in applications increase breach impact. A single leaked secret exposes the entire lifetime of a service.</a:t>
              </a:r>
              <a:endParaRPr lang="en-US" sz="95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4800" y="1365504"/>
              <a:ext cx="4632960" cy="1950720"/>
            </a:xfrm>
            <a:prstGeom prst="rect">
              <a:avLst/>
            </a:prstGeom>
            <a:solidFill>
              <a:srgbClr val="1565C0">
                <a:alpha val="12000"/>
              </a:srgbClr>
            </a:solidFill>
            <a:ln w="12700">
              <a:solidFill>
                <a:srgbClr val="1565C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304800" y="1365504"/>
              <a:ext cx="4632960" cy="365760"/>
            </a:xfrm>
            <a:prstGeom prst="rect">
              <a:avLst/>
            </a:prstGeom>
            <a:solidFill>
              <a:srgbClr val="1565C0"/>
            </a:solidFill>
            <a:ln w="12700">
              <a:solidFill>
                <a:srgbClr val="1565C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304800" y="1365504"/>
              <a:ext cx="463296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Application / Workload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6719" y="1804415"/>
              <a:ext cx="4389120" cy="1463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IRSA / Workload Identity</a:t>
              </a:r>
              <a:endParaRPr lang="en-US" sz="900" dirty="0"/>
            </a:p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No stored credentials</a:t>
              </a:r>
              <a:endParaRPr lang="en-US" sz="9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98720" y="2292096"/>
              <a:ext cx="585216" cy="48768"/>
            </a:xfrm>
            <a:prstGeom prst="rect">
              <a:avLst/>
            </a:prstGeom>
            <a:solidFill>
              <a:srgbClr val="90A4A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Shape 11"/>
            <p:cNvSpPr/>
            <p:nvPr/>
          </p:nvSpPr>
          <p:spPr>
            <a:xfrm>
              <a:off x="5364480" y="1365504"/>
              <a:ext cx="4632960" cy="1950720"/>
            </a:xfrm>
            <a:prstGeom prst="rect">
              <a:avLst/>
            </a:prstGeom>
            <a:solidFill>
              <a:srgbClr val="0F4C75">
                <a:alpha val="12000"/>
              </a:srgbClr>
            </a:solidFill>
            <a:ln w="12700">
              <a:solidFill>
                <a:srgbClr val="0F4C7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Shape 12"/>
            <p:cNvSpPr/>
            <p:nvPr/>
          </p:nvSpPr>
          <p:spPr>
            <a:xfrm>
              <a:off x="5364480" y="1365504"/>
              <a:ext cx="4632960" cy="365760"/>
            </a:xfrm>
            <a:prstGeom prst="rect">
              <a:avLst/>
            </a:prstGeom>
            <a:solidFill>
              <a:srgbClr val="0F4C75"/>
            </a:solidFill>
            <a:ln w="12700">
              <a:solidFill>
                <a:srgbClr val="0F4C7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 13"/>
            <p:cNvSpPr/>
            <p:nvPr/>
          </p:nvSpPr>
          <p:spPr>
            <a:xfrm>
              <a:off x="5364480" y="1365504"/>
              <a:ext cx="463296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Secrets Vault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486400" y="1804415"/>
              <a:ext cx="4389120" cy="1463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AWS Secrets Manager</a:t>
              </a:r>
              <a:endParaRPr lang="en-US" sz="900" dirty="0"/>
            </a:p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HashiCorp Vault</a:t>
              </a:r>
              <a:endParaRPr lang="en-US" sz="900" dirty="0"/>
            </a:p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Azure Key Vault</a:t>
              </a:r>
              <a:endParaRPr lang="en-US" sz="900" dirty="0"/>
            </a:p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GCP Secret Manager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10058400" y="2292096"/>
              <a:ext cx="585216" cy="48768"/>
            </a:xfrm>
            <a:prstGeom prst="rect">
              <a:avLst/>
            </a:prstGeom>
            <a:solidFill>
              <a:srgbClr val="90A4A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Shape 16"/>
            <p:cNvSpPr/>
            <p:nvPr/>
          </p:nvSpPr>
          <p:spPr>
            <a:xfrm>
              <a:off x="10424160" y="1365504"/>
              <a:ext cx="4632960" cy="1950720"/>
            </a:xfrm>
            <a:prstGeom prst="rect">
              <a:avLst/>
            </a:prstGeom>
            <a:solidFill>
              <a:srgbClr val="4285F4">
                <a:alpha val="12000"/>
              </a:srgbClr>
            </a:solidFill>
            <a:ln w="12700">
              <a:solidFill>
                <a:srgbClr val="4285F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Shape 17"/>
            <p:cNvSpPr/>
            <p:nvPr/>
          </p:nvSpPr>
          <p:spPr>
            <a:xfrm>
              <a:off x="10424160" y="1365504"/>
              <a:ext cx="4632959" cy="365760"/>
            </a:xfrm>
            <a:prstGeom prst="rect">
              <a:avLst/>
            </a:prstGeom>
            <a:solidFill>
              <a:srgbClr val="4285F4"/>
            </a:solidFill>
            <a:ln w="12700">
              <a:solidFill>
                <a:srgbClr val="4285F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 18"/>
            <p:cNvSpPr/>
            <p:nvPr/>
          </p:nvSpPr>
          <p:spPr>
            <a:xfrm>
              <a:off x="10424160" y="1365504"/>
              <a:ext cx="463296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Backend Resource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10546079" y="1804415"/>
              <a:ext cx="4389120" cy="1463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Database</a:t>
              </a:r>
              <a:endParaRPr lang="en-US" sz="900" dirty="0"/>
            </a:p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Message Broker</a:t>
              </a:r>
              <a:endParaRPr lang="en-US" sz="900" dirty="0"/>
            </a:p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External API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243840" y="3499104"/>
              <a:ext cx="15605760" cy="316991"/>
            </a:xfrm>
            <a:prstGeom prst="rect">
              <a:avLst/>
            </a:prstGeom>
            <a:solidFill>
              <a:srgbClr val="2E7D32">
                <a:alpha val="12000"/>
              </a:srgbClr>
            </a:solidFill>
            <a:ln w="6350">
              <a:solidFill>
                <a:srgbClr val="2E7D3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 21"/>
            <p:cNvSpPr/>
            <p:nvPr/>
          </p:nvSpPr>
          <p:spPr>
            <a:xfrm>
              <a:off x="426719" y="3499104"/>
              <a:ext cx="15240000" cy="31699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Credential lifecycle: dynamically issued at runtime  ·  TTL enforced (minutes to hours)  ·  automatically rotated or expired  ·  never stored in code or environment variables</a:t>
              </a:r>
              <a:endParaRPr lang="en-US" sz="85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243840" y="3986783"/>
              <a:ext cx="3779519" cy="341376"/>
            </a:xfrm>
            <a:prstGeom prst="rect">
              <a:avLst/>
            </a:prstGeom>
            <a:solidFill>
              <a:srgbClr val="FF9900"/>
            </a:solidFill>
            <a:ln w="12700">
              <a:solidFill>
                <a:srgbClr val="FF990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 23"/>
            <p:cNvSpPr/>
            <p:nvPr/>
          </p:nvSpPr>
          <p:spPr>
            <a:xfrm>
              <a:off x="365760" y="3986783"/>
              <a:ext cx="3535679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AWS Controls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43840" y="4352544"/>
              <a:ext cx="3779519" cy="463295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 25"/>
            <p:cNvSpPr/>
            <p:nvPr/>
          </p:nvSpPr>
          <p:spPr>
            <a:xfrm>
              <a:off x="365760" y="4352544"/>
              <a:ext cx="3535679" cy="46329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Secrets Manager: auto-rotation via Lambda</a:t>
              </a:r>
              <a:endParaRPr lang="en-US" sz="75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243840" y="4840223"/>
              <a:ext cx="3779519" cy="463295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 27"/>
            <p:cNvSpPr/>
            <p:nvPr/>
          </p:nvSpPr>
          <p:spPr>
            <a:xfrm>
              <a:off x="365760" y="4840223"/>
              <a:ext cx="3535679" cy="46329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STS AssumeRole for temporary credentials</a:t>
              </a:r>
              <a:endParaRPr lang="en-US" sz="75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243840" y="5327904"/>
              <a:ext cx="3779519" cy="463295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 29"/>
            <p:cNvSpPr/>
            <p:nvPr/>
          </p:nvSpPr>
          <p:spPr>
            <a:xfrm>
              <a:off x="365760" y="5327904"/>
              <a:ext cx="3535679" cy="46329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External Secrets Operator for Kubernetes</a:t>
              </a:r>
              <a:endParaRPr lang="en-US" sz="75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181855" y="3986783"/>
              <a:ext cx="3779519" cy="341376"/>
            </a:xfrm>
            <a:prstGeom prst="rect">
              <a:avLst/>
            </a:prstGeom>
            <a:solidFill>
              <a:srgbClr val="0078D4"/>
            </a:solidFill>
            <a:ln w="12700">
              <a:solidFill>
                <a:srgbClr val="0078D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 31"/>
            <p:cNvSpPr/>
            <p:nvPr/>
          </p:nvSpPr>
          <p:spPr>
            <a:xfrm>
              <a:off x="4303776" y="3986783"/>
              <a:ext cx="3535679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Azure Controls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181855" y="4352544"/>
              <a:ext cx="3779519" cy="463295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 33"/>
            <p:cNvSpPr/>
            <p:nvPr/>
          </p:nvSpPr>
          <p:spPr>
            <a:xfrm>
              <a:off x="4303776" y="4352544"/>
              <a:ext cx="3535679" cy="46329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Key Vault: managed references</a:t>
              </a:r>
              <a:endParaRPr lang="en-US" sz="7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81855" y="4840223"/>
              <a:ext cx="3779519" cy="463295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 35"/>
            <p:cNvSpPr/>
            <p:nvPr/>
          </p:nvSpPr>
          <p:spPr>
            <a:xfrm>
              <a:off x="4303776" y="4840223"/>
              <a:ext cx="3535679" cy="46329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Managed Identity eliminates stored secrets</a:t>
              </a:r>
              <a:endParaRPr lang="en-US" sz="7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181855" y="5327904"/>
              <a:ext cx="3779519" cy="463295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 37"/>
            <p:cNvSpPr/>
            <p:nvPr/>
          </p:nvSpPr>
          <p:spPr>
            <a:xfrm>
              <a:off x="4303776" y="5327904"/>
              <a:ext cx="3535679" cy="46329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Pod Identity / Workload Identity for AKS</a:t>
              </a:r>
              <a:endParaRPr lang="en-US" sz="7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8119871" y="3986783"/>
              <a:ext cx="3779519" cy="341376"/>
            </a:xfrm>
            <a:prstGeom prst="rect">
              <a:avLst/>
            </a:prstGeom>
            <a:solidFill>
              <a:srgbClr val="4285F4"/>
            </a:solidFill>
            <a:ln w="12700">
              <a:solidFill>
                <a:srgbClr val="4285F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Text 39"/>
            <p:cNvSpPr/>
            <p:nvPr/>
          </p:nvSpPr>
          <p:spPr>
            <a:xfrm>
              <a:off x="8241792" y="3986783"/>
              <a:ext cx="3535679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GCP Controls</a:t>
              </a:r>
              <a:endParaRPr lang="en-US" sz="9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8119871" y="4352544"/>
              <a:ext cx="3779519" cy="463295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 41"/>
            <p:cNvSpPr/>
            <p:nvPr/>
          </p:nvSpPr>
          <p:spPr>
            <a:xfrm>
              <a:off x="8241792" y="4352544"/>
              <a:ext cx="3535679" cy="46329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Secret Manager with versioning + CMEK</a:t>
              </a:r>
              <a:endParaRPr lang="en-US" sz="7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8119871" y="4840223"/>
              <a:ext cx="3779519" cy="463295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Text 43"/>
            <p:cNvSpPr/>
            <p:nvPr/>
          </p:nvSpPr>
          <p:spPr>
            <a:xfrm>
              <a:off x="8241792" y="4840223"/>
              <a:ext cx="3535679" cy="46329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Workload Identity for GKE</a:t>
              </a:r>
              <a:endParaRPr lang="en-US" sz="7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19871" y="5327904"/>
              <a:ext cx="3779519" cy="463295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Text 45"/>
            <p:cNvSpPr/>
            <p:nvPr/>
          </p:nvSpPr>
          <p:spPr>
            <a:xfrm>
              <a:off x="8241792" y="5327904"/>
              <a:ext cx="3535679" cy="46329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HashiCorp Vault GCP auth method</a:t>
              </a:r>
              <a:endParaRPr lang="en-US" sz="7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12057888" y="3986783"/>
              <a:ext cx="3779519" cy="341376"/>
            </a:xfrm>
            <a:prstGeom prst="rect">
              <a:avLst/>
            </a:prstGeom>
            <a:solidFill>
              <a:srgbClr val="0F4C75"/>
            </a:solidFill>
            <a:ln w="12700">
              <a:solidFill>
                <a:srgbClr val="0F4C7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 47"/>
            <p:cNvSpPr/>
            <p:nvPr/>
          </p:nvSpPr>
          <p:spPr>
            <a:xfrm>
              <a:off x="12179808" y="3986783"/>
              <a:ext cx="3535679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Kubernetes Pattern</a:t>
              </a:r>
              <a:endParaRPr lang="en-US" sz="9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12057888" y="4352544"/>
              <a:ext cx="3779519" cy="463295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 49"/>
            <p:cNvSpPr/>
            <p:nvPr/>
          </p:nvSpPr>
          <p:spPr>
            <a:xfrm>
              <a:off x="12179808" y="4352544"/>
              <a:ext cx="3535679" cy="46329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External Secrets Operator (ESO)</a:t>
              </a:r>
              <a:endParaRPr lang="en-US" sz="75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12057888" y="4840223"/>
              <a:ext cx="3779519" cy="463295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 51"/>
            <p:cNvSpPr/>
            <p:nvPr/>
          </p:nvSpPr>
          <p:spPr>
            <a:xfrm>
              <a:off x="12179808" y="4840223"/>
              <a:ext cx="3535679" cy="46329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Vault Agent Injector (sidecar)</a:t>
              </a:r>
              <a:endParaRPr lang="en-US" sz="750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12057888" y="5327904"/>
              <a:ext cx="3779519" cy="463295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 53"/>
            <p:cNvSpPr/>
            <p:nvPr/>
          </p:nvSpPr>
          <p:spPr>
            <a:xfrm>
              <a:off x="12179808" y="5327904"/>
              <a:ext cx="3535679" cy="46329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CSI Secret Store driver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Security Posture Management (DSPM)</a:t>
            </a:r>
            <a:endParaRPr lang="en-US" sz="2200" dirty="0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8EDC8E14-3A7E-6B2E-F5D3-A200F3156376}"/>
              </a:ext>
            </a:extLst>
          </p:cNvPr>
          <p:cNvGrpSpPr/>
          <p:nvPr/>
        </p:nvGrpSpPr>
        <p:grpSpPr>
          <a:xfrm>
            <a:off x="243840" y="877825"/>
            <a:ext cx="11948160" cy="5833872"/>
            <a:chOff x="243840" y="877824"/>
            <a:chExt cx="15727678" cy="6412991"/>
          </a:xfrm>
        </p:grpSpPr>
        <p:sp>
          <p:nvSpPr>
            <p:cNvPr id="5" name="Shape 3"/>
            <p:cNvSpPr/>
            <p:nvPr/>
          </p:nvSpPr>
          <p:spPr>
            <a:xfrm>
              <a:off x="243840" y="877824"/>
              <a:ext cx="15605760" cy="365760"/>
            </a:xfrm>
            <a:prstGeom prst="rect">
              <a:avLst/>
            </a:prstGeom>
            <a:solidFill>
              <a:srgbClr val="C62828">
                <a:alpha val="15000"/>
              </a:srgbClr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Shape 4"/>
            <p:cNvSpPr/>
            <p:nvPr/>
          </p:nvSpPr>
          <p:spPr>
            <a:xfrm>
              <a:off x="243840" y="877824"/>
              <a:ext cx="73152" cy="365760"/>
            </a:xfrm>
            <a:prstGeom prst="rect">
              <a:avLst/>
            </a:prstGeom>
            <a:solidFill>
              <a:srgbClr val="C62828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 5"/>
            <p:cNvSpPr/>
            <p:nvPr/>
          </p:nvSpPr>
          <p:spPr>
            <a:xfrm>
              <a:off x="426719" y="877824"/>
              <a:ext cx="15361919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Problem: Sensitive data (PII, PCI, PHI) is scattered across cloud storage, databases, and data lakes — often without visibility or consistent classification.</a:t>
              </a:r>
              <a:endParaRPr lang="en-US" sz="95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243840" y="1341120"/>
              <a:ext cx="5120639" cy="365760"/>
            </a:xfrm>
            <a:prstGeom prst="rect">
              <a:avLst/>
            </a:prstGeom>
            <a:solidFill>
              <a:srgbClr val="1565C0"/>
            </a:solidFill>
            <a:ln w="12700">
              <a:solidFill>
                <a:srgbClr val="1565C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 7"/>
            <p:cNvSpPr/>
            <p:nvPr/>
          </p:nvSpPr>
          <p:spPr>
            <a:xfrm>
              <a:off x="365760" y="1341120"/>
              <a:ext cx="48768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1. Discover</a:t>
              </a:r>
              <a:endParaRPr lang="en-US" sz="11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243840" y="1731264"/>
              <a:ext cx="5120639" cy="121920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 9"/>
            <p:cNvSpPr/>
            <p:nvPr/>
          </p:nvSpPr>
          <p:spPr>
            <a:xfrm>
              <a:off x="390144" y="1731264"/>
              <a:ext cx="4815839" cy="1219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Automated scanning of all data stores</a:t>
              </a:r>
              <a:endParaRPr lang="en-US" sz="9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243840" y="3011424"/>
              <a:ext cx="5120639" cy="12192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 11"/>
            <p:cNvSpPr/>
            <p:nvPr/>
          </p:nvSpPr>
          <p:spPr>
            <a:xfrm>
              <a:off x="390144" y="3011424"/>
              <a:ext cx="4815839" cy="1219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S3, GCS, Azure Blob, BigQuery, RDS, Cosmos DB</a:t>
              </a:r>
              <a:endParaRPr lang="en-US" sz="9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243840" y="4291583"/>
              <a:ext cx="5120639" cy="121920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 13"/>
            <p:cNvSpPr/>
            <p:nvPr/>
          </p:nvSpPr>
          <p:spPr>
            <a:xfrm>
              <a:off x="390144" y="4291583"/>
              <a:ext cx="4815839" cy="1219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Identifies data location, type, and ownership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243840" y="5571744"/>
              <a:ext cx="5120639" cy="12192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 15"/>
            <p:cNvSpPr/>
            <p:nvPr/>
          </p:nvSpPr>
          <p:spPr>
            <a:xfrm>
              <a:off x="390144" y="5571744"/>
              <a:ext cx="4815839" cy="1219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Shadow data stores detected via API enumeration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47360" y="1341120"/>
              <a:ext cx="5120639" cy="365760"/>
            </a:xfrm>
            <a:prstGeom prst="rect">
              <a:avLst/>
            </a:prstGeom>
            <a:solidFill>
              <a:srgbClr val="0F4C75"/>
            </a:solidFill>
            <a:ln w="12700">
              <a:solidFill>
                <a:srgbClr val="0F4C7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 17"/>
            <p:cNvSpPr/>
            <p:nvPr/>
          </p:nvSpPr>
          <p:spPr>
            <a:xfrm>
              <a:off x="5669280" y="1341120"/>
              <a:ext cx="48768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2. Classify</a:t>
              </a:r>
              <a:endParaRPr lang="en-US" sz="11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547360" y="1731264"/>
              <a:ext cx="5120639" cy="121920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 19"/>
            <p:cNvSpPr/>
            <p:nvPr/>
          </p:nvSpPr>
          <p:spPr>
            <a:xfrm>
              <a:off x="5693664" y="1731264"/>
              <a:ext cx="4815839" cy="1219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PII: names, SSNs, email, addresses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547360" y="3011424"/>
              <a:ext cx="5120639" cy="12192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 21"/>
            <p:cNvSpPr/>
            <p:nvPr/>
          </p:nvSpPr>
          <p:spPr>
            <a:xfrm>
              <a:off x="5693664" y="3011424"/>
              <a:ext cx="4815839" cy="1219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PCI: card numbers, PAN data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47360" y="4291583"/>
              <a:ext cx="5120639" cy="121920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 23"/>
            <p:cNvSpPr/>
            <p:nvPr/>
          </p:nvSpPr>
          <p:spPr>
            <a:xfrm>
              <a:off x="5693664" y="4291583"/>
              <a:ext cx="4815839" cy="1219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PHI: health records, diagnosis data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547360" y="5571744"/>
              <a:ext cx="5120639" cy="12192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 25"/>
            <p:cNvSpPr/>
            <p:nvPr/>
          </p:nvSpPr>
          <p:spPr>
            <a:xfrm>
              <a:off x="5693664" y="5571744"/>
              <a:ext cx="4815839" cy="1219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Machine learning classifiers + regex patterns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10850879" y="1341120"/>
              <a:ext cx="5120639" cy="365760"/>
            </a:xfrm>
            <a:prstGeom prst="rect">
              <a:avLst/>
            </a:prstGeom>
            <a:solidFill>
              <a:srgbClr val="4285F4"/>
            </a:solidFill>
            <a:ln w="12700">
              <a:solidFill>
                <a:srgbClr val="4285F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 27"/>
            <p:cNvSpPr/>
            <p:nvPr/>
          </p:nvSpPr>
          <p:spPr>
            <a:xfrm>
              <a:off x="10972800" y="1341120"/>
              <a:ext cx="48768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3. Monitor</a:t>
              </a:r>
              <a:endParaRPr lang="en-US" sz="11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10850879" y="1731264"/>
              <a:ext cx="5120639" cy="121920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 29"/>
            <p:cNvSpPr/>
            <p:nvPr/>
          </p:nvSpPr>
          <p:spPr>
            <a:xfrm>
              <a:off x="10997184" y="1731264"/>
              <a:ext cx="4815839" cy="1219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Continuous monitoring of encryption status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10850879" y="3011424"/>
              <a:ext cx="5120639" cy="12192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 31"/>
            <p:cNvSpPr/>
            <p:nvPr/>
          </p:nvSpPr>
          <p:spPr>
            <a:xfrm>
              <a:off x="10997184" y="3011424"/>
              <a:ext cx="4815839" cy="1219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Detect exposed or publicly accessible data stores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10850879" y="4291583"/>
              <a:ext cx="5120639" cy="121920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 33"/>
            <p:cNvSpPr/>
            <p:nvPr/>
          </p:nvSpPr>
          <p:spPr>
            <a:xfrm>
              <a:off x="10997184" y="4291583"/>
              <a:ext cx="4815839" cy="1219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Alert on access policy changes on sensitive data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10850879" y="5571744"/>
              <a:ext cx="5120639" cy="12192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 35"/>
            <p:cNvSpPr/>
            <p:nvPr/>
          </p:nvSpPr>
          <p:spPr>
            <a:xfrm>
              <a:off x="10997184" y="5571744"/>
              <a:ext cx="4815839" cy="1219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Remediation workflows triggered via CSPM</a:t>
              </a:r>
              <a:endParaRPr lang="en-US" sz="9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243840" y="6949439"/>
              <a:ext cx="15605760" cy="34137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 37"/>
            <p:cNvSpPr/>
            <p:nvPr/>
          </p:nvSpPr>
          <p:spPr>
            <a:xfrm>
              <a:off x="426719" y="6949439"/>
              <a:ext cx="975360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0F4C7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Tools: </a:t>
              </a:r>
              <a:endParaRPr lang="en-US" sz="9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1402080" y="6949439"/>
              <a:ext cx="14264639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AWS Macie (S3 PII/PHI discovery)  ·  Microsoft Purview (multi-cloud data governance)  ·  Google Cloud DLP (API + inline scanning)  ·  Wiz DSPM  ·  Varonis</a:t>
              </a:r>
              <a:endParaRPr lang="en-US" sz="9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Threat Detection</a:t>
            </a:r>
            <a:endParaRPr lang="en-US" sz="2200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4607213-3DE6-6F68-F589-0F78C0AC98F2}"/>
              </a:ext>
            </a:extLst>
          </p:cNvPr>
          <p:cNvGrpSpPr/>
          <p:nvPr/>
        </p:nvGrpSpPr>
        <p:grpSpPr>
          <a:xfrm>
            <a:off x="243840" y="877824"/>
            <a:ext cx="11819823" cy="5833872"/>
            <a:chOff x="243840" y="877824"/>
            <a:chExt cx="15605760" cy="6632448"/>
          </a:xfrm>
        </p:grpSpPr>
        <p:sp>
          <p:nvSpPr>
            <p:cNvPr id="5" name="Shape 3"/>
            <p:cNvSpPr/>
            <p:nvPr/>
          </p:nvSpPr>
          <p:spPr>
            <a:xfrm>
              <a:off x="243840" y="877824"/>
              <a:ext cx="15605760" cy="365760"/>
            </a:xfrm>
            <a:prstGeom prst="rect">
              <a:avLst/>
            </a:prstGeom>
            <a:solidFill>
              <a:srgbClr val="F4A261">
                <a:alpha val="20000"/>
              </a:srgbClr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Shape 4"/>
            <p:cNvSpPr/>
            <p:nvPr/>
          </p:nvSpPr>
          <p:spPr>
            <a:xfrm>
              <a:off x="243840" y="877824"/>
              <a:ext cx="73152" cy="365760"/>
            </a:xfrm>
            <a:prstGeom prst="rect">
              <a:avLst/>
            </a:prstGeom>
            <a:solidFill>
              <a:srgbClr val="F4A261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 5"/>
            <p:cNvSpPr/>
            <p:nvPr/>
          </p:nvSpPr>
          <p:spPr>
            <a:xfrm>
              <a:off x="426719" y="877824"/>
              <a:ext cx="15361919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Problem: Log-based monitoring detects attacks minutes to hours after compromise. Runtime detection identifies malicious behavior inside running workloads.</a:t>
              </a:r>
              <a:endParaRPr lang="en-US" sz="95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243840" y="1316736"/>
              <a:ext cx="15605760" cy="302361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243840" y="1316736"/>
              <a:ext cx="73152" cy="3023616"/>
            </a:xfrm>
            <a:prstGeom prst="rect">
              <a:avLst/>
            </a:prstGeom>
            <a:solidFill>
              <a:srgbClr val="0F4C75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Shape 8"/>
            <p:cNvSpPr/>
            <p:nvPr/>
          </p:nvSpPr>
          <p:spPr>
            <a:xfrm>
              <a:off x="316991" y="1316736"/>
              <a:ext cx="15532608" cy="365760"/>
            </a:xfrm>
            <a:prstGeom prst="rect">
              <a:avLst/>
            </a:prstGeom>
            <a:solidFill>
              <a:srgbClr val="0F4C75"/>
            </a:solidFill>
            <a:ln w="12700">
              <a:solidFill>
                <a:srgbClr val="0F4C7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 9"/>
            <p:cNvSpPr/>
            <p:nvPr/>
          </p:nvSpPr>
          <p:spPr>
            <a:xfrm>
              <a:off x="438912" y="1316736"/>
              <a:ext cx="152400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Log-Based Detection (Post-Execution)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38912" y="1743455"/>
              <a:ext cx="152400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i="1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API calls, CloudTrail events, Kubernetes audit logs analyzed for suspicious patterns after execution.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38912" y="2194560"/>
              <a:ext cx="7559039" cy="4145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Anomalous API call sequences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8912" y="2633472"/>
              <a:ext cx="7559039" cy="4145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Failed auth attempts (credential stuffing)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180832" y="2194560"/>
              <a:ext cx="7559039" cy="4145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Resource creation in unexpected regions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180832" y="2633472"/>
              <a:ext cx="7559039" cy="4145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Data exfiltration via abnormal API volume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16991" y="3145535"/>
              <a:ext cx="15532608" cy="316991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 16"/>
            <p:cNvSpPr/>
            <p:nvPr/>
          </p:nvSpPr>
          <p:spPr>
            <a:xfrm>
              <a:off x="438912" y="3145535"/>
              <a:ext cx="15240000" cy="31699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90A4A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Tools: CloudTrail + GuardDuty  ·  Azure Diagnostic Logs + Sentinel  ·  Cloud Audit Logs + Chronicle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16991" y="3486911"/>
              <a:ext cx="15532608" cy="78028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 18"/>
            <p:cNvSpPr/>
            <p:nvPr/>
          </p:nvSpPr>
          <p:spPr>
            <a:xfrm>
              <a:off x="438912" y="3608831"/>
              <a:ext cx="73152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4A26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Detection latency: minutes (log ingestion)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24800" y="3608831"/>
              <a:ext cx="7680959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i="1" dirty="0">
                  <a:solidFill>
                    <a:srgbClr val="90A4A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Outcome: Compliance audit trail, behavioral baselines, post-incident forensics.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243840" y="4486656"/>
              <a:ext cx="15605760" cy="302361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Shape 21"/>
            <p:cNvSpPr/>
            <p:nvPr/>
          </p:nvSpPr>
          <p:spPr>
            <a:xfrm>
              <a:off x="243840" y="4486656"/>
              <a:ext cx="73152" cy="3023616"/>
            </a:xfrm>
            <a:prstGeom prst="rect">
              <a:avLst/>
            </a:prstGeom>
            <a:solidFill>
              <a:srgbClr val="C62828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Shape 22"/>
            <p:cNvSpPr/>
            <p:nvPr/>
          </p:nvSpPr>
          <p:spPr>
            <a:xfrm>
              <a:off x="316991" y="4486656"/>
              <a:ext cx="15532608" cy="365760"/>
            </a:xfrm>
            <a:prstGeom prst="rect">
              <a:avLst/>
            </a:prstGeom>
            <a:solidFill>
              <a:srgbClr val="C62828"/>
            </a:solidFill>
            <a:ln w="12700">
              <a:solidFill>
                <a:srgbClr val="C6282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 23"/>
            <p:cNvSpPr/>
            <p:nvPr/>
          </p:nvSpPr>
          <p:spPr>
            <a:xfrm>
              <a:off x="438912" y="4486656"/>
              <a:ext cx="152400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Kernel-Level / Runtime Detection (In-Execution)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438912" y="4913376"/>
              <a:ext cx="152400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i="1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eBPF-based or kernel module agents detect malicious syscalls inside running containers and VMs.</a:t>
              </a:r>
              <a:endParaRPr lang="en-US" sz="9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38912" y="5364480"/>
              <a:ext cx="7559039" cy="4145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Crypto-mining process detection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438912" y="5803392"/>
              <a:ext cx="7559039" cy="4145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Container escape via kernel exploits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180832" y="5364480"/>
              <a:ext cx="7559039" cy="4145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Unexpected binary execution in container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180832" y="5803392"/>
              <a:ext cx="7559039" cy="4145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Reverse shell and C2 communication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16991" y="6315456"/>
              <a:ext cx="15532608" cy="316991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 30"/>
            <p:cNvSpPr/>
            <p:nvPr/>
          </p:nvSpPr>
          <p:spPr>
            <a:xfrm>
              <a:off x="438912" y="6315456"/>
              <a:ext cx="15240000" cy="31699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90A4A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Tools: Falco (CNCF, eBPF/kernel)  ·  AWS GuardDuty Runtime Monitoring  ·  Microsoft Defender for Containers  ·  Sysdig Secure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16991" y="6656832"/>
              <a:ext cx="15532608" cy="78028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 32"/>
            <p:cNvSpPr/>
            <p:nvPr/>
          </p:nvSpPr>
          <p:spPr>
            <a:xfrm>
              <a:off x="438912" y="6778752"/>
              <a:ext cx="73152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2E7D3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Detection latency: seconds (syscall level)</a:t>
              </a:r>
              <a:endParaRPr lang="en-US" sz="9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7924800" y="6778752"/>
              <a:ext cx="7680959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i="1" dirty="0">
                  <a:solidFill>
                    <a:srgbClr val="90A4A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Outcome: Threats detected during execution rather than after log ingestion.</a:t>
              </a:r>
              <a:endParaRPr lang="en-US" sz="9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Supply Chain Security</a:t>
            </a:r>
            <a:endParaRPr lang="en-US" sz="2200" dirty="0"/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EDCC833-5786-541A-66D8-A89C9F89D663}"/>
              </a:ext>
            </a:extLst>
          </p:cNvPr>
          <p:cNvGrpSpPr/>
          <p:nvPr/>
        </p:nvGrpSpPr>
        <p:grpSpPr>
          <a:xfrm>
            <a:off x="243840" y="877824"/>
            <a:ext cx="11948160" cy="5462016"/>
            <a:chOff x="243840" y="877824"/>
            <a:chExt cx="15727678" cy="5462016"/>
          </a:xfrm>
        </p:grpSpPr>
        <p:sp>
          <p:nvSpPr>
            <p:cNvPr id="5" name="Shape 3"/>
            <p:cNvSpPr/>
            <p:nvPr/>
          </p:nvSpPr>
          <p:spPr>
            <a:xfrm>
              <a:off x="243840" y="877824"/>
              <a:ext cx="15605760" cy="365760"/>
            </a:xfrm>
            <a:prstGeom prst="rect">
              <a:avLst/>
            </a:prstGeom>
            <a:solidFill>
              <a:srgbClr val="C62828">
                <a:alpha val="15000"/>
              </a:srgbClr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Shape 4"/>
            <p:cNvSpPr/>
            <p:nvPr/>
          </p:nvSpPr>
          <p:spPr>
            <a:xfrm>
              <a:off x="243840" y="877824"/>
              <a:ext cx="73152" cy="365760"/>
            </a:xfrm>
            <a:prstGeom prst="rect">
              <a:avLst/>
            </a:prstGeom>
            <a:solidFill>
              <a:srgbClr val="C62828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 5"/>
            <p:cNvSpPr/>
            <p:nvPr/>
          </p:nvSpPr>
          <p:spPr>
            <a:xfrm>
              <a:off x="426719" y="877824"/>
              <a:ext cx="15361919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Problem: Compromise of build pipelines can introduce malicious artifacts into production. Once deployed, tampered images are difficult to detect.</a:t>
              </a:r>
              <a:endParaRPr lang="en-US" sz="95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268223" y="1341120"/>
              <a:ext cx="2865119" cy="1975103"/>
            </a:xfrm>
            <a:prstGeom prst="rect">
              <a:avLst/>
            </a:prstGeom>
            <a:solidFill>
              <a:srgbClr val="1565C0">
                <a:alpha val="12000"/>
              </a:srgbClr>
            </a:solidFill>
            <a:ln w="12700">
              <a:solidFill>
                <a:srgbClr val="1565C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268223" y="1341120"/>
              <a:ext cx="2865119" cy="341376"/>
            </a:xfrm>
            <a:prstGeom prst="rect">
              <a:avLst/>
            </a:prstGeom>
            <a:solidFill>
              <a:srgbClr val="1565C0"/>
            </a:solidFill>
            <a:ln w="12700">
              <a:solidFill>
                <a:srgbClr val="1565C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268223" y="1341120"/>
              <a:ext cx="2865119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Source Code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90144" y="1755648"/>
              <a:ext cx="2621280" cy="1463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Signed commits</a:t>
              </a:r>
              <a:endParaRPr lang="en-US" sz="850" dirty="0"/>
            </a:p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Branch protection</a:t>
              </a:r>
              <a:endParaRPr lang="en-US" sz="850" dirty="0"/>
            </a:p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Secret scanning</a:t>
              </a:r>
              <a:endParaRPr lang="en-US" sz="85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157728" y="2194560"/>
              <a:ext cx="219456" cy="36576"/>
            </a:xfrm>
            <a:prstGeom prst="rect">
              <a:avLst/>
            </a:prstGeom>
            <a:solidFill>
              <a:srgbClr val="90A4A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Shape 11"/>
            <p:cNvSpPr/>
            <p:nvPr/>
          </p:nvSpPr>
          <p:spPr>
            <a:xfrm>
              <a:off x="3401567" y="1341120"/>
              <a:ext cx="2865119" cy="1975103"/>
            </a:xfrm>
            <a:prstGeom prst="rect">
              <a:avLst/>
            </a:prstGeom>
            <a:solidFill>
              <a:srgbClr val="0F4C75">
                <a:alpha val="12000"/>
              </a:srgbClr>
            </a:solidFill>
            <a:ln w="12700">
              <a:solidFill>
                <a:srgbClr val="0F4C7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Shape 12"/>
            <p:cNvSpPr/>
            <p:nvPr/>
          </p:nvSpPr>
          <p:spPr>
            <a:xfrm>
              <a:off x="3401567" y="1341120"/>
              <a:ext cx="2865119" cy="341376"/>
            </a:xfrm>
            <a:prstGeom prst="rect">
              <a:avLst/>
            </a:prstGeom>
            <a:solidFill>
              <a:srgbClr val="0F4C75"/>
            </a:solidFill>
            <a:ln w="12700">
              <a:solidFill>
                <a:srgbClr val="0F4C7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 13"/>
            <p:cNvSpPr/>
            <p:nvPr/>
          </p:nvSpPr>
          <p:spPr>
            <a:xfrm>
              <a:off x="3401567" y="1341120"/>
              <a:ext cx="2865119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Build Pipeline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523488" y="1755648"/>
              <a:ext cx="2621280" cy="1463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Isolated build env</a:t>
              </a:r>
              <a:endParaRPr lang="en-US" sz="850" dirty="0"/>
            </a:p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Hermetic builds</a:t>
              </a:r>
              <a:endParaRPr lang="en-US" sz="850" dirty="0"/>
            </a:p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SBOM generated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91071" y="2194560"/>
              <a:ext cx="219456" cy="36576"/>
            </a:xfrm>
            <a:prstGeom prst="rect">
              <a:avLst/>
            </a:prstGeom>
            <a:solidFill>
              <a:srgbClr val="90A4A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Shape 16"/>
            <p:cNvSpPr/>
            <p:nvPr/>
          </p:nvSpPr>
          <p:spPr>
            <a:xfrm>
              <a:off x="6534911" y="1341120"/>
              <a:ext cx="2865119" cy="1975103"/>
            </a:xfrm>
            <a:prstGeom prst="rect">
              <a:avLst/>
            </a:prstGeom>
            <a:solidFill>
              <a:srgbClr val="4285F4">
                <a:alpha val="12000"/>
              </a:srgbClr>
            </a:solidFill>
            <a:ln w="12700">
              <a:solidFill>
                <a:srgbClr val="4285F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Shape 17"/>
            <p:cNvSpPr/>
            <p:nvPr/>
          </p:nvSpPr>
          <p:spPr>
            <a:xfrm>
              <a:off x="6534911" y="1341120"/>
              <a:ext cx="2865119" cy="341376"/>
            </a:xfrm>
            <a:prstGeom prst="rect">
              <a:avLst/>
            </a:prstGeom>
            <a:solidFill>
              <a:srgbClr val="4285F4"/>
            </a:solidFill>
            <a:ln w="12700">
              <a:solidFill>
                <a:srgbClr val="4285F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 18"/>
            <p:cNvSpPr/>
            <p:nvPr/>
          </p:nvSpPr>
          <p:spPr>
            <a:xfrm>
              <a:off x="6534911" y="1341120"/>
              <a:ext cx="2865119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Sign Artifact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656832" y="1755648"/>
              <a:ext cx="2621280" cy="1463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Cosign / Sigstore</a:t>
              </a:r>
              <a:endParaRPr lang="en-US" sz="850" dirty="0"/>
            </a:p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OIDC identity</a:t>
              </a:r>
              <a:endParaRPr lang="en-US" sz="850" dirty="0"/>
            </a:p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Keyless signing</a:t>
              </a:r>
              <a:endParaRPr lang="en-US" sz="85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9424416" y="2194560"/>
              <a:ext cx="219456" cy="36576"/>
            </a:xfrm>
            <a:prstGeom prst="rect">
              <a:avLst/>
            </a:prstGeom>
            <a:solidFill>
              <a:srgbClr val="90A4A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Shape 21"/>
            <p:cNvSpPr/>
            <p:nvPr/>
          </p:nvSpPr>
          <p:spPr>
            <a:xfrm>
              <a:off x="9668256" y="1341120"/>
              <a:ext cx="2865119" cy="1975103"/>
            </a:xfrm>
            <a:prstGeom prst="rect">
              <a:avLst/>
            </a:prstGeom>
            <a:solidFill>
              <a:srgbClr val="FF9900">
                <a:alpha val="12000"/>
              </a:srgbClr>
            </a:solidFill>
            <a:ln w="12700">
              <a:solidFill>
                <a:srgbClr val="FF990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Shape 22"/>
            <p:cNvSpPr/>
            <p:nvPr/>
          </p:nvSpPr>
          <p:spPr>
            <a:xfrm>
              <a:off x="9668256" y="1341120"/>
              <a:ext cx="2865119" cy="341376"/>
            </a:xfrm>
            <a:prstGeom prst="rect">
              <a:avLst/>
            </a:prstGeom>
            <a:solidFill>
              <a:srgbClr val="FF9900"/>
            </a:solidFill>
            <a:ln w="12700">
              <a:solidFill>
                <a:srgbClr val="FF990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 23"/>
            <p:cNvSpPr/>
            <p:nvPr/>
          </p:nvSpPr>
          <p:spPr>
            <a:xfrm>
              <a:off x="9668256" y="1341120"/>
              <a:ext cx="2865119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Registry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9790175" y="1755648"/>
              <a:ext cx="2621280" cy="1463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Image scanning</a:t>
              </a:r>
              <a:endParaRPr lang="en-US" sz="850" dirty="0"/>
            </a:p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Vulnerability gate</a:t>
              </a:r>
              <a:endParaRPr lang="en-US" sz="850" dirty="0"/>
            </a:p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Provenance attached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12557760" y="2194560"/>
              <a:ext cx="219456" cy="36576"/>
            </a:xfrm>
            <a:prstGeom prst="rect">
              <a:avLst/>
            </a:prstGeom>
            <a:solidFill>
              <a:srgbClr val="90A4AE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Shape 26"/>
            <p:cNvSpPr/>
            <p:nvPr/>
          </p:nvSpPr>
          <p:spPr>
            <a:xfrm>
              <a:off x="12801600" y="1341120"/>
              <a:ext cx="2865119" cy="1975103"/>
            </a:xfrm>
            <a:prstGeom prst="rect">
              <a:avLst/>
            </a:prstGeom>
            <a:solidFill>
              <a:srgbClr val="2E7D32">
                <a:alpha val="12000"/>
              </a:srgbClr>
            </a:solidFill>
            <a:ln w="12700">
              <a:solidFill>
                <a:srgbClr val="2E7D3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Shape 27"/>
            <p:cNvSpPr/>
            <p:nvPr/>
          </p:nvSpPr>
          <p:spPr>
            <a:xfrm>
              <a:off x="12801600" y="1341120"/>
              <a:ext cx="2865119" cy="341376"/>
            </a:xfrm>
            <a:prstGeom prst="rect">
              <a:avLst/>
            </a:prstGeom>
            <a:solidFill>
              <a:srgbClr val="2E7D32"/>
            </a:solidFill>
            <a:ln w="12700">
              <a:solidFill>
                <a:srgbClr val="2E7D3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 28"/>
            <p:cNvSpPr/>
            <p:nvPr/>
          </p:nvSpPr>
          <p:spPr>
            <a:xfrm>
              <a:off x="12801600" y="1341120"/>
              <a:ext cx="2865119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Deploy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12923520" y="1755648"/>
              <a:ext cx="2621280" cy="1463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Admission controller</a:t>
              </a:r>
              <a:endParaRPr lang="en-US" sz="850" dirty="0"/>
            </a:p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Signature verified</a:t>
              </a:r>
              <a:endParaRPr lang="en-US" sz="850" dirty="0"/>
            </a:p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SLSA level checked</a:t>
              </a:r>
              <a:endParaRPr lang="en-US" sz="85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243840" y="3511296"/>
              <a:ext cx="15605760" cy="316991"/>
            </a:xfrm>
            <a:prstGeom prst="rect">
              <a:avLst/>
            </a:prstGeom>
            <a:solidFill>
              <a:srgbClr val="0F4C75"/>
            </a:solidFill>
            <a:ln w="12700">
              <a:solidFill>
                <a:srgbClr val="0F4C7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 31"/>
            <p:cNvSpPr/>
            <p:nvPr/>
          </p:nvSpPr>
          <p:spPr>
            <a:xfrm>
              <a:off x="365760" y="3511296"/>
              <a:ext cx="15361919" cy="31699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SLSA Maturity: Level 1 (provenance) → Level 2 (hosted build) → Level 3 (hardened build, verified sources)  ·  Target: Level 3 for production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243840" y="3974591"/>
              <a:ext cx="5120639" cy="316991"/>
            </a:xfrm>
            <a:prstGeom prst="rect">
              <a:avLst/>
            </a:prstGeom>
            <a:solidFill>
              <a:srgbClr val="1565C0"/>
            </a:solidFill>
            <a:ln w="12700">
              <a:solidFill>
                <a:srgbClr val="1565C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 33"/>
            <p:cNvSpPr/>
            <p:nvPr/>
          </p:nvSpPr>
          <p:spPr>
            <a:xfrm>
              <a:off x="365760" y="3974591"/>
              <a:ext cx="4876800" cy="31699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Key Controls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43840" y="4315968"/>
              <a:ext cx="5120639" cy="48768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 35"/>
            <p:cNvSpPr/>
            <p:nvPr/>
          </p:nvSpPr>
          <p:spPr>
            <a:xfrm>
              <a:off x="365760" y="4315968"/>
              <a:ext cx="4876800" cy="487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Signed container images verified at deployment</a:t>
              </a:r>
              <a:endParaRPr lang="en-US" sz="7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243840" y="4828032"/>
              <a:ext cx="5120639" cy="48768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 37"/>
            <p:cNvSpPr/>
            <p:nvPr/>
          </p:nvSpPr>
          <p:spPr>
            <a:xfrm>
              <a:off x="365760" y="4828032"/>
              <a:ext cx="4876800" cy="487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SBOM generated per build artifact (CycloneDX / SPDX)</a:t>
              </a:r>
              <a:endParaRPr lang="en-US" sz="7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243840" y="5340096"/>
              <a:ext cx="5120639" cy="48768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Text 39"/>
            <p:cNvSpPr/>
            <p:nvPr/>
          </p:nvSpPr>
          <p:spPr>
            <a:xfrm>
              <a:off x="365760" y="5340096"/>
              <a:ext cx="4876800" cy="487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Dependency vulnerability scanning in CI (Dependabot, Trivy, Grype)</a:t>
              </a:r>
              <a:endParaRPr lang="en-US" sz="7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243840" y="5852160"/>
              <a:ext cx="5120639" cy="48768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 41"/>
            <p:cNvSpPr/>
            <p:nvPr/>
          </p:nvSpPr>
          <p:spPr>
            <a:xfrm>
              <a:off x="365760" y="5852160"/>
              <a:ext cx="4876800" cy="487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Admission controller rejects unsigned or failed images</a:t>
              </a:r>
              <a:endParaRPr lang="en-US" sz="7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547360" y="3974591"/>
              <a:ext cx="5120639" cy="316991"/>
            </a:xfrm>
            <a:prstGeom prst="rect">
              <a:avLst/>
            </a:prstGeom>
            <a:solidFill>
              <a:srgbClr val="4285F4"/>
            </a:solidFill>
            <a:ln w="12700">
              <a:solidFill>
                <a:srgbClr val="4285F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Text 43"/>
            <p:cNvSpPr/>
            <p:nvPr/>
          </p:nvSpPr>
          <p:spPr>
            <a:xfrm>
              <a:off x="5669280" y="3974591"/>
              <a:ext cx="4876800" cy="31699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Standards and Tools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547360" y="4315968"/>
              <a:ext cx="5120639" cy="48768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Text 45"/>
            <p:cNvSpPr/>
            <p:nvPr/>
          </p:nvSpPr>
          <p:spPr>
            <a:xfrm>
              <a:off x="5669280" y="4315968"/>
              <a:ext cx="4876800" cy="487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SLSA framework (supply chain levels)</a:t>
              </a:r>
              <a:endParaRPr lang="en-US" sz="7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547360" y="4828032"/>
              <a:ext cx="5120639" cy="48768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 47"/>
            <p:cNvSpPr/>
            <p:nvPr/>
          </p:nvSpPr>
          <p:spPr>
            <a:xfrm>
              <a:off x="5669280" y="4828032"/>
              <a:ext cx="4876800" cy="487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Sigstore / Cosign (keyless signing via OIDC)</a:t>
              </a:r>
              <a:endParaRPr lang="en-US" sz="75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547360" y="5340096"/>
              <a:ext cx="5120639" cy="48768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 49"/>
            <p:cNvSpPr/>
            <p:nvPr/>
          </p:nvSpPr>
          <p:spPr>
            <a:xfrm>
              <a:off x="5669280" y="5340096"/>
              <a:ext cx="4876800" cy="487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in-toto (artifact attestation)</a:t>
              </a:r>
              <a:endParaRPr lang="en-US" sz="75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5547360" y="5852160"/>
              <a:ext cx="5120639" cy="48768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 51"/>
            <p:cNvSpPr/>
            <p:nvPr/>
          </p:nvSpPr>
          <p:spPr>
            <a:xfrm>
              <a:off x="5669280" y="5852160"/>
              <a:ext cx="4876800" cy="487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AWS Signer  ·  GitHub Artifact Attestation</a:t>
              </a:r>
              <a:endParaRPr lang="en-US" sz="750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10850879" y="3974591"/>
              <a:ext cx="5120639" cy="316991"/>
            </a:xfrm>
            <a:prstGeom prst="rect">
              <a:avLst/>
            </a:prstGeom>
            <a:solidFill>
              <a:srgbClr val="2E7D32"/>
            </a:solidFill>
            <a:ln w="12700">
              <a:solidFill>
                <a:srgbClr val="2E7D3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 53"/>
            <p:cNvSpPr/>
            <p:nvPr/>
          </p:nvSpPr>
          <p:spPr>
            <a:xfrm>
              <a:off x="10972800" y="3974591"/>
              <a:ext cx="4876800" cy="31699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Outcome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10850879" y="4315968"/>
              <a:ext cx="5120639" cy="48768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Text 55"/>
            <p:cNvSpPr/>
            <p:nvPr/>
          </p:nvSpPr>
          <p:spPr>
            <a:xfrm>
              <a:off x="10972800" y="4315968"/>
              <a:ext cx="4876800" cy="487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Every artifact traceable to a trusted, reproducible build pipeline</a:t>
              </a:r>
              <a:endParaRPr lang="en-US" sz="75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10850879" y="4828032"/>
              <a:ext cx="5120639" cy="48768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Text 57"/>
            <p:cNvSpPr/>
            <p:nvPr/>
          </p:nvSpPr>
          <p:spPr>
            <a:xfrm>
              <a:off x="10972800" y="4828032"/>
              <a:ext cx="4876800" cy="487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Tampered or unverified images blocked at deploy time</a:t>
              </a:r>
              <a:endParaRPr lang="en-US" sz="75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10850879" y="5340096"/>
              <a:ext cx="5120639" cy="487680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Text 59"/>
            <p:cNvSpPr/>
            <p:nvPr/>
          </p:nvSpPr>
          <p:spPr>
            <a:xfrm>
              <a:off x="10972800" y="5340096"/>
              <a:ext cx="4876800" cy="487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Full chain of custody from source commit to running container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87680" y="1706879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0F4C75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87680" y="2865119"/>
            <a:ext cx="10972800" cy="7924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Multi-Cloud Zero Trust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87680" y="3755135"/>
            <a:ext cx="10972800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Identity  ·  Workload Identity  ·  Private Connectivity  ·  Policy-as-Code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7680" y="4267200"/>
            <a:ext cx="3657600" cy="48768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6516623"/>
            <a:ext cx="8534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582400" y="6516623"/>
            <a:ext cx="48768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Multi-Cloud Zero Trust Architecture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516623"/>
            <a:ext cx="8534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1582400" y="6516623"/>
            <a:ext cx="48768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43840" y="914400"/>
            <a:ext cx="512063" cy="512063"/>
          </a:xfrm>
          <a:prstGeom prst="roundRect">
            <a:avLst>
              <a:gd name="adj" fmla="val 14286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43840" y="914400"/>
            <a:ext cx="512063" cy="5120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77824" y="950976"/>
            <a:ext cx="481583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Identity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" y="1255776"/>
            <a:ext cx="4815839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IdP (Entra ID / Okta) federates to AWS IAM Identity Center, GCP Workload Identity, Azure AD. Consistent MFA + Conditional Access policies.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43840" y="2316480"/>
            <a:ext cx="512063" cy="512063"/>
          </a:xfrm>
          <a:prstGeom prst="roundRect">
            <a:avLst>
              <a:gd name="adj" fmla="val 14286"/>
            </a:avLst>
          </a:prstGeom>
          <a:solidFill>
            <a:srgbClr val="0F4C75"/>
          </a:solidFill>
          <a:ln w="12700">
            <a:solidFill>
              <a:srgbClr val="0F4C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43840" y="2316480"/>
            <a:ext cx="512063" cy="5120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77824" y="2353056"/>
            <a:ext cx="481583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Identity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77824" y="2657856"/>
            <a:ext cx="4815839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IRSA (AWS), Managed Identity (Azure), Workload Identity Federation (GCP). No long-lived credentials anywhere. Token exchange at workload level.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43840" y="3718559"/>
            <a:ext cx="512063" cy="512063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43840" y="3718559"/>
            <a:ext cx="512063" cy="5120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77824" y="3755135"/>
            <a:ext cx="481583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Connectivity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77824" y="4059935"/>
            <a:ext cx="4815839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(AWS), Private Endpoints (Azure), PSC (GCP). Cross-cloud via transit (Aviatrix/AWS TGW). No cloud-to-cloud over public internet.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43840" y="5120639"/>
            <a:ext cx="512063" cy="512063"/>
          </a:xfrm>
          <a:prstGeom prst="roundRect">
            <a:avLst>
              <a:gd name="adj" fmla="val 14286"/>
            </a:avLst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43840" y="5120639"/>
            <a:ext cx="512063" cy="5120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77824" y="5157216"/>
            <a:ext cx="481583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Policy-as-Code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77824" y="5462016"/>
            <a:ext cx="4815839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SCPs (AWS), Azure Policy (Azure), Org Policies (GCP). Centralized policy repo (Terraform / OPA Conftest). CI/CD validation before any deployment.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339839" y="890016"/>
            <a:ext cx="5608320" cy="365760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61760" y="890016"/>
            <a:ext cx="536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Multi-Cloud Security Stack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39839" y="1316736"/>
            <a:ext cx="5608320" cy="78028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400800" y="1463040"/>
            <a:ext cx="1219200" cy="316991"/>
          </a:xfrm>
          <a:prstGeom prst="roundRect">
            <a:avLst>
              <a:gd name="adj" fmla="val 15385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400800" y="1463040"/>
            <a:ext cx="1219200" cy="316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741919" y="1438655"/>
            <a:ext cx="4084319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 / Prisma Cloud / Defender for Cloud (multi-cloud)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339839" y="2170176"/>
            <a:ext cx="5608320" cy="7802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400800" y="2316480"/>
            <a:ext cx="1219200" cy="316991"/>
          </a:xfrm>
          <a:prstGeom prst="roundRect">
            <a:avLst>
              <a:gd name="adj" fmla="val 15385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400800" y="2316480"/>
            <a:ext cx="1219200" cy="316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741919" y="2292096"/>
            <a:ext cx="4084319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/ Chronicle / Splunk — unified log ingestion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339839" y="3023616"/>
            <a:ext cx="5608320" cy="78028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400800" y="3169919"/>
            <a:ext cx="1219200" cy="316991"/>
          </a:xfrm>
          <a:prstGeom prst="roundRect">
            <a:avLst>
              <a:gd name="adj" fmla="val 1538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400800" y="3169919"/>
            <a:ext cx="1219200" cy="316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741919" y="3145535"/>
            <a:ext cx="4084319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HashiCorp Vault (multi-cloud) or per-cloud native vaults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339839" y="3877055"/>
            <a:ext cx="5608320" cy="7802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400800" y="4023359"/>
            <a:ext cx="1219200" cy="316991"/>
          </a:xfrm>
          <a:prstGeom prst="roundRect">
            <a:avLst>
              <a:gd name="adj" fmla="val 15385"/>
            </a:avLst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400800" y="4023359"/>
            <a:ext cx="1219200" cy="316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 / GitOps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741919" y="3998976"/>
            <a:ext cx="4084319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+ OPA Conftest / Checkov for policy validation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339839" y="4730496"/>
            <a:ext cx="5608320" cy="78028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400800" y="4876800"/>
            <a:ext cx="1219200" cy="316991"/>
          </a:xfrm>
          <a:prstGeom prst="roundRect">
            <a:avLst>
              <a:gd name="adj" fmla="val 15385"/>
            </a:avLst>
          </a:prstGeom>
          <a:solidFill>
            <a:srgbClr val="0F4C75"/>
          </a:solidFill>
          <a:ln w="12700">
            <a:solidFill>
              <a:srgbClr val="0F4C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400800" y="4876800"/>
            <a:ext cx="1219200" cy="316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/ SSO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741919" y="4852416"/>
            <a:ext cx="4084319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 / Okta federates to all 3 cloud IAM systems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339839" y="5583935"/>
            <a:ext cx="5608320" cy="7802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400800" y="5730239"/>
            <a:ext cx="1219200" cy="316991"/>
          </a:xfrm>
          <a:prstGeom prst="roundRect">
            <a:avLst>
              <a:gd name="adj" fmla="val 1538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400800" y="5730239"/>
            <a:ext cx="1219200" cy="316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PoP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741919" y="5705856"/>
            <a:ext cx="4084319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Aviatrix / Transit Gateway / ExpressRoute/Direct Connect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Identity &amp; Logging Architecture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516623"/>
            <a:ext cx="8534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1582400" y="6516623"/>
            <a:ext cx="48768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43840" y="890016"/>
            <a:ext cx="11582400" cy="341376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890016"/>
            <a:ext cx="113385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Federation Flow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4800" y="1316736"/>
            <a:ext cx="2413000" cy="9144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04800" y="1316736"/>
            <a:ext cx="2413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IdP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(Entra ID / Okta)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61267" y="1316736"/>
            <a:ext cx="2413000" cy="914400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61267" y="1316736"/>
            <a:ext cx="2413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IAM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Center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17733" y="1316736"/>
            <a:ext cx="2413000" cy="9144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17733" y="1316736"/>
            <a:ext cx="2413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AD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474200" y="1316736"/>
            <a:ext cx="2413000" cy="914400"/>
          </a:xfrm>
          <a:prstGeom prst="rect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474200" y="1316736"/>
            <a:ext cx="2413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 Fed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43840" y="2560319"/>
            <a:ext cx="11582400" cy="341376"/>
          </a:xfrm>
          <a:prstGeom prst="rect">
            <a:avLst/>
          </a:prstGeom>
          <a:solidFill>
            <a:srgbClr val="3747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65760" y="2560319"/>
            <a:ext cx="113385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Log Architecture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4800" y="2962656"/>
            <a:ext cx="2565400" cy="731520"/>
          </a:xfrm>
          <a:prstGeom prst="rect">
            <a:avLst/>
          </a:prstGeom>
          <a:solidFill>
            <a:srgbClr val="FF9900">
              <a:alpha val="13000"/>
            </a:srgbClr>
          </a:solidFill>
          <a:ln w="1016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04800" y="2962656"/>
            <a:ext cx="2565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CloudTrail + Config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587500" y="3694176"/>
            <a:ext cx="0" cy="426719"/>
          </a:xfrm>
          <a:prstGeom prst="line">
            <a:avLst/>
          </a:prstGeom>
          <a:noFill/>
          <a:ln w="12700">
            <a:solidFill>
              <a:srgbClr val="90A4AE"/>
            </a:solidFill>
            <a:prstDash val="soli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310467" y="2962656"/>
            <a:ext cx="2565400" cy="731520"/>
          </a:xfrm>
          <a:prstGeom prst="rect">
            <a:avLst/>
          </a:prstGeom>
          <a:solidFill>
            <a:srgbClr val="0078D4">
              <a:alpha val="13000"/>
            </a:srgbClr>
          </a:solidFill>
          <a:ln w="1016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310467" y="2962656"/>
            <a:ext cx="2565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 + Sentinel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593167" y="3694176"/>
            <a:ext cx="0" cy="426719"/>
          </a:xfrm>
          <a:prstGeom prst="line">
            <a:avLst/>
          </a:prstGeom>
          <a:noFill/>
          <a:ln w="12700">
            <a:solidFill>
              <a:srgbClr val="90A4AE"/>
            </a:solidFill>
            <a:prstDash val="soli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316133" y="2962656"/>
            <a:ext cx="2565400" cy="731520"/>
          </a:xfrm>
          <a:prstGeom prst="rect">
            <a:avLst/>
          </a:prstGeom>
          <a:solidFill>
            <a:srgbClr val="4285F4">
              <a:alpha val="13000"/>
            </a:srgbClr>
          </a:solidFill>
          <a:ln w="1016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316133" y="2962656"/>
            <a:ext cx="2565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Audit Logs + SCC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598833" y="3694176"/>
            <a:ext cx="0" cy="426719"/>
          </a:xfrm>
          <a:prstGeom prst="line">
            <a:avLst/>
          </a:prstGeom>
          <a:noFill/>
          <a:ln w="12700">
            <a:solidFill>
              <a:srgbClr val="90A4AE"/>
            </a:solidFill>
            <a:prstDash val="soli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9321800" y="2962656"/>
            <a:ext cx="2565400" cy="731520"/>
          </a:xfrm>
          <a:prstGeom prst="rect">
            <a:avLst/>
          </a:prstGeom>
          <a:solidFill>
            <a:srgbClr val="FFFFFF"/>
          </a:solidFill>
          <a:ln w="1016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321800" y="2962656"/>
            <a:ext cx="2565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+ Network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10604500" y="3694176"/>
            <a:ext cx="0" cy="426719"/>
          </a:xfrm>
          <a:prstGeom prst="line">
            <a:avLst/>
          </a:prstGeom>
          <a:noFill/>
          <a:ln w="12700">
            <a:solidFill>
              <a:srgbClr val="90A4AE"/>
            </a:solidFill>
            <a:prstDash val="soli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1219200" y="4120896"/>
            <a:ext cx="9631679" cy="707135"/>
          </a:xfrm>
          <a:prstGeom prst="rect">
            <a:avLst/>
          </a:prstGeom>
          <a:solidFill>
            <a:srgbClr val="C62828">
              <a:alpha val="13000"/>
            </a:srgbClr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1219200" y="4120896"/>
            <a:ext cx="9631679" cy="7071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SIEM  (Sentinel  /  Chronicle  /  Splunk Cloud)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035039" y="4828032"/>
            <a:ext cx="0" cy="390144"/>
          </a:xfrm>
          <a:prstGeom prst="line">
            <a:avLst/>
          </a:prstGeom>
          <a:noFill/>
          <a:ln w="12700">
            <a:solidFill>
              <a:srgbClr val="90A4AE"/>
            </a:solidFill>
            <a:prstDash val="soli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3413759" y="5218176"/>
            <a:ext cx="5242560" cy="585216"/>
          </a:xfrm>
          <a:prstGeom prst="rect">
            <a:avLst/>
          </a:prstGeom>
          <a:solidFill>
            <a:srgbClr val="2E7D32">
              <a:alpha val="13000"/>
            </a:srgbClr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3413759" y="5218176"/>
            <a:ext cx="52425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 /  Detection Engineering  /  Incident Response</a:t>
            </a:r>
            <a:endParaRPr lang="en-US" sz="1000" dirty="0"/>
          </a:p>
        </p:txBody>
      </p:sp>
      <p:sp>
        <p:nvSpPr>
          <p:cNvPr id="100" name="Arrow 100"/>
          <p:cNvSpPr/>
          <p:nvPr/>
        </p:nvSpPr>
        <p:spPr>
          <a:xfrm>
            <a:off x="2717800" y="1765300"/>
            <a:ext cx="643467" cy="0"/>
          </a:xfrm>
          <a:prstGeom prst="line">
            <a:avLst/>
          </a:prstGeom>
          <a:ln w="19050">
            <a:solidFill>
              <a:srgbClr val="546E7A"/>
            </a:solidFill>
            <a:prstDash val="soli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Arrow 101"/>
          <p:cNvSpPr/>
          <p:nvPr/>
        </p:nvSpPr>
        <p:spPr>
          <a:xfrm>
            <a:off x="5774267" y="1765300"/>
            <a:ext cx="643467" cy="0"/>
          </a:xfrm>
          <a:prstGeom prst="line">
            <a:avLst/>
          </a:prstGeom>
          <a:ln w="19050">
            <a:solidFill>
              <a:srgbClr val="546E7A"/>
            </a:solidFill>
            <a:prstDash val="soli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Arrow 102"/>
          <p:cNvSpPr/>
          <p:nvPr/>
        </p:nvSpPr>
        <p:spPr>
          <a:xfrm>
            <a:off x="8830733" y="1765300"/>
            <a:ext cx="643467" cy="0"/>
          </a:xfrm>
          <a:prstGeom prst="line">
            <a:avLst/>
          </a:prstGeom>
          <a:ln w="19050">
            <a:solidFill>
              <a:srgbClr val="546E7A"/>
            </a:solidFill>
            <a:prstDash val="soli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Label SAML"/>
          <p:cNvSpPr txBox="1"/>
          <p:nvPr/>
        </p:nvSpPr>
        <p:spPr>
          <a:xfrm>
            <a:off x="2506133" y="1498600"/>
            <a:ext cx="1066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en-US" sz="800" dirty="0">
                <a:solidFill>
                  <a:srgbClr val="78909C"/>
                </a:solidFill>
                <a:latin typeface="Calibri" pitchFamily="34" charset="0"/>
              </a:rPr>
              <a:t>SAML / OIDC</a:t>
            </a:r>
          </a:p>
        </p:txBody>
      </p:sp>
    </p:spTree>
    <p:extLst>
      <p:ext uri="{BB962C8B-B14F-4D97-AF65-F5344CB8AC3E}">
        <p14:creationId xmlns:p14="http://schemas.microsoft.com/office/powerpoint/2010/main" val="1394479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87680" y="1706879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C62828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87680" y="2865119"/>
            <a:ext cx="10972800" cy="7924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for Cloud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87680" y="3755135"/>
            <a:ext cx="10972800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Cloud-specific adversary techniques and mitigations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7680" y="4267200"/>
            <a:ext cx="3657600" cy="48768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6516623"/>
            <a:ext cx="8534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582400" y="6516623"/>
            <a:ext cx="48768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for Cloud — Key Techniques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516623"/>
            <a:ext cx="8534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1582400" y="6516623"/>
            <a:ext cx="48768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43840" y="877824"/>
            <a:ext cx="1219200" cy="316991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92608" y="877824"/>
            <a:ext cx="1121664" cy="316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463040" y="877824"/>
            <a:ext cx="2194560" cy="316991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511808" y="877824"/>
            <a:ext cx="2097024" cy="316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0" y="877824"/>
            <a:ext cx="1584959" cy="316991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706367" y="877824"/>
            <a:ext cx="1487424" cy="316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Tactic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242560" y="877824"/>
            <a:ext cx="5486400" cy="316991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291328" y="877824"/>
            <a:ext cx="5388864" cy="316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728960" y="877824"/>
            <a:ext cx="1219200" cy="316991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777728" y="877824"/>
            <a:ext cx="1121664" cy="316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43840" y="1219200"/>
            <a:ext cx="1219200" cy="633983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92608" y="1219200"/>
            <a:ext cx="112166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T1078.004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463040" y="1219200"/>
            <a:ext cx="2194560" cy="633983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511808" y="1219200"/>
            <a:ext cx="209702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Accts: Cloud Accts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657600" y="1219200"/>
            <a:ext cx="1584959" cy="633983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706367" y="1219200"/>
            <a:ext cx="148742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Access / Persistence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242560" y="1219200"/>
            <a:ext cx="5486400" cy="633983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291328" y="1219200"/>
            <a:ext cx="538886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everywhere; anomalous API call detection; AWS CloudTrail + GuardDuty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728960" y="1219200"/>
            <a:ext cx="1219200" cy="633983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0777728" y="1219200"/>
            <a:ext cx="112166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AWS/Azure/GCP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43840" y="1901952"/>
            <a:ext cx="1219200" cy="633983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292608" y="1901952"/>
            <a:ext cx="112166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T1530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463040" y="1901952"/>
            <a:ext cx="2194560" cy="633983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511808" y="1901952"/>
            <a:ext cx="209702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from Cloud Storage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657600" y="1901952"/>
            <a:ext cx="1584959" cy="633983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706367" y="1901952"/>
            <a:ext cx="148742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242560" y="1901952"/>
            <a:ext cx="5486400" cy="633983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291328" y="1901952"/>
            <a:ext cx="538886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Service Controls; S3 Block Public Access; private endpoints only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0728960" y="1901952"/>
            <a:ext cx="1219200" cy="633983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0777728" y="1901952"/>
            <a:ext cx="112166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AWS/Azure/GCP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243840" y="2584704"/>
            <a:ext cx="1219200" cy="633983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92608" y="2584704"/>
            <a:ext cx="112166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T1537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463040" y="2584704"/>
            <a:ext cx="2194560" cy="633983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1511808" y="2584704"/>
            <a:ext cx="209702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to Cloud Account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657600" y="2584704"/>
            <a:ext cx="1584959" cy="633983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706367" y="2584704"/>
            <a:ext cx="148742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Exfiltration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242560" y="2584704"/>
            <a:ext cx="5486400" cy="633983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5291328" y="2584704"/>
            <a:ext cx="538886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bucket policies: deny cross-account without PrincipalOrgID condition; DLP monitoring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0728960" y="2584704"/>
            <a:ext cx="1219200" cy="633983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10777728" y="2584704"/>
            <a:ext cx="112166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AWS/Azure/GCP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243840" y="3267455"/>
            <a:ext cx="1219200" cy="633983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292608" y="3267455"/>
            <a:ext cx="112166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T1098.001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1463040" y="3267455"/>
            <a:ext cx="2194560" cy="633983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1511808" y="3267455"/>
            <a:ext cx="209702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Cloud Credentials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3657600" y="3267455"/>
            <a:ext cx="1584959" cy="633983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3706367" y="3267455"/>
            <a:ext cx="148742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242560" y="3267455"/>
            <a:ext cx="5486400" cy="633983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291328" y="3267455"/>
            <a:ext cx="538886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account key creation blocked (Org Policy); Access Analyzer; regular key audit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10728960" y="3267455"/>
            <a:ext cx="1219200" cy="633983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10777728" y="3267455"/>
            <a:ext cx="112166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AWS/Azure/GCP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243840" y="3950207"/>
            <a:ext cx="1219200" cy="633983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292608" y="3950207"/>
            <a:ext cx="112166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T1190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1463040" y="3950207"/>
            <a:ext cx="2194560" cy="633983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1511808" y="3950207"/>
            <a:ext cx="209702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 Public-Facing App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3657600" y="3950207"/>
            <a:ext cx="1584959" cy="633983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3706367" y="3950207"/>
            <a:ext cx="148742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Access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5242560" y="3950207"/>
            <a:ext cx="5486400" cy="633983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5291328" y="3950207"/>
            <a:ext cx="538886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 (AWS WAF / Azure WAF / Cloud Armor); private-by-default; Inspector/Defender scanning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10728960" y="3950207"/>
            <a:ext cx="1219200" cy="633983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10777728" y="3950207"/>
            <a:ext cx="112166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AWS/Azure/GCP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243840" y="4632960"/>
            <a:ext cx="1219200" cy="633983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292608" y="4632960"/>
            <a:ext cx="112166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T1552.005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1463040" y="4632960"/>
            <a:ext cx="2194560" cy="633983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1511808" y="4632960"/>
            <a:ext cx="209702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Instance Metadata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3657600" y="4632960"/>
            <a:ext cx="1584959" cy="633983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3706367" y="4632960"/>
            <a:ext cx="148742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Access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5242560" y="4632960"/>
            <a:ext cx="5486400" cy="633983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5291328" y="4632960"/>
            <a:ext cx="538886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IMDSv2 required (AWS); block IMDS from containers; SSRF protections in WAF rules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10728960" y="4632960"/>
            <a:ext cx="1219200" cy="633983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10777728" y="4632960"/>
            <a:ext cx="112166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AWS/Azure/GCP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243840" y="5315712"/>
            <a:ext cx="1219200" cy="633983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292608" y="5315712"/>
            <a:ext cx="112166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T1136.003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1463040" y="5315712"/>
            <a:ext cx="2194560" cy="633983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1511808" y="5315712"/>
            <a:ext cx="209702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Account Creation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3657600" y="5315712"/>
            <a:ext cx="1584959" cy="633983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80"/>
          <p:cNvSpPr/>
          <p:nvPr/>
        </p:nvSpPr>
        <p:spPr>
          <a:xfrm>
            <a:off x="3706367" y="5315712"/>
            <a:ext cx="148742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5242560" y="5315712"/>
            <a:ext cx="5486400" cy="633983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5291328" y="5315712"/>
            <a:ext cx="538886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SCPs: deny IAM user creation; alert on CreateUser/CreateServiceAccount events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10728960" y="5315712"/>
            <a:ext cx="1219200" cy="633983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10777728" y="5315712"/>
            <a:ext cx="112166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AWS/Azure/GCP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243840" y="5998464"/>
            <a:ext cx="1219200" cy="633983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86"/>
          <p:cNvSpPr/>
          <p:nvPr/>
        </p:nvSpPr>
        <p:spPr>
          <a:xfrm>
            <a:off x="292608" y="5998464"/>
            <a:ext cx="112166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T1580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1463040" y="5998464"/>
            <a:ext cx="2194560" cy="633983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88"/>
          <p:cNvSpPr/>
          <p:nvPr/>
        </p:nvSpPr>
        <p:spPr>
          <a:xfrm>
            <a:off x="1511808" y="5998464"/>
            <a:ext cx="209702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 Discovery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3657600" y="5998464"/>
            <a:ext cx="1584959" cy="633983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90"/>
          <p:cNvSpPr/>
          <p:nvPr/>
        </p:nvSpPr>
        <p:spPr>
          <a:xfrm>
            <a:off x="3706367" y="5998464"/>
            <a:ext cx="148742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5242560" y="5998464"/>
            <a:ext cx="5486400" cy="633983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92"/>
          <p:cNvSpPr/>
          <p:nvPr/>
        </p:nvSpPr>
        <p:spPr>
          <a:xfrm>
            <a:off x="5291328" y="5998464"/>
            <a:ext cx="538886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 Describe/List without session conditions; AWS Access Analyzer unused access; GuardDuty recon alerts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10728960" y="5998464"/>
            <a:ext cx="1219200" cy="633983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Text 94"/>
          <p:cNvSpPr/>
          <p:nvPr/>
        </p:nvSpPr>
        <p:spPr>
          <a:xfrm>
            <a:off x="10777728" y="5998464"/>
            <a:ext cx="1121664" cy="633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AWS/Azure/GCP</a:t>
            </a:r>
            <a:endParaRPr lang="en-US" sz="8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87680" y="1706879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2E7D3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87680" y="2865119"/>
            <a:ext cx="10972800" cy="7924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SP 800-53 Mapping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87680" y="3755135"/>
            <a:ext cx="10972800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mapping to AWS  ·  Azure  ·  GCP native services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7680" y="4267200"/>
            <a:ext cx="3657600" cy="48768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6516623"/>
            <a:ext cx="8534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582400" y="6516623"/>
            <a:ext cx="48768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SP 800-53 Rev 5 — Cloud Control Mapping</a:t>
            </a:r>
            <a:endParaRPr lang="en-US" sz="2200" dirty="0"/>
          </a:p>
        </p:txBody>
      </p: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E9C57A38-70BB-1036-D4BC-343571515747}"/>
              </a:ext>
            </a:extLst>
          </p:cNvPr>
          <p:cNvGrpSpPr/>
          <p:nvPr/>
        </p:nvGrpSpPr>
        <p:grpSpPr>
          <a:xfrm>
            <a:off x="243840" y="877824"/>
            <a:ext cx="11787739" cy="5907022"/>
            <a:chOff x="243840" y="877824"/>
            <a:chExt cx="12192000" cy="5907022"/>
          </a:xfrm>
        </p:grpSpPr>
        <p:sp>
          <p:nvSpPr>
            <p:cNvPr id="5" name="Text 3"/>
            <p:cNvSpPr/>
            <p:nvPr/>
          </p:nvSpPr>
          <p:spPr>
            <a:xfrm>
              <a:off x="365760" y="6516623"/>
              <a:ext cx="8534400" cy="2682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90A4A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Cloud Security Architecture  |  Eran Shpigelman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11582400" y="6516623"/>
              <a:ext cx="487680" cy="26822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r">
                <a:buNone/>
              </a:pPr>
              <a:r>
                <a:rPr lang="en-US" sz="800" dirty="0">
                  <a:solidFill>
                    <a:srgbClr val="90A4A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243840" y="877824"/>
              <a:ext cx="853439" cy="316991"/>
            </a:xfrm>
            <a:prstGeom prst="rect">
              <a:avLst/>
            </a:prstGeom>
            <a:solidFill>
              <a:srgbClr val="2E7D32"/>
            </a:solidFill>
            <a:ln w="12700">
              <a:solidFill>
                <a:srgbClr val="2E7D3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 6"/>
            <p:cNvSpPr/>
            <p:nvPr/>
          </p:nvSpPr>
          <p:spPr>
            <a:xfrm>
              <a:off x="292608" y="877824"/>
              <a:ext cx="755904" cy="31699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Control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1097280" y="877824"/>
              <a:ext cx="1645920" cy="316991"/>
            </a:xfrm>
            <a:prstGeom prst="rect">
              <a:avLst/>
            </a:prstGeom>
            <a:solidFill>
              <a:srgbClr val="2E7D32"/>
            </a:solidFill>
            <a:ln w="12700">
              <a:solidFill>
                <a:srgbClr val="2E7D3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1146048" y="877824"/>
              <a:ext cx="1548383" cy="31699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Name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43200" y="877824"/>
              <a:ext cx="3230880" cy="316991"/>
            </a:xfrm>
            <a:prstGeom prst="rect">
              <a:avLst/>
            </a:prstGeom>
            <a:solidFill>
              <a:srgbClr val="2E7D32"/>
            </a:solidFill>
            <a:ln w="12700">
              <a:solidFill>
                <a:srgbClr val="2E7D3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 10"/>
            <p:cNvSpPr/>
            <p:nvPr/>
          </p:nvSpPr>
          <p:spPr>
            <a:xfrm>
              <a:off x="2791967" y="877824"/>
              <a:ext cx="3133343" cy="31699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AWS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974080" y="877824"/>
              <a:ext cx="3230880" cy="316991"/>
            </a:xfrm>
            <a:prstGeom prst="rect">
              <a:avLst/>
            </a:prstGeom>
            <a:solidFill>
              <a:srgbClr val="2E7D32"/>
            </a:solidFill>
            <a:ln w="12700">
              <a:solidFill>
                <a:srgbClr val="2E7D3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 12"/>
            <p:cNvSpPr/>
            <p:nvPr/>
          </p:nvSpPr>
          <p:spPr>
            <a:xfrm>
              <a:off x="6022848" y="877824"/>
              <a:ext cx="3133343" cy="31699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Azure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9204960" y="877824"/>
              <a:ext cx="3230880" cy="316991"/>
            </a:xfrm>
            <a:prstGeom prst="rect">
              <a:avLst/>
            </a:prstGeom>
            <a:solidFill>
              <a:srgbClr val="2E7D32"/>
            </a:solidFill>
            <a:ln w="12700">
              <a:solidFill>
                <a:srgbClr val="2E7D3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 14"/>
            <p:cNvSpPr/>
            <p:nvPr/>
          </p:nvSpPr>
          <p:spPr>
            <a:xfrm>
              <a:off x="9253728" y="877824"/>
              <a:ext cx="3133343" cy="31699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GCP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243840" y="1219200"/>
              <a:ext cx="853439" cy="52425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 16"/>
            <p:cNvSpPr/>
            <p:nvPr/>
          </p:nvSpPr>
          <p:spPr>
            <a:xfrm>
              <a:off x="292608" y="1219200"/>
              <a:ext cx="755904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b="1" dirty="0">
                  <a:solidFill>
                    <a:srgbClr val="2E7D3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AC-2</a:t>
              </a:r>
              <a:endParaRPr lang="en-US" sz="7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1097280" y="1219200"/>
              <a:ext cx="1645920" cy="52425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 18"/>
            <p:cNvSpPr/>
            <p:nvPr/>
          </p:nvSpPr>
          <p:spPr>
            <a:xfrm>
              <a:off x="1146048" y="1219200"/>
              <a:ext cx="154838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Account Mgmt</a:t>
              </a:r>
              <a:endParaRPr lang="en-US" sz="7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2743200" y="1219200"/>
              <a:ext cx="3230880" cy="52425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 20"/>
            <p:cNvSpPr/>
            <p:nvPr/>
          </p:nvSpPr>
          <p:spPr>
            <a:xfrm>
              <a:off x="2791967" y="1219200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IAM Identity Center + Access Analyzer</a:t>
              </a:r>
              <a:endParaRPr lang="en-US" sz="7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74080" y="1219200"/>
              <a:ext cx="3230880" cy="52425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Text 22"/>
            <p:cNvSpPr/>
            <p:nvPr/>
          </p:nvSpPr>
          <p:spPr>
            <a:xfrm>
              <a:off x="6022848" y="1219200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Entra ID + PIM access reviews</a:t>
              </a:r>
              <a:endParaRPr lang="en-US" sz="7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9204960" y="1219200"/>
              <a:ext cx="3230880" cy="52425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 24"/>
            <p:cNvSpPr/>
            <p:nvPr/>
          </p:nvSpPr>
          <p:spPr>
            <a:xfrm>
              <a:off x="9253728" y="1219200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IAM Recommender + Policy Analyzer</a:t>
              </a:r>
              <a:endParaRPr lang="en-US" sz="7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43840" y="1773936"/>
              <a:ext cx="853439" cy="52425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 26"/>
            <p:cNvSpPr/>
            <p:nvPr/>
          </p:nvSpPr>
          <p:spPr>
            <a:xfrm>
              <a:off x="292608" y="1773936"/>
              <a:ext cx="755904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b="1" dirty="0">
                  <a:solidFill>
                    <a:srgbClr val="2E7D3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AC-3</a:t>
              </a:r>
              <a:endParaRPr lang="en-US" sz="7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1097280" y="1773936"/>
              <a:ext cx="1645920" cy="52425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 28"/>
            <p:cNvSpPr/>
            <p:nvPr/>
          </p:nvSpPr>
          <p:spPr>
            <a:xfrm>
              <a:off x="1146048" y="1773936"/>
              <a:ext cx="154838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Access Enforcement</a:t>
              </a:r>
              <a:endParaRPr lang="en-US" sz="7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743200" y="1773936"/>
              <a:ext cx="3230880" cy="52425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 30"/>
            <p:cNvSpPr/>
            <p:nvPr/>
          </p:nvSpPr>
          <p:spPr>
            <a:xfrm>
              <a:off x="2791967" y="1773936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SCPs + Permission Boundaries + S3 Bucket Policies</a:t>
              </a:r>
              <a:endParaRPr lang="en-US" sz="7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5974080" y="1773936"/>
              <a:ext cx="3230880" cy="52425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 32"/>
            <p:cNvSpPr/>
            <p:nvPr/>
          </p:nvSpPr>
          <p:spPr>
            <a:xfrm>
              <a:off x="6022848" y="1773936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Azure RBAC + Conditional Access</a:t>
              </a:r>
              <a:endParaRPr lang="en-US" sz="7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9204960" y="1773936"/>
              <a:ext cx="3230880" cy="52425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 34"/>
            <p:cNvSpPr/>
            <p:nvPr/>
          </p:nvSpPr>
          <p:spPr>
            <a:xfrm>
              <a:off x="9253728" y="1773936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IAM Conditions + VPC Service Controls</a:t>
              </a:r>
              <a:endParaRPr lang="en-US" sz="7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243840" y="2328672"/>
              <a:ext cx="853439" cy="52425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 36"/>
            <p:cNvSpPr/>
            <p:nvPr/>
          </p:nvSpPr>
          <p:spPr>
            <a:xfrm>
              <a:off x="292608" y="2328672"/>
              <a:ext cx="755904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b="1" dirty="0">
                  <a:solidFill>
                    <a:srgbClr val="2E7D3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AC-17</a:t>
              </a:r>
              <a:endParaRPr lang="en-US" sz="7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1097280" y="2328672"/>
              <a:ext cx="1645920" cy="52425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 38"/>
            <p:cNvSpPr/>
            <p:nvPr/>
          </p:nvSpPr>
          <p:spPr>
            <a:xfrm>
              <a:off x="1146048" y="2328672"/>
              <a:ext cx="154838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Remote Access</a:t>
              </a:r>
              <a:endParaRPr lang="en-US" sz="7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2743200" y="2328672"/>
              <a:ext cx="3230880" cy="52425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 40"/>
            <p:cNvSpPr/>
            <p:nvPr/>
          </p:nvSpPr>
          <p:spPr>
            <a:xfrm>
              <a:off x="2791967" y="2328672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SSM Session Manager (no SSH/RDP)</a:t>
              </a:r>
              <a:endParaRPr lang="en-US" sz="7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974080" y="2328672"/>
              <a:ext cx="3230880" cy="52425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Text 42"/>
            <p:cNvSpPr/>
            <p:nvPr/>
          </p:nvSpPr>
          <p:spPr>
            <a:xfrm>
              <a:off x="6022848" y="2328672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Azure Bastion + IAP</a:t>
              </a:r>
              <a:endParaRPr lang="en-US" sz="7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9204960" y="2328672"/>
              <a:ext cx="3230880" cy="52425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 44"/>
            <p:cNvSpPr/>
            <p:nvPr/>
          </p:nvSpPr>
          <p:spPr>
            <a:xfrm>
              <a:off x="9253728" y="2328672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IAP Tunneling + BeyondCorp</a:t>
              </a:r>
              <a:endParaRPr lang="en-US" sz="7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243840" y="2883408"/>
              <a:ext cx="853439" cy="52425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 46"/>
            <p:cNvSpPr/>
            <p:nvPr/>
          </p:nvSpPr>
          <p:spPr>
            <a:xfrm>
              <a:off x="292608" y="2883408"/>
              <a:ext cx="755904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b="1" dirty="0">
                  <a:solidFill>
                    <a:srgbClr val="2E7D3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AU-2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1097280" y="2883408"/>
              <a:ext cx="1645920" cy="52425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Text 48"/>
            <p:cNvSpPr/>
            <p:nvPr/>
          </p:nvSpPr>
          <p:spPr>
            <a:xfrm>
              <a:off x="1146048" y="2883408"/>
              <a:ext cx="154838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Event Logging</a:t>
              </a:r>
              <a:endParaRPr lang="en-US" sz="7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2743200" y="2883408"/>
              <a:ext cx="3230880" cy="52425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Text 50"/>
            <p:cNvSpPr/>
            <p:nvPr/>
          </p:nvSpPr>
          <p:spPr>
            <a:xfrm>
              <a:off x="2791967" y="2883408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CloudTrail (org trail) + VPC Flow Logs</a:t>
              </a:r>
              <a:endParaRPr lang="en-US" sz="75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5974080" y="2883408"/>
              <a:ext cx="3230880" cy="52425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Text 52"/>
            <p:cNvSpPr/>
            <p:nvPr/>
          </p:nvSpPr>
          <p:spPr>
            <a:xfrm>
              <a:off x="6022848" y="2883408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Activity Logs + NSG Flow Logs</a:t>
              </a:r>
              <a:endParaRPr lang="en-US" sz="75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9204960" y="2883408"/>
              <a:ext cx="3230880" cy="52425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 54"/>
            <p:cNvSpPr/>
            <p:nvPr/>
          </p:nvSpPr>
          <p:spPr>
            <a:xfrm>
              <a:off x="9253728" y="2883408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Cloud Audit Logs + VPC Flow Logs</a:t>
              </a:r>
              <a:endParaRPr lang="en-US" sz="7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243840" y="3438143"/>
              <a:ext cx="853439" cy="52425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 56"/>
            <p:cNvSpPr/>
            <p:nvPr/>
          </p:nvSpPr>
          <p:spPr>
            <a:xfrm>
              <a:off x="292608" y="3438143"/>
              <a:ext cx="755904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b="1" dirty="0">
                  <a:solidFill>
                    <a:srgbClr val="2E7D3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AU-9</a:t>
              </a:r>
              <a:endParaRPr lang="en-US" sz="7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1097280" y="3438143"/>
              <a:ext cx="1645920" cy="52425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Text 58"/>
            <p:cNvSpPr/>
            <p:nvPr/>
          </p:nvSpPr>
          <p:spPr>
            <a:xfrm>
              <a:off x="1146048" y="3438143"/>
              <a:ext cx="154838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Audit Protection</a:t>
              </a:r>
              <a:endParaRPr lang="en-US" sz="7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2743200" y="3438143"/>
              <a:ext cx="3230880" cy="52425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Text 60"/>
            <p:cNvSpPr/>
            <p:nvPr/>
          </p:nvSpPr>
          <p:spPr>
            <a:xfrm>
              <a:off x="2791967" y="3438143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CloudTrail log validation + S3 Object Lock</a:t>
              </a:r>
              <a:endParaRPr lang="en-US" sz="7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5974080" y="3438143"/>
              <a:ext cx="3230880" cy="52425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Text 62"/>
            <p:cNvSpPr/>
            <p:nvPr/>
          </p:nvSpPr>
          <p:spPr>
            <a:xfrm>
              <a:off x="6022848" y="3438143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Immutable storage + Sentinel retention</a:t>
              </a:r>
              <a:endParaRPr lang="en-US" sz="7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9204960" y="3438143"/>
              <a:ext cx="3230880" cy="52425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Text 64"/>
            <p:cNvSpPr/>
            <p:nvPr/>
          </p:nvSpPr>
          <p:spPr>
            <a:xfrm>
              <a:off x="9253728" y="3438143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Audit log lock + Assured Workloads</a:t>
              </a:r>
              <a:endParaRPr lang="en-US" sz="75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243840" y="3992879"/>
              <a:ext cx="853439" cy="52425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 66"/>
            <p:cNvSpPr/>
            <p:nvPr/>
          </p:nvSpPr>
          <p:spPr>
            <a:xfrm>
              <a:off x="292608" y="3992879"/>
              <a:ext cx="755904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b="1" dirty="0">
                  <a:solidFill>
                    <a:srgbClr val="2E7D3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IA-5</a:t>
              </a:r>
              <a:endParaRPr lang="en-US" sz="750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1097280" y="3992879"/>
              <a:ext cx="1645920" cy="52425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Text 68"/>
            <p:cNvSpPr/>
            <p:nvPr/>
          </p:nvSpPr>
          <p:spPr>
            <a:xfrm>
              <a:off x="1146048" y="3992879"/>
              <a:ext cx="154838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Auth Management</a:t>
              </a:r>
              <a:endParaRPr lang="en-US" sz="7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2743200" y="3992879"/>
              <a:ext cx="3230880" cy="52425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Text 70"/>
            <p:cNvSpPr/>
            <p:nvPr/>
          </p:nvSpPr>
          <p:spPr>
            <a:xfrm>
              <a:off x="2791967" y="3992879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Secrets Manager + no IAM user keys</a:t>
              </a:r>
              <a:endParaRPr lang="en-US" sz="7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5974080" y="3992879"/>
              <a:ext cx="3230880" cy="52425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Text 72"/>
            <p:cNvSpPr/>
            <p:nvPr/>
          </p:nvSpPr>
          <p:spPr>
            <a:xfrm>
              <a:off x="6022848" y="3992879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Key Vault + managed identity (no secrets)</a:t>
              </a:r>
              <a:endParaRPr lang="en-US" sz="7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9204960" y="3992879"/>
              <a:ext cx="3230880" cy="52425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 74"/>
            <p:cNvSpPr/>
            <p:nvPr/>
          </p:nvSpPr>
          <p:spPr>
            <a:xfrm>
              <a:off x="9253728" y="3992879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Secret Manager + no SA keys (Org Policy)</a:t>
              </a:r>
              <a:endParaRPr lang="en-US" sz="7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243840" y="4547616"/>
              <a:ext cx="853439" cy="52425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 76"/>
            <p:cNvSpPr/>
            <p:nvPr/>
          </p:nvSpPr>
          <p:spPr>
            <a:xfrm>
              <a:off x="292608" y="4547616"/>
              <a:ext cx="755904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b="1" dirty="0">
                  <a:solidFill>
                    <a:srgbClr val="2E7D3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SC-7</a:t>
              </a:r>
              <a:endParaRPr lang="en-US" sz="7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1097280" y="4547616"/>
              <a:ext cx="1645920" cy="52425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Text 78"/>
            <p:cNvSpPr/>
            <p:nvPr/>
          </p:nvSpPr>
          <p:spPr>
            <a:xfrm>
              <a:off x="1146048" y="4547616"/>
              <a:ext cx="154838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Boundary Protection</a:t>
              </a:r>
              <a:endParaRPr lang="en-US" sz="7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2743200" y="4547616"/>
              <a:ext cx="3230880" cy="52425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Text 80"/>
            <p:cNvSpPr/>
            <p:nvPr/>
          </p:nvSpPr>
          <p:spPr>
            <a:xfrm>
              <a:off x="2791967" y="4547616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VPC + Security Groups + NACLs + WAF</a:t>
              </a:r>
              <a:endParaRPr lang="en-US" sz="7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5974080" y="4547616"/>
              <a:ext cx="3230880" cy="52425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Text 82"/>
            <p:cNvSpPr/>
            <p:nvPr/>
          </p:nvSpPr>
          <p:spPr>
            <a:xfrm>
              <a:off x="6022848" y="4547616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NSG + Azure Firewall + Application Gateway</a:t>
              </a:r>
              <a:endParaRPr lang="en-US" sz="7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9204960" y="4547616"/>
              <a:ext cx="3230880" cy="52425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Text 84"/>
            <p:cNvSpPr/>
            <p:nvPr/>
          </p:nvSpPr>
          <p:spPr>
            <a:xfrm>
              <a:off x="9253728" y="4547616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Hierarchical Firewall + Cloud Armor + Cloud IDS</a:t>
              </a:r>
              <a:endParaRPr lang="en-US" sz="7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243840" y="5102352"/>
              <a:ext cx="853439" cy="52425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 86"/>
            <p:cNvSpPr/>
            <p:nvPr/>
          </p:nvSpPr>
          <p:spPr>
            <a:xfrm>
              <a:off x="292608" y="5102352"/>
              <a:ext cx="755904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b="1" dirty="0">
                  <a:solidFill>
                    <a:srgbClr val="2E7D3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SC-8</a:t>
              </a:r>
              <a:endParaRPr lang="en-US" sz="7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1097280" y="5102352"/>
              <a:ext cx="1645920" cy="52425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Text 88"/>
            <p:cNvSpPr/>
            <p:nvPr/>
          </p:nvSpPr>
          <p:spPr>
            <a:xfrm>
              <a:off x="1146048" y="5102352"/>
              <a:ext cx="154838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Transmission Integrity</a:t>
              </a:r>
              <a:endParaRPr lang="en-US" sz="7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2743200" y="5102352"/>
              <a:ext cx="3230880" cy="52425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" name="Text 90"/>
            <p:cNvSpPr/>
            <p:nvPr/>
          </p:nvSpPr>
          <p:spPr>
            <a:xfrm>
              <a:off x="2791967" y="5102352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TLS 1.2 min on all endpoints; enforce-HTTPS S3</a:t>
              </a:r>
              <a:endParaRPr lang="en-US" sz="7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5974080" y="5102352"/>
              <a:ext cx="3230880" cy="52425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Text 92"/>
            <p:cNvSpPr/>
            <p:nvPr/>
          </p:nvSpPr>
          <p:spPr>
            <a:xfrm>
              <a:off x="6022848" y="5102352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TLS min version policy on App Service + Storage</a:t>
              </a:r>
              <a:endParaRPr lang="en-US" sz="7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9204960" y="5102352"/>
              <a:ext cx="3230880" cy="52425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Text 94"/>
            <p:cNvSpPr/>
            <p:nvPr/>
          </p:nvSpPr>
          <p:spPr>
            <a:xfrm>
              <a:off x="9253728" y="5102352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HTTPS enforced via Org Policy + load balancer</a:t>
              </a:r>
              <a:endParaRPr lang="en-US" sz="7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243840" y="5657087"/>
              <a:ext cx="853439" cy="52425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 96"/>
            <p:cNvSpPr/>
            <p:nvPr/>
          </p:nvSpPr>
          <p:spPr>
            <a:xfrm>
              <a:off x="292608" y="5657087"/>
              <a:ext cx="755904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b="1" dirty="0">
                  <a:solidFill>
                    <a:srgbClr val="2E7D3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SC-28</a:t>
              </a:r>
              <a:endParaRPr lang="en-US" sz="7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1097280" y="5657087"/>
              <a:ext cx="1645920" cy="52425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Text 98"/>
            <p:cNvSpPr/>
            <p:nvPr/>
          </p:nvSpPr>
          <p:spPr>
            <a:xfrm>
              <a:off x="1146048" y="5657087"/>
              <a:ext cx="154838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At-Rest Protection</a:t>
              </a:r>
              <a:endParaRPr lang="en-US" sz="7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2743200" y="5657087"/>
              <a:ext cx="3230880" cy="52425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Text 100"/>
            <p:cNvSpPr/>
            <p:nvPr/>
          </p:nvSpPr>
          <p:spPr>
            <a:xfrm>
              <a:off x="2791967" y="5657087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KMS CMKs on all EBS/S3/RDS/DynamoDB</a:t>
              </a:r>
              <a:endParaRPr lang="en-US" sz="7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5974080" y="5657087"/>
              <a:ext cx="3230880" cy="52425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Text 102"/>
            <p:cNvSpPr/>
            <p:nvPr/>
          </p:nvSpPr>
          <p:spPr>
            <a:xfrm>
              <a:off x="6022848" y="5657087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Key Vault CMK on all storage and SQL</a:t>
              </a:r>
              <a:endParaRPr lang="en-US" sz="7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9204960" y="5657087"/>
              <a:ext cx="3230880" cy="52425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 104"/>
            <p:cNvSpPr/>
            <p:nvPr/>
          </p:nvSpPr>
          <p:spPr>
            <a:xfrm>
              <a:off x="9253728" y="5657087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Cloud KMS CMEK on GCS/BigQuery/Spanner</a:t>
              </a:r>
              <a:endParaRPr lang="en-US" sz="75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243840" y="6211823"/>
              <a:ext cx="853439" cy="52425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Text 106"/>
            <p:cNvSpPr/>
            <p:nvPr/>
          </p:nvSpPr>
          <p:spPr>
            <a:xfrm>
              <a:off x="292608" y="6211823"/>
              <a:ext cx="755904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b="1" dirty="0">
                  <a:solidFill>
                    <a:srgbClr val="2E7D3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SI-3</a:t>
              </a:r>
              <a:endParaRPr lang="en-US" sz="750" dirty="0"/>
            </a:p>
          </p:txBody>
        </p:sp>
        <p:sp>
          <p:nvSpPr>
            <p:cNvPr id="109" name="Shape 107"/>
            <p:cNvSpPr/>
            <p:nvPr/>
          </p:nvSpPr>
          <p:spPr>
            <a:xfrm>
              <a:off x="1097280" y="6211823"/>
              <a:ext cx="1645920" cy="52425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Text 108"/>
            <p:cNvSpPr/>
            <p:nvPr/>
          </p:nvSpPr>
          <p:spPr>
            <a:xfrm>
              <a:off x="1146048" y="6211823"/>
              <a:ext cx="154838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Malicious Code Prot.</a:t>
              </a:r>
              <a:endParaRPr lang="en-US" sz="7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2743200" y="6211823"/>
              <a:ext cx="3230880" cy="52425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Text 110"/>
            <p:cNvSpPr/>
            <p:nvPr/>
          </p:nvSpPr>
          <p:spPr>
            <a:xfrm>
              <a:off x="2791967" y="6211823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GuardDuty + Inspector + Macie</a:t>
              </a:r>
              <a:endParaRPr lang="en-US" sz="7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974080" y="6211823"/>
              <a:ext cx="3230880" cy="52425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Text 112"/>
            <p:cNvSpPr/>
            <p:nvPr/>
          </p:nvSpPr>
          <p:spPr>
            <a:xfrm>
              <a:off x="6022848" y="6211823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Defender for Cloud Plans (all workloads)</a:t>
              </a:r>
              <a:endParaRPr lang="en-US" sz="7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9204960" y="6211823"/>
              <a:ext cx="3230880" cy="52425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Text 114"/>
            <p:cNvSpPr/>
            <p:nvPr/>
          </p:nvSpPr>
          <p:spPr>
            <a:xfrm>
              <a:off x="9253728" y="6211823"/>
              <a:ext cx="3133343" cy="5242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7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SCC ETD + CTD + Artifact Registry scanning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4A2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87680" y="1706879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4A26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87680" y="2865119"/>
            <a:ext cx="10972800" cy="7924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Roadmap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87680" y="3755135"/>
            <a:ext cx="10972800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 approach: 0–30 days  ·  30–90 days  ·  90–180 days  ·  180 days+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7680" y="4267200"/>
            <a:ext cx="3657600" cy="48768"/>
          </a:xfrm>
          <a:prstGeom prst="rect">
            <a:avLst/>
          </a:prstGeom>
          <a:solidFill>
            <a:srgbClr val="F4A2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6516623"/>
            <a:ext cx="8534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582400" y="6516623"/>
            <a:ext cx="48768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Roadmap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516623"/>
            <a:ext cx="8534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1582400" y="6516623"/>
            <a:ext cx="48768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43840" y="877824"/>
            <a:ext cx="5730239" cy="2706624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43840" y="877824"/>
            <a:ext cx="5730239" cy="426719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5760" y="877824"/>
            <a:ext cx="1828800" cy="4267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072639" y="877824"/>
            <a:ext cx="3779519" cy="4267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– 30 days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6719" y="1341120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Enable CloudTrail / Activity Log / Cloud Audit Logs (all accounts)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26719" y="1780032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Enable GuardDuty / Defender for Cloud / SCC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26719" y="2218943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Block public access on all storage accounts (policy + manual)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26719" y="2657856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Enforce MFA for all human identities — no exceptions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26719" y="3096767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Rotate or disable all long-lived IAM keys and SA keys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339839" y="877824"/>
            <a:ext cx="5730239" cy="2706624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339839" y="877824"/>
            <a:ext cx="5730239" cy="426719"/>
          </a:xfrm>
          <a:prstGeom prst="rect">
            <a:avLst/>
          </a:prstGeom>
          <a:solidFill>
            <a:srgbClr val="F4A2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61760" y="877824"/>
            <a:ext cx="1828800" cy="4267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168639" y="877824"/>
            <a:ext cx="3779519" cy="4267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– 90 days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22719" y="1341120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Migrate to Managed Identity / IRSA / Workload Identity Federation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22719" y="1780032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Implement private endpoints for all PaaS services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522719" y="2218943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Deploy CSPM (Wiz or native: Security Hub / Defender / SCC)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522719" y="2657856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Enable CMEK for all data stores (KMS / Key Vault / Cloud KMS)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522719" y="3096767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Establish centralized SIEM ingestion with all cloud log sources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43840" y="3730752"/>
            <a:ext cx="5730239" cy="2706624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43840" y="3730752"/>
            <a:ext cx="5730239" cy="426719"/>
          </a:xfrm>
          <a:prstGeom prst="rect">
            <a:avLst/>
          </a:prstGeom>
          <a:solidFill>
            <a:srgbClr val="4285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65760" y="3730752"/>
            <a:ext cx="1828800" cy="4267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072639" y="3730752"/>
            <a:ext cx="3779519" cy="4267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– 180 days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6719" y="4194048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Implement SCPs / Azure Policy / Org Policy guardrail baseline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26719" y="4632960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Deploy PIM / JIT elevation for all privileged roles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26719" y="5071871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Onboard IaC (Terraform) with policy-as-code scanning (Checkov)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26719" y="5510783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Conduct first cloud penetration test per provider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26719" y="5949696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Automate remediation for critical Config Rule violations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339839" y="3730752"/>
            <a:ext cx="5730239" cy="2706624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339839" y="3730752"/>
            <a:ext cx="5730239" cy="426719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461760" y="3730752"/>
            <a:ext cx="1828800" cy="4267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168639" y="3730752"/>
            <a:ext cx="3779519" cy="4267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days+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522719" y="4194048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Integrate multi-cloud SIEM with detection-as-code (YARA-L / KQL)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522719" y="4632960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Implement VPC Service Controls perimeter (GCP) + cross-account isolation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522719" y="5071871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RBAC maturity: right-size all roles to least privilege via recommenders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522719" y="5510783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Continuous compliance: CIS Benchmark scheduled reporting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522719" y="5949696"/>
            <a:ext cx="53644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Red team exercises: cloud-specific attack scenarios (MITRE ATT&amp;CK Cloud)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87680" y="1706879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0F4C75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87680" y="2865119"/>
            <a:ext cx="10972800" cy="7924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Security  ·  Attack Paths  ·  Metrics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87680" y="3755135"/>
            <a:ext cx="10972800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Governance  ·  Attack Path Analysis  ·  Operational Security Metrics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7680" y="4267200"/>
            <a:ext cx="3657600" cy="48768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6516623"/>
            <a:ext cx="853440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582400" y="6516623"/>
            <a:ext cx="487680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Security and LLM Governance</a:t>
            </a:r>
            <a:endParaRPr lang="en-US" sz="2200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16AB480E-10E9-D5BC-703E-85C20A854C18}"/>
              </a:ext>
            </a:extLst>
          </p:cNvPr>
          <p:cNvGrpSpPr/>
          <p:nvPr/>
        </p:nvGrpSpPr>
        <p:grpSpPr>
          <a:xfrm>
            <a:off x="243840" y="877825"/>
            <a:ext cx="11739613" cy="5833872"/>
            <a:chOff x="243840" y="877824"/>
            <a:chExt cx="15727678" cy="7351775"/>
          </a:xfrm>
        </p:grpSpPr>
        <p:sp>
          <p:nvSpPr>
            <p:cNvPr id="5" name="Shape 3"/>
            <p:cNvSpPr/>
            <p:nvPr/>
          </p:nvSpPr>
          <p:spPr>
            <a:xfrm>
              <a:off x="243840" y="877824"/>
              <a:ext cx="15605760" cy="365760"/>
            </a:xfrm>
            <a:prstGeom prst="rect">
              <a:avLst/>
            </a:prstGeom>
            <a:solidFill>
              <a:srgbClr val="0F4C75">
                <a:alpha val="12000"/>
              </a:srgbClr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 4"/>
            <p:cNvSpPr/>
            <p:nvPr/>
          </p:nvSpPr>
          <p:spPr>
            <a:xfrm>
              <a:off x="426719" y="877824"/>
              <a:ext cx="15361919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AI systems introduce new attack surfaces not covered by traditional cloud security controls. LLM applications require a dedicated security layer.</a:t>
              </a:r>
              <a:endParaRPr lang="en-US" sz="9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243840" y="1341120"/>
              <a:ext cx="4998720" cy="341376"/>
            </a:xfrm>
            <a:prstGeom prst="rect">
              <a:avLst/>
            </a:prstGeom>
            <a:solidFill>
              <a:srgbClr val="C62828"/>
            </a:solidFill>
            <a:ln w="12700">
              <a:solidFill>
                <a:srgbClr val="C6282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 6"/>
            <p:cNvSpPr/>
            <p:nvPr/>
          </p:nvSpPr>
          <p:spPr>
            <a:xfrm>
              <a:off x="365760" y="1341120"/>
              <a:ext cx="4754880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New Risks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243840" y="1731264"/>
              <a:ext cx="4998720" cy="1560576"/>
            </a:xfrm>
            <a:prstGeom prst="rect">
              <a:avLst/>
            </a:prstGeom>
            <a:solidFill>
              <a:srgbClr val="C62828">
                <a:alpha val="8000"/>
              </a:srgbClr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390144" y="1804415"/>
              <a:ext cx="469392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b="1" dirty="0">
                  <a:solidFill>
                    <a:srgbClr val="C6282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Prompt Injection</a:t>
              </a:r>
              <a:endParaRPr lang="en-US" sz="9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90144" y="2121408"/>
              <a:ext cx="4693920" cy="107289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Malicious user input hijacks model behavior or bypasses guardrails. Indirect injection via external content retrieved by the model.</a:t>
              </a:r>
              <a:endParaRPr lang="en-US" sz="85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243840" y="3377183"/>
              <a:ext cx="4998720" cy="1560576"/>
            </a:xfrm>
            <a:prstGeom prst="rect">
              <a:avLst/>
            </a:prstGeom>
            <a:solidFill>
              <a:srgbClr val="C62828">
                <a:alpha val="8000"/>
              </a:srgbClr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 11"/>
            <p:cNvSpPr/>
            <p:nvPr/>
          </p:nvSpPr>
          <p:spPr>
            <a:xfrm>
              <a:off x="390144" y="3450335"/>
              <a:ext cx="469392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b="1" dirty="0">
                  <a:solidFill>
                    <a:srgbClr val="C6282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Sensitive Data Leakage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90144" y="3767328"/>
              <a:ext cx="4693920" cy="107289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Training data, context window, or retrieved documents contain PII, credentials, or proprietary data returned to unauthorized users.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243840" y="5023104"/>
              <a:ext cx="4998720" cy="1560576"/>
            </a:xfrm>
            <a:prstGeom prst="rect">
              <a:avLst/>
            </a:prstGeom>
            <a:solidFill>
              <a:srgbClr val="C62828">
                <a:alpha val="8000"/>
              </a:srgbClr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 14"/>
            <p:cNvSpPr/>
            <p:nvPr/>
          </p:nvSpPr>
          <p:spPr>
            <a:xfrm>
              <a:off x="390144" y="5096256"/>
              <a:ext cx="469392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b="1" dirty="0">
                  <a:solidFill>
                    <a:srgbClr val="C6282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Model and Supply Chain Manipulation</a:t>
              </a:r>
              <a:endParaRPr lang="en-US" sz="9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90144" y="5413248"/>
              <a:ext cx="4693920" cy="107289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Tampered model weights or fine-tuning data. Dependency compromise in AI libraries or vector stores.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243840" y="6669023"/>
              <a:ext cx="4998720" cy="1560576"/>
            </a:xfrm>
            <a:prstGeom prst="rect">
              <a:avLst/>
            </a:prstGeom>
            <a:solidFill>
              <a:srgbClr val="C62828">
                <a:alpha val="8000"/>
              </a:srgbClr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 17"/>
            <p:cNvSpPr/>
            <p:nvPr/>
          </p:nvSpPr>
          <p:spPr>
            <a:xfrm>
              <a:off x="390144" y="6742176"/>
              <a:ext cx="469392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b="1" dirty="0">
                  <a:solidFill>
                    <a:srgbClr val="C6282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Excessive Agency Risk</a:t>
              </a:r>
              <a:endParaRPr lang="en-US" sz="9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90144" y="7059167"/>
              <a:ext cx="4693920" cy="107289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LLM agents with tool access (file system, APIs, databases) can perform destructive actions if authorization boundaries are not enforced.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547360" y="1341120"/>
              <a:ext cx="4998720" cy="341376"/>
            </a:xfrm>
            <a:prstGeom prst="rect">
              <a:avLst/>
            </a:prstGeom>
            <a:solidFill>
              <a:srgbClr val="1565C0"/>
            </a:solidFill>
            <a:ln w="12700">
              <a:solidFill>
                <a:srgbClr val="1565C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 20"/>
            <p:cNvSpPr/>
            <p:nvPr/>
          </p:nvSpPr>
          <p:spPr>
            <a:xfrm>
              <a:off x="5669280" y="1341120"/>
              <a:ext cx="4754880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Security Controls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47360" y="1731264"/>
              <a:ext cx="4998720" cy="1560576"/>
            </a:xfrm>
            <a:prstGeom prst="rect">
              <a:avLst/>
            </a:prstGeom>
            <a:solidFill>
              <a:srgbClr val="1565C0">
                <a:alpha val="8000"/>
              </a:srgbClr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Text 22"/>
            <p:cNvSpPr/>
            <p:nvPr/>
          </p:nvSpPr>
          <p:spPr>
            <a:xfrm>
              <a:off x="5693664" y="1804415"/>
              <a:ext cx="469392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b="1" dirty="0">
                  <a:solidFill>
                    <a:srgbClr val="1565C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Model API Access Control</a:t>
              </a:r>
              <a:endParaRPr lang="en-US" sz="95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693664" y="2121408"/>
              <a:ext cx="4693920" cy="107289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IAM policies on model inference endpoints. Audit logs for all inference requests. Rate limiting and token quotas per identity.</a:t>
              </a:r>
              <a:endParaRPr lang="en-US" sz="85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547360" y="3377183"/>
              <a:ext cx="4998720" cy="1560576"/>
            </a:xfrm>
            <a:prstGeom prst="rect">
              <a:avLst/>
            </a:prstGeom>
            <a:solidFill>
              <a:srgbClr val="1565C0">
                <a:alpha val="8000"/>
              </a:srgbClr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 25"/>
            <p:cNvSpPr/>
            <p:nvPr/>
          </p:nvSpPr>
          <p:spPr>
            <a:xfrm>
              <a:off x="5693664" y="3450335"/>
              <a:ext cx="469392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b="1" dirty="0">
                  <a:solidFill>
                    <a:srgbClr val="1565C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Prompt Filtering and Output Monitoring</a:t>
              </a:r>
              <a:endParaRPr lang="en-US" sz="95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693664" y="3767328"/>
              <a:ext cx="4693920" cy="107289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Input validation: detect injection patterns. Output scanning for PII, credentials, code. Guardrails enforced at inference layer.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547360" y="5023104"/>
              <a:ext cx="4998720" cy="1560576"/>
            </a:xfrm>
            <a:prstGeom prst="rect">
              <a:avLst/>
            </a:prstGeom>
            <a:solidFill>
              <a:srgbClr val="1565C0">
                <a:alpha val="8000"/>
              </a:srgbClr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 28"/>
            <p:cNvSpPr/>
            <p:nvPr/>
          </p:nvSpPr>
          <p:spPr>
            <a:xfrm>
              <a:off x="5693664" y="5096256"/>
              <a:ext cx="469392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b="1" dirty="0">
                  <a:solidFill>
                    <a:srgbClr val="1565C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AI Red Team Testing</a:t>
              </a:r>
              <a:endParaRPr lang="en-US" sz="95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693664" y="5413248"/>
              <a:ext cx="4693920" cy="107289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Adversarial prompt testing (jailbreaks, role-play attacks). MITRE ATLAS technique library. Automated regression suite pre-deployment.</a:t>
              </a:r>
              <a:endParaRPr lang="en-US" sz="85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547360" y="6669023"/>
              <a:ext cx="4998720" cy="1560576"/>
            </a:xfrm>
            <a:prstGeom prst="rect">
              <a:avLst/>
            </a:prstGeom>
            <a:solidFill>
              <a:srgbClr val="1565C0">
                <a:alpha val="8000"/>
              </a:srgbClr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 31"/>
            <p:cNvSpPr/>
            <p:nvPr/>
          </p:nvSpPr>
          <p:spPr>
            <a:xfrm>
              <a:off x="5693664" y="6742176"/>
              <a:ext cx="469392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b="1" dirty="0">
                  <a:solidFill>
                    <a:srgbClr val="1565C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Data Governance for AI</a:t>
              </a:r>
              <a:endParaRPr lang="en-US" sz="95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693664" y="7059167"/>
              <a:ext cx="4693920" cy="107289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Training data lineage and access audit. Sensitive data excluded from training datasets. DSPM scanning applied to AI data pipelines.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10850879" y="1341120"/>
              <a:ext cx="5120639" cy="341376"/>
            </a:xfrm>
            <a:prstGeom prst="rect">
              <a:avLst/>
            </a:prstGeom>
            <a:solidFill>
              <a:srgbClr val="0F4C75"/>
            </a:solidFill>
            <a:ln w="12700">
              <a:solidFill>
                <a:srgbClr val="0F4C7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 34"/>
            <p:cNvSpPr/>
            <p:nvPr/>
          </p:nvSpPr>
          <p:spPr>
            <a:xfrm>
              <a:off x="10972800" y="1341120"/>
              <a:ext cx="4876800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Standards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10850879" y="1731264"/>
              <a:ext cx="5120639" cy="156057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 36"/>
            <p:cNvSpPr/>
            <p:nvPr/>
          </p:nvSpPr>
          <p:spPr>
            <a:xfrm>
              <a:off x="10972800" y="1804415"/>
              <a:ext cx="487680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b="1" dirty="0">
                  <a:solidFill>
                    <a:srgbClr val="0F4C7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OWASP Top 10 for LLM</a:t>
              </a:r>
              <a:endParaRPr lang="en-US" sz="95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10972800" y="2121408"/>
              <a:ext cx="4876800" cy="107289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LLM01-LLM10: prompt injection, insecure output, training data poisoning, model DoS, excessive agency</a:t>
              </a:r>
              <a:endParaRPr lang="en-US" sz="8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10850879" y="3377183"/>
              <a:ext cx="5120639" cy="156057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Text 39"/>
            <p:cNvSpPr/>
            <p:nvPr/>
          </p:nvSpPr>
          <p:spPr>
            <a:xfrm>
              <a:off x="10972800" y="3450335"/>
              <a:ext cx="487680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b="1" dirty="0">
                  <a:solidFill>
                    <a:srgbClr val="0F4C7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NIST AI RMF</a:t>
              </a:r>
              <a:endParaRPr lang="en-US" sz="9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10972800" y="3767328"/>
              <a:ext cx="4876800" cy="107289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Govern, Map, Measure, Manage: organizational risk framework for AI system lifecycle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10850879" y="5023104"/>
              <a:ext cx="5120639" cy="156057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Text 42"/>
            <p:cNvSpPr/>
            <p:nvPr/>
          </p:nvSpPr>
          <p:spPr>
            <a:xfrm>
              <a:off x="10972800" y="5096256"/>
              <a:ext cx="487680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b="1" dirty="0">
                  <a:solidFill>
                    <a:srgbClr val="0F4C7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MITRE ATLAS</a:t>
              </a:r>
              <a:endParaRPr lang="en-US" sz="9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10972800" y="5413248"/>
              <a:ext cx="4876800" cy="107289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Adversarial ML threat matrix: reconnaissance through impact techniques targeting AI systems</a:t>
              </a:r>
              <a:endParaRPr lang="en-US" sz="8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10850879" y="6669023"/>
              <a:ext cx="5120639" cy="1560576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Text 45"/>
            <p:cNvSpPr/>
            <p:nvPr/>
          </p:nvSpPr>
          <p:spPr>
            <a:xfrm>
              <a:off x="10972800" y="6742176"/>
              <a:ext cx="487680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b="1" dirty="0">
                  <a:solidFill>
                    <a:srgbClr val="0F4C7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ISO/IEC 42001</a:t>
              </a:r>
              <a:endParaRPr lang="en-US" sz="9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10972800" y="7059167"/>
              <a:ext cx="4876800" cy="1072895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AI management system standard: governance, risk, and lifecycle management for AI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Attack Path Analysis</a:t>
            </a:r>
            <a:endParaRPr lang="en-US" sz="2200" dirty="0"/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C2B7850-A68F-4069-A6A7-65C6E122C060}"/>
              </a:ext>
            </a:extLst>
          </p:cNvPr>
          <p:cNvGrpSpPr/>
          <p:nvPr/>
        </p:nvGrpSpPr>
        <p:grpSpPr>
          <a:xfrm>
            <a:off x="243840" y="877825"/>
            <a:ext cx="11739613" cy="5833872"/>
            <a:chOff x="243840" y="877824"/>
            <a:chExt cx="15727678" cy="5961887"/>
          </a:xfrm>
        </p:grpSpPr>
        <p:sp>
          <p:nvSpPr>
            <p:cNvPr id="5" name="Shape 3"/>
            <p:cNvSpPr/>
            <p:nvPr/>
          </p:nvSpPr>
          <p:spPr>
            <a:xfrm>
              <a:off x="243840" y="877824"/>
              <a:ext cx="15605760" cy="365760"/>
            </a:xfrm>
            <a:prstGeom prst="rect">
              <a:avLst/>
            </a:prstGeom>
            <a:solidFill>
              <a:srgbClr val="C62828">
                <a:alpha val="15000"/>
              </a:srgbClr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Shape 4"/>
            <p:cNvSpPr/>
            <p:nvPr/>
          </p:nvSpPr>
          <p:spPr>
            <a:xfrm>
              <a:off x="243840" y="877824"/>
              <a:ext cx="73152" cy="365760"/>
            </a:xfrm>
            <a:prstGeom prst="rect">
              <a:avLst/>
            </a:prstGeom>
            <a:solidFill>
              <a:srgbClr val="C62828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 5"/>
            <p:cNvSpPr/>
            <p:nvPr/>
          </p:nvSpPr>
          <p:spPr>
            <a:xfrm>
              <a:off x="426719" y="877824"/>
              <a:ext cx="15361919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Problem: Security misconfigurations create hidden attack chains. Individual findings look low-risk; graph analysis reveals exploitable paths to critical data.</a:t>
              </a:r>
              <a:endParaRPr lang="en-US" sz="95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4800" y="1341120"/>
              <a:ext cx="2560319" cy="1828800"/>
            </a:xfrm>
            <a:prstGeom prst="rect">
              <a:avLst/>
            </a:prstGeom>
            <a:solidFill>
              <a:srgbClr val="C62828">
                <a:alpha val="15000"/>
              </a:srgbClr>
            </a:solidFill>
            <a:ln w="12700">
              <a:solidFill>
                <a:srgbClr val="C6282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304800" y="1341120"/>
              <a:ext cx="2560319" cy="365760"/>
            </a:xfrm>
            <a:prstGeom prst="rect">
              <a:avLst/>
            </a:prstGeom>
            <a:solidFill>
              <a:srgbClr val="C62828"/>
            </a:solidFill>
            <a:ln w="12700">
              <a:solidFill>
                <a:srgbClr val="C6282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304800" y="1341120"/>
              <a:ext cx="2560319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Initial</a:t>
              </a:r>
              <a:endParaRPr lang="en-US" sz="900" dirty="0"/>
            </a:p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Access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6719" y="1780032"/>
              <a:ext cx="2316480" cy="13411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Phishing</a:t>
              </a:r>
              <a:endParaRPr lang="en-US" sz="850" dirty="0"/>
            </a:p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Exposed key</a:t>
              </a:r>
              <a:endParaRPr lang="en-US" sz="850" dirty="0"/>
            </a:p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Public S3</a:t>
              </a:r>
              <a:endParaRPr lang="en-US" sz="85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2889504" y="2170176"/>
              <a:ext cx="536447" cy="36576"/>
            </a:xfrm>
            <a:prstGeom prst="rect">
              <a:avLst/>
            </a:prstGeom>
            <a:solidFill>
              <a:srgbClr val="C62828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Shape 11"/>
            <p:cNvSpPr/>
            <p:nvPr/>
          </p:nvSpPr>
          <p:spPr>
            <a:xfrm>
              <a:off x="3450335" y="1341120"/>
              <a:ext cx="2560319" cy="1828800"/>
            </a:xfrm>
            <a:prstGeom prst="rect">
              <a:avLst/>
            </a:prstGeom>
            <a:solidFill>
              <a:srgbClr val="F4A261">
                <a:alpha val="15000"/>
              </a:srgbClr>
            </a:solidFill>
            <a:ln w="12700">
              <a:solidFill>
                <a:srgbClr val="F4A261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Shape 12"/>
            <p:cNvSpPr/>
            <p:nvPr/>
          </p:nvSpPr>
          <p:spPr>
            <a:xfrm>
              <a:off x="3450335" y="1341120"/>
              <a:ext cx="2560319" cy="365760"/>
            </a:xfrm>
            <a:prstGeom prst="rect">
              <a:avLst/>
            </a:prstGeom>
            <a:solidFill>
              <a:srgbClr val="F4A261"/>
            </a:solidFill>
            <a:ln w="12700">
              <a:solidFill>
                <a:srgbClr val="F4A261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 13"/>
            <p:cNvSpPr/>
            <p:nvPr/>
          </p:nvSpPr>
          <p:spPr>
            <a:xfrm>
              <a:off x="3450335" y="1341120"/>
              <a:ext cx="2560319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Cred</a:t>
              </a:r>
              <a:endParaRPr lang="en-US" sz="900" dirty="0"/>
            </a:p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Access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572255" y="1780032"/>
              <a:ext cx="2316480" cy="13411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Metadata API</a:t>
              </a:r>
              <a:endParaRPr lang="en-US" sz="850" dirty="0"/>
            </a:p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IMDSv1 abuse</a:t>
              </a:r>
              <a:endParaRPr lang="en-US" sz="850" dirty="0"/>
            </a:p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SSRF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35039" y="2170176"/>
              <a:ext cx="536447" cy="36576"/>
            </a:xfrm>
            <a:prstGeom prst="rect">
              <a:avLst/>
            </a:prstGeom>
            <a:solidFill>
              <a:srgbClr val="C62828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Shape 16"/>
            <p:cNvSpPr/>
            <p:nvPr/>
          </p:nvSpPr>
          <p:spPr>
            <a:xfrm>
              <a:off x="6595871" y="1341120"/>
              <a:ext cx="2560319" cy="1828800"/>
            </a:xfrm>
            <a:prstGeom prst="rect">
              <a:avLst/>
            </a:prstGeom>
            <a:solidFill>
              <a:srgbClr val="F4A261">
                <a:alpha val="15000"/>
              </a:srgbClr>
            </a:solidFill>
            <a:ln w="12700">
              <a:solidFill>
                <a:srgbClr val="F4A261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Shape 17"/>
            <p:cNvSpPr/>
            <p:nvPr/>
          </p:nvSpPr>
          <p:spPr>
            <a:xfrm>
              <a:off x="6595871" y="1341120"/>
              <a:ext cx="2560319" cy="365760"/>
            </a:xfrm>
            <a:prstGeom prst="rect">
              <a:avLst/>
            </a:prstGeom>
            <a:solidFill>
              <a:srgbClr val="F4A261"/>
            </a:solidFill>
            <a:ln w="12700">
              <a:solidFill>
                <a:srgbClr val="F4A261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 18"/>
            <p:cNvSpPr/>
            <p:nvPr/>
          </p:nvSpPr>
          <p:spPr>
            <a:xfrm>
              <a:off x="6595871" y="1341120"/>
              <a:ext cx="2560319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Privilege</a:t>
              </a:r>
              <a:endParaRPr lang="en-US" sz="900" dirty="0"/>
            </a:p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Escalation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717792" y="1780032"/>
              <a:ext cx="2316480" cy="13411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PassRole</a:t>
              </a:r>
              <a:endParaRPr lang="en-US" sz="850" dirty="0"/>
            </a:p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AssumeRole</a:t>
              </a:r>
              <a:endParaRPr lang="en-US" sz="850" dirty="0"/>
            </a:p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Wildcard perms</a:t>
              </a:r>
              <a:endParaRPr lang="en-US" sz="85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9180575" y="2170176"/>
              <a:ext cx="536447" cy="36576"/>
            </a:xfrm>
            <a:prstGeom prst="rect">
              <a:avLst/>
            </a:prstGeom>
            <a:solidFill>
              <a:srgbClr val="C62828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Shape 21"/>
            <p:cNvSpPr/>
            <p:nvPr/>
          </p:nvSpPr>
          <p:spPr>
            <a:xfrm>
              <a:off x="9741408" y="1341120"/>
              <a:ext cx="2560319" cy="1828800"/>
            </a:xfrm>
            <a:prstGeom prst="rect">
              <a:avLst/>
            </a:prstGeom>
            <a:solidFill>
              <a:srgbClr val="0F4C75">
                <a:alpha val="15000"/>
              </a:srgbClr>
            </a:solidFill>
            <a:ln w="12700">
              <a:solidFill>
                <a:srgbClr val="0F4C7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Shape 22"/>
            <p:cNvSpPr/>
            <p:nvPr/>
          </p:nvSpPr>
          <p:spPr>
            <a:xfrm>
              <a:off x="9741408" y="1341120"/>
              <a:ext cx="2560319" cy="365760"/>
            </a:xfrm>
            <a:prstGeom prst="rect">
              <a:avLst/>
            </a:prstGeom>
            <a:solidFill>
              <a:srgbClr val="0F4C75"/>
            </a:solidFill>
            <a:ln w="12700">
              <a:solidFill>
                <a:srgbClr val="0F4C7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 23"/>
            <p:cNvSpPr/>
            <p:nvPr/>
          </p:nvSpPr>
          <p:spPr>
            <a:xfrm>
              <a:off x="9741408" y="1341120"/>
              <a:ext cx="2560319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Lateral</a:t>
              </a:r>
              <a:endParaRPr lang="en-US" sz="900" dirty="0"/>
            </a:p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Movement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9863328" y="1780032"/>
              <a:ext cx="2316480" cy="13411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Cross-account</a:t>
              </a:r>
              <a:endParaRPr lang="en-US" sz="850" dirty="0"/>
            </a:p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trust chains</a:t>
              </a:r>
              <a:endParaRPr lang="en-US" sz="850" dirty="0"/>
            </a:p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SCP gaps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12326112" y="2170176"/>
              <a:ext cx="536447" cy="36576"/>
            </a:xfrm>
            <a:prstGeom prst="rect">
              <a:avLst/>
            </a:prstGeom>
            <a:solidFill>
              <a:srgbClr val="C62828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Shape 26"/>
            <p:cNvSpPr/>
            <p:nvPr/>
          </p:nvSpPr>
          <p:spPr>
            <a:xfrm>
              <a:off x="12886943" y="1341120"/>
              <a:ext cx="2560319" cy="1828800"/>
            </a:xfrm>
            <a:prstGeom prst="rect">
              <a:avLst/>
            </a:prstGeom>
            <a:solidFill>
              <a:srgbClr val="C62828">
                <a:alpha val="15000"/>
              </a:srgbClr>
            </a:solidFill>
            <a:ln w="12700">
              <a:solidFill>
                <a:srgbClr val="C6282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Shape 27"/>
            <p:cNvSpPr/>
            <p:nvPr/>
          </p:nvSpPr>
          <p:spPr>
            <a:xfrm>
              <a:off x="12886943" y="1341120"/>
              <a:ext cx="2560319" cy="365760"/>
            </a:xfrm>
            <a:prstGeom prst="rect">
              <a:avLst/>
            </a:prstGeom>
            <a:solidFill>
              <a:srgbClr val="C62828"/>
            </a:solidFill>
            <a:ln w="12700">
              <a:solidFill>
                <a:srgbClr val="C6282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 28"/>
            <p:cNvSpPr/>
            <p:nvPr/>
          </p:nvSpPr>
          <p:spPr>
            <a:xfrm>
              <a:off x="12886943" y="1341120"/>
              <a:ext cx="2560319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Data</a:t>
              </a:r>
              <a:endParaRPr lang="en-US" sz="900" dirty="0"/>
            </a:p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Exfiltration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13008864" y="1780032"/>
              <a:ext cx="2316480" cy="13411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S3 copy</a:t>
              </a:r>
              <a:endParaRPr lang="en-US" sz="850" dirty="0"/>
            </a:p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Database dump</a:t>
              </a:r>
              <a:endParaRPr lang="en-US" sz="850" dirty="0"/>
            </a:p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Cloud Storage</a:t>
              </a:r>
              <a:endParaRPr lang="en-US" sz="85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243840" y="3352800"/>
              <a:ext cx="15605760" cy="341376"/>
            </a:xfrm>
            <a:prstGeom prst="rect">
              <a:avLst/>
            </a:prstGeom>
            <a:solidFill>
              <a:srgbClr val="0F4C75"/>
            </a:solidFill>
            <a:ln w="12700">
              <a:solidFill>
                <a:srgbClr val="0F4C7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 31"/>
            <p:cNvSpPr/>
            <p:nvPr/>
          </p:nvSpPr>
          <p:spPr>
            <a:xfrm>
              <a:off x="365760" y="3352800"/>
              <a:ext cx="15361919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Approach: Graph-based analysis across identities, resources, and permissions — revealing exploitable chains invisible to individual finding scanners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243840" y="3816096"/>
              <a:ext cx="5120639" cy="341376"/>
            </a:xfrm>
            <a:prstGeom prst="rect">
              <a:avLst/>
            </a:prstGeom>
            <a:solidFill>
              <a:srgbClr val="1565C0"/>
            </a:solidFill>
            <a:ln w="12700">
              <a:solidFill>
                <a:srgbClr val="1565C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 33"/>
            <p:cNvSpPr/>
            <p:nvPr/>
          </p:nvSpPr>
          <p:spPr>
            <a:xfrm>
              <a:off x="365760" y="3816096"/>
              <a:ext cx="4876800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Capabilities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43840" y="4181855"/>
              <a:ext cx="5120639" cy="512063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 35"/>
            <p:cNvSpPr/>
            <p:nvPr/>
          </p:nvSpPr>
          <p:spPr>
            <a:xfrm>
              <a:off x="365760" y="4181855"/>
              <a:ext cx="4876800" cy="5120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Privilege escalation path detection</a:t>
              </a:r>
              <a:endParaRPr lang="en-US" sz="8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243840" y="4718304"/>
              <a:ext cx="5120639" cy="512063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 37"/>
            <p:cNvSpPr/>
            <p:nvPr/>
          </p:nvSpPr>
          <p:spPr>
            <a:xfrm>
              <a:off x="365760" y="4718304"/>
              <a:ext cx="4876800" cy="5120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Cross-account lateral movement mapping</a:t>
              </a:r>
              <a:endParaRPr lang="en-US" sz="8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243840" y="5254752"/>
              <a:ext cx="5120639" cy="512063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Text 39"/>
            <p:cNvSpPr/>
            <p:nvPr/>
          </p:nvSpPr>
          <p:spPr>
            <a:xfrm>
              <a:off x="365760" y="5254752"/>
              <a:ext cx="4876800" cy="5120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Identity relationship and trust analysis</a:t>
              </a:r>
              <a:endParaRPr lang="en-US" sz="8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243840" y="5791200"/>
              <a:ext cx="5120639" cy="512063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 41"/>
            <p:cNvSpPr/>
            <p:nvPr/>
          </p:nvSpPr>
          <p:spPr>
            <a:xfrm>
              <a:off x="365760" y="5791200"/>
              <a:ext cx="4876800" cy="5120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Critical asset blast radius estimation</a:t>
              </a:r>
              <a:endParaRPr lang="en-US" sz="8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243840" y="6327648"/>
              <a:ext cx="5120639" cy="512063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Text 43"/>
            <p:cNvSpPr/>
            <p:nvPr/>
          </p:nvSpPr>
          <p:spPr>
            <a:xfrm>
              <a:off x="365760" y="6327648"/>
              <a:ext cx="4876800" cy="5120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Misconfiguration attack chain visualization</a:t>
              </a:r>
              <a:endParaRPr lang="en-US" sz="8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547360" y="3816096"/>
              <a:ext cx="5120639" cy="341376"/>
            </a:xfrm>
            <a:prstGeom prst="rect">
              <a:avLst/>
            </a:prstGeom>
            <a:solidFill>
              <a:srgbClr val="4285F4"/>
            </a:solidFill>
            <a:ln w="12700">
              <a:solidFill>
                <a:srgbClr val="4285F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Text 45"/>
            <p:cNvSpPr/>
            <p:nvPr/>
          </p:nvSpPr>
          <p:spPr>
            <a:xfrm>
              <a:off x="5669280" y="3816096"/>
              <a:ext cx="4876800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Tools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547360" y="4181855"/>
              <a:ext cx="5120639" cy="512063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 47"/>
            <p:cNvSpPr/>
            <p:nvPr/>
          </p:nvSpPr>
          <p:spPr>
            <a:xfrm>
              <a:off x="5669280" y="4181855"/>
              <a:ext cx="4876800" cy="5120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Wiz Security Graph (cloud-native CNAPP)</a:t>
              </a:r>
              <a:endParaRPr lang="en-US" sz="85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547360" y="4718304"/>
              <a:ext cx="5120639" cy="512063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 49"/>
            <p:cNvSpPr/>
            <p:nvPr/>
          </p:nvSpPr>
          <p:spPr>
            <a:xfrm>
              <a:off x="5669280" y="4718304"/>
              <a:ext cx="4876800" cy="5120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Microsoft Defender attack path analysis</a:t>
              </a:r>
              <a:endParaRPr lang="en-US" sz="85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5547360" y="5254752"/>
              <a:ext cx="5120639" cy="512063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 51"/>
            <p:cNvSpPr/>
            <p:nvPr/>
          </p:nvSpPr>
          <p:spPr>
            <a:xfrm>
              <a:off x="5669280" y="5254752"/>
              <a:ext cx="4876800" cy="5120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BloodHound Enterprise (identity attack paths)</a:t>
              </a:r>
              <a:endParaRPr lang="en-US" sz="850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5547360" y="5791200"/>
              <a:ext cx="5120639" cy="512063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 53"/>
            <p:cNvSpPr/>
            <p:nvPr/>
          </p:nvSpPr>
          <p:spPr>
            <a:xfrm>
              <a:off x="5669280" y="5791200"/>
              <a:ext cx="4876800" cy="5120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IAM Access Analyzer (AWS privilege escalation)</a:t>
              </a:r>
              <a:endParaRPr lang="en-US" sz="85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5547360" y="6327648"/>
              <a:ext cx="5120639" cy="512063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Text 55"/>
            <p:cNvSpPr/>
            <p:nvPr/>
          </p:nvSpPr>
          <p:spPr>
            <a:xfrm>
              <a:off x="5669280" y="6327648"/>
              <a:ext cx="4876800" cy="5120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Orca Security attack surface coverage</a:t>
              </a:r>
              <a:endParaRPr lang="en-US" sz="85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10850879" y="3816096"/>
              <a:ext cx="5120639" cy="341376"/>
            </a:xfrm>
            <a:prstGeom prst="rect">
              <a:avLst/>
            </a:prstGeom>
            <a:solidFill>
              <a:srgbClr val="2E7D32"/>
            </a:solidFill>
            <a:ln w="12700">
              <a:solidFill>
                <a:srgbClr val="2E7D3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Text 57"/>
            <p:cNvSpPr/>
            <p:nvPr/>
          </p:nvSpPr>
          <p:spPr>
            <a:xfrm>
              <a:off x="10972800" y="3816096"/>
              <a:ext cx="4876800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Outcome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10850879" y="4181855"/>
              <a:ext cx="5120639" cy="512063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Text 59"/>
            <p:cNvSpPr/>
            <p:nvPr/>
          </p:nvSpPr>
          <p:spPr>
            <a:xfrm>
              <a:off x="10972800" y="4181855"/>
              <a:ext cx="4876800" cy="5120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Security team focuses remediation on paths that matter</a:t>
              </a:r>
              <a:endParaRPr lang="en-US" sz="850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10850879" y="4718304"/>
              <a:ext cx="5120639" cy="512063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 61"/>
            <p:cNvSpPr/>
            <p:nvPr/>
          </p:nvSpPr>
          <p:spPr>
            <a:xfrm>
              <a:off x="10972800" y="4718304"/>
              <a:ext cx="4876800" cy="5120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Risk prioritization based on exploitability, not CVSS score alone</a:t>
              </a:r>
              <a:endParaRPr lang="en-US" sz="850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10850879" y="5254752"/>
              <a:ext cx="5120639" cy="512063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Text 63"/>
            <p:cNvSpPr/>
            <p:nvPr/>
          </p:nvSpPr>
          <p:spPr>
            <a:xfrm>
              <a:off x="10972800" y="5254752"/>
              <a:ext cx="4876800" cy="5120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Cloud-specific attack scenarios validated before production deploy</a:t>
              </a:r>
              <a:endParaRPr lang="en-US" sz="850" dirty="0"/>
            </a:p>
          </p:txBody>
        </p:sp>
        <p:sp>
          <p:nvSpPr>
            <p:cNvPr id="66" name="Shape 64"/>
            <p:cNvSpPr/>
            <p:nvPr/>
          </p:nvSpPr>
          <p:spPr>
            <a:xfrm>
              <a:off x="10850879" y="5791200"/>
              <a:ext cx="5120639" cy="512063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Text 65"/>
            <p:cNvSpPr/>
            <p:nvPr/>
          </p:nvSpPr>
          <p:spPr>
            <a:xfrm>
              <a:off x="10972800" y="5791200"/>
              <a:ext cx="4876800" cy="512063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Continuous monitoring for new paths introduced by infra changes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26719" y="146304"/>
            <a:ext cx="10363200" cy="536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Security Metrics</a:t>
            </a:r>
            <a:endParaRPr lang="en-US" sz="2200" dirty="0"/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1512FDFF-05B5-E266-E30C-B58AA08E3CE5}"/>
              </a:ext>
            </a:extLst>
          </p:cNvPr>
          <p:cNvGrpSpPr/>
          <p:nvPr/>
        </p:nvGrpSpPr>
        <p:grpSpPr>
          <a:xfrm>
            <a:off x="202130" y="829057"/>
            <a:ext cx="11829449" cy="5892856"/>
            <a:chOff x="188620" y="829056"/>
            <a:chExt cx="15660980" cy="6588421"/>
          </a:xfrm>
        </p:grpSpPr>
        <p:sp>
          <p:nvSpPr>
            <p:cNvPr id="5" name="Text 3"/>
            <p:cNvSpPr/>
            <p:nvPr/>
          </p:nvSpPr>
          <p:spPr>
            <a:xfrm>
              <a:off x="243840" y="829056"/>
              <a:ext cx="15605760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95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Security architecture must produce measurable outcomes. These metrics provide objective measurement of cloud security maturity.</a:t>
              </a:r>
              <a:endParaRPr lang="en-US" sz="95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243840" y="1243583"/>
              <a:ext cx="6827519" cy="341376"/>
            </a:xfrm>
            <a:prstGeom prst="rect">
              <a:avLst/>
            </a:prstGeom>
            <a:solidFill>
              <a:srgbClr val="1565C0"/>
            </a:solidFill>
            <a:ln w="12700">
              <a:solidFill>
                <a:srgbClr val="1565C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 5"/>
            <p:cNvSpPr/>
            <p:nvPr/>
          </p:nvSpPr>
          <p:spPr>
            <a:xfrm>
              <a:off x="365760" y="1243583"/>
              <a:ext cx="6583680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Identity &amp; Access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243840" y="1609344"/>
              <a:ext cx="4632960" cy="292608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 7"/>
            <p:cNvSpPr/>
            <p:nvPr/>
          </p:nvSpPr>
          <p:spPr>
            <a:xfrm>
              <a:off x="341376" y="1609344"/>
              <a:ext cx="4511039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b="1" dirty="0">
                  <a:solidFill>
                    <a:srgbClr val="0F4C7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Metric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76800" y="1609344"/>
              <a:ext cx="2072639" cy="292608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 9"/>
            <p:cNvSpPr/>
            <p:nvPr/>
          </p:nvSpPr>
          <p:spPr>
            <a:xfrm>
              <a:off x="4974335" y="1609344"/>
              <a:ext cx="195072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b="1" dirty="0">
                  <a:solidFill>
                    <a:srgbClr val="0F4C7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Target</a:t>
              </a:r>
              <a:endParaRPr lang="en-US" sz="85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243840" y="1926336"/>
              <a:ext cx="4632960" cy="536447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 11"/>
            <p:cNvSpPr/>
            <p:nvPr/>
          </p:nvSpPr>
          <p:spPr>
            <a:xfrm>
              <a:off x="341376" y="1926336"/>
              <a:ext cx="4486656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Workloads using workload identity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876800" y="1926336"/>
              <a:ext cx="2072639" cy="536447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 13"/>
            <p:cNvSpPr/>
            <p:nvPr/>
          </p:nvSpPr>
          <p:spPr>
            <a:xfrm>
              <a:off x="4949952" y="1926336"/>
              <a:ext cx="1950720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1565C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100%</a:t>
              </a:r>
              <a:endParaRPr lang="en-US" sz="8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243840" y="2487167"/>
              <a:ext cx="4632960" cy="53644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 15"/>
            <p:cNvSpPr/>
            <p:nvPr/>
          </p:nvSpPr>
          <p:spPr>
            <a:xfrm>
              <a:off x="341376" y="2487167"/>
              <a:ext cx="4486656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Human accounts with MFA enforced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876800" y="2487167"/>
              <a:ext cx="2072639" cy="53644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 17"/>
            <p:cNvSpPr/>
            <p:nvPr/>
          </p:nvSpPr>
          <p:spPr>
            <a:xfrm>
              <a:off x="4949952" y="2487167"/>
              <a:ext cx="1950720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1565C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100%</a:t>
              </a:r>
              <a:endParaRPr lang="en-US" sz="8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243840" y="3048000"/>
              <a:ext cx="4632960" cy="536447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 19"/>
            <p:cNvSpPr/>
            <p:nvPr/>
          </p:nvSpPr>
          <p:spPr>
            <a:xfrm>
              <a:off x="341376" y="3048000"/>
              <a:ext cx="4486656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IAM roles with wildcard (*) in production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76800" y="3048000"/>
              <a:ext cx="2072639" cy="536447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 21"/>
            <p:cNvSpPr/>
            <p:nvPr/>
          </p:nvSpPr>
          <p:spPr>
            <a:xfrm>
              <a:off x="4949952" y="3048000"/>
              <a:ext cx="1950720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1565C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0%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243840" y="3608831"/>
              <a:ext cx="4632960" cy="53644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 23"/>
            <p:cNvSpPr/>
            <p:nvPr/>
          </p:nvSpPr>
          <p:spPr>
            <a:xfrm>
              <a:off x="341376" y="3608831"/>
              <a:ext cx="4486656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Mean time to revoke departed user access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876800" y="3608831"/>
              <a:ext cx="2072639" cy="53644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 25"/>
            <p:cNvSpPr/>
            <p:nvPr/>
          </p:nvSpPr>
          <p:spPr>
            <a:xfrm>
              <a:off x="4949952" y="3608831"/>
              <a:ext cx="1950720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1565C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&lt; 4 hours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168639" y="1243583"/>
              <a:ext cx="6827519" cy="341376"/>
            </a:xfrm>
            <a:prstGeom prst="rect">
              <a:avLst/>
            </a:prstGeom>
            <a:solidFill>
              <a:srgbClr val="C62828"/>
            </a:solidFill>
            <a:ln w="12700">
              <a:solidFill>
                <a:srgbClr val="C6282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 27"/>
            <p:cNvSpPr/>
            <p:nvPr/>
          </p:nvSpPr>
          <p:spPr>
            <a:xfrm>
              <a:off x="8290559" y="1243583"/>
              <a:ext cx="6583680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Detection &amp; Response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8168639" y="1609344"/>
              <a:ext cx="4632960" cy="292608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 29"/>
            <p:cNvSpPr/>
            <p:nvPr/>
          </p:nvSpPr>
          <p:spPr>
            <a:xfrm>
              <a:off x="8266176" y="1609344"/>
              <a:ext cx="4511039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b="1" dirty="0">
                  <a:solidFill>
                    <a:srgbClr val="0F4C7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Metric</a:t>
              </a:r>
              <a:endParaRPr lang="en-US" sz="85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12801600" y="1609344"/>
              <a:ext cx="2072639" cy="292608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 31"/>
            <p:cNvSpPr/>
            <p:nvPr/>
          </p:nvSpPr>
          <p:spPr>
            <a:xfrm>
              <a:off x="12899136" y="1609344"/>
              <a:ext cx="195072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b="1" dirty="0">
                  <a:solidFill>
                    <a:srgbClr val="0F4C7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Target</a:t>
              </a:r>
              <a:endParaRPr lang="en-US" sz="85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68639" y="1926336"/>
              <a:ext cx="4632960" cy="536447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 33"/>
            <p:cNvSpPr/>
            <p:nvPr/>
          </p:nvSpPr>
          <p:spPr>
            <a:xfrm>
              <a:off x="8266176" y="1926336"/>
              <a:ext cx="4486656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Critical CSPM findings unresolved &gt; 7 days</a:t>
              </a:r>
              <a:endParaRPr lang="en-US" sz="8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12801600" y="1926336"/>
              <a:ext cx="2072639" cy="536447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 35"/>
            <p:cNvSpPr/>
            <p:nvPr/>
          </p:nvSpPr>
          <p:spPr>
            <a:xfrm>
              <a:off x="12874752" y="1926336"/>
              <a:ext cx="1950720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C6282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0%</a:t>
              </a:r>
              <a:endParaRPr lang="en-US" sz="8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168639" y="2487167"/>
              <a:ext cx="4632960" cy="53644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 37"/>
            <p:cNvSpPr/>
            <p:nvPr/>
          </p:nvSpPr>
          <p:spPr>
            <a:xfrm>
              <a:off x="8266176" y="2487167"/>
              <a:ext cx="4486656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Mean time to detect (MTTD) incidents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12801600" y="2487167"/>
              <a:ext cx="2072639" cy="53644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Text 39"/>
            <p:cNvSpPr/>
            <p:nvPr/>
          </p:nvSpPr>
          <p:spPr>
            <a:xfrm>
              <a:off x="12874752" y="2487167"/>
              <a:ext cx="1950720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C6282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&lt; 1 hour</a:t>
              </a:r>
              <a:endParaRPr lang="en-US" sz="8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8168639" y="3048000"/>
              <a:ext cx="4632960" cy="536447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 41"/>
            <p:cNvSpPr/>
            <p:nvPr/>
          </p:nvSpPr>
          <p:spPr>
            <a:xfrm>
              <a:off x="8266176" y="3048000"/>
              <a:ext cx="4486656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Mean time to respond (MTTR) critical</a:t>
              </a:r>
              <a:endParaRPr lang="en-US" sz="8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12801600" y="3048000"/>
              <a:ext cx="2072639" cy="536447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Text 43"/>
            <p:cNvSpPr/>
            <p:nvPr/>
          </p:nvSpPr>
          <p:spPr>
            <a:xfrm>
              <a:off x="12874752" y="3048000"/>
              <a:ext cx="1950720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C6282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&lt; 4 hours</a:t>
              </a:r>
              <a:endParaRPr lang="en-US" sz="8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68639" y="3608831"/>
              <a:ext cx="4632960" cy="53644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Text 45"/>
            <p:cNvSpPr/>
            <p:nvPr/>
          </p:nvSpPr>
          <p:spPr>
            <a:xfrm>
              <a:off x="8266176" y="3608831"/>
              <a:ext cx="4486656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Audit log coverage all accounts + regions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12801600" y="3608831"/>
              <a:ext cx="2072639" cy="53644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 47"/>
            <p:cNvSpPr/>
            <p:nvPr/>
          </p:nvSpPr>
          <p:spPr>
            <a:xfrm>
              <a:off x="12874752" y="3608831"/>
              <a:ext cx="1950720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C6282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100%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243840" y="4120896"/>
              <a:ext cx="6827519" cy="341376"/>
            </a:xfrm>
            <a:prstGeom prst="rect">
              <a:avLst/>
            </a:prstGeom>
            <a:solidFill>
              <a:srgbClr val="0F4C75"/>
            </a:solidFill>
            <a:ln w="12700">
              <a:solidFill>
                <a:srgbClr val="0F4C7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 49"/>
            <p:cNvSpPr/>
            <p:nvPr/>
          </p:nvSpPr>
          <p:spPr>
            <a:xfrm>
              <a:off x="365760" y="4120896"/>
              <a:ext cx="6583680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Data Protection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243840" y="4486656"/>
              <a:ext cx="4632960" cy="292608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 51"/>
            <p:cNvSpPr/>
            <p:nvPr/>
          </p:nvSpPr>
          <p:spPr>
            <a:xfrm>
              <a:off x="341376" y="4486656"/>
              <a:ext cx="4511039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b="1" dirty="0">
                  <a:solidFill>
                    <a:srgbClr val="0F4C7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Metric</a:t>
              </a:r>
              <a:endParaRPr lang="en-US" sz="850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4876800" y="4486656"/>
              <a:ext cx="2072639" cy="292608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 53"/>
            <p:cNvSpPr/>
            <p:nvPr/>
          </p:nvSpPr>
          <p:spPr>
            <a:xfrm>
              <a:off x="4974335" y="4486656"/>
              <a:ext cx="195072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b="1" dirty="0">
                  <a:solidFill>
                    <a:srgbClr val="0F4C7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Target</a:t>
              </a:r>
              <a:endParaRPr lang="en-US" sz="85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243840" y="4803648"/>
              <a:ext cx="4632960" cy="536447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Text 55"/>
            <p:cNvSpPr/>
            <p:nvPr/>
          </p:nvSpPr>
          <p:spPr>
            <a:xfrm>
              <a:off x="341376" y="4803648"/>
              <a:ext cx="4486656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Publicly accessible storage buckets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4876800" y="4803648"/>
              <a:ext cx="2072639" cy="536447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Text 57"/>
            <p:cNvSpPr/>
            <p:nvPr/>
          </p:nvSpPr>
          <p:spPr>
            <a:xfrm>
              <a:off x="4949952" y="4803648"/>
              <a:ext cx="1950720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0F4C7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0%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243840" y="5364480"/>
              <a:ext cx="4632960" cy="53644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Text 59"/>
            <p:cNvSpPr/>
            <p:nvPr/>
          </p:nvSpPr>
          <p:spPr>
            <a:xfrm>
              <a:off x="341376" y="5364480"/>
              <a:ext cx="4486656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Sensitive data stores without encryption</a:t>
              </a:r>
              <a:endParaRPr lang="en-US" sz="800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876800" y="5364480"/>
              <a:ext cx="2072639" cy="53644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 61"/>
            <p:cNvSpPr/>
            <p:nvPr/>
          </p:nvSpPr>
          <p:spPr>
            <a:xfrm>
              <a:off x="4949952" y="5364480"/>
              <a:ext cx="1950720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0F4C7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0%</a:t>
              </a:r>
              <a:endParaRPr lang="en-US" sz="800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243840" y="5925312"/>
              <a:ext cx="4632960" cy="536447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Text 63"/>
            <p:cNvSpPr/>
            <p:nvPr/>
          </p:nvSpPr>
          <p:spPr>
            <a:xfrm>
              <a:off x="341376" y="5925312"/>
              <a:ext cx="4486656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Secrets found in code repositories</a:t>
              </a:r>
              <a:endParaRPr lang="en-US" sz="800" dirty="0"/>
            </a:p>
          </p:txBody>
        </p:sp>
        <p:sp>
          <p:nvSpPr>
            <p:cNvPr id="66" name="Shape 64"/>
            <p:cNvSpPr/>
            <p:nvPr/>
          </p:nvSpPr>
          <p:spPr>
            <a:xfrm>
              <a:off x="4876800" y="5925312"/>
              <a:ext cx="2072639" cy="536447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Text 65"/>
            <p:cNvSpPr/>
            <p:nvPr/>
          </p:nvSpPr>
          <p:spPr>
            <a:xfrm>
              <a:off x="4949952" y="5925312"/>
              <a:ext cx="1950720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0F4C7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0%</a:t>
              </a:r>
              <a:endParaRPr lang="en-US" sz="800" dirty="0"/>
            </a:p>
          </p:txBody>
        </p:sp>
        <p:sp>
          <p:nvSpPr>
            <p:cNvPr id="68" name="Shape 66"/>
            <p:cNvSpPr/>
            <p:nvPr/>
          </p:nvSpPr>
          <p:spPr>
            <a:xfrm>
              <a:off x="243840" y="6486144"/>
              <a:ext cx="4632960" cy="53644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Text 67"/>
            <p:cNvSpPr/>
            <p:nvPr/>
          </p:nvSpPr>
          <p:spPr>
            <a:xfrm>
              <a:off x="341376" y="6486144"/>
              <a:ext cx="4486656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DSPM scan coverage production stores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4876800" y="6486144"/>
              <a:ext cx="2072639" cy="53644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Text 69"/>
            <p:cNvSpPr/>
            <p:nvPr/>
          </p:nvSpPr>
          <p:spPr>
            <a:xfrm>
              <a:off x="4949952" y="6486144"/>
              <a:ext cx="1950720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0F4C7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&gt; 95%</a:t>
              </a:r>
              <a:endParaRPr lang="en-US" sz="8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8168639" y="4120896"/>
              <a:ext cx="6827519" cy="341376"/>
            </a:xfrm>
            <a:prstGeom prst="rect">
              <a:avLst/>
            </a:prstGeom>
            <a:solidFill>
              <a:srgbClr val="2E7D32"/>
            </a:solidFill>
            <a:ln w="12700">
              <a:solidFill>
                <a:srgbClr val="2E7D3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 71"/>
            <p:cNvSpPr/>
            <p:nvPr/>
          </p:nvSpPr>
          <p:spPr>
            <a:xfrm>
              <a:off x="8290559" y="4120896"/>
              <a:ext cx="6583680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Supply Chain &amp; Build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8168639" y="4486656"/>
              <a:ext cx="4632960" cy="292608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Text 73"/>
            <p:cNvSpPr/>
            <p:nvPr/>
          </p:nvSpPr>
          <p:spPr>
            <a:xfrm>
              <a:off x="8266176" y="4486656"/>
              <a:ext cx="4511039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b="1" dirty="0">
                  <a:solidFill>
                    <a:srgbClr val="0F4C7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Metric</a:t>
              </a:r>
              <a:endParaRPr lang="en-US" sz="85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12801600" y="4486656"/>
              <a:ext cx="2072639" cy="292608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Text 75"/>
            <p:cNvSpPr/>
            <p:nvPr/>
          </p:nvSpPr>
          <p:spPr>
            <a:xfrm>
              <a:off x="12899136" y="4486656"/>
              <a:ext cx="195072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b="1" dirty="0">
                  <a:solidFill>
                    <a:srgbClr val="0F4C7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Target</a:t>
              </a:r>
              <a:endParaRPr lang="en-US" sz="85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8168639" y="4803648"/>
              <a:ext cx="4632960" cy="536447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 77"/>
            <p:cNvSpPr/>
            <p:nvPr/>
          </p:nvSpPr>
          <p:spPr>
            <a:xfrm>
              <a:off x="8266176" y="4803648"/>
              <a:ext cx="4486656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Build pipelines meeting SLSA Level 3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12801600" y="4803648"/>
              <a:ext cx="2072639" cy="536447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Text 79"/>
            <p:cNvSpPr/>
            <p:nvPr/>
          </p:nvSpPr>
          <p:spPr>
            <a:xfrm>
              <a:off x="12874752" y="4803648"/>
              <a:ext cx="1950720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2E7D3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100% target</a:t>
              </a:r>
              <a:endParaRPr lang="en-US" sz="8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8168639" y="5364480"/>
              <a:ext cx="4632960" cy="53644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Text 81"/>
            <p:cNvSpPr/>
            <p:nvPr/>
          </p:nvSpPr>
          <p:spPr>
            <a:xfrm>
              <a:off x="8266176" y="5364480"/>
              <a:ext cx="4486656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Artifact signature verification at deploy</a:t>
              </a:r>
              <a:endParaRPr lang="en-US" sz="8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12801600" y="5364480"/>
              <a:ext cx="2072639" cy="53644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Text 83"/>
            <p:cNvSpPr/>
            <p:nvPr/>
          </p:nvSpPr>
          <p:spPr>
            <a:xfrm>
              <a:off x="12874752" y="5364480"/>
              <a:ext cx="1950720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2E7D3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100%</a:t>
              </a:r>
              <a:endParaRPr lang="en-US" sz="800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8168639" y="5925312"/>
              <a:ext cx="4632960" cy="536447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Text 85"/>
            <p:cNvSpPr/>
            <p:nvPr/>
          </p:nvSpPr>
          <p:spPr>
            <a:xfrm>
              <a:off x="8266176" y="5925312"/>
              <a:ext cx="4486656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IaC changes scanned before merge</a:t>
              </a:r>
              <a:endParaRPr lang="en-US" sz="800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12801600" y="5925312"/>
              <a:ext cx="2072639" cy="536447"/>
            </a:xfrm>
            <a:prstGeom prst="rect">
              <a:avLst/>
            </a:prstGeom>
            <a:solidFill>
              <a:srgbClr val="F5F6FA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Text 87"/>
            <p:cNvSpPr/>
            <p:nvPr/>
          </p:nvSpPr>
          <p:spPr>
            <a:xfrm>
              <a:off x="12874752" y="5925312"/>
              <a:ext cx="1950720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2E7D3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100%</a:t>
              </a:r>
              <a:endParaRPr lang="en-US" sz="800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8168639" y="6486144"/>
              <a:ext cx="4632960" cy="53644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 89"/>
            <p:cNvSpPr/>
            <p:nvPr/>
          </p:nvSpPr>
          <p:spPr>
            <a:xfrm>
              <a:off x="8266176" y="6486144"/>
              <a:ext cx="4486656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SBOM generated per production service</a:t>
              </a:r>
              <a:endParaRPr lang="en-US" sz="800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12801600" y="6486144"/>
              <a:ext cx="2072639" cy="53644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D0D5E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Text 91"/>
            <p:cNvSpPr/>
            <p:nvPr/>
          </p:nvSpPr>
          <p:spPr>
            <a:xfrm>
              <a:off x="12874752" y="6486144"/>
              <a:ext cx="1950720" cy="53644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2E7D3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100%</a:t>
              </a:r>
              <a:endParaRPr lang="en-US" sz="800" dirty="0"/>
            </a:p>
          </p:txBody>
        </p:sp>
        <p:sp>
          <p:nvSpPr>
            <p:cNvPr id="94" name="Text 92"/>
            <p:cNvSpPr/>
            <p:nvPr/>
          </p:nvSpPr>
          <p:spPr>
            <a:xfrm>
              <a:off x="188620" y="7045021"/>
              <a:ext cx="15605760" cy="37245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850" i="1" dirty="0">
                  <a:solidFill>
                    <a:srgbClr val="90A4A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Metrics without named owners and remediation SLAs are decorative. Assign ownership per metric and integrate into quarterly security reviews.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4C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46304" y="2926080"/>
            <a:ext cx="12045696" cy="4876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87680" y="609600"/>
            <a:ext cx="109728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87680" y="1280159"/>
            <a:ext cx="5120639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is the new perimeter.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87680" y="1584959"/>
            <a:ext cx="5120639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identity, JIT access, and Conditional Access eliminate the implicit trust model.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87680" y="1987295"/>
            <a:ext cx="5120639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by default — always.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7680" y="2292096"/>
            <a:ext cx="5120639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endpoints, no public IPs, network segmentation. Public internet access requires explicit justification.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7680" y="2694432"/>
            <a:ext cx="5120639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CMK encryption everywhere.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7680" y="2999232"/>
            <a:ext cx="5120639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Customer-managed keys on all data stores. Secrets never in environment variables.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87680" y="3401567"/>
            <a:ext cx="5120639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Policy-as-Code enforces guardrails.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7680" y="3706367"/>
            <a:ext cx="5120639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SCPs, Azure Policy, and Org Policies prevent misconfigurations before they reach production.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87680" y="4108704"/>
            <a:ext cx="5120639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at cloud-native scale.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7680" y="4413504"/>
            <a:ext cx="5120639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GuardDuty, Defender for Cloud, SCC — always on, centralized, feeding a unified SIEM.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217920" y="1121664"/>
            <a:ext cx="5669280" cy="341376"/>
          </a:xfrm>
          <a:prstGeom prst="rect">
            <a:avLst/>
          </a:prstGeom>
          <a:solidFill>
            <a:srgbClr val="1565C0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339839" y="1121664"/>
            <a:ext cx="5486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Referenced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39839" y="1524000"/>
            <a:ext cx="5425439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NIST SP 800-53 Rev 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39839" y="2011679"/>
            <a:ext cx="5425439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MITRE ATT&amp;CK for Cloud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39839" y="2499360"/>
            <a:ext cx="5425439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CIS Benchmarks (AWS/Azure/GCP)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39839" y="2987040"/>
            <a:ext cx="5425439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AWS Security Hub FSBP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339839" y="3474719"/>
            <a:ext cx="5425439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Microsoft CAF Security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339839" y="3962400"/>
            <a:ext cx="5425439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GCP Security Foundations Blueprint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339839" y="4450080"/>
            <a:ext cx="5425439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NIST AI RMF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339839" y="4937760"/>
            <a:ext cx="5425439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SLSA Supply Chain Framework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7680" y="6248400"/>
            <a:ext cx="109728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Eran Shpigelman  ·  eransh10@gmail.com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A04C5C4-6E05-104D-9F70-732B507E177B}">
  <we:reference id="wa200010001" version="1.0.0.0" store="en-US" storeType="OMEX"/>
  <we:alternateReferences>
    <we:reference id="WA200010001" version="1.0.0.0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6868</Words>
  <Application>Microsoft Macintosh PowerPoint</Application>
  <PresentationFormat>Widescreen</PresentationFormat>
  <Paragraphs>1014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Security Architecture Best Practices</dc:title>
  <dc:subject>AWS, Azure, GCP Security Architecture Reference</dc:subject>
  <dc:creator>Eran Shpigelman</dc:creator>
  <cp:lastModifiedBy>Eran Shpigelman</cp:lastModifiedBy>
  <cp:revision>2</cp:revision>
  <dcterms:created xsi:type="dcterms:W3CDTF">2026-03-11T02:21:58Z</dcterms:created>
  <dcterms:modified xsi:type="dcterms:W3CDTF">2026-03-11T15:15:51Z</dcterms:modified>
</cp:coreProperties>
</file>