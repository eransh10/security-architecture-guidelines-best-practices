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35"/>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B82F6"/>
          </a:solidFill>
          <a:ln/>
        </p:spPr>
      </p:sp>
      <p:sp>
        <p:nvSpPr>
          <p:cNvPr id="3" name="Shape 1"/>
          <p:cNvSpPr/>
          <p:nvPr/>
        </p:nvSpPr>
        <p:spPr>
          <a:xfrm>
            <a:off x="731520" y="274320"/>
            <a:ext cx="36576" cy="36576"/>
          </a:xfrm>
          <a:prstGeom prst="ellipse">
            <a:avLst/>
          </a:prstGeom>
          <a:solidFill>
            <a:srgbClr val="253A6E">
              <a:alpha val="40000"/>
            </a:srgbClr>
          </a:solidFill>
          <a:ln/>
        </p:spPr>
      </p:sp>
      <p:sp>
        <p:nvSpPr>
          <p:cNvPr id="4" name="Shape 2"/>
          <p:cNvSpPr/>
          <p:nvPr/>
        </p:nvSpPr>
        <p:spPr>
          <a:xfrm>
            <a:off x="1508760" y="274320"/>
            <a:ext cx="36576" cy="36576"/>
          </a:xfrm>
          <a:prstGeom prst="ellipse">
            <a:avLst/>
          </a:prstGeom>
          <a:solidFill>
            <a:srgbClr val="253A6E">
              <a:alpha val="40000"/>
            </a:srgbClr>
          </a:solidFill>
          <a:ln/>
        </p:spPr>
      </p:sp>
      <p:sp>
        <p:nvSpPr>
          <p:cNvPr id="5" name="Shape 3"/>
          <p:cNvSpPr/>
          <p:nvPr/>
        </p:nvSpPr>
        <p:spPr>
          <a:xfrm>
            <a:off x="2286000" y="274320"/>
            <a:ext cx="36576" cy="36576"/>
          </a:xfrm>
          <a:prstGeom prst="ellipse">
            <a:avLst/>
          </a:prstGeom>
          <a:solidFill>
            <a:srgbClr val="253A6E">
              <a:alpha val="40000"/>
            </a:srgbClr>
          </a:solidFill>
          <a:ln/>
        </p:spPr>
      </p:sp>
      <p:sp>
        <p:nvSpPr>
          <p:cNvPr id="6" name="Shape 4"/>
          <p:cNvSpPr/>
          <p:nvPr/>
        </p:nvSpPr>
        <p:spPr>
          <a:xfrm>
            <a:off x="3063240" y="274320"/>
            <a:ext cx="36576" cy="36576"/>
          </a:xfrm>
          <a:prstGeom prst="ellipse">
            <a:avLst/>
          </a:prstGeom>
          <a:solidFill>
            <a:srgbClr val="253A6E">
              <a:alpha val="40000"/>
            </a:srgbClr>
          </a:solidFill>
          <a:ln/>
        </p:spPr>
      </p:sp>
      <p:sp>
        <p:nvSpPr>
          <p:cNvPr id="7" name="Shape 5"/>
          <p:cNvSpPr/>
          <p:nvPr/>
        </p:nvSpPr>
        <p:spPr>
          <a:xfrm>
            <a:off x="3840480" y="274320"/>
            <a:ext cx="36576" cy="36576"/>
          </a:xfrm>
          <a:prstGeom prst="ellipse">
            <a:avLst/>
          </a:prstGeom>
          <a:solidFill>
            <a:srgbClr val="253A6E">
              <a:alpha val="40000"/>
            </a:srgbClr>
          </a:solidFill>
          <a:ln/>
        </p:spPr>
      </p:sp>
      <p:sp>
        <p:nvSpPr>
          <p:cNvPr id="8" name="Shape 6"/>
          <p:cNvSpPr/>
          <p:nvPr/>
        </p:nvSpPr>
        <p:spPr>
          <a:xfrm>
            <a:off x="4617720" y="274320"/>
            <a:ext cx="36576" cy="36576"/>
          </a:xfrm>
          <a:prstGeom prst="ellipse">
            <a:avLst/>
          </a:prstGeom>
          <a:solidFill>
            <a:srgbClr val="253A6E">
              <a:alpha val="40000"/>
            </a:srgbClr>
          </a:solidFill>
          <a:ln/>
        </p:spPr>
      </p:sp>
      <p:sp>
        <p:nvSpPr>
          <p:cNvPr id="9" name="Shape 7"/>
          <p:cNvSpPr/>
          <p:nvPr/>
        </p:nvSpPr>
        <p:spPr>
          <a:xfrm>
            <a:off x="5394960" y="274320"/>
            <a:ext cx="36576" cy="36576"/>
          </a:xfrm>
          <a:prstGeom prst="ellipse">
            <a:avLst/>
          </a:prstGeom>
          <a:solidFill>
            <a:srgbClr val="253A6E">
              <a:alpha val="40000"/>
            </a:srgbClr>
          </a:solidFill>
          <a:ln/>
        </p:spPr>
      </p:sp>
      <p:sp>
        <p:nvSpPr>
          <p:cNvPr id="10" name="Shape 8"/>
          <p:cNvSpPr/>
          <p:nvPr/>
        </p:nvSpPr>
        <p:spPr>
          <a:xfrm>
            <a:off x="6172200" y="274320"/>
            <a:ext cx="36576" cy="36576"/>
          </a:xfrm>
          <a:prstGeom prst="ellipse">
            <a:avLst/>
          </a:prstGeom>
          <a:solidFill>
            <a:srgbClr val="253A6E">
              <a:alpha val="40000"/>
            </a:srgbClr>
          </a:solidFill>
          <a:ln/>
        </p:spPr>
      </p:sp>
      <p:sp>
        <p:nvSpPr>
          <p:cNvPr id="11" name="Shape 9"/>
          <p:cNvSpPr/>
          <p:nvPr/>
        </p:nvSpPr>
        <p:spPr>
          <a:xfrm>
            <a:off x="6949440" y="274320"/>
            <a:ext cx="36576" cy="36576"/>
          </a:xfrm>
          <a:prstGeom prst="ellipse">
            <a:avLst/>
          </a:prstGeom>
          <a:solidFill>
            <a:srgbClr val="253A6E">
              <a:alpha val="40000"/>
            </a:srgbClr>
          </a:solidFill>
          <a:ln/>
        </p:spPr>
      </p:sp>
      <p:sp>
        <p:nvSpPr>
          <p:cNvPr id="12" name="Shape 10"/>
          <p:cNvSpPr/>
          <p:nvPr/>
        </p:nvSpPr>
        <p:spPr>
          <a:xfrm>
            <a:off x="7726680" y="274320"/>
            <a:ext cx="36576" cy="36576"/>
          </a:xfrm>
          <a:prstGeom prst="ellipse">
            <a:avLst/>
          </a:prstGeom>
          <a:solidFill>
            <a:srgbClr val="253A6E">
              <a:alpha val="40000"/>
            </a:srgbClr>
          </a:solidFill>
          <a:ln/>
        </p:spPr>
      </p:sp>
      <p:sp>
        <p:nvSpPr>
          <p:cNvPr id="13" name="Shape 11"/>
          <p:cNvSpPr/>
          <p:nvPr/>
        </p:nvSpPr>
        <p:spPr>
          <a:xfrm>
            <a:off x="8503920" y="274320"/>
            <a:ext cx="36576" cy="36576"/>
          </a:xfrm>
          <a:prstGeom prst="ellipse">
            <a:avLst/>
          </a:prstGeom>
          <a:solidFill>
            <a:srgbClr val="253A6E">
              <a:alpha val="40000"/>
            </a:srgbClr>
          </a:solidFill>
          <a:ln/>
        </p:spPr>
      </p:sp>
      <p:sp>
        <p:nvSpPr>
          <p:cNvPr id="14" name="Shape 12"/>
          <p:cNvSpPr/>
          <p:nvPr/>
        </p:nvSpPr>
        <p:spPr>
          <a:xfrm>
            <a:off x="9281160" y="274320"/>
            <a:ext cx="36576" cy="36576"/>
          </a:xfrm>
          <a:prstGeom prst="ellipse">
            <a:avLst/>
          </a:prstGeom>
          <a:solidFill>
            <a:srgbClr val="253A6E">
              <a:alpha val="40000"/>
            </a:srgbClr>
          </a:solidFill>
          <a:ln/>
        </p:spPr>
      </p:sp>
      <p:sp>
        <p:nvSpPr>
          <p:cNvPr id="15" name="Shape 13"/>
          <p:cNvSpPr/>
          <p:nvPr/>
        </p:nvSpPr>
        <p:spPr>
          <a:xfrm>
            <a:off x="731520" y="914400"/>
            <a:ext cx="36576" cy="36576"/>
          </a:xfrm>
          <a:prstGeom prst="ellipse">
            <a:avLst/>
          </a:prstGeom>
          <a:solidFill>
            <a:srgbClr val="253A6E">
              <a:alpha val="40000"/>
            </a:srgbClr>
          </a:solidFill>
          <a:ln/>
        </p:spPr>
      </p:sp>
      <p:sp>
        <p:nvSpPr>
          <p:cNvPr id="16" name="Shape 14"/>
          <p:cNvSpPr/>
          <p:nvPr/>
        </p:nvSpPr>
        <p:spPr>
          <a:xfrm>
            <a:off x="1508760" y="914400"/>
            <a:ext cx="36576" cy="36576"/>
          </a:xfrm>
          <a:prstGeom prst="ellipse">
            <a:avLst/>
          </a:prstGeom>
          <a:solidFill>
            <a:srgbClr val="253A6E">
              <a:alpha val="40000"/>
            </a:srgbClr>
          </a:solidFill>
          <a:ln/>
        </p:spPr>
      </p:sp>
      <p:sp>
        <p:nvSpPr>
          <p:cNvPr id="17" name="Shape 15"/>
          <p:cNvSpPr/>
          <p:nvPr/>
        </p:nvSpPr>
        <p:spPr>
          <a:xfrm>
            <a:off x="2286000" y="914400"/>
            <a:ext cx="36576" cy="36576"/>
          </a:xfrm>
          <a:prstGeom prst="ellipse">
            <a:avLst/>
          </a:prstGeom>
          <a:solidFill>
            <a:srgbClr val="253A6E">
              <a:alpha val="40000"/>
            </a:srgbClr>
          </a:solidFill>
          <a:ln/>
        </p:spPr>
      </p:sp>
      <p:sp>
        <p:nvSpPr>
          <p:cNvPr id="18" name="Shape 16"/>
          <p:cNvSpPr/>
          <p:nvPr/>
        </p:nvSpPr>
        <p:spPr>
          <a:xfrm>
            <a:off x="3063240" y="914400"/>
            <a:ext cx="36576" cy="36576"/>
          </a:xfrm>
          <a:prstGeom prst="ellipse">
            <a:avLst/>
          </a:prstGeom>
          <a:solidFill>
            <a:srgbClr val="253A6E">
              <a:alpha val="40000"/>
            </a:srgbClr>
          </a:solidFill>
          <a:ln/>
        </p:spPr>
      </p:sp>
      <p:sp>
        <p:nvSpPr>
          <p:cNvPr id="19" name="Shape 17"/>
          <p:cNvSpPr/>
          <p:nvPr/>
        </p:nvSpPr>
        <p:spPr>
          <a:xfrm>
            <a:off x="3840480" y="914400"/>
            <a:ext cx="36576" cy="36576"/>
          </a:xfrm>
          <a:prstGeom prst="ellipse">
            <a:avLst/>
          </a:prstGeom>
          <a:solidFill>
            <a:srgbClr val="253A6E">
              <a:alpha val="40000"/>
            </a:srgbClr>
          </a:solidFill>
          <a:ln/>
        </p:spPr>
      </p:sp>
      <p:sp>
        <p:nvSpPr>
          <p:cNvPr id="20" name="Shape 18"/>
          <p:cNvSpPr/>
          <p:nvPr/>
        </p:nvSpPr>
        <p:spPr>
          <a:xfrm>
            <a:off x="4617720" y="914400"/>
            <a:ext cx="36576" cy="36576"/>
          </a:xfrm>
          <a:prstGeom prst="ellipse">
            <a:avLst/>
          </a:prstGeom>
          <a:solidFill>
            <a:srgbClr val="253A6E">
              <a:alpha val="40000"/>
            </a:srgbClr>
          </a:solidFill>
          <a:ln/>
        </p:spPr>
      </p:sp>
      <p:sp>
        <p:nvSpPr>
          <p:cNvPr id="21" name="Shape 19"/>
          <p:cNvSpPr/>
          <p:nvPr/>
        </p:nvSpPr>
        <p:spPr>
          <a:xfrm>
            <a:off x="5394960" y="914400"/>
            <a:ext cx="36576" cy="36576"/>
          </a:xfrm>
          <a:prstGeom prst="ellipse">
            <a:avLst/>
          </a:prstGeom>
          <a:solidFill>
            <a:srgbClr val="253A6E">
              <a:alpha val="40000"/>
            </a:srgbClr>
          </a:solidFill>
          <a:ln/>
        </p:spPr>
      </p:sp>
      <p:sp>
        <p:nvSpPr>
          <p:cNvPr id="22" name="Shape 20"/>
          <p:cNvSpPr/>
          <p:nvPr/>
        </p:nvSpPr>
        <p:spPr>
          <a:xfrm>
            <a:off x="6172200" y="914400"/>
            <a:ext cx="36576" cy="36576"/>
          </a:xfrm>
          <a:prstGeom prst="ellipse">
            <a:avLst/>
          </a:prstGeom>
          <a:solidFill>
            <a:srgbClr val="253A6E">
              <a:alpha val="40000"/>
            </a:srgbClr>
          </a:solidFill>
          <a:ln/>
        </p:spPr>
      </p:sp>
      <p:sp>
        <p:nvSpPr>
          <p:cNvPr id="23" name="Shape 21"/>
          <p:cNvSpPr/>
          <p:nvPr/>
        </p:nvSpPr>
        <p:spPr>
          <a:xfrm>
            <a:off x="6949440" y="914400"/>
            <a:ext cx="36576" cy="36576"/>
          </a:xfrm>
          <a:prstGeom prst="ellipse">
            <a:avLst/>
          </a:prstGeom>
          <a:solidFill>
            <a:srgbClr val="253A6E">
              <a:alpha val="40000"/>
            </a:srgbClr>
          </a:solidFill>
          <a:ln/>
        </p:spPr>
      </p:sp>
      <p:sp>
        <p:nvSpPr>
          <p:cNvPr id="24" name="Shape 22"/>
          <p:cNvSpPr/>
          <p:nvPr/>
        </p:nvSpPr>
        <p:spPr>
          <a:xfrm>
            <a:off x="7726680" y="914400"/>
            <a:ext cx="36576" cy="36576"/>
          </a:xfrm>
          <a:prstGeom prst="ellipse">
            <a:avLst/>
          </a:prstGeom>
          <a:solidFill>
            <a:srgbClr val="253A6E">
              <a:alpha val="40000"/>
            </a:srgbClr>
          </a:solidFill>
          <a:ln/>
        </p:spPr>
      </p:sp>
      <p:sp>
        <p:nvSpPr>
          <p:cNvPr id="25" name="Shape 23"/>
          <p:cNvSpPr/>
          <p:nvPr/>
        </p:nvSpPr>
        <p:spPr>
          <a:xfrm>
            <a:off x="8503920" y="914400"/>
            <a:ext cx="36576" cy="36576"/>
          </a:xfrm>
          <a:prstGeom prst="ellipse">
            <a:avLst/>
          </a:prstGeom>
          <a:solidFill>
            <a:srgbClr val="253A6E">
              <a:alpha val="40000"/>
            </a:srgbClr>
          </a:solidFill>
          <a:ln/>
        </p:spPr>
      </p:sp>
      <p:sp>
        <p:nvSpPr>
          <p:cNvPr id="26" name="Shape 24"/>
          <p:cNvSpPr/>
          <p:nvPr/>
        </p:nvSpPr>
        <p:spPr>
          <a:xfrm>
            <a:off x="9281160" y="914400"/>
            <a:ext cx="36576" cy="36576"/>
          </a:xfrm>
          <a:prstGeom prst="ellipse">
            <a:avLst/>
          </a:prstGeom>
          <a:solidFill>
            <a:srgbClr val="253A6E">
              <a:alpha val="40000"/>
            </a:srgbClr>
          </a:solidFill>
          <a:ln/>
        </p:spPr>
      </p:sp>
      <p:sp>
        <p:nvSpPr>
          <p:cNvPr id="27" name="Shape 25"/>
          <p:cNvSpPr/>
          <p:nvPr/>
        </p:nvSpPr>
        <p:spPr>
          <a:xfrm>
            <a:off x="731520" y="1554480"/>
            <a:ext cx="36576" cy="36576"/>
          </a:xfrm>
          <a:prstGeom prst="ellipse">
            <a:avLst/>
          </a:prstGeom>
          <a:solidFill>
            <a:srgbClr val="253A6E">
              <a:alpha val="40000"/>
            </a:srgbClr>
          </a:solidFill>
          <a:ln/>
        </p:spPr>
      </p:sp>
      <p:sp>
        <p:nvSpPr>
          <p:cNvPr id="28" name="Shape 26"/>
          <p:cNvSpPr/>
          <p:nvPr/>
        </p:nvSpPr>
        <p:spPr>
          <a:xfrm>
            <a:off x="1508760" y="1554480"/>
            <a:ext cx="36576" cy="36576"/>
          </a:xfrm>
          <a:prstGeom prst="ellipse">
            <a:avLst/>
          </a:prstGeom>
          <a:solidFill>
            <a:srgbClr val="253A6E">
              <a:alpha val="40000"/>
            </a:srgbClr>
          </a:solidFill>
          <a:ln/>
        </p:spPr>
      </p:sp>
      <p:sp>
        <p:nvSpPr>
          <p:cNvPr id="29" name="Shape 27"/>
          <p:cNvSpPr/>
          <p:nvPr/>
        </p:nvSpPr>
        <p:spPr>
          <a:xfrm>
            <a:off x="2286000" y="1554480"/>
            <a:ext cx="36576" cy="36576"/>
          </a:xfrm>
          <a:prstGeom prst="ellipse">
            <a:avLst/>
          </a:prstGeom>
          <a:solidFill>
            <a:srgbClr val="253A6E">
              <a:alpha val="40000"/>
            </a:srgbClr>
          </a:solidFill>
          <a:ln/>
        </p:spPr>
      </p:sp>
      <p:sp>
        <p:nvSpPr>
          <p:cNvPr id="30" name="Shape 28"/>
          <p:cNvSpPr/>
          <p:nvPr/>
        </p:nvSpPr>
        <p:spPr>
          <a:xfrm>
            <a:off x="3063240" y="1554480"/>
            <a:ext cx="36576" cy="36576"/>
          </a:xfrm>
          <a:prstGeom prst="ellipse">
            <a:avLst/>
          </a:prstGeom>
          <a:solidFill>
            <a:srgbClr val="253A6E">
              <a:alpha val="40000"/>
            </a:srgbClr>
          </a:solidFill>
          <a:ln/>
        </p:spPr>
      </p:sp>
      <p:sp>
        <p:nvSpPr>
          <p:cNvPr id="31" name="Shape 29"/>
          <p:cNvSpPr/>
          <p:nvPr/>
        </p:nvSpPr>
        <p:spPr>
          <a:xfrm>
            <a:off x="3840480" y="1554480"/>
            <a:ext cx="36576" cy="36576"/>
          </a:xfrm>
          <a:prstGeom prst="ellipse">
            <a:avLst/>
          </a:prstGeom>
          <a:solidFill>
            <a:srgbClr val="253A6E">
              <a:alpha val="40000"/>
            </a:srgbClr>
          </a:solidFill>
          <a:ln/>
        </p:spPr>
      </p:sp>
      <p:sp>
        <p:nvSpPr>
          <p:cNvPr id="32" name="Shape 30"/>
          <p:cNvSpPr/>
          <p:nvPr/>
        </p:nvSpPr>
        <p:spPr>
          <a:xfrm>
            <a:off x="4617720" y="1554480"/>
            <a:ext cx="36576" cy="36576"/>
          </a:xfrm>
          <a:prstGeom prst="ellipse">
            <a:avLst/>
          </a:prstGeom>
          <a:solidFill>
            <a:srgbClr val="253A6E">
              <a:alpha val="40000"/>
            </a:srgbClr>
          </a:solidFill>
          <a:ln/>
        </p:spPr>
      </p:sp>
      <p:sp>
        <p:nvSpPr>
          <p:cNvPr id="33" name="Shape 31"/>
          <p:cNvSpPr/>
          <p:nvPr/>
        </p:nvSpPr>
        <p:spPr>
          <a:xfrm>
            <a:off x="5394960" y="1554480"/>
            <a:ext cx="36576" cy="36576"/>
          </a:xfrm>
          <a:prstGeom prst="ellipse">
            <a:avLst/>
          </a:prstGeom>
          <a:solidFill>
            <a:srgbClr val="253A6E">
              <a:alpha val="40000"/>
            </a:srgbClr>
          </a:solidFill>
          <a:ln/>
        </p:spPr>
      </p:sp>
      <p:sp>
        <p:nvSpPr>
          <p:cNvPr id="34" name="Shape 32"/>
          <p:cNvSpPr/>
          <p:nvPr/>
        </p:nvSpPr>
        <p:spPr>
          <a:xfrm>
            <a:off x="6172200" y="1554480"/>
            <a:ext cx="36576" cy="36576"/>
          </a:xfrm>
          <a:prstGeom prst="ellipse">
            <a:avLst/>
          </a:prstGeom>
          <a:solidFill>
            <a:srgbClr val="253A6E">
              <a:alpha val="40000"/>
            </a:srgbClr>
          </a:solidFill>
          <a:ln/>
        </p:spPr>
      </p:sp>
      <p:sp>
        <p:nvSpPr>
          <p:cNvPr id="35" name="Shape 33"/>
          <p:cNvSpPr/>
          <p:nvPr/>
        </p:nvSpPr>
        <p:spPr>
          <a:xfrm>
            <a:off x="6949440" y="1554480"/>
            <a:ext cx="36576" cy="36576"/>
          </a:xfrm>
          <a:prstGeom prst="ellipse">
            <a:avLst/>
          </a:prstGeom>
          <a:solidFill>
            <a:srgbClr val="253A6E">
              <a:alpha val="40000"/>
            </a:srgbClr>
          </a:solidFill>
          <a:ln/>
        </p:spPr>
      </p:sp>
      <p:sp>
        <p:nvSpPr>
          <p:cNvPr id="36" name="Shape 34"/>
          <p:cNvSpPr/>
          <p:nvPr/>
        </p:nvSpPr>
        <p:spPr>
          <a:xfrm>
            <a:off x="7726680" y="1554480"/>
            <a:ext cx="36576" cy="36576"/>
          </a:xfrm>
          <a:prstGeom prst="ellipse">
            <a:avLst/>
          </a:prstGeom>
          <a:solidFill>
            <a:srgbClr val="253A6E">
              <a:alpha val="40000"/>
            </a:srgbClr>
          </a:solidFill>
          <a:ln/>
        </p:spPr>
      </p:sp>
      <p:sp>
        <p:nvSpPr>
          <p:cNvPr id="37" name="Shape 35"/>
          <p:cNvSpPr/>
          <p:nvPr/>
        </p:nvSpPr>
        <p:spPr>
          <a:xfrm>
            <a:off x="8503920" y="1554480"/>
            <a:ext cx="36576" cy="36576"/>
          </a:xfrm>
          <a:prstGeom prst="ellipse">
            <a:avLst/>
          </a:prstGeom>
          <a:solidFill>
            <a:srgbClr val="253A6E">
              <a:alpha val="40000"/>
            </a:srgbClr>
          </a:solidFill>
          <a:ln/>
        </p:spPr>
      </p:sp>
      <p:sp>
        <p:nvSpPr>
          <p:cNvPr id="38" name="Shape 36"/>
          <p:cNvSpPr/>
          <p:nvPr/>
        </p:nvSpPr>
        <p:spPr>
          <a:xfrm>
            <a:off x="9281160" y="1554480"/>
            <a:ext cx="36576" cy="36576"/>
          </a:xfrm>
          <a:prstGeom prst="ellipse">
            <a:avLst/>
          </a:prstGeom>
          <a:solidFill>
            <a:srgbClr val="253A6E">
              <a:alpha val="40000"/>
            </a:srgbClr>
          </a:solidFill>
          <a:ln/>
        </p:spPr>
      </p:sp>
      <p:sp>
        <p:nvSpPr>
          <p:cNvPr id="39" name="Shape 37"/>
          <p:cNvSpPr/>
          <p:nvPr/>
        </p:nvSpPr>
        <p:spPr>
          <a:xfrm>
            <a:off x="731520" y="2194560"/>
            <a:ext cx="36576" cy="36576"/>
          </a:xfrm>
          <a:prstGeom prst="ellipse">
            <a:avLst/>
          </a:prstGeom>
          <a:solidFill>
            <a:srgbClr val="253A6E">
              <a:alpha val="40000"/>
            </a:srgbClr>
          </a:solidFill>
          <a:ln/>
        </p:spPr>
      </p:sp>
      <p:sp>
        <p:nvSpPr>
          <p:cNvPr id="40" name="Shape 38"/>
          <p:cNvSpPr/>
          <p:nvPr/>
        </p:nvSpPr>
        <p:spPr>
          <a:xfrm>
            <a:off x="1508760" y="2194560"/>
            <a:ext cx="36576" cy="36576"/>
          </a:xfrm>
          <a:prstGeom prst="ellipse">
            <a:avLst/>
          </a:prstGeom>
          <a:solidFill>
            <a:srgbClr val="253A6E">
              <a:alpha val="40000"/>
            </a:srgbClr>
          </a:solidFill>
          <a:ln/>
        </p:spPr>
      </p:sp>
      <p:sp>
        <p:nvSpPr>
          <p:cNvPr id="41" name="Shape 39"/>
          <p:cNvSpPr/>
          <p:nvPr/>
        </p:nvSpPr>
        <p:spPr>
          <a:xfrm>
            <a:off x="2286000" y="2194560"/>
            <a:ext cx="36576" cy="36576"/>
          </a:xfrm>
          <a:prstGeom prst="ellipse">
            <a:avLst/>
          </a:prstGeom>
          <a:solidFill>
            <a:srgbClr val="253A6E">
              <a:alpha val="40000"/>
            </a:srgbClr>
          </a:solidFill>
          <a:ln/>
        </p:spPr>
      </p:sp>
      <p:sp>
        <p:nvSpPr>
          <p:cNvPr id="42" name="Shape 40"/>
          <p:cNvSpPr/>
          <p:nvPr/>
        </p:nvSpPr>
        <p:spPr>
          <a:xfrm>
            <a:off x="3063240" y="2194560"/>
            <a:ext cx="36576" cy="36576"/>
          </a:xfrm>
          <a:prstGeom prst="ellipse">
            <a:avLst/>
          </a:prstGeom>
          <a:solidFill>
            <a:srgbClr val="253A6E">
              <a:alpha val="40000"/>
            </a:srgbClr>
          </a:solidFill>
          <a:ln/>
        </p:spPr>
      </p:sp>
      <p:sp>
        <p:nvSpPr>
          <p:cNvPr id="43" name="Shape 41"/>
          <p:cNvSpPr/>
          <p:nvPr/>
        </p:nvSpPr>
        <p:spPr>
          <a:xfrm>
            <a:off x="3840480" y="2194560"/>
            <a:ext cx="36576" cy="36576"/>
          </a:xfrm>
          <a:prstGeom prst="ellipse">
            <a:avLst/>
          </a:prstGeom>
          <a:solidFill>
            <a:srgbClr val="253A6E">
              <a:alpha val="40000"/>
            </a:srgbClr>
          </a:solidFill>
          <a:ln/>
        </p:spPr>
      </p:sp>
      <p:sp>
        <p:nvSpPr>
          <p:cNvPr id="44" name="Shape 42"/>
          <p:cNvSpPr/>
          <p:nvPr/>
        </p:nvSpPr>
        <p:spPr>
          <a:xfrm>
            <a:off x="4617720" y="2194560"/>
            <a:ext cx="36576" cy="36576"/>
          </a:xfrm>
          <a:prstGeom prst="ellipse">
            <a:avLst/>
          </a:prstGeom>
          <a:solidFill>
            <a:srgbClr val="253A6E">
              <a:alpha val="40000"/>
            </a:srgbClr>
          </a:solidFill>
          <a:ln/>
        </p:spPr>
      </p:sp>
      <p:sp>
        <p:nvSpPr>
          <p:cNvPr id="45" name="Shape 43"/>
          <p:cNvSpPr/>
          <p:nvPr/>
        </p:nvSpPr>
        <p:spPr>
          <a:xfrm>
            <a:off x="5394960" y="2194560"/>
            <a:ext cx="36576" cy="36576"/>
          </a:xfrm>
          <a:prstGeom prst="ellipse">
            <a:avLst/>
          </a:prstGeom>
          <a:solidFill>
            <a:srgbClr val="253A6E">
              <a:alpha val="40000"/>
            </a:srgbClr>
          </a:solidFill>
          <a:ln/>
        </p:spPr>
      </p:sp>
      <p:sp>
        <p:nvSpPr>
          <p:cNvPr id="46" name="Shape 44"/>
          <p:cNvSpPr/>
          <p:nvPr/>
        </p:nvSpPr>
        <p:spPr>
          <a:xfrm>
            <a:off x="6172200" y="2194560"/>
            <a:ext cx="36576" cy="36576"/>
          </a:xfrm>
          <a:prstGeom prst="ellipse">
            <a:avLst/>
          </a:prstGeom>
          <a:solidFill>
            <a:srgbClr val="253A6E">
              <a:alpha val="40000"/>
            </a:srgbClr>
          </a:solidFill>
          <a:ln/>
        </p:spPr>
      </p:sp>
      <p:sp>
        <p:nvSpPr>
          <p:cNvPr id="47" name="Shape 45"/>
          <p:cNvSpPr/>
          <p:nvPr/>
        </p:nvSpPr>
        <p:spPr>
          <a:xfrm>
            <a:off x="6949440" y="2194560"/>
            <a:ext cx="36576" cy="36576"/>
          </a:xfrm>
          <a:prstGeom prst="ellipse">
            <a:avLst/>
          </a:prstGeom>
          <a:solidFill>
            <a:srgbClr val="253A6E">
              <a:alpha val="40000"/>
            </a:srgbClr>
          </a:solidFill>
          <a:ln/>
        </p:spPr>
      </p:sp>
      <p:sp>
        <p:nvSpPr>
          <p:cNvPr id="48" name="Shape 46"/>
          <p:cNvSpPr/>
          <p:nvPr/>
        </p:nvSpPr>
        <p:spPr>
          <a:xfrm>
            <a:off x="7726680" y="2194560"/>
            <a:ext cx="36576" cy="36576"/>
          </a:xfrm>
          <a:prstGeom prst="ellipse">
            <a:avLst/>
          </a:prstGeom>
          <a:solidFill>
            <a:srgbClr val="253A6E">
              <a:alpha val="40000"/>
            </a:srgbClr>
          </a:solidFill>
          <a:ln/>
        </p:spPr>
      </p:sp>
      <p:sp>
        <p:nvSpPr>
          <p:cNvPr id="49" name="Shape 47"/>
          <p:cNvSpPr/>
          <p:nvPr/>
        </p:nvSpPr>
        <p:spPr>
          <a:xfrm>
            <a:off x="8503920" y="2194560"/>
            <a:ext cx="36576" cy="36576"/>
          </a:xfrm>
          <a:prstGeom prst="ellipse">
            <a:avLst/>
          </a:prstGeom>
          <a:solidFill>
            <a:srgbClr val="253A6E">
              <a:alpha val="40000"/>
            </a:srgbClr>
          </a:solidFill>
          <a:ln/>
        </p:spPr>
      </p:sp>
      <p:sp>
        <p:nvSpPr>
          <p:cNvPr id="50" name="Shape 48"/>
          <p:cNvSpPr/>
          <p:nvPr/>
        </p:nvSpPr>
        <p:spPr>
          <a:xfrm>
            <a:off x="9281160" y="2194560"/>
            <a:ext cx="36576" cy="36576"/>
          </a:xfrm>
          <a:prstGeom prst="ellipse">
            <a:avLst/>
          </a:prstGeom>
          <a:solidFill>
            <a:srgbClr val="253A6E">
              <a:alpha val="40000"/>
            </a:srgbClr>
          </a:solidFill>
          <a:ln/>
        </p:spPr>
      </p:sp>
      <p:sp>
        <p:nvSpPr>
          <p:cNvPr id="51" name="Shape 49"/>
          <p:cNvSpPr/>
          <p:nvPr/>
        </p:nvSpPr>
        <p:spPr>
          <a:xfrm>
            <a:off x="731520" y="2834640"/>
            <a:ext cx="36576" cy="36576"/>
          </a:xfrm>
          <a:prstGeom prst="ellipse">
            <a:avLst/>
          </a:prstGeom>
          <a:solidFill>
            <a:srgbClr val="253A6E">
              <a:alpha val="40000"/>
            </a:srgbClr>
          </a:solidFill>
          <a:ln/>
        </p:spPr>
      </p:sp>
      <p:sp>
        <p:nvSpPr>
          <p:cNvPr id="52" name="Shape 50"/>
          <p:cNvSpPr/>
          <p:nvPr/>
        </p:nvSpPr>
        <p:spPr>
          <a:xfrm>
            <a:off x="1508760" y="2834640"/>
            <a:ext cx="36576" cy="36576"/>
          </a:xfrm>
          <a:prstGeom prst="ellipse">
            <a:avLst/>
          </a:prstGeom>
          <a:solidFill>
            <a:srgbClr val="253A6E">
              <a:alpha val="40000"/>
            </a:srgbClr>
          </a:solidFill>
          <a:ln/>
        </p:spPr>
      </p:sp>
      <p:sp>
        <p:nvSpPr>
          <p:cNvPr id="53" name="Shape 51"/>
          <p:cNvSpPr/>
          <p:nvPr/>
        </p:nvSpPr>
        <p:spPr>
          <a:xfrm>
            <a:off x="2286000" y="2834640"/>
            <a:ext cx="36576" cy="36576"/>
          </a:xfrm>
          <a:prstGeom prst="ellipse">
            <a:avLst/>
          </a:prstGeom>
          <a:solidFill>
            <a:srgbClr val="253A6E">
              <a:alpha val="40000"/>
            </a:srgbClr>
          </a:solidFill>
          <a:ln/>
        </p:spPr>
      </p:sp>
      <p:sp>
        <p:nvSpPr>
          <p:cNvPr id="54" name="Shape 52"/>
          <p:cNvSpPr/>
          <p:nvPr/>
        </p:nvSpPr>
        <p:spPr>
          <a:xfrm>
            <a:off x="3063240" y="2834640"/>
            <a:ext cx="36576" cy="36576"/>
          </a:xfrm>
          <a:prstGeom prst="ellipse">
            <a:avLst/>
          </a:prstGeom>
          <a:solidFill>
            <a:srgbClr val="253A6E">
              <a:alpha val="40000"/>
            </a:srgbClr>
          </a:solidFill>
          <a:ln/>
        </p:spPr>
      </p:sp>
      <p:sp>
        <p:nvSpPr>
          <p:cNvPr id="55" name="Shape 53"/>
          <p:cNvSpPr/>
          <p:nvPr/>
        </p:nvSpPr>
        <p:spPr>
          <a:xfrm>
            <a:off x="3840480" y="2834640"/>
            <a:ext cx="36576" cy="36576"/>
          </a:xfrm>
          <a:prstGeom prst="ellipse">
            <a:avLst/>
          </a:prstGeom>
          <a:solidFill>
            <a:srgbClr val="253A6E">
              <a:alpha val="40000"/>
            </a:srgbClr>
          </a:solidFill>
          <a:ln/>
        </p:spPr>
      </p:sp>
      <p:sp>
        <p:nvSpPr>
          <p:cNvPr id="56" name="Shape 54"/>
          <p:cNvSpPr/>
          <p:nvPr/>
        </p:nvSpPr>
        <p:spPr>
          <a:xfrm>
            <a:off x="4617720" y="2834640"/>
            <a:ext cx="36576" cy="36576"/>
          </a:xfrm>
          <a:prstGeom prst="ellipse">
            <a:avLst/>
          </a:prstGeom>
          <a:solidFill>
            <a:srgbClr val="253A6E">
              <a:alpha val="40000"/>
            </a:srgbClr>
          </a:solidFill>
          <a:ln/>
        </p:spPr>
      </p:sp>
      <p:sp>
        <p:nvSpPr>
          <p:cNvPr id="57" name="Shape 55"/>
          <p:cNvSpPr/>
          <p:nvPr/>
        </p:nvSpPr>
        <p:spPr>
          <a:xfrm>
            <a:off x="5394960" y="2834640"/>
            <a:ext cx="36576" cy="36576"/>
          </a:xfrm>
          <a:prstGeom prst="ellipse">
            <a:avLst/>
          </a:prstGeom>
          <a:solidFill>
            <a:srgbClr val="253A6E">
              <a:alpha val="40000"/>
            </a:srgbClr>
          </a:solidFill>
          <a:ln/>
        </p:spPr>
      </p:sp>
      <p:sp>
        <p:nvSpPr>
          <p:cNvPr id="58" name="Shape 56"/>
          <p:cNvSpPr/>
          <p:nvPr/>
        </p:nvSpPr>
        <p:spPr>
          <a:xfrm>
            <a:off x="6172200" y="2834640"/>
            <a:ext cx="36576" cy="36576"/>
          </a:xfrm>
          <a:prstGeom prst="ellipse">
            <a:avLst/>
          </a:prstGeom>
          <a:solidFill>
            <a:srgbClr val="253A6E">
              <a:alpha val="40000"/>
            </a:srgbClr>
          </a:solidFill>
          <a:ln/>
        </p:spPr>
      </p:sp>
      <p:sp>
        <p:nvSpPr>
          <p:cNvPr id="59" name="Shape 57"/>
          <p:cNvSpPr/>
          <p:nvPr/>
        </p:nvSpPr>
        <p:spPr>
          <a:xfrm>
            <a:off x="6949440" y="2834640"/>
            <a:ext cx="36576" cy="36576"/>
          </a:xfrm>
          <a:prstGeom prst="ellipse">
            <a:avLst/>
          </a:prstGeom>
          <a:solidFill>
            <a:srgbClr val="253A6E">
              <a:alpha val="40000"/>
            </a:srgbClr>
          </a:solidFill>
          <a:ln/>
        </p:spPr>
      </p:sp>
      <p:sp>
        <p:nvSpPr>
          <p:cNvPr id="60" name="Shape 58"/>
          <p:cNvSpPr/>
          <p:nvPr/>
        </p:nvSpPr>
        <p:spPr>
          <a:xfrm>
            <a:off x="7726680" y="2834640"/>
            <a:ext cx="36576" cy="36576"/>
          </a:xfrm>
          <a:prstGeom prst="ellipse">
            <a:avLst/>
          </a:prstGeom>
          <a:solidFill>
            <a:srgbClr val="253A6E">
              <a:alpha val="40000"/>
            </a:srgbClr>
          </a:solidFill>
          <a:ln/>
        </p:spPr>
      </p:sp>
      <p:sp>
        <p:nvSpPr>
          <p:cNvPr id="61" name="Shape 59"/>
          <p:cNvSpPr/>
          <p:nvPr/>
        </p:nvSpPr>
        <p:spPr>
          <a:xfrm>
            <a:off x="8503920" y="2834640"/>
            <a:ext cx="36576" cy="36576"/>
          </a:xfrm>
          <a:prstGeom prst="ellipse">
            <a:avLst/>
          </a:prstGeom>
          <a:solidFill>
            <a:srgbClr val="253A6E">
              <a:alpha val="40000"/>
            </a:srgbClr>
          </a:solidFill>
          <a:ln/>
        </p:spPr>
      </p:sp>
      <p:sp>
        <p:nvSpPr>
          <p:cNvPr id="62" name="Shape 60"/>
          <p:cNvSpPr/>
          <p:nvPr/>
        </p:nvSpPr>
        <p:spPr>
          <a:xfrm>
            <a:off x="9281160" y="2834640"/>
            <a:ext cx="36576" cy="36576"/>
          </a:xfrm>
          <a:prstGeom prst="ellipse">
            <a:avLst/>
          </a:prstGeom>
          <a:solidFill>
            <a:srgbClr val="253A6E">
              <a:alpha val="40000"/>
            </a:srgbClr>
          </a:solidFill>
          <a:ln/>
        </p:spPr>
      </p:sp>
      <p:sp>
        <p:nvSpPr>
          <p:cNvPr id="63" name="Shape 61"/>
          <p:cNvSpPr/>
          <p:nvPr/>
        </p:nvSpPr>
        <p:spPr>
          <a:xfrm>
            <a:off x="731520" y="3474720"/>
            <a:ext cx="36576" cy="36576"/>
          </a:xfrm>
          <a:prstGeom prst="ellipse">
            <a:avLst/>
          </a:prstGeom>
          <a:solidFill>
            <a:srgbClr val="253A6E">
              <a:alpha val="40000"/>
            </a:srgbClr>
          </a:solidFill>
          <a:ln/>
        </p:spPr>
      </p:sp>
      <p:sp>
        <p:nvSpPr>
          <p:cNvPr id="64" name="Shape 62"/>
          <p:cNvSpPr/>
          <p:nvPr/>
        </p:nvSpPr>
        <p:spPr>
          <a:xfrm>
            <a:off x="1508760" y="3474720"/>
            <a:ext cx="36576" cy="36576"/>
          </a:xfrm>
          <a:prstGeom prst="ellipse">
            <a:avLst/>
          </a:prstGeom>
          <a:solidFill>
            <a:srgbClr val="253A6E">
              <a:alpha val="40000"/>
            </a:srgbClr>
          </a:solidFill>
          <a:ln/>
        </p:spPr>
      </p:sp>
      <p:sp>
        <p:nvSpPr>
          <p:cNvPr id="65" name="Shape 63"/>
          <p:cNvSpPr/>
          <p:nvPr/>
        </p:nvSpPr>
        <p:spPr>
          <a:xfrm>
            <a:off x="2286000" y="3474720"/>
            <a:ext cx="36576" cy="36576"/>
          </a:xfrm>
          <a:prstGeom prst="ellipse">
            <a:avLst/>
          </a:prstGeom>
          <a:solidFill>
            <a:srgbClr val="253A6E">
              <a:alpha val="40000"/>
            </a:srgbClr>
          </a:solidFill>
          <a:ln/>
        </p:spPr>
      </p:sp>
      <p:sp>
        <p:nvSpPr>
          <p:cNvPr id="66" name="Shape 64"/>
          <p:cNvSpPr/>
          <p:nvPr/>
        </p:nvSpPr>
        <p:spPr>
          <a:xfrm>
            <a:off x="3063240" y="3474720"/>
            <a:ext cx="36576" cy="36576"/>
          </a:xfrm>
          <a:prstGeom prst="ellipse">
            <a:avLst/>
          </a:prstGeom>
          <a:solidFill>
            <a:srgbClr val="253A6E">
              <a:alpha val="40000"/>
            </a:srgbClr>
          </a:solidFill>
          <a:ln/>
        </p:spPr>
      </p:sp>
      <p:sp>
        <p:nvSpPr>
          <p:cNvPr id="67" name="Shape 65"/>
          <p:cNvSpPr/>
          <p:nvPr/>
        </p:nvSpPr>
        <p:spPr>
          <a:xfrm>
            <a:off x="3840480" y="3474720"/>
            <a:ext cx="36576" cy="36576"/>
          </a:xfrm>
          <a:prstGeom prst="ellipse">
            <a:avLst/>
          </a:prstGeom>
          <a:solidFill>
            <a:srgbClr val="253A6E">
              <a:alpha val="40000"/>
            </a:srgbClr>
          </a:solidFill>
          <a:ln/>
        </p:spPr>
      </p:sp>
      <p:sp>
        <p:nvSpPr>
          <p:cNvPr id="68" name="Shape 66"/>
          <p:cNvSpPr/>
          <p:nvPr/>
        </p:nvSpPr>
        <p:spPr>
          <a:xfrm>
            <a:off x="4617720" y="3474720"/>
            <a:ext cx="36576" cy="36576"/>
          </a:xfrm>
          <a:prstGeom prst="ellipse">
            <a:avLst/>
          </a:prstGeom>
          <a:solidFill>
            <a:srgbClr val="253A6E">
              <a:alpha val="40000"/>
            </a:srgbClr>
          </a:solidFill>
          <a:ln/>
        </p:spPr>
      </p:sp>
      <p:sp>
        <p:nvSpPr>
          <p:cNvPr id="69" name="Shape 67"/>
          <p:cNvSpPr/>
          <p:nvPr/>
        </p:nvSpPr>
        <p:spPr>
          <a:xfrm>
            <a:off x="5394960" y="3474720"/>
            <a:ext cx="36576" cy="36576"/>
          </a:xfrm>
          <a:prstGeom prst="ellipse">
            <a:avLst/>
          </a:prstGeom>
          <a:solidFill>
            <a:srgbClr val="253A6E">
              <a:alpha val="40000"/>
            </a:srgbClr>
          </a:solidFill>
          <a:ln/>
        </p:spPr>
      </p:sp>
      <p:sp>
        <p:nvSpPr>
          <p:cNvPr id="70" name="Shape 68"/>
          <p:cNvSpPr/>
          <p:nvPr/>
        </p:nvSpPr>
        <p:spPr>
          <a:xfrm>
            <a:off x="6172200" y="3474720"/>
            <a:ext cx="36576" cy="36576"/>
          </a:xfrm>
          <a:prstGeom prst="ellipse">
            <a:avLst/>
          </a:prstGeom>
          <a:solidFill>
            <a:srgbClr val="253A6E">
              <a:alpha val="40000"/>
            </a:srgbClr>
          </a:solidFill>
          <a:ln/>
        </p:spPr>
      </p:sp>
      <p:sp>
        <p:nvSpPr>
          <p:cNvPr id="71" name="Shape 69"/>
          <p:cNvSpPr/>
          <p:nvPr/>
        </p:nvSpPr>
        <p:spPr>
          <a:xfrm>
            <a:off x="6949440" y="3474720"/>
            <a:ext cx="36576" cy="36576"/>
          </a:xfrm>
          <a:prstGeom prst="ellipse">
            <a:avLst/>
          </a:prstGeom>
          <a:solidFill>
            <a:srgbClr val="253A6E">
              <a:alpha val="40000"/>
            </a:srgbClr>
          </a:solidFill>
          <a:ln/>
        </p:spPr>
      </p:sp>
      <p:sp>
        <p:nvSpPr>
          <p:cNvPr id="72" name="Shape 70"/>
          <p:cNvSpPr/>
          <p:nvPr/>
        </p:nvSpPr>
        <p:spPr>
          <a:xfrm>
            <a:off x="7726680" y="3474720"/>
            <a:ext cx="36576" cy="36576"/>
          </a:xfrm>
          <a:prstGeom prst="ellipse">
            <a:avLst/>
          </a:prstGeom>
          <a:solidFill>
            <a:srgbClr val="253A6E">
              <a:alpha val="40000"/>
            </a:srgbClr>
          </a:solidFill>
          <a:ln/>
        </p:spPr>
      </p:sp>
      <p:sp>
        <p:nvSpPr>
          <p:cNvPr id="73" name="Shape 71"/>
          <p:cNvSpPr/>
          <p:nvPr/>
        </p:nvSpPr>
        <p:spPr>
          <a:xfrm>
            <a:off x="8503920" y="3474720"/>
            <a:ext cx="36576" cy="36576"/>
          </a:xfrm>
          <a:prstGeom prst="ellipse">
            <a:avLst/>
          </a:prstGeom>
          <a:solidFill>
            <a:srgbClr val="253A6E">
              <a:alpha val="40000"/>
            </a:srgbClr>
          </a:solidFill>
          <a:ln/>
        </p:spPr>
      </p:sp>
      <p:sp>
        <p:nvSpPr>
          <p:cNvPr id="74" name="Shape 72"/>
          <p:cNvSpPr/>
          <p:nvPr/>
        </p:nvSpPr>
        <p:spPr>
          <a:xfrm>
            <a:off x="9281160" y="3474720"/>
            <a:ext cx="36576" cy="36576"/>
          </a:xfrm>
          <a:prstGeom prst="ellipse">
            <a:avLst/>
          </a:prstGeom>
          <a:solidFill>
            <a:srgbClr val="253A6E">
              <a:alpha val="40000"/>
            </a:srgbClr>
          </a:solidFill>
          <a:ln/>
        </p:spPr>
      </p:sp>
      <p:sp>
        <p:nvSpPr>
          <p:cNvPr id="75" name="Shape 73"/>
          <p:cNvSpPr/>
          <p:nvPr/>
        </p:nvSpPr>
        <p:spPr>
          <a:xfrm>
            <a:off x="731520" y="4114800"/>
            <a:ext cx="36576" cy="36576"/>
          </a:xfrm>
          <a:prstGeom prst="ellipse">
            <a:avLst/>
          </a:prstGeom>
          <a:solidFill>
            <a:srgbClr val="253A6E">
              <a:alpha val="40000"/>
            </a:srgbClr>
          </a:solidFill>
          <a:ln/>
        </p:spPr>
      </p:sp>
      <p:sp>
        <p:nvSpPr>
          <p:cNvPr id="76" name="Shape 74"/>
          <p:cNvSpPr/>
          <p:nvPr/>
        </p:nvSpPr>
        <p:spPr>
          <a:xfrm>
            <a:off x="1508760" y="4114800"/>
            <a:ext cx="36576" cy="36576"/>
          </a:xfrm>
          <a:prstGeom prst="ellipse">
            <a:avLst/>
          </a:prstGeom>
          <a:solidFill>
            <a:srgbClr val="253A6E">
              <a:alpha val="40000"/>
            </a:srgbClr>
          </a:solidFill>
          <a:ln/>
        </p:spPr>
      </p:sp>
      <p:sp>
        <p:nvSpPr>
          <p:cNvPr id="77" name="Shape 75"/>
          <p:cNvSpPr/>
          <p:nvPr/>
        </p:nvSpPr>
        <p:spPr>
          <a:xfrm>
            <a:off x="2286000" y="4114800"/>
            <a:ext cx="36576" cy="36576"/>
          </a:xfrm>
          <a:prstGeom prst="ellipse">
            <a:avLst/>
          </a:prstGeom>
          <a:solidFill>
            <a:srgbClr val="253A6E">
              <a:alpha val="40000"/>
            </a:srgbClr>
          </a:solidFill>
          <a:ln/>
        </p:spPr>
      </p:sp>
      <p:sp>
        <p:nvSpPr>
          <p:cNvPr id="78" name="Shape 76"/>
          <p:cNvSpPr/>
          <p:nvPr/>
        </p:nvSpPr>
        <p:spPr>
          <a:xfrm>
            <a:off x="3063240" y="4114800"/>
            <a:ext cx="36576" cy="36576"/>
          </a:xfrm>
          <a:prstGeom prst="ellipse">
            <a:avLst/>
          </a:prstGeom>
          <a:solidFill>
            <a:srgbClr val="253A6E">
              <a:alpha val="40000"/>
            </a:srgbClr>
          </a:solidFill>
          <a:ln/>
        </p:spPr>
      </p:sp>
      <p:sp>
        <p:nvSpPr>
          <p:cNvPr id="79" name="Shape 77"/>
          <p:cNvSpPr/>
          <p:nvPr/>
        </p:nvSpPr>
        <p:spPr>
          <a:xfrm>
            <a:off x="3840480" y="4114800"/>
            <a:ext cx="36576" cy="36576"/>
          </a:xfrm>
          <a:prstGeom prst="ellipse">
            <a:avLst/>
          </a:prstGeom>
          <a:solidFill>
            <a:srgbClr val="253A6E">
              <a:alpha val="40000"/>
            </a:srgbClr>
          </a:solidFill>
          <a:ln/>
        </p:spPr>
      </p:sp>
      <p:sp>
        <p:nvSpPr>
          <p:cNvPr id="80" name="Shape 78"/>
          <p:cNvSpPr/>
          <p:nvPr/>
        </p:nvSpPr>
        <p:spPr>
          <a:xfrm>
            <a:off x="4617720" y="4114800"/>
            <a:ext cx="36576" cy="36576"/>
          </a:xfrm>
          <a:prstGeom prst="ellipse">
            <a:avLst/>
          </a:prstGeom>
          <a:solidFill>
            <a:srgbClr val="253A6E">
              <a:alpha val="40000"/>
            </a:srgbClr>
          </a:solidFill>
          <a:ln/>
        </p:spPr>
      </p:sp>
      <p:sp>
        <p:nvSpPr>
          <p:cNvPr id="81" name="Shape 79"/>
          <p:cNvSpPr/>
          <p:nvPr/>
        </p:nvSpPr>
        <p:spPr>
          <a:xfrm>
            <a:off x="5394960" y="4114800"/>
            <a:ext cx="36576" cy="36576"/>
          </a:xfrm>
          <a:prstGeom prst="ellipse">
            <a:avLst/>
          </a:prstGeom>
          <a:solidFill>
            <a:srgbClr val="253A6E">
              <a:alpha val="40000"/>
            </a:srgbClr>
          </a:solidFill>
          <a:ln/>
        </p:spPr>
      </p:sp>
      <p:sp>
        <p:nvSpPr>
          <p:cNvPr id="82" name="Shape 80"/>
          <p:cNvSpPr/>
          <p:nvPr/>
        </p:nvSpPr>
        <p:spPr>
          <a:xfrm>
            <a:off x="6172200" y="4114800"/>
            <a:ext cx="36576" cy="36576"/>
          </a:xfrm>
          <a:prstGeom prst="ellipse">
            <a:avLst/>
          </a:prstGeom>
          <a:solidFill>
            <a:srgbClr val="253A6E">
              <a:alpha val="40000"/>
            </a:srgbClr>
          </a:solidFill>
          <a:ln/>
        </p:spPr>
      </p:sp>
      <p:sp>
        <p:nvSpPr>
          <p:cNvPr id="83" name="Shape 81"/>
          <p:cNvSpPr/>
          <p:nvPr/>
        </p:nvSpPr>
        <p:spPr>
          <a:xfrm>
            <a:off x="6949440" y="4114800"/>
            <a:ext cx="36576" cy="36576"/>
          </a:xfrm>
          <a:prstGeom prst="ellipse">
            <a:avLst/>
          </a:prstGeom>
          <a:solidFill>
            <a:srgbClr val="253A6E">
              <a:alpha val="40000"/>
            </a:srgbClr>
          </a:solidFill>
          <a:ln/>
        </p:spPr>
      </p:sp>
      <p:sp>
        <p:nvSpPr>
          <p:cNvPr id="84" name="Shape 82"/>
          <p:cNvSpPr/>
          <p:nvPr/>
        </p:nvSpPr>
        <p:spPr>
          <a:xfrm>
            <a:off x="7726680" y="4114800"/>
            <a:ext cx="36576" cy="36576"/>
          </a:xfrm>
          <a:prstGeom prst="ellipse">
            <a:avLst/>
          </a:prstGeom>
          <a:solidFill>
            <a:srgbClr val="253A6E">
              <a:alpha val="40000"/>
            </a:srgbClr>
          </a:solidFill>
          <a:ln/>
        </p:spPr>
      </p:sp>
      <p:sp>
        <p:nvSpPr>
          <p:cNvPr id="85" name="Shape 83"/>
          <p:cNvSpPr/>
          <p:nvPr/>
        </p:nvSpPr>
        <p:spPr>
          <a:xfrm>
            <a:off x="8503920" y="4114800"/>
            <a:ext cx="36576" cy="36576"/>
          </a:xfrm>
          <a:prstGeom prst="ellipse">
            <a:avLst/>
          </a:prstGeom>
          <a:solidFill>
            <a:srgbClr val="253A6E">
              <a:alpha val="40000"/>
            </a:srgbClr>
          </a:solidFill>
          <a:ln/>
        </p:spPr>
      </p:sp>
      <p:sp>
        <p:nvSpPr>
          <p:cNvPr id="86" name="Shape 84"/>
          <p:cNvSpPr/>
          <p:nvPr/>
        </p:nvSpPr>
        <p:spPr>
          <a:xfrm>
            <a:off x="9281160" y="4114800"/>
            <a:ext cx="36576" cy="36576"/>
          </a:xfrm>
          <a:prstGeom prst="ellipse">
            <a:avLst/>
          </a:prstGeom>
          <a:solidFill>
            <a:srgbClr val="253A6E">
              <a:alpha val="40000"/>
            </a:srgbClr>
          </a:solidFill>
          <a:ln/>
        </p:spPr>
      </p:sp>
      <p:sp>
        <p:nvSpPr>
          <p:cNvPr id="87" name="Shape 85"/>
          <p:cNvSpPr/>
          <p:nvPr/>
        </p:nvSpPr>
        <p:spPr>
          <a:xfrm>
            <a:off x="731520" y="4754880"/>
            <a:ext cx="36576" cy="36576"/>
          </a:xfrm>
          <a:prstGeom prst="ellipse">
            <a:avLst/>
          </a:prstGeom>
          <a:solidFill>
            <a:srgbClr val="253A6E">
              <a:alpha val="40000"/>
            </a:srgbClr>
          </a:solidFill>
          <a:ln/>
        </p:spPr>
      </p:sp>
      <p:sp>
        <p:nvSpPr>
          <p:cNvPr id="88" name="Shape 86"/>
          <p:cNvSpPr/>
          <p:nvPr/>
        </p:nvSpPr>
        <p:spPr>
          <a:xfrm>
            <a:off x="1508760" y="4754880"/>
            <a:ext cx="36576" cy="36576"/>
          </a:xfrm>
          <a:prstGeom prst="ellipse">
            <a:avLst/>
          </a:prstGeom>
          <a:solidFill>
            <a:srgbClr val="253A6E">
              <a:alpha val="40000"/>
            </a:srgbClr>
          </a:solidFill>
          <a:ln/>
        </p:spPr>
      </p:sp>
      <p:sp>
        <p:nvSpPr>
          <p:cNvPr id="89" name="Shape 87"/>
          <p:cNvSpPr/>
          <p:nvPr/>
        </p:nvSpPr>
        <p:spPr>
          <a:xfrm>
            <a:off x="2286000" y="4754880"/>
            <a:ext cx="36576" cy="36576"/>
          </a:xfrm>
          <a:prstGeom prst="ellipse">
            <a:avLst/>
          </a:prstGeom>
          <a:solidFill>
            <a:srgbClr val="253A6E">
              <a:alpha val="40000"/>
            </a:srgbClr>
          </a:solidFill>
          <a:ln/>
        </p:spPr>
      </p:sp>
      <p:sp>
        <p:nvSpPr>
          <p:cNvPr id="90" name="Shape 88"/>
          <p:cNvSpPr/>
          <p:nvPr/>
        </p:nvSpPr>
        <p:spPr>
          <a:xfrm>
            <a:off x="3063240" y="4754880"/>
            <a:ext cx="36576" cy="36576"/>
          </a:xfrm>
          <a:prstGeom prst="ellipse">
            <a:avLst/>
          </a:prstGeom>
          <a:solidFill>
            <a:srgbClr val="253A6E">
              <a:alpha val="40000"/>
            </a:srgbClr>
          </a:solidFill>
          <a:ln/>
        </p:spPr>
      </p:sp>
      <p:sp>
        <p:nvSpPr>
          <p:cNvPr id="91" name="Shape 89"/>
          <p:cNvSpPr/>
          <p:nvPr/>
        </p:nvSpPr>
        <p:spPr>
          <a:xfrm>
            <a:off x="3840480" y="4754880"/>
            <a:ext cx="36576" cy="36576"/>
          </a:xfrm>
          <a:prstGeom prst="ellipse">
            <a:avLst/>
          </a:prstGeom>
          <a:solidFill>
            <a:srgbClr val="253A6E">
              <a:alpha val="40000"/>
            </a:srgbClr>
          </a:solidFill>
          <a:ln/>
        </p:spPr>
      </p:sp>
      <p:sp>
        <p:nvSpPr>
          <p:cNvPr id="92" name="Shape 90"/>
          <p:cNvSpPr/>
          <p:nvPr/>
        </p:nvSpPr>
        <p:spPr>
          <a:xfrm>
            <a:off x="4617720" y="4754880"/>
            <a:ext cx="36576" cy="36576"/>
          </a:xfrm>
          <a:prstGeom prst="ellipse">
            <a:avLst/>
          </a:prstGeom>
          <a:solidFill>
            <a:srgbClr val="253A6E">
              <a:alpha val="40000"/>
            </a:srgbClr>
          </a:solidFill>
          <a:ln/>
        </p:spPr>
      </p:sp>
      <p:sp>
        <p:nvSpPr>
          <p:cNvPr id="93" name="Shape 91"/>
          <p:cNvSpPr/>
          <p:nvPr/>
        </p:nvSpPr>
        <p:spPr>
          <a:xfrm>
            <a:off x="5394960" y="4754880"/>
            <a:ext cx="36576" cy="36576"/>
          </a:xfrm>
          <a:prstGeom prst="ellipse">
            <a:avLst/>
          </a:prstGeom>
          <a:solidFill>
            <a:srgbClr val="253A6E">
              <a:alpha val="40000"/>
            </a:srgbClr>
          </a:solidFill>
          <a:ln/>
        </p:spPr>
      </p:sp>
      <p:sp>
        <p:nvSpPr>
          <p:cNvPr id="94" name="Shape 92"/>
          <p:cNvSpPr/>
          <p:nvPr/>
        </p:nvSpPr>
        <p:spPr>
          <a:xfrm>
            <a:off x="6172200" y="4754880"/>
            <a:ext cx="36576" cy="36576"/>
          </a:xfrm>
          <a:prstGeom prst="ellipse">
            <a:avLst/>
          </a:prstGeom>
          <a:solidFill>
            <a:srgbClr val="253A6E">
              <a:alpha val="40000"/>
            </a:srgbClr>
          </a:solidFill>
          <a:ln/>
        </p:spPr>
      </p:sp>
      <p:sp>
        <p:nvSpPr>
          <p:cNvPr id="95" name="Shape 93"/>
          <p:cNvSpPr/>
          <p:nvPr/>
        </p:nvSpPr>
        <p:spPr>
          <a:xfrm>
            <a:off x="6949440" y="4754880"/>
            <a:ext cx="36576" cy="36576"/>
          </a:xfrm>
          <a:prstGeom prst="ellipse">
            <a:avLst/>
          </a:prstGeom>
          <a:solidFill>
            <a:srgbClr val="253A6E">
              <a:alpha val="40000"/>
            </a:srgbClr>
          </a:solidFill>
          <a:ln/>
        </p:spPr>
      </p:sp>
      <p:sp>
        <p:nvSpPr>
          <p:cNvPr id="96" name="Shape 94"/>
          <p:cNvSpPr/>
          <p:nvPr/>
        </p:nvSpPr>
        <p:spPr>
          <a:xfrm>
            <a:off x="7726680" y="4754880"/>
            <a:ext cx="36576" cy="36576"/>
          </a:xfrm>
          <a:prstGeom prst="ellipse">
            <a:avLst/>
          </a:prstGeom>
          <a:solidFill>
            <a:srgbClr val="253A6E">
              <a:alpha val="40000"/>
            </a:srgbClr>
          </a:solidFill>
          <a:ln/>
        </p:spPr>
      </p:sp>
      <p:sp>
        <p:nvSpPr>
          <p:cNvPr id="97" name="Shape 95"/>
          <p:cNvSpPr/>
          <p:nvPr/>
        </p:nvSpPr>
        <p:spPr>
          <a:xfrm>
            <a:off x="8503920" y="4754880"/>
            <a:ext cx="36576" cy="36576"/>
          </a:xfrm>
          <a:prstGeom prst="ellipse">
            <a:avLst/>
          </a:prstGeom>
          <a:solidFill>
            <a:srgbClr val="253A6E">
              <a:alpha val="40000"/>
            </a:srgbClr>
          </a:solidFill>
          <a:ln/>
        </p:spPr>
      </p:sp>
      <p:sp>
        <p:nvSpPr>
          <p:cNvPr id="98" name="Shape 96"/>
          <p:cNvSpPr/>
          <p:nvPr/>
        </p:nvSpPr>
        <p:spPr>
          <a:xfrm>
            <a:off x="9281160" y="4754880"/>
            <a:ext cx="36576" cy="36576"/>
          </a:xfrm>
          <a:prstGeom prst="ellipse">
            <a:avLst/>
          </a:prstGeom>
          <a:solidFill>
            <a:srgbClr val="253A6E">
              <a:alpha val="40000"/>
            </a:srgbClr>
          </a:solidFill>
          <a:ln/>
        </p:spPr>
      </p:sp>
      <p:sp>
        <p:nvSpPr>
          <p:cNvPr id="99" name="Shape 97"/>
          <p:cNvSpPr/>
          <p:nvPr/>
        </p:nvSpPr>
        <p:spPr>
          <a:xfrm>
            <a:off x="502920" y="1051560"/>
            <a:ext cx="6217920" cy="1508760"/>
          </a:xfrm>
          <a:prstGeom prst="rect">
            <a:avLst/>
          </a:prstGeom>
          <a:solidFill>
            <a:srgbClr val="1A2744"/>
          </a:solidFill>
          <a:ln/>
        </p:spPr>
      </p:sp>
      <p:sp>
        <p:nvSpPr>
          <p:cNvPr id="100" name="Text 98"/>
          <p:cNvSpPr/>
          <p:nvPr/>
        </p:nvSpPr>
        <p:spPr>
          <a:xfrm>
            <a:off x="594360" y="1097280"/>
            <a:ext cx="6035040" cy="777240"/>
          </a:xfrm>
          <a:prstGeom prst="rect">
            <a:avLst/>
          </a:prstGeom>
          <a:noFill/>
          <a:ln/>
        </p:spPr>
        <p:txBody>
          <a:bodyPr wrap="square" lIns="0" tIns="0" rIns="0" bIns="0" rtlCol="0" anchor="ctr"/>
          <a:lstStyle/>
          <a:p>
            <a:pPr indent="0" marL="0">
              <a:buNone/>
            </a:pPr>
            <a:r>
              <a:rPr lang="en-US" sz="5400" b="1" spc="800" kern="0" dirty="0">
                <a:solidFill>
                  <a:srgbClr val="3B82F6"/>
                </a:solidFill>
                <a:latin typeface="Calibri" pitchFamily="34" charset="0"/>
                <a:ea typeface="Calibri" pitchFamily="34" charset="-122"/>
                <a:cs typeface="Calibri" pitchFamily="34" charset="-120"/>
              </a:rPr>
              <a:t>KUBERNETES</a:t>
            </a:r>
            <a:endParaRPr lang="en-US" sz="5400" dirty="0"/>
          </a:p>
        </p:txBody>
      </p:sp>
      <p:sp>
        <p:nvSpPr>
          <p:cNvPr id="101" name="Text 99"/>
          <p:cNvSpPr/>
          <p:nvPr/>
        </p:nvSpPr>
        <p:spPr>
          <a:xfrm>
            <a:off x="594360" y="1828800"/>
            <a:ext cx="6035040" cy="365760"/>
          </a:xfrm>
          <a:prstGeom prst="rect">
            <a:avLst/>
          </a:prstGeom>
          <a:noFill/>
          <a:ln/>
        </p:spPr>
        <p:txBody>
          <a:bodyPr wrap="square" lIns="0" tIns="0" rIns="0" bIns="0" rtlCol="0" anchor="ctr"/>
          <a:lstStyle/>
          <a:p>
            <a:pPr indent="0" marL="0">
              <a:buNone/>
            </a:pPr>
            <a:r>
              <a:rPr lang="en-US" sz="2200" spc="200" kern="0" dirty="0">
                <a:solidFill>
                  <a:srgbClr val="F1F5F9"/>
                </a:solidFill>
                <a:latin typeface="Calibri" pitchFamily="34" charset="0"/>
                <a:ea typeface="Calibri" pitchFamily="34" charset="-122"/>
                <a:cs typeface="Calibri" pitchFamily="34" charset="-120"/>
              </a:rPr>
              <a:t>Architecture Reference</a:t>
            </a:r>
            <a:endParaRPr lang="en-US" sz="2200" dirty="0"/>
          </a:p>
        </p:txBody>
      </p:sp>
      <p:sp>
        <p:nvSpPr>
          <p:cNvPr id="102" name="Shape 100"/>
          <p:cNvSpPr/>
          <p:nvPr/>
        </p:nvSpPr>
        <p:spPr>
          <a:xfrm>
            <a:off x="502920" y="2697480"/>
            <a:ext cx="6217920" cy="64008"/>
          </a:xfrm>
          <a:prstGeom prst="rect">
            <a:avLst/>
          </a:prstGeom>
          <a:solidFill>
            <a:srgbClr val="3B82F6"/>
          </a:solidFill>
          <a:ln/>
        </p:spPr>
      </p:sp>
      <p:sp>
        <p:nvSpPr>
          <p:cNvPr id="103" name="Text 101"/>
          <p:cNvSpPr/>
          <p:nvPr/>
        </p:nvSpPr>
        <p:spPr>
          <a:xfrm>
            <a:off x="502920" y="2834640"/>
            <a:ext cx="6217920" cy="320040"/>
          </a:xfrm>
          <a:prstGeom prst="rect">
            <a:avLst/>
          </a:prstGeom>
          <a:noFill/>
          <a:ln/>
        </p:spPr>
        <p:txBody>
          <a:bodyPr wrap="square" lIns="0" tIns="0" rIns="0" bIns="0" rtlCol="0" anchor="ctr"/>
          <a:lstStyle/>
          <a:p>
            <a:pPr indent="0" marL="0">
              <a:buNone/>
            </a:pPr>
            <a:r>
              <a:rPr lang="en-US" sz="1300" dirty="0">
                <a:solidFill>
                  <a:srgbClr val="60A5FA"/>
                </a:solidFill>
                <a:latin typeface="Calibri" pitchFamily="34" charset="0"/>
                <a:ea typeface="Calibri" pitchFamily="34" charset="-122"/>
                <a:cs typeface="Calibri" pitchFamily="34" charset="-120"/>
              </a:rPr>
              <a:t>Core Components  ·  Object Model  ·  Networking  ·  Security  ·  Operations</a:t>
            </a:r>
            <a:endParaRPr lang="en-US" sz="1300" dirty="0"/>
          </a:p>
        </p:txBody>
      </p:sp>
      <p:sp>
        <p:nvSpPr>
          <p:cNvPr id="104" name="Text 102"/>
          <p:cNvSpPr/>
          <p:nvPr/>
        </p:nvSpPr>
        <p:spPr>
          <a:xfrm>
            <a:off x="502920" y="4434840"/>
            <a:ext cx="36576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Enterprise Security Architect Edition</a:t>
            </a:r>
            <a:endParaRPr lang="en-US" sz="1000" dirty="0"/>
          </a:p>
        </p:txBody>
      </p:sp>
      <p:sp>
        <p:nvSpPr>
          <p:cNvPr id="105" name="Shape 103"/>
          <p:cNvSpPr/>
          <p:nvPr/>
        </p:nvSpPr>
        <p:spPr>
          <a:xfrm>
            <a:off x="7132320" y="502920"/>
            <a:ext cx="1783080" cy="4206240"/>
          </a:xfrm>
          <a:prstGeom prst="rect">
            <a:avLst/>
          </a:prstGeom>
          <a:solidFill>
            <a:srgbClr val="1A2744"/>
          </a:solidFill>
          <a:ln/>
        </p:spPr>
      </p:sp>
      <p:sp>
        <p:nvSpPr>
          <p:cNvPr id="106" name="Shape 104"/>
          <p:cNvSpPr/>
          <p:nvPr/>
        </p:nvSpPr>
        <p:spPr>
          <a:xfrm>
            <a:off x="7132320" y="685800"/>
            <a:ext cx="54864" cy="365760"/>
          </a:xfrm>
          <a:prstGeom prst="rect">
            <a:avLst/>
          </a:prstGeom>
          <a:solidFill>
            <a:srgbClr val="3B82F6"/>
          </a:solidFill>
          <a:ln/>
        </p:spPr>
      </p:sp>
      <p:sp>
        <p:nvSpPr>
          <p:cNvPr id="107" name="Text 105"/>
          <p:cNvSpPr/>
          <p:nvPr/>
        </p:nvSpPr>
        <p:spPr>
          <a:xfrm>
            <a:off x="7251192" y="749808"/>
            <a:ext cx="1600200" cy="274320"/>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Control Plane</a:t>
            </a:r>
            <a:endParaRPr lang="en-US" sz="1100" dirty="0"/>
          </a:p>
        </p:txBody>
      </p:sp>
      <p:sp>
        <p:nvSpPr>
          <p:cNvPr id="108" name="Shape 106"/>
          <p:cNvSpPr/>
          <p:nvPr/>
        </p:nvSpPr>
        <p:spPr>
          <a:xfrm>
            <a:off x="7132320" y="1280160"/>
            <a:ext cx="54864" cy="365760"/>
          </a:xfrm>
          <a:prstGeom prst="rect">
            <a:avLst/>
          </a:prstGeom>
          <a:solidFill>
            <a:srgbClr val="22D3EE"/>
          </a:solidFill>
          <a:ln/>
        </p:spPr>
      </p:sp>
      <p:sp>
        <p:nvSpPr>
          <p:cNvPr id="109" name="Text 107"/>
          <p:cNvSpPr/>
          <p:nvPr/>
        </p:nvSpPr>
        <p:spPr>
          <a:xfrm>
            <a:off x="7251192" y="1344168"/>
            <a:ext cx="1600200" cy="274320"/>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Data Plane</a:t>
            </a:r>
            <a:endParaRPr lang="en-US" sz="1100" dirty="0"/>
          </a:p>
        </p:txBody>
      </p:sp>
      <p:sp>
        <p:nvSpPr>
          <p:cNvPr id="110" name="Shape 108"/>
          <p:cNvSpPr/>
          <p:nvPr/>
        </p:nvSpPr>
        <p:spPr>
          <a:xfrm>
            <a:off x="7132320" y="1874520"/>
            <a:ext cx="54864" cy="365760"/>
          </a:xfrm>
          <a:prstGeom prst="rect">
            <a:avLst/>
          </a:prstGeom>
          <a:solidFill>
            <a:srgbClr val="10B981"/>
          </a:solidFill>
          <a:ln/>
        </p:spPr>
      </p:sp>
      <p:sp>
        <p:nvSpPr>
          <p:cNvPr id="111" name="Text 109"/>
          <p:cNvSpPr/>
          <p:nvPr/>
        </p:nvSpPr>
        <p:spPr>
          <a:xfrm>
            <a:off x="7251192" y="1938528"/>
            <a:ext cx="1600200" cy="274320"/>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Object Model</a:t>
            </a:r>
            <a:endParaRPr lang="en-US" sz="1100" dirty="0"/>
          </a:p>
        </p:txBody>
      </p:sp>
      <p:sp>
        <p:nvSpPr>
          <p:cNvPr id="112" name="Shape 110"/>
          <p:cNvSpPr/>
          <p:nvPr/>
        </p:nvSpPr>
        <p:spPr>
          <a:xfrm>
            <a:off x="7132320" y="2468880"/>
            <a:ext cx="54864" cy="365760"/>
          </a:xfrm>
          <a:prstGeom prst="rect">
            <a:avLst/>
          </a:prstGeom>
          <a:solidFill>
            <a:srgbClr val="A78BFA"/>
          </a:solidFill>
          <a:ln/>
        </p:spPr>
      </p:sp>
      <p:sp>
        <p:nvSpPr>
          <p:cNvPr id="113" name="Text 111"/>
          <p:cNvSpPr/>
          <p:nvPr/>
        </p:nvSpPr>
        <p:spPr>
          <a:xfrm>
            <a:off x="7251192" y="2532888"/>
            <a:ext cx="1600200" cy="274320"/>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Networking</a:t>
            </a:r>
            <a:endParaRPr lang="en-US" sz="1100" dirty="0"/>
          </a:p>
        </p:txBody>
      </p:sp>
      <p:sp>
        <p:nvSpPr>
          <p:cNvPr id="114" name="Shape 112"/>
          <p:cNvSpPr/>
          <p:nvPr/>
        </p:nvSpPr>
        <p:spPr>
          <a:xfrm>
            <a:off x="7132320" y="3063240"/>
            <a:ext cx="54864" cy="365760"/>
          </a:xfrm>
          <a:prstGeom prst="rect">
            <a:avLst/>
          </a:prstGeom>
          <a:solidFill>
            <a:srgbClr val="FBBF24"/>
          </a:solidFill>
          <a:ln/>
        </p:spPr>
      </p:sp>
      <p:sp>
        <p:nvSpPr>
          <p:cNvPr id="115" name="Text 113"/>
          <p:cNvSpPr/>
          <p:nvPr/>
        </p:nvSpPr>
        <p:spPr>
          <a:xfrm>
            <a:off x="7251192" y="3127248"/>
            <a:ext cx="1600200" cy="274320"/>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RBAC</a:t>
            </a:r>
            <a:endParaRPr lang="en-US" sz="1100" dirty="0"/>
          </a:p>
        </p:txBody>
      </p:sp>
      <p:sp>
        <p:nvSpPr>
          <p:cNvPr id="116" name="Shape 114"/>
          <p:cNvSpPr/>
          <p:nvPr/>
        </p:nvSpPr>
        <p:spPr>
          <a:xfrm>
            <a:off x="7132320" y="3657600"/>
            <a:ext cx="54864" cy="365760"/>
          </a:xfrm>
          <a:prstGeom prst="rect">
            <a:avLst/>
          </a:prstGeom>
          <a:solidFill>
            <a:srgbClr val="F59E0B"/>
          </a:solidFill>
          <a:ln/>
        </p:spPr>
      </p:sp>
      <p:sp>
        <p:nvSpPr>
          <p:cNvPr id="117" name="Text 115"/>
          <p:cNvSpPr/>
          <p:nvPr/>
        </p:nvSpPr>
        <p:spPr>
          <a:xfrm>
            <a:off x="7251192" y="3721608"/>
            <a:ext cx="1600200" cy="274320"/>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Pod Security</a:t>
            </a:r>
            <a:endParaRPr lang="en-US" sz="1100" dirty="0"/>
          </a:p>
        </p:txBody>
      </p:sp>
      <p:sp>
        <p:nvSpPr>
          <p:cNvPr id="118" name="Shape 116"/>
          <p:cNvSpPr/>
          <p:nvPr/>
        </p:nvSpPr>
        <p:spPr>
          <a:xfrm>
            <a:off x="7132320" y="4251960"/>
            <a:ext cx="54864" cy="365760"/>
          </a:xfrm>
          <a:prstGeom prst="rect">
            <a:avLst/>
          </a:prstGeom>
          <a:solidFill>
            <a:srgbClr val="EF4444"/>
          </a:solidFill>
          <a:ln/>
        </p:spPr>
      </p:sp>
      <p:sp>
        <p:nvSpPr>
          <p:cNvPr id="119" name="Text 117"/>
          <p:cNvSpPr/>
          <p:nvPr/>
        </p:nvSpPr>
        <p:spPr>
          <a:xfrm>
            <a:off x="7251192" y="4315968"/>
            <a:ext cx="1600200" cy="274320"/>
          </a:xfrm>
          <a:prstGeom prst="rect">
            <a:avLst/>
          </a:prstGeom>
          <a:noFill/>
          <a:ln/>
        </p:spPr>
        <p:txBody>
          <a:bodyPr wrap="square" lIns="0" tIns="0" rIns="0" bIns="0" rtlCol="0" anchor="ctr"/>
          <a:lstStyle/>
          <a:p>
            <a:pPr indent="0" marL="0">
              <a:buNone/>
            </a:pPr>
            <a:r>
              <a:rPr lang="en-US" sz="1100" dirty="0">
                <a:solidFill>
                  <a:srgbClr val="F1F5F9"/>
                </a:solidFill>
                <a:latin typeface="Calibri" pitchFamily="34" charset="0"/>
                <a:ea typeface="Calibri" pitchFamily="34" charset="-122"/>
                <a:cs typeface="Calibri" pitchFamily="34" charset="-120"/>
              </a:rPr>
              <a:t>Secrets Mgmt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3B82F6"/>
                </a:solidFill>
              </a:rPr>
              <a:t>AGENDA</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What We'll Cover</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10 topics · architecture-first approach</a:t>
            </a:r>
            <a:endParaRPr lang="en-US" sz="1100" dirty="0"/>
          </a:p>
        </p:txBody>
      </p:sp>
      <p:sp>
        <p:nvSpPr>
          <p:cNvPr id="7" name="Shape 5"/>
          <p:cNvSpPr/>
          <p:nvPr/>
        </p:nvSpPr>
        <p:spPr>
          <a:xfrm>
            <a:off x="256032" y="822960"/>
            <a:ext cx="4160520" cy="731520"/>
          </a:xfrm>
          <a:prstGeom prst="rect">
            <a:avLst/>
          </a:prstGeom>
          <a:solidFill>
            <a:srgbClr val="1E3059"/>
          </a:solidFill>
          <a:ln/>
        </p:spPr>
      </p:sp>
      <p:sp>
        <p:nvSpPr>
          <p:cNvPr id="8" name="Shape 6"/>
          <p:cNvSpPr/>
          <p:nvPr/>
        </p:nvSpPr>
        <p:spPr>
          <a:xfrm>
            <a:off x="256032" y="822960"/>
            <a:ext cx="502920" cy="731520"/>
          </a:xfrm>
          <a:prstGeom prst="rect">
            <a:avLst/>
          </a:prstGeom>
          <a:solidFill>
            <a:srgbClr val="3B82F6">
              <a:alpha val="80000"/>
            </a:srgbClr>
          </a:solidFill>
          <a:ln/>
        </p:spPr>
      </p:sp>
      <p:sp>
        <p:nvSpPr>
          <p:cNvPr id="9" name="Text 7"/>
          <p:cNvSpPr/>
          <p:nvPr/>
        </p:nvSpPr>
        <p:spPr>
          <a:xfrm>
            <a:off x="265176" y="82296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01</a:t>
            </a:r>
            <a:endParaRPr lang="en-US" sz="1800" dirty="0"/>
          </a:p>
        </p:txBody>
      </p:sp>
      <p:sp>
        <p:nvSpPr>
          <p:cNvPr id="10" name="Text 8"/>
          <p:cNvSpPr/>
          <p:nvPr/>
        </p:nvSpPr>
        <p:spPr>
          <a:xfrm>
            <a:off x="850392" y="87782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What is Kubernetes</a:t>
            </a:r>
            <a:endParaRPr lang="en-US" sz="1200" dirty="0"/>
          </a:p>
        </p:txBody>
      </p:sp>
      <p:sp>
        <p:nvSpPr>
          <p:cNvPr id="11" name="Text 9"/>
          <p:cNvSpPr/>
          <p:nvPr/>
        </p:nvSpPr>
        <p:spPr>
          <a:xfrm>
            <a:off x="850392" y="117043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Design principles, why it matters at enterprise scale</a:t>
            </a:r>
            <a:endParaRPr lang="en-US" sz="950" dirty="0"/>
          </a:p>
        </p:txBody>
      </p:sp>
      <p:sp>
        <p:nvSpPr>
          <p:cNvPr id="12" name="Shape 10"/>
          <p:cNvSpPr/>
          <p:nvPr/>
        </p:nvSpPr>
        <p:spPr>
          <a:xfrm>
            <a:off x="256032" y="1645920"/>
            <a:ext cx="4160520" cy="731520"/>
          </a:xfrm>
          <a:prstGeom prst="rect">
            <a:avLst/>
          </a:prstGeom>
          <a:solidFill>
            <a:srgbClr val="1E3059"/>
          </a:solidFill>
          <a:ln/>
        </p:spPr>
      </p:sp>
      <p:sp>
        <p:nvSpPr>
          <p:cNvPr id="13" name="Shape 11"/>
          <p:cNvSpPr/>
          <p:nvPr/>
        </p:nvSpPr>
        <p:spPr>
          <a:xfrm>
            <a:off x="256032" y="1645920"/>
            <a:ext cx="502920" cy="731520"/>
          </a:xfrm>
          <a:prstGeom prst="rect">
            <a:avLst/>
          </a:prstGeom>
          <a:solidFill>
            <a:srgbClr val="22D3EE">
              <a:alpha val="80000"/>
            </a:srgbClr>
          </a:solidFill>
          <a:ln/>
        </p:spPr>
      </p:sp>
      <p:sp>
        <p:nvSpPr>
          <p:cNvPr id="14" name="Text 12"/>
          <p:cNvSpPr/>
          <p:nvPr/>
        </p:nvSpPr>
        <p:spPr>
          <a:xfrm>
            <a:off x="265176" y="164592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02</a:t>
            </a:r>
            <a:endParaRPr lang="en-US" sz="1800" dirty="0"/>
          </a:p>
        </p:txBody>
      </p:sp>
      <p:sp>
        <p:nvSpPr>
          <p:cNvPr id="15" name="Text 13"/>
          <p:cNvSpPr/>
          <p:nvPr/>
        </p:nvSpPr>
        <p:spPr>
          <a:xfrm>
            <a:off x="850392" y="170078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Architecture Overview</a:t>
            </a:r>
            <a:endParaRPr lang="en-US" sz="1200" dirty="0"/>
          </a:p>
        </p:txBody>
      </p:sp>
      <p:sp>
        <p:nvSpPr>
          <p:cNvPr id="16" name="Text 14"/>
          <p:cNvSpPr/>
          <p:nvPr/>
        </p:nvSpPr>
        <p:spPr>
          <a:xfrm>
            <a:off x="850392" y="199339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Control Plane vs Data Plane, the two-plane model</a:t>
            </a:r>
            <a:endParaRPr lang="en-US" sz="950" dirty="0"/>
          </a:p>
        </p:txBody>
      </p:sp>
      <p:sp>
        <p:nvSpPr>
          <p:cNvPr id="17" name="Shape 15"/>
          <p:cNvSpPr/>
          <p:nvPr/>
        </p:nvSpPr>
        <p:spPr>
          <a:xfrm>
            <a:off x="256032" y="2468880"/>
            <a:ext cx="4160520" cy="731520"/>
          </a:xfrm>
          <a:prstGeom prst="rect">
            <a:avLst/>
          </a:prstGeom>
          <a:solidFill>
            <a:srgbClr val="1E3059"/>
          </a:solidFill>
          <a:ln/>
        </p:spPr>
      </p:sp>
      <p:sp>
        <p:nvSpPr>
          <p:cNvPr id="18" name="Shape 16"/>
          <p:cNvSpPr/>
          <p:nvPr/>
        </p:nvSpPr>
        <p:spPr>
          <a:xfrm>
            <a:off x="256032" y="2468880"/>
            <a:ext cx="502920" cy="731520"/>
          </a:xfrm>
          <a:prstGeom prst="rect">
            <a:avLst/>
          </a:prstGeom>
          <a:solidFill>
            <a:srgbClr val="10B981">
              <a:alpha val="80000"/>
            </a:srgbClr>
          </a:solidFill>
          <a:ln/>
        </p:spPr>
      </p:sp>
      <p:sp>
        <p:nvSpPr>
          <p:cNvPr id="19" name="Text 17"/>
          <p:cNvSpPr/>
          <p:nvPr/>
        </p:nvSpPr>
        <p:spPr>
          <a:xfrm>
            <a:off x="265176" y="246888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03</a:t>
            </a:r>
            <a:endParaRPr lang="en-US" sz="1800" dirty="0"/>
          </a:p>
        </p:txBody>
      </p:sp>
      <p:sp>
        <p:nvSpPr>
          <p:cNvPr id="20" name="Text 18"/>
          <p:cNvSpPr/>
          <p:nvPr/>
        </p:nvSpPr>
        <p:spPr>
          <a:xfrm>
            <a:off x="850392" y="252374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Control Plane Deep Dive</a:t>
            </a:r>
            <a:endParaRPr lang="en-US" sz="1200" dirty="0"/>
          </a:p>
        </p:txBody>
      </p:sp>
      <p:sp>
        <p:nvSpPr>
          <p:cNvPr id="21" name="Text 19"/>
          <p:cNvSpPr/>
          <p:nvPr/>
        </p:nvSpPr>
        <p:spPr>
          <a:xfrm>
            <a:off x="850392" y="281635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API Server, etcd, Scheduler, Controller Managers</a:t>
            </a:r>
            <a:endParaRPr lang="en-US" sz="950" dirty="0"/>
          </a:p>
        </p:txBody>
      </p:sp>
      <p:sp>
        <p:nvSpPr>
          <p:cNvPr id="22" name="Shape 20"/>
          <p:cNvSpPr/>
          <p:nvPr/>
        </p:nvSpPr>
        <p:spPr>
          <a:xfrm>
            <a:off x="256032" y="3291840"/>
            <a:ext cx="4160520" cy="731520"/>
          </a:xfrm>
          <a:prstGeom prst="rect">
            <a:avLst/>
          </a:prstGeom>
          <a:solidFill>
            <a:srgbClr val="1E3059"/>
          </a:solidFill>
          <a:ln/>
        </p:spPr>
      </p:sp>
      <p:sp>
        <p:nvSpPr>
          <p:cNvPr id="23" name="Shape 21"/>
          <p:cNvSpPr/>
          <p:nvPr/>
        </p:nvSpPr>
        <p:spPr>
          <a:xfrm>
            <a:off x="256032" y="3291840"/>
            <a:ext cx="502920" cy="731520"/>
          </a:xfrm>
          <a:prstGeom prst="rect">
            <a:avLst/>
          </a:prstGeom>
          <a:solidFill>
            <a:srgbClr val="A78BFA">
              <a:alpha val="80000"/>
            </a:srgbClr>
          </a:solidFill>
          <a:ln/>
        </p:spPr>
      </p:sp>
      <p:sp>
        <p:nvSpPr>
          <p:cNvPr id="24" name="Text 22"/>
          <p:cNvSpPr/>
          <p:nvPr/>
        </p:nvSpPr>
        <p:spPr>
          <a:xfrm>
            <a:off x="265176" y="329184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04</a:t>
            </a:r>
            <a:endParaRPr lang="en-US" sz="1800" dirty="0"/>
          </a:p>
        </p:txBody>
      </p:sp>
      <p:sp>
        <p:nvSpPr>
          <p:cNvPr id="25" name="Text 23"/>
          <p:cNvSpPr/>
          <p:nvPr/>
        </p:nvSpPr>
        <p:spPr>
          <a:xfrm>
            <a:off x="850392" y="334670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Data Plane</a:t>
            </a:r>
            <a:endParaRPr lang="en-US" sz="1200" dirty="0"/>
          </a:p>
        </p:txBody>
      </p:sp>
      <p:sp>
        <p:nvSpPr>
          <p:cNvPr id="26" name="Text 24"/>
          <p:cNvSpPr/>
          <p:nvPr/>
        </p:nvSpPr>
        <p:spPr>
          <a:xfrm>
            <a:off x="850392" y="363931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kubelet, kube-proxy, container runtime (containerd)</a:t>
            </a:r>
            <a:endParaRPr lang="en-US" sz="950" dirty="0"/>
          </a:p>
        </p:txBody>
      </p:sp>
      <p:sp>
        <p:nvSpPr>
          <p:cNvPr id="27" name="Shape 25"/>
          <p:cNvSpPr/>
          <p:nvPr/>
        </p:nvSpPr>
        <p:spPr>
          <a:xfrm>
            <a:off x="256032" y="4114800"/>
            <a:ext cx="4160520" cy="731520"/>
          </a:xfrm>
          <a:prstGeom prst="rect">
            <a:avLst/>
          </a:prstGeom>
          <a:solidFill>
            <a:srgbClr val="1E3059"/>
          </a:solidFill>
          <a:ln/>
        </p:spPr>
      </p:sp>
      <p:sp>
        <p:nvSpPr>
          <p:cNvPr id="28" name="Shape 26"/>
          <p:cNvSpPr/>
          <p:nvPr/>
        </p:nvSpPr>
        <p:spPr>
          <a:xfrm>
            <a:off x="256032" y="4114800"/>
            <a:ext cx="502920" cy="731520"/>
          </a:xfrm>
          <a:prstGeom prst="rect">
            <a:avLst/>
          </a:prstGeom>
          <a:solidFill>
            <a:srgbClr val="FBBF24">
              <a:alpha val="80000"/>
            </a:srgbClr>
          </a:solidFill>
          <a:ln/>
        </p:spPr>
      </p:sp>
      <p:sp>
        <p:nvSpPr>
          <p:cNvPr id="29" name="Text 27"/>
          <p:cNvSpPr/>
          <p:nvPr/>
        </p:nvSpPr>
        <p:spPr>
          <a:xfrm>
            <a:off x="265176" y="411480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05</a:t>
            </a:r>
            <a:endParaRPr lang="en-US" sz="1800" dirty="0"/>
          </a:p>
        </p:txBody>
      </p:sp>
      <p:sp>
        <p:nvSpPr>
          <p:cNvPr id="30" name="Text 28"/>
          <p:cNvSpPr/>
          <p:nvPr/>
        </p:nvSpPr>
        <p:spPr>
          <a:xfrm>
            <a:off x="850392" y="416966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Object Model</a:t>
            </a:r>
            <a:endParaRPr lang="en-US" sz="1200" dirty="0"/>
          </a:p>
        </p:txBody>
      </p:sp>
      <p:sp>
        <p:nvSpPr>
          <p:cNvPr id="31" name="Text 29"/>
          <p:cNvSpPr/>
          <p:nvPr/>
        </p:nvSpPr>
        <p:spPr>
          <a:xfrm>
            <a:off x="850392" y="446227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Deployments, Services, RBAC objects, namespace isolation</a:t>
            </a:r>
            <a:endParaRPr lang="en-US" sz="950" dirty="0"/>
          </a:p>
        </p:txBody>
      </p:sp>
      <p:sp>
        <p:nvSpPr>
          <p:cNvPr id="32" name="Shape 30"/>
          <p:cNvSpPr/>
          <p:nvPr/>
        </p:nvSpPr>
        <p:spPr>
          <a:xfrm>
            <a:off x="4663440" y="822960"/>
            <a:ext cx="4160520" cy="731520"/>
          </a:xfrm>
          <a:prstGeom prst="rect">
            <a:avLst/>
          </a:prstGeom>
          <a:solidFill>
            <a:srgbClr val="1E3059"/>
          </a:solidFill>
          <a:ln/>
        </p:spPr>
      </p:sp>
      <p:sp>
        <p:nvSpPr>
          <p:cNvPr id="33" name="Shape 31"/>
          <p:cNvSpPr/>
          <p:nvPr/>
        </p:nvSpPr>
        <p:spPr>
          <a:xfrm>
            <a:off x="4663440" y="822960"/>
            <a:ext cx="502920" cy="731520"/>
          </a:xfrm>
          <a:prstGeom prst="rect">
            <a:avLst/>
          </a:prstGeom>
          <a:solidFill>
            <a:srgbClr val="F59E0B">
              <a:alpha val="80000"/>
            </a:srgbClr>
          </a:solidFill>
          <a:ln/>
        </p:spPr>
      </p:sp>
      <p:sp>
        <p:nvSpPr>
          <p:cNvPr id="34" name="Text 32"/>
          <p:cNvSpPr/>
          <p:nvPr/>
        </p:nvSpPr>
        <p:spPr>
          <a:xfrm>
            <a:off x="4672584" y="82296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06</a:t>
            </a:r>
            <a:endParaRPr lang="en-US" sz="1800" dirty="0"/>
          </a:p>
        </p:txBody>
      </p:sp>
      <p:sp>
        <p:nvSpPr>
          <p:cNvPr id="35" name="Text 33"/>
          <p:cNvSpPr/>
          <p:nvPr/>
        </p:nvSpPr>
        <p:spPr>
          <a:xfrm>
            <a:off x="5257800" y="87782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Networking</a:t>
            </a:r>
            <a:endParaRPr lang="en-US" sz="1200" dirty="0"/>
          </a:p>
        </p:txBody>
      </p:sp>
      <p:sp>
        <p:nvSpPr>
          <p:cNvPr id="36" name="Text 34"/>
          <p:cNvSpPr/>
          <p:nvPr/>
        </p:nvSpPr>
        <p:spPr>
          <a:xfrm>
            <a:off x="5257800" y="117043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CNI, NetworkPolicy, zero-trust posture</a:t>
            </a:r>
            <a:endParaRPr lang="en-US" sz="950" dirty="0"/>
          </a:p>
        </p:txBody>
      </p:sp>
      <p:sp>
        <p:nvSpPr>
          <p:cNvPr id="37" name="Shape 35"/>
          <p:cNvSpPr/>
          <p:nvPr/>
        </p:nvSpPr>
        <p:spPr>
          <a:xfrm>
            <a:off x="4663440" y="1645920"/>
            <a:ext cx="4160520" cy="731520"/>
          </a:xfrm>
          <a:prstGeom prst="rect">
            <a:avLst/>
          </a:prstGeom>
          <a:solidFill>
            <a:srgbClr val="1E3059"/>
          </a:solidFill>
          <a:ln/>
        </p:spPr>
      </p:sp>
      <p:sp>
        <p:nvSpPr>
          <p:cNvPr id="38" name="Shape 36"/>
          <p:cNvSpPr/>
          <p:nvPr/>
        </p:nvSpPr>
        <p:spPr>
          <a:xfrm>
            <a:off x="4663440" y="1645920"/>
            <a:ext cx="502920" cy="731520"/>
          </a:xfrm>
          <a:prstGeom prst="rect">
            <a:avLst/>
          </a:prstGeom>
          <a:solidFill>
            <a:srgbClr val="EF4444">
              <a:alpha val="80000"/>
            </a:srgbClr>
          </a:solidFill>
          <a:ln/>
        </p:spPr>
      </p:sp>
      <p:sp>
        <p:nvSpPr>
          <p:cNvPr id="39" name="Text 37"/>
          <p:cNvSpPr/>
          <p:nvPr/>
        </p:nvSpPr>
        <p:spPr>
          <a:xfrm>
            <a:off x="4672584" y="164592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07</a:t>
            </a:r>
            <a:endParaRPr lang="en-US" sz="1800" dirty="0"/>
          </a:p>
        </p:txBody>
      </p:sp>
      <p:sp>
        <p:nvSpPr>
          <p:cNvPr id="40" name="Text 38"/>
          <p:cNvSpPr/>
          <p:nvPr/>
        </p:nvSpPr>
        <p:spPr>
          <a:xfrm>
            <a:off x="5257800" y="170078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Storage Architecture</a:t>
            </a:r>
            <a:endParaRPr lang="en-US" sz="1200" dirty="0"/>
          </a:p>
        </p:txBody>
      </p:sp>
      <p:sp>
        <p:nvSpPr>
          <p:cNvPr id="41" name="Text 39"/>
          <p:cNvSpPr/>
          <p:nvPr/>
        </p:nvSpPr>
        <p:spPr>
          <a:xfrm>
            <a:off x="5257800" y="199339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PV/PVC, CSI driver, secrets management pattern</a:t>
            </a:r>
            <a:endParaRPr lang="en-US" sz="950" dirty="0"/>
          </a:p>
        </p:txBody>
      </p:sp>
      <p:sp>
        <p:nvSpPr>
          <p:cNvPr id="42" name="Shape 40"/>
          <p:cNvSpPr/>
          <p:nvPr/>
        </p:nvSpPr>
        <p:spPr>
          <a:xfrm>
            <a:off x="4663440" y="2468880"/>
            <a:ext cx="4160520" cy="731520"/>
          </a:xfrm>
          <a:prstGeom prst="rect">
            <a:avLst/>
          </a:prstGeom>
          <a:solidFill>
            <a:srgbClr val="1E3059"/>
          </a:solidFill>
          <a:ln/>
        </p:spPr>
      </p:sp>
      <p:sp>
        <p:nvSpPr>
          <p:cNvPr id="43" name="Shape 41"/>
          <p:cNvSpPr/>
          <p:nvPr/>
        </p:nvSpPr>
        <p:spPr>
          <a:xfrm>
            <a:off x="4663440" y="2468880"/>
            <a:ext cx="502920" cy="731520"/>
          </a:xfrm>
          <a:prstGeom prst="rect">
            <a:avLst/>
          </a:prstGeom>
          <a:solidFill>
            <a:srgbClr val="22D3EE">
              <a:alpha val="80000"/>
            </a:srgbClr>
          </a:solidFill>
          <a:ln/>
        </p:spPr>
      </p:sp>
      <p:sp>
        <p:nvSpPr>
          <p:cNvPr id="44" name="Text 42"/>
          <p:cNvSpPr/>
          <p:nvPr/>
        </p:nvSpPr>
        <p:spPr>
          <a:xfrm>
            <a:off x="4672584" y="246888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08</a:t>
            </a:r>
            <a:endParaRPr lang="en-US" sz="1800" dirty="0"/>
          </a:p>
        </p:txBody>
      </p:sp>
      <p:sp>
        <p:nvSpPr>
          <p:cNvPr id="45" name="Text 43"/>
          <p:cNvSpPr/>
          <p:nvPr/>
        </p:nvSpPr>
        <p:spPr>
          <a:xfrm>
            <a:off x="5257800" y="252374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RBAC</a:t>
            </a:r>
            <a:endParaRPr lang="en-US" sz="1200" dirty="0"/>
          </a:p>
        </p:txBody>
      </p:sp>
      <p:sp>
        <p:nvSpPr>
          <p:cNvPr id="46" name="Text 44"/>
          <p:cNvSpPr/>
          <p:nvPr/>
        </p:nvSpPr>
        <p:spPr>
          <a:xfrm>
            <a:off x="5257800" y="281635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Roles, bindings, attack patterns, least privilege</a:t>
            </a:r>
            <a:endParaRPr lang="en-US" sz="950" dirty="0"/>
          </a:p>
        </p:txBody>
      </p:sp>
      <p:sp>
        <p:nvSpPr>
          <p:cNvPr id="47" name="Shape 45"/>
          <p:cNvSpPr/>
          <p:nvPr/>
        </p:nvSpPr>
        <p:spPr>
          <a:xfrm>
            <a:off x="4663440" y="3291840"/>
            <a:ext cx="4160520" cy="731520"/>
          </a:xfrm>
          <a:prstGeom prst="rect">
            <a:avLst/>
          </a:prstGeom>
          <a:solidFill>
            <a:srgbClr val="1E3059"/>
          </a:solidFill>
          <a:ln/>
        </p:spPr>
      </p:sp>
      <p:sp>
        <p:nvSpPr>
          <p:cNvPr id="48" name="Shape 46"/>
          <p:cNvSpPr/>
          <p:nvPr/>
        </p:nvSpPr>
        <p:spPr>
          <a:xfrm>
            <a:off x="4663440" y="3291840"/>
            <a:ext cx="502920" cy="731520"/>
          </a:xfrm>
          <a:prstGeom prst="rect">
            <a:avLst/>
          </a:prstGeom>
          <a:solidFill>
            <a:srgbClr val="10B981">
              <a:alpha val="80000"/>
            </a:srgbClr>
          </a:solidFill>
          <a:ln/>
        </p:spPr>
      </p:sp>
      <p:sp>
        <p:nvSpPr>
          <p:cNvPr id="49" name="Text 47"/>
          <p:cNvSpPr/>
          <p:nvPr/>
        </p:nvSpPr>
        <p:spPr>
          <a:xfrm>
            <a:off x="4672584" y="329184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09</a:t>
            </a:r>
            <a:endParaRPr lang="en-US" sz="1800" dirty="0"/>
          </a:p>
        </p:txBody>
      </p:sp>
      <p:sp>
        <p:nvSpPr>
          <p:cNvPr id="50" name="Text 48"/>
          <p:cNvSpPr/>
          <p:nvPr/>
        </p:nvSpPr>
        <p:spPr>
          <a:xfrm>
            <a:off x="5257800" y="334670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Pod Security</a:t>
            </a:r>
            <a:endParaRPr lang="en-US" sz="1200" dirty="0"/>
          </a:p>
        </p:txBody>
      </p:sp>
      <p:sp>
        <p:nvSpPr>
          <p:cNvPr id="51" name="Text 49"/>
          <p:cNvSpPr/>
          <p:nvPr/>
        </p:nvSpPr>
        <p:spPr>
          <a:xfrm>
            <a:off x="5257800" y="363931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Pod Security Standards, critical security controls</a:t>
            </a:r>
            <a:endParaRPr lang="en-US" sz="950" dirty="0"/>
          </a:p>
        </p:txBody>
      </p:sp>
      <p:sp>
        <p:nvSpPr>
          <p:cNvPr id="52" name="Shape 50"/>
          <p:cNvSpPr/>
          <p:nvPr/>
        </p:nvSpPr>
        <p:spPr>
          <a:xfrm>
            <a:off x="4663440" y="4114800"/>
            <a:ext cx="4160520" cy="731520"/>
          </a:xfrm>
          <a:prstGeom prst="rect">
            <a:avLst/>
          </a:prstGeom>
          <a:solidFill>
            <a:srgbClr val="1E3059"/>
          </a:solidFill>
          <a:ln/>
        </p:spPr>
      </p:sp>
      <p:sp>
        <p:nvSpPr>
          <p:cNvPr id="53" name="Shape 51"/>
          <p:cNvSpPr/>
          <p:nvPr/>
        </p:nvSpPr>
        <p:spPr>
          <a:xfrm>
            <a:off x="4663440" y="4114800"/>
            <a:ext cx="502920" cy="731520"/>
          </a:xfrm>
          <a:prstGeom prst="rect">
            <a:avLst/>
          </a:prstGeom>
          <a:solidFill>
            <a:srgbClr val="3B82F6">
              <a:alpha val="80000"/>
            </a:srgbClr>
          </a:solidFill>
          <a:ln/>
        </p:spPr>
      </p:sp>
      <p:sp>
        <p:nvSpPr>
          <p:cNvPr id="54" name="Text 52"/>
          <p:cNvSpPr/>
          <p:nvPr/>
        </p:nvSpPr>
        <p:spPr>
          <a:xfrm>
            <a:off x="4672584" y="4114800"/>
            <a:ext cx="484632" cy="731520"/>
          </a:xfrm>
          <a:prstGeom prst="rect">
            <a:avLst/>
          </a:prstGeom>
          <a:noFill/>
          <a:ln/>
        </p:spPr>
        <p:txBody>
          <a:bodyPr wrap="square" lIns="0" tIns="0" rIns="0" bIns="0" rtlCol="0" anchor="ctr"/>
          <a:lstStyle/>
          <a:p>
            <a:pPr algn="ctr" indent="0" marL="0">
              <a:buNone/>
            </a:pPr>
            <a:r>
              <a:rPr lang="en-US" sz="1800" b="1" dirty="0">
                <a:solidFill>
                  <a:srgbClr val="F1F5F9"/>
                </a:solidFill>
              </a:rPr>
              <a:t>10</a:t>
            </a:r>
            <a:endParaRPr lang="en-US" sz="1800" dirty="0"/>
          </a:p>
        </p:txBody>
      </p:sp>
      <p:sp>
        <p:nvSpPr>
          <p:cNvPr id="55" name="Text 53"/>
          <p:cNvSpPr/>
          <p:nvPr/>
        </p:nvSpPr>
        <p:spPr>
          <a:xfrm>
            <a:off x="5257800" y="4169664"/>
            <a:ext cx="3474720"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Operations</a:t>
            </a:r>
            <a:endParaRPr lang="en-US" sz="1200" dirty="0"/>
          </a:p>
        </p:txBody>
      </p:sp>
      <p:sp>
        <p:nvSpPr>
          <p:cNvPr id="56" name="Text 54"/>
          <p:cNvSpPr/>
          <p:nvPr/>
        </p:nvSpPr>
        <p:spPr>
          <a:xfrm>
            <a:off x="5257800" y="4462272"/>
            <a:ext cx="3474720" cy="29260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Upgrades, multi-cluster, observability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3B82F6"/>
                </a:solidFill>
              </a:rPr>
              <a:t>INTRODUCTION</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What Is Kubernetes?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Open-source container orchestration · CNCF · Originally designed by Google</a:t>
            </a:r>
            <a:endParaRPr lang="en-US" sz="1100" dirty="0"/>
          </a:p>
        </p:txBody>
      </p:sp>
      <p:sp>
        <p:nvSpPr>
          <p:cNvPr id="7" name="Shape 5"/>
          <p:cNvSpPr/>
          <p:nvPr/>
        </p:nvSpPr>
        <p:spPr>
          <a:xfrm>
            <a:off x="256032" y="822960"/>
            <a:ext cx="8705088" cy="960120"/>
          </a:xfrm>
          <a:prstGeom prst="rect">
            <a:avLst/>
          </a:prstGeom>
          <a:solidFill>
            <a:srgbClr val="1E3059"/>
          </a:solidFill>
          <a:ln/>
        </p:spPr>
      </p:sp>
      <p:sp>
        <p:nvSpPr>
          <p:cNvPr id="8" name="Shape 6"/>
          <p:cNvSpPr/>
          <p:nvPr/>
        </p:nvSpPr>
        <p:spPr>
          <a:xfrm>
            <a:off x="256032" y="822960"/>
            <a:ext cx="73152" cy="960120"/>
          </a:xfrm>
          <a:prstGeom prst="rect">
            <a:avLst/>
          </a:prstGeom>
          <a:solidFill>
            <a:srgbClr val="3B82F6"/>
          </a:solidFill>
          <a:ln/>
        </p:spPr>
      </p:sp>
      <p:sp>
        <p:nvSpPr>
          <p:cNvPr id="9" name="Text 7"/>
          <p:cNvSpPr/>
          <p:nvPr/>
        </p:nvSpPr>
        <p:spPr>
          <a:xfrm>
            <a:off x="411480" y="886968"/>
            <a:ext cx="8412480" cy="832104"/>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Kubernetes automates the deployment, scaling, self-healing, and lifecycle management of containerized applications across clusters of machines. It is NOT a container runtime — it is the control system that decides where, when, and how containers run.</a:t>
            </a:r>
            <a:endParaRPr lang="en-US" sz="1300" dirty="0"/>
          </a:p>
        </p:txBody>
      </p:sp>
      <p:sp>
        <p:nvSpPr>
          <p:cNvPr id="10" name="Shape 8"/>
          <p:cNvSpPr/>
          <p:nvPr/>
        </p:nvSpPr>
        <p:spPr>
          <a:xfrm>
            <a:off x="256032" y="1920240"/>
            <a:ext cx="1664208" cy="2971800"/>
          </a:xfrm>
          <a:prstGeom prst="rect">
            <a:avLst/>
          </a:prstGeom>
          <a:solidFill>
            <a:srgbClr val="1E3059"/>
          </a:solidFill>
          <a:ln/>
        </p:spPr>
      </p:sp>
      <p:sp>
        <p:nvSpPr>
          <p:cNvPr id="11" name="Shape 9"/>
          <p:cNvSpPr/>
          <p:nvPr/>
        </p:nvSpPr>
        <p:spPr>
          <a:xfrm>
            <a:off x="256032" y="1920240"/>
            <a:ext cx="1664208" cy="54864"/>
          </a:xfrm>
          <a:prstGeom prst="rect">
            <a:avLst/>
          </a:prstGeom>
          <a:solidFill>
            <a:srgbClr val="3B82F6"/>
          </a:solidFill>
          <a:ln/>
        </p:spPr>
      </p:sp>
      <p:pic>
        <p:nvPicPr>
          <p:cNvPr id="12" name="Image 0" descr="preencoded.png">    </p:cNvPr>
          <p:cNvPicPr>
            <a:picLocks noChangeAspect="1"/>
          </p:cNvPicPr>
          <p:nvPr/>
        </p:nvPicPr>
        <p:blipFill>
          <a:blip r:embed="rId1"/>
          <a:stretch>
            <a:fillRect/>
          </a:stretch>
        </p:blipFill>
        <p:spPr>
          <a:xfrm>
            <a:off x="859536" y="2011680"/>
            <a:ext cx="457200" cy="457200"/>
          </a:xfrm>
          <a:prstGeom prst="rect">
            <a:avLst/>
          </a:prstGeom>
        </p:spPr>
      </p:pic>
      <p:sp>
        <p:nvSpPr>
          <p:cNvPr id="13" name="Text 10"/>
          <p:cNvSpPr/>
          <p:nvPr/>
        </p:nvSpPr>
        <p:spPr>
          <a:xfrm>
            <a:off x="347472" y="2542032"/>
            <a:ext cx="1481328" cy="292608"/>
          </a:xfrm>
          <a:prstGeom prst="rect">
            <a:avLst/>
          </a:prstGeom>
          <a:noFill/>
          <a:ln/>
        </p:spPr>
        <p:txBody>
          <a:bodyPr wrap="square" lIns="0" tIns="0" rIns="0" bIns="0" rtlCol="0" anchor="ctr"/>
          <a:lstStyle/>
          <a:p>
            <a:pPr algn="ctr" indent="0" marL="0">
              <a:buNone/>
            </a:pPr>
            <a:r>
              <a:rPr lang="en-US" sz="1100" b="1" dirty="0">
                <a:solidFill>
                  <a:srgbClr val="3B82F6"/>
                </a:solidFill>
                <a:latin typeface="Calibri" pitchFamily="34" charset="0"/>
                <a:ea typeface="Calibri" pitchFamily="34" charset="-122"/>
                <a:cs typeface="Calibri" pitchFamily="34" charset="-120"/>
              </a:rPr>
              <a:t>Declarative State</a:t>
            </a:r>
            <a:endParaRPr lang="en-US" sz="1100" dirty="0"/>
          </a:p>
        </p:txBody>
      </p:sp>
      <p:sp>
        <p:nvSpPr>
          <p:cNvPr id="14" name="Text 11"/>
          <p:cNvSpPr/>
          <p:nvPr/>
        </p:nvSpPr>
        <p:spPr>
          <a:xfrm>
            <a:off x="347472" y="2889504"/>
            <a:ext cx="1481328" cy="1645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Describe desired state.</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K8s continuously reconciles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actual → desired via control loops.</a:t>
            </a:r>
            <a:endParaRPr lang="en-US" sz="950" dirty="0"/>
          </a:p>
        </p:txBody>
      </p:sp>
      <p:sp>
        <p:nvSpPr>
          <p:cNvPr id="15" name="Shape 12"/>
          <p:cNvSpPr/>
          <p:nvPr/>
        </p:nvSpPr>
        <p:spPr>
          <a:xfrm>
            <a:off x="2011680" y="1920240"/>
            <a:ext cx="1664208" cy="2971800"/>
          </a:xfrm>
          <a:prstGeom prst="rect">
            <a:avLst/>
          </a:prstGeom>
          <a:solidFill>
            <a:srgbClr val="1E3059"/>
          </a:solidFill>
          <a:ln/>
        </p:spPr>
      </p:sp>
      <p:sp>
        <p:nvSpPr>
          <p:cNvPr id="16" name="Shape 13"/>
          <p:cNvSpPr/>
          <p:nvPr/>
        </p:nvSpPr>
        <p:spPr>
          <a:xfrm>
            <a:off x="2011680" y="1920240"/>
            <a:ext cx="1664208" cy="54864"/>
          </a:xfrm>
          <a:prstGeom prst="rect">
            <a:avLst/>
          </a:prstGeom>
          <a:solidFill>
            <a:srgbClr val="22D3EE"/>
          </a:solidFill>
          <a:ln/>
        </p:spPr>
      </p:sp>
      <p:pic>
        <p:nvPicPr>
          <p:cNvPr id="17" name="Image 1" descr="preencoded.png">    </p:cNvPr>
          <p:cNvPicPr>
            <a:picLocks noChangeAspect="1"/>
          </p:cNvPicPr>
          <p:nvPr/>
        </p:nvPicPr>
        <p:blipFill>
          <a:blip r:embed="rId2"/>
          <a:stretch>
            <a:fillRect/>
          </a:stretch>
        </p:blipFill>
        <p:spPr>
          <a:xfrm>
            <a:off x="2615184" y="2011680"/>
            <a:ext cx="457200" cy="457200"/>
          </a:xfrm>
          <a:prstGeom prst="rect">
            <a:avLst/>
          </a:prstGeom>
        </p:spPr>
      </p:pic>
      <p:sp>
        <p:nvSpPr>
          <p:cNvPr id="18" name="Text 14"/>
          <p:cNvSpPr/>
          <p:nvPr/>
        </p:nvSpPr>
        <p:spPr>
          <a:xfrm>
            <a:off x="2103120" y="2542032"/>
            <a:ext cx="1481328" cy="292608"/>
          </a:xfrm>
          <a:prstGeom prst="rect">
            <a:avLst/>
          </a:prstGeom>
          <a:noFill/>
          <a:ln/>
        </p:spPr>
        <p:txBody>
          <a:bodyPr wrap="square" lIns="0" tIns="0" rIns="0" bIns="0" rtlCol="0" anchor="ctr"/>
          <a:lstStyle/>
          <a:p>
            <a:pPr algn="ctr" indent="0" marL="0">
              <a:buNone/>
            </a:pPr>
            <a:r>
              <a:rPr lang="en-US" sz="1100" b="1" dirty="0">
                <a:solidFill>
                  <a:srgbClr val="22D3EE"/>
                </a:solidFill>
                <a:latin typeface="Calibri" pitchFamily="34" charset="0"/>
                <a:ea typeface="Calibri" pitchFamily="34" charset="-122"/>
                <a:cs typeface="Calibri" pitchFamily="34" charset="-120"/>
              </a:rPr>
              <a:t>API-Driven</a:t>
            </a:r>
            <a:endParaRPr lang="en-US" sz="1100" dirty="0"/>
          </a:p>
        </p:txBody>
      </p:sp>
      <p:sp>
        <p:nvSpPr>
          <p:cNvPr id="19" name="Text 15"/>
          <p:cNvSpPr/>
          <p:nvPr/>
        </p:nvSpPr>
        <p:spPr>
          <a:xfrm>
            <a:off x="2103120" y="2889504"/>
            <a:ext cx="1481328" cy="1645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Every operation goes through</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kube-apiserver. No side channels.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Centralized audit and authz.</a:t>
            </a:r>
            <a:endParaRPr lang="en-US" sz="950" dirty="0"/>
          </a:p>
        </p:txBody>
      </p:sp>
      <p:sp>
        <p:nvSpPr>
          <p:cNvPr id="20" name="Shape 16"/>
          <p:cNvSpPr/>
          <p:nvPr/>
        </p:nvSpPr>
        <p:spPr>
          <a:xfrm>
            <a:off x="3767328" y="1920240"/>
            <a:ext cx="1664208" cy="2971800"/>
          </a:xfrm>
          <a:prstGeom prst="rect">
            <a:avLst/>
          </a:prstGeom>
          <a:solidFill>
            <a:srgbClr val="1E3059"/>
          </a:solidFill>
          <a:ln/>
        </p:spPr>
      </p:sp>
      <p:sp>
        <p:nvSpPr>
          <p:cNvPr id="21" name="Shape 17"/>
          <p:cNvSpPr/>
          <p:nvPr/>
        </p:nvSpPr>
        <p:spPr>
          <a:xfrm>
            <a:off x="3767328" y="1920240"/>
            <a:ext cx="1664208" cy="54864"/>
          </a:xfrm>
          <a:prstGeom prst="rect">
            <a:avLst/>
          </a:prstGeom>
          <a:solidFill>
            <a:srgbClr val="10B981"/>
          </a:solidFill>
          <a:ln/>
        </p:spPr>
      </p:sp>
      <p:pic>
        <p:nvPicPr>
          <p:cNvPr id="22" name="Image 2" descr="preencoded.png">    </p:cNvPr>
          <p:cNvPicPr>
            <a:picLocks noChangeAspect="1"/>
          </p:cNvPicPr>
          <p:nvPr/>
        </p:nvPicPr>
        <p:blipFill>
          <a:blip r:embed="rId3"/>
          <a:stretch>
            <a:fillRect/>
          </a:stretch>
        </p:blipFill>
        <p:spPr>
          <a:xfrm>
            <a:off x="4370832" y="2011680"/>
            <a:ext cx="457200" cy="457200"/>
          </a:xfrm>
          <a:prstGeom prst="rect">
            <a:avLst/>
          </a:prstGeom>
        </p:spPr>
      </p:pic>
      <p:sp>
        <p:nvSpPr>
          <p:cNvPr id="23" name="Text 18"/>
          <p:cNvSpPr/>
          <p:nvPr/>
        </p:nvSpPr>
        <p:spPr>
          <a:xfrm>
            <a:off x="3858768" y="2542032"/>
            <a:ext cx="1481328" cy="292608"/>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Self-Healing</a:t>
            </a:r>
            <a:endParaRPr lang="en-US" sz="1100" dirty="0"/>
          </a:p>
        </p:txBody>
      </p:sp>
      <p:sp>
        <p:nvSpPr>
          <p:cNvPr id="24" name="Text 19"/>
          <p:cNvSpPr/>
          <p:nvPr/>
        </p:nvSpPr>
        <p:spPr>
          <a:xfrm>
            <a:off x="3858768" y="2889504"/>
            <a:ext cx="1481328" cy="1645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Failed pods restart. Unhealthy</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nodes drained. Replacements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auto-scheduled.</a:t>
            </a:r>
            <a:endParaRPr lang="en-US" sz="950" dirty="0"/>
          </a:p>
        </p:txBody>
      </p:sp>
      <p:sp>
        <p:nvSpPr>
          <p:cNvPr id="25" name="Shape 20"/>
          <p:cNvSpPr/>
          <p:nvPr/>
        </p:nvSpPr>
        <p:spPr>
          <a:xfrm>
            <a:off x="5522976" y="1920240"/>
            <a:ext cx="1664208" cy="2971800"/>
          </a:xfrm>
          <a:prstGeom prst="rect">
            <a:avLst/>
          </a:prstGeom>
          <a:solidFill>
            <a:srgbClr val="1E3059"/>
          </a:solidFill>
          <a:ln/>
        </p:spPr>
      </p:sp>
      <p:sp>
        <p:nvSpPr>
          <p:cNvPr id="26" name="Shape 21"/>
          <p:cNvSpPr/>
          <p:nvPr/>
        </p:nvSpPr>
        <p:spPr>
          <a:xfrm>
            <a:off x="5522976" y="1920240"/>
            <a:ext cx="1664208" cy="54864"/>
          </a:xfrm>
          <a:prstGeom prst="rect">
            <a:avLst/>
          </a:prstGeom>
          <a:solidFill>
            <a:srgbClr val="A78BFA"/>
          </a:solidFill>
          <a:ln/>
        </p:spPr>
      </p:sp>
      <p:pic>
        <p:nvPicPr>
          <p:cNvPr id="27" name="Image 3" descr="preencoded.png">    </p:cNvPr>
          <p:cNvPicPr>
            <a:picLocks noChangeAspect="1"/>
          </p:cNvPicPr>
          <p:nvPr/>
        </p:nvPicPr>
        <p:blipFill>
          <a:blip r:embed="rId4"/>
          <a:stretch>
            <a:fillRect/>
          </a:stretch>
        </p:blipFill>
        <p:spPr>
          <a:xfrm>
            <a:off x="6126480" y="2011680"/>
            <a:ext cx="457200" cy="457200"/>
          </a:xfrm>
          <a:prstGeom prst="rect">
            <a:avLst/>
          </a:prstGeom>
        </p:spPr>
      </p:pic>
      <p:sp>
        <p:nvSpPr>
          <p:cNvPr id="28" name="Text 22"/>
          <p:cNvSpPr/>
          <p:nvPr/>
        </p:nvSpPr>
        <p:spPr>
          <a:xfrm>
            <a:off x="5614416" y="2542032"/>
            <a:ext cx="1481328" cy="292608"/>
          </a:xfrm>
          <a:prstGeom prst="rect">
            <a:avLst/>
          </a:prstGeom>
          <a:noFill/>
          <a:ln/>
        </p:spPr>
        <p:txBody>
          <a:bodyPr wrap="square" lIns="0" tIns="0" rIns="0" bIns="0" rtlCol="0" anchor="ctr"/>
          <a:lstStyle/>
          <a:p>
            <a:pPr algn="ctr" indent="0" marL="0">
              <a:buNone/>
            </a:pPr>
            <a:r>
              <a:rPr lang="en-US" sz="1100" b="1" dirty="0">
                <a:solidFill>
                  <a:srgbClr val="A78BFA"/>
                </a:solidFill>
                <a:latin typeface="Calibri" pitchFamily="34" charset="0"/>
                <a:ea typeface="Calibri" pitchFamily="34" charset="-122"/>
                <a:cs typeface="Calibri" pitchFamily="34" charset="-120"/>
              </a:rPr>
              <a:t>Extensible</a:t>
            </a:r>
            <a:endParaRPr lang="en-US" sz="1100" dirty="0"/>
          </a:p>
        </p:txBody>
      </p:sp>
      <p:sp>
        <p:nvSpPr>
          <p:cNvPr id="29" name="Text 23"/>
          <p:cNvSpPr/>
          <p:nvPr/>
        </p:nvSpPr>
        <p:spPr>
          <a:xfrm>
            <a:off x="5614416" y="2889504"/>
            <a:ext cx="1481328" cy="1645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Custom Resource Definitions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extend the API. Operators codify</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domain-specific automation.</a:t>
            </a:r>
            <a:endParaRPr lang="en-US" sz="950" dirty="0"/>
          </a:p>
        </p:txBody>
      </p:sp>
      <p:sp>
        <p:nvSpPr>
          <p:cNvPr id="30" name="Shape 24"/>
          <p:cNvSpPr/>
          <p:nvPr/>
        </p:nvSpPr>
        <p:spPr>
          <a:xfrm>
            <a:off x="7278624" y="1920240"/>
            <a:ext cx="1664208" cy="2971800"/>
          </a:xfrm>
          <a:prstGeom prst="rect">
            <a:avLst/>
          </a:prstGeom>
          <a:solidFill>
            <a:srgbClr val="1E3059"/>
          </a:solidFill>
          <a:ln/>
        </p:spPr>
      </p:sp>
      <p:sp>
        <p:nvSpPr>
          <p:cNvPr id="31" name="Shape 25"/>
          <p:cNvSpPr/>
          <p:nvPr/>
        </p:nvSpPr>
        <p:spPr>
          <a:xfrm>
            <a:off x="7278624" y="1920240"/>
            <a:ext cx="1664208" cy="54864"/>
          </a:xfrm>
          <a:prstGeom prst="rect">
            <a:avLst/>
          </a:prstGeom>
          <a:solidFill>
            <a:srgbClr val="F59E0B"/>
          </a:solidFill>
          <a:ln/>
        </p:spPr>
      </p:sp>
      <p:pic>
        <p:nvPicPr>
          <p:cNvPr id="32" name="Image 4" descr="preencoded.png">    </p:cNvPr>
          <p:cNvPicPr>
            <a:picLocks noChangeAspect="1"/>
          </p:cNvPicPr>
          <p:nvPr/>
        </p:nvPicPr>
        <p:blipFill>
          <a:blip r:embed="rId5"/>
          <a:stretch>
            <a:fillRect/>
          </a:stretch>
        </p:blipFill>
        <p:spPr>
          <a:xfrm>
            <a:off x="7882128" y="2011680"/>
            <a:ext cx="457200" cy="457200"/>
          </a:xfrm>
          <a:prstGeom prst="rect">
            <a:avLst/>
          </a:prstGeom>
        </p:spPr>
      </p:pic>
      <p:sp>
        <p:nvSpPr>
          <p:cNvPr id="33" name="Text 26"/>
          <p:cNvSpPr/>
          <p:nvPr/>
        </p:nvSpPr>
        <p:spPr>
          <a:xfrm>
            <a:off x="7370064" y="2542032"/>
            <a:ext cx="1481328" cy="292608"/>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Portable</a:t>
            </a:r>
            <a:endParaRPr lang="en-US" sz="1100" dirty="0"/>
          </a:p>
        </p:txBody>
      </p:sp>
      <p:sp>
        <p:nvSpPr>
          <p:cNvPr id="34" name="Text 27"/>
          <p:cNvSpPr/>
          <p:nvPr/>
        </p:nvSpPr>
        <p:spPr>
          <a:xfrm>
            <a:off x="7370064" y="2889504"/>
            <a:ext cx="1481328" cy="1645920"/>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Same manifest on EKS, AKS,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GKE, or bare metal. Cloud</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differences abstracted away.</a:t>
            </a:r>
            <a:endParaRPr lang="en-US" sz="950" dirty="0"/>
          </a:p>
        </p:txBody>
      </p:sp>
      <p:sp>
        <p:nvSpPr>
          <p:cNvPr id="35" name="Text 28"/>
          <p:cNvSpPr/>
          <p:nvPr/>
        </p:nvSpPr>
        <p:spPr>
          <a:xfrm>
            <a:off x="256032" y="4828032"/>
            <a:ext cx="8705088" cy="24688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K8s decouples workloads from infrastructure — enabling consistent deployment across on-prem, cloud, and hybrid environments with built-in availability, traffic management, and access control primitives.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3B82F6"/>
                </a:solidFill>
              </a:rPr>
              <a:t>ARCHITECTURE</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Cluster Architecture Overview</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Control Plane manages state · Data Plane executes workloads · All comms via kube-apiserver</a:t>
            </a:r>
            <a:endParaRPr lang="en-US" sz="1100" dirty="0"/>
          </a:p>
        </p:txBody>
      </p:sp>
      <p:pic>
        <p:nvPicPr>
          <p:cNvPr id="7" name="Image 0" descr="preencoded.png">    </p:cNvPr>
          <p:cNvPicPr>
            <a:picLocks noChangeAspect="1"/>
          </p:cNvPicPr>
          <p:nvPr/>
        </p:nvPicPr>
        <p:blipFill>
          <a:blip r:embed="rId1"/>
          <a:stretch>
            <a:fillRect/>
          </a:stretch>
        </p:blipFill>
        <p:spPr>
          <a:xfrm>
            <a:off x="228600" y="777240"/>
            <a:ext cx="8732520" cy="4160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3B82F6"/>
                </a:solidFill>
              </a:rPr>
              <a:t>CONTROL PLANE</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Control Plane Components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AWS/Azure/GCP manage this layer — you are responsible for configuration, not infrastructure</a:t>
            </a:r>
            <a:endParaRPr lang="en-US" sz="1100" dirty="0"/>
          </a:p>
        </p:txBody>
      </p:sp>
      <p:sp>
        <p:nvSpPr>
          <p:cNvPr id="7" name="Shape 5"/>
          <p:cNvSpPr/>
          <p:nvPr/>
        </p:nvSpPr>
        <p:spPr>
          <a:xfrm>
            <a:off x="256032" y="822960"/>
            <a:ext cx="4206240" cy="1371600"/>
          </a:xfrm>
          <a:prstGeom prst="rect">
            <a:avLst/>
          </a:prstGeom>
          <a:solidFill>
            <a:srgbClr val="1E3059"/>
          </a:solidFill>
          <a:ln/>
        </p:spPr>
      </p:sp>
      <p:sp>
        <p:nvSpPr>
          <p:cNvPr id="8" name="Shape 6"/>
          <p:cNvSpPr/>
          <p:nvPr/>
        </p:nvSpPr>
        <p:spPr>
          <a:xfrm>
            <a:off x="256032" y="822960"/>
            <a:ext cx="4206240" cy="54864"/>
          </a:xfrm>
          <a:prstGeom prst="rect">
            <a:avLst/>
          </a:prstGeom>
          <a:solidFill>
            <a:srgbClr val="3B82F6"/>
          </a:solidFill>
          <a:ln/>
        </p:spPr>
      </p:sp>
      <p:pic>
        <p:nvPicPr>
          <p:cNvPr id="9" name="Image 0" descr="preencoded.png">    </p:cNvPr>
          <p:cNvPicPr>
            <a:picLocks noChangeAspect="1"/>
          </p:cNvPicPr>
          <p:nvPr/>
        </p:nvPicPr>
        <p:blipFill>
          <a:blip r:embed="rId1"/>
          <a:stretch>
            <a:fillRect/>
          </a:stretch>
        </p:blipFill>
        <p:spPr>
          <a:xfrm>
            <a:off x="365760" y="960120"/>
            <a:ext cx="347472" cy="347472"/>
          </a:xfrm>
          <a:prstGeom prst="rect">
            <a:avLst/>
          </a:prstGeom>
        </p:spPr>
      </p:pic>
      <p:sp>
        <p:nvSpPr>
          <p:cNvPr id="10" name="Text 7"/>
          <p:cNvSpPr/>
          <p:nvPr/>
        </p:nvSpPr>
        <p:spPr>
          <a:xfrm>
            <a:off x="804672" y="960120"/>
            <a:ext cx="3547872" cy="347472"/>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kube-apiserver</a:t>
            </a:r>
            <a:endParaRPr lang="en-US" sz="1200" dirty="0"/>
          </a:p>
        </p:txBody>
      </p:sp>
      <p:sp>
        <p:nvSpPr>
          <p:cNvPr id="11" name="Text 8"/>
          <p:cNvSpPr/>
          <p:nvPr/>
        </p:nvSpPr>
        <p:spPr>
          <a:xfrm>
            <a:off x="365760" y="1389888"/>
            <a:ext cx="3986784" cy="7132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Single entry point for ALL cluster operations. Handles authentication (who?), authorization (allowed?), and admission control (should we accept this object?). The only component that writes to etcd. The highest-value attack target in any cluster.</a:t>
            </a:r>
            <a:endParaRPr lang="en-US" sz="950" dirty="0"/>
          </a:p>
        </p:txBody>
      </p:sp>
      <p:sp>
        <p:nvSpPr>
          <p:cNvPr id="12" name="Shape 9"/>
          <p:cNvSpPr/>
          <p:nvPr/>
        </p:nvSpPr>
        <p:spPr>
          <a:xfrm>
            <a:off x="4572000" y="822960"/>
            <a:ext cx="4389120" cy="1371600"/>
          </a:xfrm>
          <a:prstGeom prst="rect">
            <a:avLst/>
          </a:prstGeom>
          <a:solidFill>
            <a:srgbClr val="1E3059"/>
          </a:solidFill>
          <a:ln/>
        </p:spPr>
      </p:sp>
      <p:sp>
        <p:nvSpPr>
          <p:cNvPr id="13" name="Shape 10"/>
          <p:cNvSpPr/>
          <p:nvPr/>
        </p:nvSpPr>
        <p:spPr>
          <a:xfrm>
            <a:off x="4572000" y="822960"/>
            <a:ext cx="4389120" cy="54864"/>
          </a:xfrm>
          <a:prstGeom prst="rect">
            <a:avLst/>
          </a:prstGeom>
          <a:solidFill>
            <a:srgbClr val="FBBF24"/>
          </a:solidFill>
          <a:ln/>
        </p:spPr>
      </p:sp>
      <p:pic>
        <p:nvPicPr>
          <p:cNvPr id="14" name="Image 1" descr="preencoded.png">    </p:cNvPr>
          <p:cNvPicPr>
            <a:picLocks noChangeAspect="1"/>
          </p:cNvPicPr>
          <p:nvPr/>
        </p:nvPicPr>
        <p:blipFill>
          <a:blip r:embed="rId2"/>
          <a:stretch>
            <a:fillRect/>
          </a:stretch>
        </p:blipFill>
        <p:spPr>
          <a:xfrm>
            <a:off x="4681728" y="960120"/>
            <a:ext cx="347472" cy="347472"/>
          </a:xfrm>
          <a:prstGeom prst="rect">
            <a:avLst/>
          </a:prstGeom>
        </p:spPr>
      </p:pic>
      <p:sp>
        <p:nvSpPr>
          <p:cNvPr id="15" name="Text 11"/>
          <p:cNvSpPr/>
          <p:nvPr/>
        </p:nvSpPr>
        <p:spPr>
          <a:xfrm>
            <a:off x="5120640" y="960120"/>
            <a:ext cx="3730752" cy="347472"/>
          </a:xfrm>
          <a:prstGeom prst="rect">
            <a:avLst/>
          </a:prstGeom>
          <a:noFill/>
          <a:ln/>
        </p:spPr>
        <p:txBody>
          <a:bodyPr wrap="square" lIns="0" tIns="0" rIns="0" bIns="0" rtlCol="0" anchor="ctr"/>
          <a:lstStyle/>
          <a:p>
            <a:pPr indent="0" marL="0">
              <a:buNone/>
            </a:pPr>
            <a:r>
              <a:rPr lang="en-US" sz="1200" b="1" dirty="0">
                <a:solidFill>
                  <a:srgbClr val="FBBF24"/>
                </a:solidFill>
                <a:latin typeface="Calibri" pitchFamily="34" charset="0"/>
                <a:ea typeface="Calibri" pitchFamily="34" charset="-122"/>
                <a:cs typeface="Calibri" pitchFamily="34" charset="-120"/>
              </a:rPr>
              <a:t>etcd</a:t>
            </a:r>
            <a:endParaRPr lang="en-US" sz="1200" dirty="0"/>
          </a:p>
        </p:txBody>
      </p:sp>
      <p:sp>
        <p:nvSpPr>
          <p:cNvPr id="16" name="Text 12"/>
          <p:cNvSpPr/>
          <p:nvPr/>
        </p:nvSpPr>
        <p:spPr>
          <a:xfrm>
            <a:off x="4681728" y="1389888"/>
            <a:ext cx="4169664" cy="7132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Distributed key-value store. Complete cluster state. If compromised = game over. Secrets base64-only by default — envelope encryption via KMS is mandatory in production. Direct etcd network access must be blocked. Backup snapshots are your disaster recovery plan.</a:t>
            </a:r>
            <a:endParaRPr lang="en-US" sz="950" dirty="0"/>
          </a:p>
        </p:txBody>
      </p:sp>
      <p:sp>
        <p:nvSpPr>
          <p:cNvPr id="17" name="Shape 13"/>
          <p:cNvSpPr/>
          <p:nvPr/>
        </p:nvSpPr>
        <p:spPr>
          <a:xfrm>
            <a:off x="256032" y="2331720"/>
            <a:ext cx="2743200" cy="2606040"/>
          </a:xfrm>
          <a:prstGeom prst="rect">
            <a:avLst/>
          </a:prstGeom>
          <a:solidFill>
            <a:srgbClr val="1E3059"/>
          </a:solidFill>
          <a:ln/>
        </p:spPr>
      </p:sp>
      <p:sp>
        <p:nvSpPr>
          <p:cNvPr id="18" name="Shape 14"/>
          <p:cNvSpPr/>
          <p:nvPr/>
        </p:nvSpPr>
        <p:spPr>
          <a:xfrm>
            <a:off x="256032" y="2331720"/>
            <a:ext cx="2743200" cy="54864"/>
          </a:xfrm>
          <a:prstGeom prst="rect">
            <a:avLst/>
          </a:prstGeom>
          <a:solidFill>
            <a:srgbClr val="22D3EE"/>
          </a:solidFill>
          <a:ln/>
        </p:spPr>
      </p:sp>
      <p:pic>
        <p:nvPicPr>
          <p:cNvPr id="19" name="Image 2" descr="preencoded.png">    </p:cNvPr>
          <p:cNvPicPr>
            <a:picLocks noChangeAspect="1"/>
          </p:cNvPicPr>
          <p:nvPr/>
        </p:nvPicPr>
        <p:blipFill>
          <a:blip r:embed="rId3"/>
          <a:stretch>
            <a:fillRect/>
          </a:stretch>
        </p:blipFill>
        <p:spPr>
          <a:xfrm>
            <a:off x="365760" y="2468880"/>
            <a:ext cx="347472" cy="347472"/>
          </a:xfrm>
          <a:prstGeom prst="rect">
            <a:avLst/>
          </a:prstGeom>
        </p:spPr>
      </p:pic>
      <p:sp>
        <p:nvSpPr>
          <p:cNvPr id="20" name="Text 15"/>
          <p:cNvSpPr/>
          <p:nvPr/>
        </p:nvSpPr>
        <p:spPr>
          <a:xfrm>
            <a:off x="804672" y="2468880"/>
            <a:ext cx="2084832" cy="347472"/>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kube-scheduler</a:t>
            </a:r>
            <a:endParaRPr lang="en-US" sz="1200" dirty="0"/>
          </a:p>
        </p:txBody>
      </p:sp>
      <p:sp>
        <p:nvSpPr>
          <p:cNvPr id="21" name="Text 16"/>
          <p:cNvSpPr/>
          <p:nvPr/>
        </p:nvSpPr>
        <p:spPr>
          <a:xfrm>
            <a:off x="365760" y="2898648"/>
            <a:ext cx="2523744" cy="194767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Assigns pending pods to nodes. Two phases: Filter (removes nodes that can't satisfy requirements) then Score (ranks feasible nodes). Respects resource requests, node affinity, taints/tolerations, topology spread constraints.</a:t>
            </a:r>
            <a:endParaRPr lang="en-US" sz="950" dirty="0"/>
          </a:p>
        </p:txBody>
      </p:sp>
      <p:sp>
        <p:nvSpPr>
          <p:cNvPr id="22" name="Shape 17"/>
          <p:cNvSpPr/>
          <p:nvPr/>
        </p:nvSpPr>
        <p:spPr>
          <a:xfrm>
            <a:off x="3108960" y="2331720"/>
            <a:ext cx="2743200" cy="2606040"/>
          </a:xfrm>
          <a:prstGeom prst="rect">
            <a:avLst/>
          </a:prstGeom>
          <a:solidFill>
            <a:srgbClr val="1E3059"/>
          </a:solidFill>
          <a:ln/>
        </p:spPr>
      </p:sp>
      <p:sp>
        <p:nvSpPr>
          <p:cNvPr id="23" name="Shape 18"/>
          <p:cNvSpPr/>
          <p:nvPr/>
        </p:nvSpPr>
        <p:spPr>
          <a:xfrm>
            <a:off x="3108960" y="2331720"/>
            <a:ext cx="2743200" cy="54864"/>
          </a:xfrm>
          <a:prstGeom prst="rect">
            <a:avLst/>
          </a:prstGeom>
          <a:solidFill>
            <a:srgbClr val="A78BFA"/>
          </a:solidFill>
          <a:ln/>
        </p:spPr>
      </p:sp>
      <p:pic>
        <p:nvPicPr>
          <p:cNvPr id="24" name="Image 3" descr="preencoded.png">    </p:cNvPr>
          <p:cNvPicPr>
            <a:picLocks noChangeAspect="1"/>
          </p:cNvPicPr>
          <p:nvPr/>
        </p:nvPicPr>
        <p:blipFill>
          <a:blip r:embed="rId4"/>
          <a:stretch>
            <a:fillRect/>
          </a:stretch>
        </p:blipFill>
        <p:spPr>
          <a:xfrm>
            <a:off x="3218688" y="2468880"/>
            <a:ext cx="347472" cy="347472"/>
          </a:xfrm>
          <a:prstGeom prst="rect">
            <a:avLst/>
          </a:prstGeom>
        </p:spPr>
      </p:pic>
      <p:sp>
        <p:nvSpPr>
          <p:cNvPr id="25" name="Text 19"/>
          <p:cNvSpPr/>
          <p:nvPr/>
        </p:nvSpPr>
        <p:spPr>
          <a:xfrm>
            <a:off x="3657600" y="2468880"/>
            <a:ext cx="2084832" cy="347472"/>
          </a:xfrm>
          <a:prstGeom prst="rect">
            <a:avLst/>
          </a:prstGeom>
          <a:noFill/>
          <a:ln/>
        </p:spPr>
        <p:txBody>
          <a:bodyPr wrap="square" lIns="0" tIns="0" rIns="0" bIns="0" rtlCol="0" anchor="ctr"/>
          <a:lstStyle/>
          <a:p>
            <a:pPr indent="0" marL="0">
              <a:buNone/>
            </a:pPr>
            <a:r>
              <a:rPr lang="en-US" sz="1200" b="1" dirty="0">
                <a:solidFill>
                  <a:srgbClr val="A78BFA"/>
                </a:solidFill>
                <a:latin typeface="Calibri" pitchFamily="34" charset="0"/>
                <a:ea typeface="Calibri" pitchFamily="34" charset="-122"/>
                <a:cs typeface="Calibri" pitchFamily="34" charset="-120"/>
              </a:rPr>
              <a:t>kube-controller-manager</a:t>
            </a:r>
            <a:endParaRPr lang="en-US" sz="1200" dirty="0"/>
          </a:p>
        </p:txBody>
      </p:sp>
      <p:sp>
        <p:nvSpPr>
          <p:cNvPr id="26" name="Text 20"/>
          <p:cNvSpPr/>
          <p:nvPr/>
        </p:nvSpPr>
        <p:spPr>
          <a:xfrm>
            <a:off x="3218688" y="2898648"/>
            <a:ext cx="2523744" cy="194767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Multiple reconciliation loops in one binary. Node controller (health monitoring), Deployment controller (rolling updates), ReplicaSet controller (replica count), ServiceAccount controller, Endpoints controller.</a:t>
            </a:r>
            <a:endParaRPr lang="en-US" sz="950" dirty="0"/>
          </a:p>
        </p:txBody>
      </p:sp>
      <p:sp>
        <p:nvSpPr>
          <p:cNvPr id="27" name="Shape 21"/>
          <p:cNvSpPr/>
          <p:nvPr/>
        </p:nvSpPr>
        <p:spPr>
          <a:xfrm>
            <a:off x="5961888" y="2331720"/>
            <a:ext cx="2999232" cy="2606040"/>
          </a:xfrm>
          <a:prstGeom prst="rect">
            <a:avLst/>
          </a:prstGeom>
          <a:solidFill>
            <a:srgbClr val="1E3059"/>
          </a:solidFill>
          <a:ln/>
        </p:spPr>
      </p:sp>
      <p:sp>
        <p:nvSpPr>
          <p:cNvPr id="28" name="Shape 22"/>
          <p:cNvSpPr/>
          <p:nvPr/>
        </p:nvSpPr>
        <p:spPr>
          <a:xfrm>
            <a:off x="5961888" y="2331720"/>
            <a:ext cx="2999232" cy="54864"/>
          </a:xfrm>
          <a:prstGeom prst="rect">
            <a:avLst/>
          </a:prstGeom>
          <a:solidFill>
            <a:srgbClr val="F59E0B"/>
          </a:solidFill>
          <a:ln/>
        </p:spPr>
      </p:sp>
      <p:pic>
        <p:nvPicPr>
          <p:cNvPr id="29" name="Image 4" descr="preencoded.png">    </p:cNvPr>
          <p:cNvPicPr>
            <a:picLocks noChangeAspect="1"/>
          </p:cNvPicPr>
          <p:nvPr/>
        </p:nvPicPr>
        <p:blipFill>
          <a:blip r:embed="rId5"/>
          <a:stretch>
            <a:fillRect/>
          </a:stretch>
        </p:blipFill>
        <p:spPr>
          <a:xfrm>
            <a:off x="6071616" y="2468880"/>
            <a:ext cx="347472" cy="347472"/>
          </a:xfrm>
          <a:prstGeom prst="rect">
            <a:avLst/>
          </a:prstGeom>
        </p:spPr>
      </p:pic>
      <p:sp>
        <p:nvSpPr>
          <p:cNvPr id="30" name="Text 23"/>
          <p:cNvSpPr/>
          <p:nvPr/>
        </p:nvSpPr>
        <p:spPr>
          <a:xfrm>
            <a:off x="6510528" y="2468880"/>
            <a:ext cx="2340864" cy="34747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cloud-controller-manager</a:t>
            </a:r>
            <a:endParaRPr lang="en-US" sz="1200" dirty="0"/>
          </a:p>
        </p:txBody>
      </p:sp>
      <p:sp>
        <p:nvSpPr>
          <p:cNvPr id="31" name="Text 24"/>
          <p:cNvSpPr/>
          <p:nvPr/>
        </p:nvSpPr>
        <p:spPr>
          <a:xfrm>
            <a:off x="6071616" y="2898648"/>
            <a:ext cx="2779776" cy="194767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Interfaces with cloud provider APIs. Provisions load balancers when type: LoadBalancer services are created. Provisions storage when PVCs are bound. Updates routing tables when nodes are added/removed.</a:t>
            </a:r>
            <a:endParaRPr lang="en-US" sz="950" dirty="0"/>
          </a:p>
        </p:txBody>
      </p:sp>
      <p:sp>
        <p:nvSpPr>
          <p:cNvPr id="32" name="Shape 25"/>
          <p:cNvSpPr/>
          <p:nvPr/>
        </p:nvSpPr>
        <p:spPr>
          <a:xfrm>
            <a:off x="256032" y="4754880"/>
            <a:ext cx="8705088" cy="292608"/>
          </a:xfrm>
          <a:prstGeom prst="rect">
            <a:avLst/>
          </a:prstGeom>
          <a:solidFill>
            <a:srgbClr val="253A6E"/>
          </a:solidFill>
          <a:ln/>
        </p:spPr>
      </p:sp>
      <p:sp>
        <p:nvSpPr>
          <p:cNvPr id="33" name="Text 26"/>
          <p:cNvSpPr/>
          <p:nvPr/>
        </p:nvSpPr>
        <p:spPr>
          <a:xfrm>
            <a:off x="365760" y="4791456"/>
            <a:ext cx="8412480" cy="219456"/>
          </a:xfrm>
          <a:prstGeom prst="rect">
            <a:avLst/>
          </a:prstGeom>
          <a:noFill/>
          <a:ln/>
        </p:spPr>
        <p:txBody>
          <a:bodyPr wrap="square" lIns="0" tIns="0" rIns="0" bIns="0" rtlCol="0" anchor="ctr"/>
          <a:lstStyle/>
          <a:p>
            <a:pPr indent="0" marL="0">
              <a:buNone/>
            </a:pPr>
            <a:r>
              <a:rPr lang="en-US" sz="900" dirty="0">
                <a:solidFill>
                  <a:srgbClr val="F59E0B"/>
                </a:solidFill>
                <a:latin typeface="Calibri" pitchFamily="34" charset="0"/>
                <a:ea typeface="Calibri" pitchFamily="34" charset="-122"/>
                <a:cs typeface="Calibri" pitchFamily="34" charset="-120"/>
              </a:rPr>
              <a:t>SECURITY: API server audit logging is your forensic record. Enable it. Ship logs to immutable external storage. etcd direct access = instant cluster admin. Never expose etcd to any network outside the control plane.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10B981"/>
                </a:solidFill>
              </a:rPr>
              <a:t>DATA PLANE</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Data Plane – Worker Nodes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kubelet · kube-proxy · Container Runtime (containerd)  |  Your responsibility to harden</a:t>
            </a:r>
            <a:endParaRPr lang="en-US" sz="1100" dirty="0"/>
          </a:p>
        </p:txBody>
      </p:sp>
      <p:sp>
        <p:nvSpPr>
          <p:cNvPr id="7" name="Shape 5"/>
          <p:cNvSpPr/>
          <p:nvPr/>
        </p:nvSpPr>
        <p:spPr>
          <a:xfrm>
            <a:off x="256032" y="804672"/>
            <a:ext cx="5303520" cy="1307592"/>
          </a:xfrm>
          <a:prstGeom prst="rect">
            <a:avLst/>
          </a:prstGeom>
          <a:solidFill>
            <a:srgbClr val="1E3059"/>
          </a:solidFill>
          <a:ln/>
        </p:spPr>
      </p:sp>
      <p:sp>
        <p:nvSpPr>
          <p:cNvPr id="8" name="Shape 6"/>
          <p:cNvSpPr/>
          <p:nvPr/>
        </p:nvSpPr>
        <p:spPr>
          <a:xfrm>
            <a:off x="256032" y="804672"/>
            <a:ext cx="54864" cy="1307592"/>
          </a:xfrm>
          <a:prstGeom prst="rect">
            <a:avLst/>
          </a:prstGeom>
          <a:solidFill>
            <a:srgbClr val="10B981"/>
          </a:solidFill>
          <a:ln/>
        </p:spPr>
      </p:sp>
      <p:pic>
        <p:nvPicPr>
          <p:cNvPr id="9" name="Image 0" descr="preencoded.png">    </p:cNvPr>
          <p:cNvPicPr>
            <a:picLocks noChangeAspect="1"/>
          </p:cNvPicPr>
          <p:nvPr/>
        </p:nvPicPr>
        <p:blipFill>
          <a:blip r:embed="rId1"/>
          <a:stretch>
            <a:fillRect/>
          </a:stretch>
        </p:blipFill>
        <p:spPr>
          <a:xfrm>
            <a:off x="384048" y="896112"/>
            <a:ext cx="411480" cy="411480"/>
          </a:xfrm>
          <a:prstGeom prst="rect">
            <a:avLst/>
          </a:prstGeom>
        </p:spPr>
      </p:pic>
      <p:sp>
        <p:nvSpPr>
          <p:cNvPr id="10" name="Text 7"/>
          <p:cNvSpPr/>
          <p:nvPr/>
        </p:nvSpPr>
        <p:spPr>
          <a:xfrm>
            <a:off x="886968" y="896112"/>
            <a:ext cx="4526280" cy="41148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kubelet</a:t>
            </a:r>
            <a:endParaRPr lang="en-US" sz="1400" dirty="0"/>
          </a:p>
        </p:txBody>
      </p:sp>
      <p:sp>
        <p:nvSpPr>
          <p:cNvPr id="11" name="Text 8"/>
          <p:cNvSpPr/>
          <p:nvPr/>
        </p:nvSpPr>
        <p:spPr>
          <a:xfrm>
            <a:off x="384048" y="1353312"/>
            <a:ext cx="5029200"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Primary node agent. Runs on every worker node. Receives PodSpecs from API server. Communicates with container runtime via CRI (Container Runtime Interface). Manages container lifecycle. Reports node and pod health. Mounts secrets, configmaps, volumes into pods.</a:t>
            </a:r>
            <a:endParaRPr lang="en-US" sz="850" dirty="0"/>
          </a:p>
          <a:p>
            <a:pPr indent="0" marL="0">
              <a:buNone/>
            </a:pP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Security: kubelet API must not be publicly accessible. Disable anonymous access. kubelet --read-only-port 0.</a:t>
            </a:r>
            <a:endParaRPr lang="en-US" sz="850" dirty="0"/>
          </a:p>
        </p:txBody>
      </p:sp>
      <p:sp>
        <p:nvSpPr>
          <p:cNvPr id="12" name="Shape 9"/>
          <p:cNvSpPr/>
          <p:nvPr/>
        </p:nvSpPr>
        <p:spPr>
          <a:xfrm>
            <a:off x="256032" y="2240280"/>
            <a:ext cx="5303520" cy="1307592"/>
          </a:xfrm>
          <a:prstGeom prst="rect">
            <a:avLst/>
          </a:prstGeom>
          <a:solidFill>
            <a:srgbClr val="1E3059"/>
          </a:solidFill>
          <a:ln/>
        </p:spPr>
      </p:sp>
      <p:sp>
        <p:nvSpPr>
          <p:cNvPr id="13" name="Shape 10"/>
          <p:cNvSpPr/>
          <p:nvPr/>
        </p:nvSpPr>
        <p:spPr>
          <a:xfrm>
            <a:off x="256032" y="2240280"/>
            <a:ext cx="54864" cy="1307592"/>
          </a:xfrm>
          <a:prstGeom prst="rect">
            <a:avLst/>
          </a:prstGeom>
          <a:solidFill>
            <a:srgbClr val="22D3EE"/>
          </a:solidFill>
          <a:ln/>
        </p:spPr>
      </p:sp>
      <p:pic>
        <p:nvPicPr>
          <p:cNvPr id="14" name="Image 1" descr="preencoded.png">    </p:cNvPr>
          <p:cNvPicPr>
            <a:picLocks noChangeAspect="1"/>
          </p:cNvPicPr>
          <p:nvPr/>
        </p:nvPicPr>
        <p:blipFill>
          <a:blip r:embed="rId2"/>
          <a:stretch>
            <a:fillRect/>
          </a:stretch>
        </p:blipFill>
        <p:spPr>
          <a:xfrm>
            <a:off x="384048" y="2331720"/>
            <a:ext cx="411480" cy="411480"/>
          </a:xfrm>
          <a:prstGeom prst="rect">
            <a:avLst/>
          </a:prstGeom>
        </p:spPr>
      </p:pic>
      <p:sp>
        <p:nvSpPr>
          <p:cNvPr id="15" name="Text 11"/>
          <p:cNvSpPr/>
          <p:nvPr/>
        </p:nvSpPr>
        <p:spPr>
          <a:xfrm>
            <a:off x="886968" y="2331720"/>
            <a:ext cx="4526280" cy="411480"/>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kube-proxy</a:t>
            </a:r>
            <a:endParaRPr lang="en-US" sz="1400" dirty="0"/>
          </a:p>
        </p:txBody>
      </p:sp>
      <p:sp>
        <p:nvSpPr>
          <p:cNvPr id="16" name="Text 12"/>
          <p:cNvSpPr/>
          <p:nvPr/>
        </p:nvSpPr>
        <p:spPr>
          <a:xfrm>
            <a:off x="384048" y="2788920"/>
            <a:ext cx="5029200"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Runs on every node. Implements the Service abstraction. Programs network rules so Service ClusterIP traffic is load-balanced to pod IPs.</a:t>
            </a:r>
            <a:endParaRPr lang="en-US" sz="850" dirty="0"/>
          </a:p>
          <a:p>
            <a:pPr indent="0" marL="0">
              <a:buNone/>
            </a:pP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Backend modes: nftables (recommended, v1.31+), iptables (legacy), IPVS (deprecated in v1.35 — do not use for new deployments).</a:t>
            </a:r>
            <a:endParaRPr lang="en-US" sz="850" dirty="0"/>
          </a:p>
          <a:p>
            <a:pPr indent="0" marL="0">
              <a:buNone/>
            </a:pP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Note: In eBPF-based clusters (Cilium, GKE Dataplane V2), kube-proxy is replaced entirely — better performance and intranode visibility.</a:t>
            </a:r>
            <a:endParaRPr lang="en-US" sz="850" dirty="0"/>
          </a:p>
        </p:txBody>
      </p:sp>
      <p:sp>
        <p:nvSpPr>
          <p:cNvPr id="17" name="Shape 13"/>
          <p:cNvSpPr/>
          <p:nvPr/>
        </p:nvSpPr>
        <p:spPr>
          <a:xfrm>
            <a:off x="256032" y="3675888"/>
            <a:ext cx="5303520" cy="1307592"/>
          </a:xfrm>
          <a:prstGeom prst="rect">
            <a:avLst/>
          </a:prstGeom>
          <a:solidFill>
            <a:srgbClr val="1E3059"/>
          </a:solidFill>
          <a:ln/>
        </p:spPr>
      </p:sp>
      <p:sp>
        <p:nvSpPr>
          <p:cNvPr id="18" name="Shape 14"/>
          <p:cNvSpPr/>
          <p:nvPr/>
        </p:nvSpPr>
        <p:spPr>
          <a:xfrm>
            <a:off x="256032" y="3675888"/>
            <a:ext cx="54864" cy="1307592"/>
          </a:xfrm>
          <a:prstGeom prst="rect">
            <a:avLst/>
          </a:prstGeom>
          <a:solidFill>
            <a:srgbClr val="A78BFA"/>
          </a:solidFill>
          <a:ln/>
        </p:spPr>
      </p:sp>
      <p:pic>
        <p:nvPicPr>
          <p:cNvPr id="19" name="Image 2" descr="preencoded.png">    </p:cNvPr>
          <p:cNvPicPr>
            <a:picLocks noChangeAspect="1"/>
          </p:cNvPicPr>
          <p:nvPr/>
        </p:nvPicPr>
        <p:blipFill>
          <a:blip r:embed="rId3"/>
          <a:stretch>
            <a:fillRect/>
          </a:stretch>
        </p:blipFill>
        <p:spPr>
          <a:xfrm>
            <a:off x="384048" y="3767328"/>
            <a:ext cx="411480" cy="411480"/>
          </a:xfrm>
          <a:prstGeom prst="rect">
            <a:avLst/>
          </a:prstGeom>
        </p:spPr>
      </p:pic>
      <p:sp>
        <p:nvSpPr>
          <p:cNvPr id="20" name="Text 15"/>
          <p:cNvSpPr/>
          <p:nvPr/>
        </p:nvSpPr>
        <p:spPr>
          <a:xfrm>
            <a:off x="886968" y="3767328"/>
            <a:ext cx="4526280" cy="41148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Container Runtime (containerd)</a:t>
            </a:r>
            <a:endParaRPr lang="en-US" sz="1400" dirty="0"/>
          </a:p>
        </p:txBody>
      </p:sp>
      <p:sp>
        <p:nvSpPr>
          <p:cNvPr id="21" name="Text 16"/>
          <p:cNvSpPr/>
          <p:nvPr/>
        </p:nvSpPr>
        <p:spPr>
          <a:xfrm>
            <a:off x="384048" y="4224528"/>
            <a:ext cx="5029200"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Pulls images, manages image layers, creates container processes via Linux namespaces and cgroups. containerd is the standard. Docker runtime was deprecated in K8s v1.20, removed v1.24.</a:t>
            </a:r>
            <a:endParaRPr lang="en-US" sz="850" dirty="0"/>
          </a:p>
          <a:p>
            <a:pPr indent="0" marL="0">
              <a:buNone/>
            </a:pP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cgroup v2 required: cgroup v1 is disabled by default in v1.35 and will be removed in v1.36. All production nodes must run cgroup v2. containerd 2.x required for v1.36+; upgrade from 1.x before then.</a:t>
            </a:r>
            <a:endParaRPr lang="en-US" sz="850" dirty="0"/>
          </a:p>
          <a:p>
            <a:pPr indent="0" marL="0">
              <a:buNone/>
            </a:pP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Security: Use gVisor (GKE), Bottlerocket (EKS), or COS (GKE) to limit node attack surface.</a:t>
            </a:r>
            <a:endParaRPr lang="en-US" sz="850" dirty="0"/>
          </a:p>
        </p:txBody>
      </p:sp>
      <p:sp>
        <p:nvSpPr>
          <p:cNvPr id="22" name="Shape 17"/>
          <p:cNvSpPr/>
          <p:nvPr/>
        </p:nvSpPr>
        <p:spPr>
          <a:xfrm>
            <a:off x="5687568" y="804672"/>
            <a:ext cx="3273552" cy="4206240"/>
          </a:xfrm>
          <a:prstGeom prst="rect">
            <a:avLst/>
          </a:prstGeom>
          <a:solidFill>
            <a:srgbClr val="1E3059"/>
          </a:solidFill>
          <a:ln/>
        </p:spPr>
      </p:sp>
      <p:sp>
        <p:nvSpPr>
          <p:cNvPr id="23" name="Text 18"/>
          <p:cNvSpPr/>
          <p:nvPr/>
        </p:nvSpPr>
        <p:spPr>
          <a:xfrm>
            <a:off x="5760720" y="850392"/>
            <a:ext cx="3127248" cy="274320"/>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WORKER NODE ANATOMY</a:t>
            </a:r>
            <a:endParaRPr lang="en-US" sz="1000" dirty="0"/>
          </a:p>
        </p:txBody>
      </p:sp>
      <p:sp>
        <p:nvSpPr>
          <p:cNvPr id="24" name="Shape 19"/>
          <p:cNvSpPr/>
          <p:nvPr/>
        </p:nvSpPr>
        <p:spPr>
          <a:xfrm>
            <a:off x="5779008" y="1170432"/>
            <a:ext cx="3090672" cy="475488"/>
          </a:xfrm>
          <a:prstGeom prst="rect">
            <a:avLst/>
          </a:prstGeom>
          <a:solidFill>
            <a:srgbClr val="10B981">
              <a:alpha val="25000"/>
            </a:srgbClr>
          </a:solidFill>
          <a:ln w="15240">
            <a:solidFill>
              <a:srgbClr val="10B981"/>
            </a:solidFill>
            <a:prstDash val="solid"/>
          </a:ln>
        </p:spPr>
      </p:sp>
      <p:sp>
        <p:nvSpPr>
          <p:cNvPr id="25" name="Text 20"/>
          <p:cNvSpPr/>
          <p:nvPr/>
        </p:nvSpPr>
        <p:spPr>
          <a:xfrm>
            <a:off x="5779008" y="1170432"/>
            <a:ext cx="3090672" cy="4754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kubelet</a:t>
            </a:r>
            <a:endParaRPr lang="en-US" sz="1000" dirty="0"/>
          </a:p>
        </p:txBody>
      </p:sp>
      <p:sp>
        <p:nvSpPr>
          <p:cNvPr id="26" name="Shape 21"/>
          <p:cNvSpPr/>
          <p:nvPr/>
        </p:nvSpPr>
        <p:spPr>
          <a:xfrm>
            <a:off x="5779008" y="1709928"/>
            <a:ext cx="3090672" cy="384048"/>
          </a:xfrm>
          <a:prstGeom prst="rect">
            <a:avLst/>
          </a:prstGeom>
          <a:solidFill>
            <a:srgbClr val="22D3EE">
              <a:alpha val="25000"/>
            </a:srgbClr>
          </a:solidFill>
          <a:ln w="15240">
            <a:solidFill>
              <a:srgbClr val="22D3EE"/>
            </a:solidFill>
            <a:prstDash val="solid"/>
          </a:ln>
        </p:spPr>
      </p:sp>
      <p:sp>
        <p:nvSpPr>
          <p:cNvPr id="27" name="Text 22"/>
          <p:cNvSpPr/>
          <p:nvPr/>
        </p:nvSpPr>
        <p:spPr>
          <a:xfrm>
            <a:off x="5779008" y="1709928"/>
            <a:ext cx="3090672" cy="38404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kube-proxy</a:t>
            </a:r>
            <a:endParaRPr lang="en-US" sz="1000" dirty="0"/>
          </a:p>
        </p:txBody>
      </p:sp>
      <p:sp>
        <p:nvSpPr>
          <p:cNvPr id="28" name="Shape 23"/>
          <p:cNvSpPr/>
          <p:nvPr/>
        </p:nvSpPr>
        <p:spPr>
          <a:xfrm>
            <a:off x="5779008" y="2157984"/>
            <a:ext cx="3090672" cy="658368"/>
          </a:xfrm>
          <a:prstGeom prst="rect">
            <a:avLst/>
          </a:prstGeom>
          <a:solidFill>
            <a:srgbClr val="EF4444">
              <a:alpha val="25000"/>
            </a:srgbClr>
          </a:solidFill>
          <a:ln w="15240">
            <a:solidFill>
              <a:srgbClr val="EF4444"/>
            </a:solidFill>
            <a:prstDash val="solid"/>
          </a:ln>
        </p:spPr>
      </p:sp>
      <p:sp>
        <p:nvSpPr>
          <p:cNvPr id="29" name="Text 24"/>
          <p:cNvSpPr/>
          <p:nvPr/>
        </p:nvSpPr>
        <p:spPr>
          <a:xfrm>
            <a:off x="5779008" y="2157984"/>
            <a:ext cx="3090672" cy="65836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Pod   Pod   Pod</a:t>
            </a:r>
            <a:endParaRPr lang="en-US" sz="1000" dirty="0"/>
          </a:p>
        </p:txBody>
      </p:sp>
      <p:sp>
        <p:nvSpPr>
          <p:cNvPr id="30" name="Shape 25"/>
          <p:cNvSpPr/>
          <p:nvPr/>
        </p:nvSpPr>
        <p:spPr>
          <a:xfrm>
            <a:off x="5779008" y="2880360"/>
            <a:ext cx="3090672" cy="384048"/>
          </a:xfrm>
          <a:prstGeom prst="rect">
            <a:avLst/>
          </a:prstGeom>
          <a:solidFill>
            <a:srgbClr val="A78BFA">
              <a:alpha val="25000"/>
            </a:srgbClr>
          </a:solidFill>
          <a:ln w="15240">
            <a:solidFill>
              <a:srgbClr val="A78BFA"/>
            </a:solidFill>
            <a:prstDash val="solid"/>
          </a:ln>
        </p:spPr>
      </p:sp>
      <p:sp>
        <p:nvSpPr>
          <p:cNvPr id="31" name="Text 26"/>
          <p:cNvSpPr/>
          <p:nvPr/>
        </p:nvSpPr>
        <p:spPr>
          <a:xfrm>
            <a:off x="5779008" y="2880360"/>
            <a:ext cx="3090672" cy="38404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containerd (CRI)</a:t>
            </a:r>
            <a:endParaRPr lang="en-US" sz="1000" dirty="0"/>
          </a:p>
        </p:txBody>
      </p:sp>
      <p:sp>
        <p:nvSpPr>
          <p:cNvPr id="32" name="Shape 27"/>
          <p:cNvSpPr/>
          <p:nvPr/>
        </p:nvSpPr>
        <p:spPr>
          <a:xfrm>
            <a:off x="5779008" y="3328416"/>
            <a:ext cx="3090672" cy="475488"/>
          </a:xfrm>
          <a:prstGeom prst="rect">
            <a:avLst/>
          </a:prstGeom>
          <a:solidFill>
            <a:srgbClr val="FBBF24">
              <a:alpha val="25000"/>
            </a:srgbClr>
          </a:solidFill>
          <a:ln w="15240">
            <a:solidFill>
              <a:srgbClr val="FBBF24"/>
            </a:solidFill>
            <a:prstDash val="solid"/>
          </a:ln>
        </p:spPr>
      </p:sp>
      <p:sp>
        <p:nvSpPr>
          <p:cNvPr id="33" name="Text 28"/>
          <p:cNvSpPr/>
          <p:nvPr/>
        </p:nvSpPr>
        <p:spPr>
          <a:xfrm>
            <a:off x="5779008" y="3328416"/>
            <a:ext cx="3090672" cy="47548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OS Kernel (Linux namespaces · cgroups)</a:t>
            </a:r>
            <a:endParaRPr lang="en-US" sz="1000" dirty="0"/>
          </a:p>
        </p:txBody>
      </p:sp>
      <p:sp>
        <p:nvSpPr>
          <p:cNvPr id="34" name="Shape 29"/>
          <p:cNvSpPr/>
          <p:nvPr/>
        </p:nvSpPr>
        <p:spPr>
          <a:xfrm>
            <a:off x="5779008" y="3867912"/>
            <a:ext cx="3090672" cy="384048"/>
          </a:xfrm>
          <a:prstGeom prst="rect">
            <a:avLst/>
          </a:prstGeom>
          <a:solidFill>
            <a:srgbClr val="64748B">
              <a:alpha val="25000"/>
            </a:srgbClr>
          </a:solidFill>
          <a:ln w="15240">
            <a:solidFill>
              <a:srgbClr val="64748B"/>
            </a:solidFill>
            <a:prstDash val="solid"/>
          </a:ln>
        </p:spPr>
      </p:sp>
      <p:sp>
        <p:nvSpPr>
          <p:cNvPr id="35" name="Text 30"/>
          <p:cNvSpPr/>
          <p:nvPr/>
        </p:nvSpPr>
        <p:spPr>
          <a:xfrm>
            <a:off x="5779008" y="3867912"/>
            <a:ext cx="3090672" cy="384048"/>
          </a:xfrm>
          <a:prstGeom prst="rect">
            <a:avLst/>
          </a:prstGeom>
          <a:noFill/>
          <a:ln/>
        </p:spPr>
        <p:txBody>
          <a:bodyPr wrap="square" lIns="0" tIns="0" rIns="0" bIns="0" rtlCol="0" anchor="ctr"/>
          <a:lstStyle/>
          <a:p>
            <a:pPr algn="ctr" indent="0" marL="0">
              <a:buNone/>
            </a:pPr>
            <a:r>
              <a:rPr lang="en-US" sz="1000" dirty="0">
                <a:solidFill>
                  <a:srgbClr val="F1F5F9"/>
                </a:solidFill>
                <a:latin typeface="Calibri" pitchFamily="34" charset="0"/>
                <a:ea typeface="Calibri" pitchFamily="34" charset="-122"/>
                <a:cs typeface="Calibri" pitchFamily="34" charset="-120"/>
              </a:rPr>
              <a:t>Hypervisor / Bare Metal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A78BFA"/>
                </a:solidFill>
              </a:rPr>
              <a:t>OBJECT MODEL</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Kubernetes Object Hierarchy</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Every resource is an API object stored in etcd · Namespaces scope most objects</a:t>
            </a:r>
            <a:endParaRPr lang="en-US" sz="1100" dirty="0"/>
          </a:p>
        </p:txBody>
      </p:sp>
      <p:pic>
        <p:nvPicPr>
          <p:cNvPr id="7" name="Image 0" descr="preencoded.png">    </p:cNvPr>
          <p:cNvPicPr>
            <a:picLocks noChangeAspect="1"/>
          </p:cNvPicPr>
          <p:nvPr/>
        </p:nvPicPr>
        <p:blipFill>
          <a:blip r:embed="rId1"/>
          <a:stretch>
            <a:fillRect/>
          </a:stretch>
        </p:blipFill>
        <p:spPr>
          <a:xfrm>
            <a:off x="228600" y="777240"/>
            <a:ext cx="8732520" cy="4160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A78BFA"/>
                </a:solidFill>
              </a:rPr>
              <a:t>OBJECT MODEL</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Key Object Types Explained</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Know these cold — every K8s operation involves one of these objects</a:t>
            </a:r>
            <a:endParaRPr lang="en-US" sz="1100" dirty="0"/>
          </a:p>
        </p:txBody>
      </p:sp>
      <p:sp>
        <p:nvSpPr>
          <p:cNvPr id="7" name="Shape 5"/>
          <p:cNvSpPr/>
          <p:nvPr/>
        </p:nvSpPr>
        <p:spPr>
          <a:xfrm>
            <a:off x="256032" y="822960"/>
            <a:ext cx="2048256" cy="1325880"/>
          </a:xfrm>
          <a:prstGeom prst="rect">
            <a:avLst/>
          </a:prstGeom>
          <a:solidFill>
            <a:srgbClr val="1E3059"/>
          </a:solidFill>
          <a:ln/>
        </p:spPr>
      </p:sp>
      <p:sp>
        <p:nvSpPr>
          <p:cNvPr id="8" name="Shape 6"/>
          <p:cNvSpPr/>
          <p:nvPr/>
        </p:nvSpPr>
        <p:spPr>
          <a:xfrm>
            <a:off x="256032" y="822960"/>
            <a:ext cx="2048256" cy="54864"/>
          </a:xfrm>
          <a:prstGeom prst="rect">
            <a:avLst/>
          </a:prstGeom>
          <a:solidFill>
            <a:srgbClr val="3B82F6"/>
          </a:solidFill>
          <a:ln/>
        </p:spPr>
      </p:sp>
      <p:sp>
        <p:nvSpPr>
          <p:cNvPr id="9" name="Text 7"/>
          <p:cNvSpPr/>
          <p:nvPr/>
        </p:nvSpPr>
        <p:spPr>
          <a:xfrm>
            <a:off x="347472" y="932688"/>
            <a:ext cx="1865376" cy="182880"/>
          </a:xfrm>
          <a:prstGeom prst="rect">
            <a:avLst/>
          </a:prstGeom>
          <a:noFill/>
          <a:ln/>
        </p:spPr>
        <p:txBody>
          <a:bodyPr wrap="square" lIns="0" tIns="0" rIns="0" bIns="0" rtlCol="0" anchor="ctr"/>
          <a:lstStyle/>
          <a:p>
            <a:pPr indent="0" marL="0">
              <a:buNone/>
            </a:pPr>
            <a:r>
              <a:rPr lang="en-US" sz="800" i="1" dirty="0">
                <a:solidFill>
                  <a:srgbClr val="3B82F6"/>
                </a:solidFill>
                <a:latin typeface="Calibri" pitchFamily="34" charset="0"/>
                <a:ea typeface="Calibri" pitchFamily="34" charset="-122"/>
                <a:cs typeface="Calibri" pitchFamily="34" charset="-120"/>
              </a:rPr>
              <a:t>Workload</a:t>
            </a:r>
            <a:endParaRPr lang="en-US" sz="800" dirty="0"/>
          </a:p>
        </p:txBody>
      </p:sp>
      <p:sp>
        <p:nvSpPr>
          <p:cNvPr id="10" name="Text 8"/>
          <p:cNvSpPr/>
          <p:nvPr/>
        </p:nvSpPr>
        <p:spPr>
          <a:xfrm>
            <a:off x="347472" y="109728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Deployment</a:t>
            </a:r>
            <a:endParaRPr lang="en-US" sz="1200" dirty="0"/>
          </a:p>
        </p:txBody>
      </p:sp>
      <p:sp>
        <p:nvSpPr>
          <p:cNvPr id="11" name="Text 9"/>
          <p:cNvSpPr/>
          <p:nvPr/>
        </p:nvSpPr>
        <p:spPr>
          <a:xfrm>
            <a:off x="347472" y="138988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Declarative update for stateless apps. Manages a ReplicaSet. Rolling updates, rollbacks. Never deploy bare pods in production.</a:t>
            </a:r>
            <a:endParaRPr lang="en-US" sz="850" dirty="0"/>
          </a:p>
        </p:txBody>
      </p:sp>
      <p:sp>
        <p:nvSpPr>
          <p:cNvPr id="12" name="Shape 10"/>
          <p:cNvSpPr/>
          <p:nvPr/>
        </p:nvSpPr>
        <p:spPr>
          <a:xfrm>
            <a:off x="2432304" y="822960"/>
            <a:ext cx="2048256" cy="1325880"/>
          </a:xfrm>
          <a:prstGeom prst="rect">
            <a:avLst/>
          </a:prstGeom>
          <a:solidFill>
            <a:srgbClr val="1E3059"/>
          </a:solidFill>
          <a:ln/>
        </p:spPr>
      </p:sp>
      <p:sp>
        <p:nvSpPr>
          <p:cNvPr id="13" name="Shape 11"/>
          <p:cNvSpPr/>
          <p:nvPr/>
        </p:nvSpPr>
        <p:spPr>
          <a:xfrm>
            <a:off x="2432304" y="822960"/>
            <a:ext cx="2048256" cy="54864"/>
          </a:xfrm>
          <a:prstGeom prst="rect">
            <a:avLst/>
          </a:prstGeom>
          <a:solidFill>
            <a:srgbClr val="3B82F6"/>
          </a:solidFill>
          <a:ln/>
        </p:spPr>
      </p:sp>
      <p:sp>
        <p:nvSpPr>
          <p:cNvPr id="14" name="Text 12"/>
          <p:cNvSpPr/>
          <p:nvPr/>
        </p:nvSpPr>
        <p:spPr>
          <a:xfrm>
            <a:off x="2523744" y="932688"/>
            <a:ext cx="1865376" cy="182880"/>
          </a:xfrm>
          <a:prstGeom prst="rect">
            <a:avLst/>
          </a:prstGeom>
          <a:noFill/>
          <a:ln/>
        </p:spPr>
        <p:txBody>
          <a:bodyPr wrap="square" lIns="0" tIns="0" rIns="0" bIns="0" rtlCol="0" anchor="ctr"/>
          <a:lstStyle/>
          <a:p>
            <a:pPr indent="0" marL="0">
              <a:buNone/>
            </a:pPr>
            <a:r>
              <a:rPr lang="en-US" sz="800" i="1" dirty="0">
                <a:solidFill>
                  <a:srgbClr val="3B82F6"/>
                </a:solidFill>
                <a:latin typeface="Calibri" pitchFamily="34" charset="0"/>
                <a:ea typeface="Calibri" pitchFamily="34" charset="-122"/>
                <a:cs typeface="Calibri" pitchFamily="34" charset="-120"/>
              </a:rPr>
              <a:t>Workload</a:t>
            </a:r>
            <a:endParaRPr lang="en-US" sz="800" dirty="0"/>
          </a:p>
        </p:txBody>
      </p:sp>
      <p:sp>
        <p:nvSpPr>
          <p:cNvPr id="15" name="Text 13"/>
          <p:cNvSpPr/>
          <p:nvPr/>
        </p:nvSpPr>
        <p:spPr>
          <a:xfrm>
            <a:off x="2523744" y="109728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StatefulSet</a:t>
            </a:r>
            <a:endParaRPr lang="en-US" sz="1200" dirty="0"/>
          </a:p>
        </p:txBody>
      </p:sp>
      <p:sp>
        <p:nvSpPr>
          <p:cNvPr id="16" name="Text 14"/>
          <p:cNvSpPr/>
          <p:nvPr/>
        </p:nvSpPr>
        <p:spPr>
          <a:xfrm>
            <a:off x="2523744" y="138988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Like Deployment but for stateful apps. Stable network identities, ordered scaling, persistent storage per replica.</a:t>
            </a:r>
            <a:endParaRPr lang="en-US" sz="850" dirty="0"/>
          </a:p>
        </p:txBody>
      </p:sp>
      <p:sp>
        <p:nvSpPr>
          <p:cNvPr id="17" name="Shape 15"/>
          <p:cNvSpPr/>
          <p:nvPr/>
        </p:nvSpPr>
        <p:spPr>
          <a:xfrm>
            <a:off x="4608576" y="822960"/>
            <a:ext cx="2048256" cy="1325880"/>
          </a:xfrm>
          <a:prstGeom prst="rect">
            <a:avLst/>
          </a:prstGeom>
          <a:solidFill>
            <a:srgbClr val="1E3059"/>
          </a:solidFill>
          <a:ln/>
        </p:spPr>
      </p:sp>
      <p:sp>
        <p:nvSpPr>
          <p:cNvPr id="18" name="Shape 16"/>
          <p:cNvSpPr/>
          <p:nvPr/>
        </p:nvSpPr>
        <p:spPr>
          <a:xfrm>
            <a:off x="4608576" y="822960"/>
            <a:ext cx="2048256" cy="54864"/>
          </a:xfrm>
          <a:prstGeom prst="rect">
            <a:avLst/>
          </a:prstGeom>
          <a:solidFill>
            <a:srgbClr val="3B82F6"/>
          </a:solidFill>
          <a:ln/>
        </p:spPr>
      </p:sp>
      <p:sp>
        <p:nvSpPr>
          <p:cNvPr id="19" name="Text 17"/>
          <p:cNvSpPr/>
          <p:nvPr/>
        </p:nvSpPr>
        <p:spPr>
          <a:xfrm>
            <a:off x="4700016" y="932688"/>
            <a:ext cx="1865376" cy="182880"/>
          </a:xfrm>
          <a:prstGeom prst="rect">
            <a:avLst/>
          </a:prstGeom>
          <a:noFill/>
          <a:ln/>
        </p:spPr>
        <p:txBody>
          <a:bodyPr wrap="square" lIns="0" tIns="0" rIns="0" bIns="0" rtlCol="0" anchor="ctr"/>
          <a:lstStyle/>
          <a:p>
            <a:pPr indent="0" marL="0">
              <a:buNone/>
            </a:pPr>
            <a:r>
              <a:rPr lang="en-US" sz="800" i="1" dirty="0">
                <a:solidFill>
                  <a:srgbClr val="3B82F6"/>
                </a:solidFill>
                <a:latin typeface="Calibri" pitchFamily="34" charset="0"/>
                <a:ea typeface="Calibri" pitchFamily="34" charset="-122"/>
                <a:cs typeface="Calibri" pitchFamily="34" charset="-120"/>
              </a:rPr>
              <a:t>Workload</a:t>
            </a:r>
            <a:endParaRPr lang="en-US" sz="800" dirty="0"/>
          </a:p>
        </p:txBody>
      </p:sp>
      <p:sp>
        <p:nvSpPr>
          <p:cNvPr id="20" name="Text 18"/>
          <p:cNvSpPr/>
          <p:nvPr/>
        </p:nvSpPr>
        <p:spPr>
          <a:xfrm>
            <a:off x="4700016" y="109728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DaemonSet</a:t>
            </a:r>
            <a:endParaRPr lang="en-US" sz="1200" dirty="0"/>
          </a:p>
        </p:txBody>
      </p:sp>
      <p:sp>
        <p:nvSpPr>
          <p:cNvPr id="21" name="Text 19"/>
          <p:cNvSpPr/>
          <p:nvPr/>
        </p:nvSpPr>
        <p:spPr>
          <a:xfrm>
            <a:off x="4700016" y="138988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One pod per node. Used for logging agents, monitoring (Falco), CNI plugins, security tooling.</a:t>
            </a:r>
            <a:endParaRPr lang="en-US" sz="850" dirty="0"/>
          </a:p>
        </p:txBody>
      </p:sp>
      <p:sp>
        <p:nvSpPr>
          <p:cNvPr id="22" name="Shape 20"/>
          <p:cNvSpPr/>
          <p:nvPr/>
        </p:nvSpPr>
        <p:spPr>
          <a:xfrm>
            <a:off x="6784848" y="822960"/>
            <a:ext cx="2048256" cy="1325880"/>
          </a:xfrm>
          <a:prstGeom prst="rect">
            <a:avLst/>
          </a:prstGeom>
          <a:solidFill>
            <a:srgbClr val="1E3059"/>
          </a:solidFill>
          <a:ln/>
        </p:spPr>
      </p:sp>
      <p:sp>
        <p:nvSpPr>
          <p:cNvPr id="23" name="Shape 21"/>
          <p:cNvSpPr/>
          <p:nvPr/>
        </p:nvSpPr>
        <p:spPr>
          <a:xfrm>
            <a:off x="6784848" y="822960"/>
            <a:ext cx="2048256" cy="54864"/>
          </a:xfrm>
          <a:prstGeom prst="rect">
            <a:avLst/>
          </a:prstGeom>
          <a:solidFill>
            <a:srgbClr val="A78BFA"/>
          </a:solidFill>
          <a:ln/>
        </p:spPr>
      </p:sp>
      <p:sp>
        <p:nvSpPr>
          <p:cNvPr id="24" name="Text 22"/>
          <p:cNvSpPr/>
          <p:nvPr/>
        </p:nvSpPr>
        <p:spPr>
          <a:xfrm>
            <a:off x="6876288" y="932688"/>
            <a:ext cx="1865376" cy="182880"/>
          </a:xfrm>
          <a:prstGeom prst="rect">
            <a:avLst/>
          </a:prstGeom>
          <a:noFill/>
          <a:ln/>
        </p:spPr>
        <p:txBody>
          <a:bodyPr wrap="square" lIns="0" tIns="0" rIns="0" bIns="0" rtlCol="0" anchor="ctr"/>
          <a:lstStyle/>
          <a:p>
            <a:pPr indent="0" marL="0">
              <a:buNone/>
            </a:pPr>
            <a:r>
              <a:rPr lang="en-US" sz="800" i="1" dirty="0">
                <a:solidFill>
                  <a:srgbClr val="A78BFA"/>
                </a:solidFill>
                <a:latin typeface="Calibri" pitchFamily="34" charset="0"/>
                <a:ea typeface="Calibri" pitchFamily="34" charset="-122"/>
                <a:cs typeface="Calibri" pitchFamily="34" charset="-120"/>
              </a:rPr>
              <a:t>Networking</a:t>
            </a:r>
            <a:endParaRPr lang="en-US" sz="800" dirty="0"/>
          </a:p>
        </p:txBody>
      </p:sp>
      <p:sp>
        <p:nvSpPr>
          <p:cNvPr id="25" name="Text 23"/>
          <p:cNvSpPr/>
          <p:nvPr/>
        </p:nvSpPr>
        <p:spPr>
          <a:xfrm>
            <a:off x="6876288" y="109728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Service</a:t>
            </a:r>
            <a:endParaRPr lang="en-US" sz="1200" dirty="0"/>
          </a:p>
        </p:txBody>
      </p:sp>
      <p:sp>
        <p:nvSpPr>
          <p:cNvPr id="26" name="Text 24"/>
          <p:cNvSpPr/>
          <p:nvPr/>
        </p:nvSpPr>
        <p:spPr>
          <a:xfrm>
            <a:off x="6876288" y="138988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Stable virtual IP and DNS name for a set of pods. Types: ClusterIP / NodePort / LoadBalancer / ExternalName.</a:t>
            </a:r>
            <a:endParaRPr lang="en-US" sz="850" dirty="0"/>
          </a:p>
        </p:txBody>
      </p:sp>
      <p:sp>
        <p:nvSpPr>
          <p:cNvPr id="27" name="Shape 25"/>
          <p:cNvSpPr/>
          <p:nvPr/>
        </p:nvSpPr>
        <p:spPr>
          <a:xfrm>
            <a:off x="256032" y="2286000"/>
            <a:ext cx="2048256" cy="1325880"/>
          </a:xfrm>
          <a:prstGeom prst="rect">
            <a:avLst/>
          </a:prstGeom>
          <a:solidFill>
            <a:srgbClr val="1E3059"/>
          </a:solidFill>
          <a:ln/>
        </p:spPr>
      </p:sp>
      <p:sp>
        <p:nvSpPr>
          <p:cNvPr id="28" name="Shape 26"/>
          <p:cNvSpPr/>
          <p:nvPr/>
        </p:nvSpPr>
        <p:spPr>
          <a:xfrm>
            <a:off x="256032" y="2286000"/>
            <a:ext cx="2048256" cy="54864"/>
          </a:xfrm>
          <a:prstGeom prst="rect">
            <a:avLst/>
          </a:prstGeom>
          <a:solidFill>
            <a:srgbClr val="A78BFA"/>
          </a:solidFill>
          <a:ln/>
        </p:spPr>
      </p:sp>
      <p:sp>
        <p:nvSpPr>
          <p:cNvPr id="29" name="Text 27"/>
          <p:cNvSpPr/>
          <p:nvPr/>
        </p:nvSpPr>
        <p:spPr>
          <a:xfrm>
            <a:off x="347472" y="2395728"/>
            <a:ext cx="1865376" cy="182880"/>
          </a:xfrm>
          <a:prstGeom prst="rect">
            <a:avLst/>
          </a:prstGeom>
          <a:noFill/>
          <a:ln/>
        </p:spPr>
        <p:txBody>
          <a:bodyPr wrap="square" lIns="0" tIns="0" rIns="0" bIns="0" rtlCol="0" anchor="ctr"/>
          <a:lstStyle/>
          <a:p>
            <a:pPr indent="0" marL="0">
              <a:buNone/>
            </a:pPr>
            <a:r>
              <a:rPr lang="en-US" sz="800" i="1" dirty="0">
                <a:solidFill>
                  <a:srgbClr val="A78BFA"/>
                </a:solidFill>
                <a:latin typeface="Calibri" pitchFamily="34" charset="0"/>
                <a:ea typeface="Calibri" pitchFamily="34" charset="-122"/>
                <a:cs typeface="Calibri" pitchFamily="34" charset="-120"/>
              </a:rPr>
              <a:t>Networking</a:t>
            </a:r>
            <a:endParaRPr lang="en-US" sz="800" dirty="0"/>
          </a:p>
        </p:txBody>
      </p:sp>
      <p:sp>
        <p:nvSpPr>
          <p:cNvPr id="30" name="Text 28"/>
          <p:cNvSpPr/>
          <p:nvPr/>
        </p:nvSpPr>
        <p:spPr>
          <a:xfrm>
            <a:off x="347472" y="256032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Ingress</a:t>
            </a:r>
            <a:endParaRPr lang="en-US" sz="1200" dirty="0"/>
          </a:p>
        </p:txBody>
      </p:sp>
      <p:sp>
        <p:nvSpPr>
          <p:cNvPr id="31" name="Text 29"/>
          <p:cNvSpPr/>
          <p:nvPr/>
        </p:nvSpPr>
        <p:spPr>
          <a:xfrm>
            <a:off x="347472" y="285292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L7 HTTP/HTTPS routing. Routes external traffic based on hostname and path. Requires an Ingress Controller.</a:t>
            </a:r>
            <a:endParaRPr lang="en-US" sz="850" dirty="0"/>
          </a:p>
        </p:txBody>
      </p:sp>
      <p:sp>
        <p:nvSpPr>
          <p:cNvPr id="32" name="Shape 30"/>
          <p:cNvSpPr/>
          <p:nvPr/>
        </p:nvSpPr>
        <p:spPr>
          <a:xfrm>
            <a:off x="2432304" y="2286000"/>
            <a:ext cx="2048256" cy="1325880"/>
          </a:xfrm>
          <a:prstGeom prst="rect">
            <a:avLst/>
          </a:prstGeom>
          <a:solidFill>
            <a:srgbClr val="1E3059"/>
          </a:solidFill>
          <a:ln/>
        </p:spPr>
      </p:sp>
      <p:sp>
        <p:nvSpPr>
          <p:cNvPr id="33" name="Shape 31"/>
          <p:cNvSpPr/>
          <p:nvPr/>
        </p:nvSpPr>
        <p:spPr>
          <a:xfrm>
            <a:off x="2432304" y="2286000"/>
            <a:ext cx="2048256" cy="54864"/>
          </a:xfrm>
          <a:prstGeom prst="rect">
            <a:avLst/>
          </a:prstGeom>
          <a:solidFill>
            <a:srgbClr val="EF4444"/>
          </a:solidFill>
          <a:ln/>
        </p:spPr>
      </p:sp>
      <p:sp>
        <p:nvSpPr>
          <p:cNvPr id="34" name="Text 32"/>
          <p:cNvSpPr/>
          <p:nvPr/>
        </p:nvSpPr>
        <p:spPr>
          <a:xfrm>
            <a:off x="2523744" y="2395728"/>
            <a:ext cx="1865376" cy="182880"/>
          </a:xfrm>
          <a:prstGeom prst="rect">
            <a:avLst/>
          </a:prstGeom>
          <a:noFill/>
          <a:ln/>
        </p:spPr>
        <p:txBody>
          <a:bodyPr wrap="square" lIns="0" tIns="0" rIns="0" bIns="0" rtlCol="0" anchor="ctr"/>
          <a:lstStyle/>
          <a:p>
            <a:pPr indent="0" marL="0">
              <a:buNone/>
            </a:pPr>
            <a:r>
              <a:rPr lang="en-US" sz="800" i="1" dirty="0">
                <a:solidFill>
                  <a:srgbClr val="EF4444"/>
                </a:solidFill>
                <a:latin typeface="Calibri" pitchFamily="34" charset="0"/>
                <a:ea typeface="Calibri" pitchFamily="34" charset="-122"/>
                <a:cs typeface="Calibri" pitchFamily="34" charset="-120"/>
              </a:rPr>
              <a:t>Networking</a:t>
            </a:r>
            <a:endParaRPr lang="en-US" sz="800" dirty="0"/>
          </a:p>
        </p:txBody>
      </p:sp>
      <p:sp>
        <p:nvSpPr>
          <p:cNvPr id="35" name="Text 33"/>
          <p:cNvSpPr/>
          <p:nvPr/>
        </p:nvSpPr>
        <p:spPr>
          <a:xfrm>
            <a:off x="2523744" y="256032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NetworkPolicy</a:t>
            </a:r>
            <a:endParaRPr lang="en-US" sz="1200" dirty="0"/>
          </a:p>
        </p:txBody>
      </p:sp>
      <p:sp>
        <p:nvSpPr>
          <p:cNvPr id="36" name="Text 34"/>
          <p:cNvSpPr/>
          <p:nvPr/>
        </p:nvSpPr>
        <p:spPr>
          <a:xfrm>
            <a:off x="2523744" y="285292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Defines allowed ingress/egress traffic. Only enforced by the CNI plugin (Cilium/Calico). Default: allow all.</a:t>
            </a:r>
            <a:endParaRPr lang="en-US" sz="850" dirty="0"/>
          </a:p>
        </p:txBody>
      </p:sp>
      <p:sp>
        <p:nvSpPr>
          <p:cNvPr id="37" name="Shape 35"/>
          <p:cNvSpPr/>
          <p:nvPr/>
        </p:nvSpPr>
        <p:spPr>
          <a:xfrm>
            <a:off x="4608576" y="2286000"/>
            <a:ext cx="2048256" cy="1325880"/>
          </a:xfrm>
          <a:prstGeom prst="rect">
            <a:avLst/>
          </a:prstGeom>
          <a:solidFill>
            <a:srgbClr val="1E3059"/>
          </a:solidFill>
          <a:ln/>
        </p:spPr>
      </p:sp>
      <p:sp>
        <p:nvSpPr>
          <p:cNvPr id="38" name="Shape 36"/>
          <p:cNvSpPr/>
          <p:nvPr/>
        </p:nvSpPr>
        <p:spPr>
          <a:xfrm>
            <a:off x="4608576" y="2286000"/>
            <a:ext cx="2048256" cy="54864"/>
          </a:xfrm>
          <a:prstGeom prst="rect">
            <a:avLst/>
          </a:prstGeom>
          <a:solidFill>
            <a:srgbClr val="22D3EE"/>
          </a:solidFill>
          <a:ln/>
        </p:spPr>
      </p:sp>
      <p:sp>
        <p:nvSpPr>
          <p:cNvPr id="39" name="Text 37"/>
          <p:cNvSpPr/>
          <p:nvPr/>
        </p:nvSpPr>
        <p:spPr>
          <a:xfrm>
            <a:off x="4700016" y="2395728"/>
            <a:ext cx="1865376" cy="182880"/>
          </a:xfrm>
          <a:prstGeom prst="rect">
            <a:avLst/>
          </a:prstGeom>
          <a:noFill/>
          <a:ln/>
        </p:spPr>
        <p:txBody>
          <a:bodyPr wrap="square" lIns="0" tIns="0" rIns="0" bIns="0" rtlCol="0" anchor="ctr"/>
          <a:lstStyle/>
          <a:p>
            <a:pPr indent="0" marL="0">
              <a:buNone/>
            </a:pPr>
            <a:r>
              <a:rPr lang="en-US" sz="800" i="1" dirty="0">
                <a:solidFill>
                  <a:srgbClr val="22D3EE"/>
                </a:solidFill>
                <a:latin typeface="Calibri" pitchFamily="34" charset="0"/>
                <a:ea typeface="Calibri" pitchFamily="34" charset="-122"/>
                <a:cs typeface="Calibri" pitchFamily="34" charset="-120"/>
              </a:rPr>
              <a:t>Config</a:t>
            </a:r>
            <a:endParaRPr lang="en-US" sz="800" dirty="0"/>
          </a:p>
        </p:txBody>
      </p:sp>
      <p:sp>
        <p:nvSpPr>
          <p:cNvPr id="40" name="Text 38"/>
          <p:cNvSpPr/>
          <p:nvPr/>
        </p:nvSpPr>
        <p:spPr>
          <a:xfrm>
            <a:off x="4700016" y="256032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ConfigMap</a:t>
            </a:r>
            <a:endParaRPr lang="en-US" sz="1200" dirty="0"/>
          </a:p>
        </p:txBody>
      </p:sp>
      <p:sp>
        <p:nvSpPr>
          <p:cNvPr id="41" name="Text 39"/>
          <p:cNvSpPr/>
          <p:nvPr/>
        </p:nvSpPr>
        <p:spPr>
          <a:xfrm>
            <a:off x="4700016" y="285292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Non-secret configuration. Injected as env vars or volume mounts. Use for feature flags, config files.</a:t>
            </a:r>
            <a:endParaRPr lang="en-US" sz="850" dirty="0"/>
          </a:p>
        </p:txBody>
      </p:sp>
      <p:sp>
        <p:nvSpPr>
          <p:cNvPr id="42" name="Shape 40"/>
          <p:cNvSpPr/>
          <p:nvPr/>
        </p:nvSpPr>
        <p:spPr>
          <a:xfrm>
            <a:off x="6784848" y="2286000"/>
            <a:ext cx="2048256" cy="1325880"/>
          </a:xfrm>
          <a:prstGeom prst="rect">
            <a:avLst/>
          </a:prstGeom>
          <a:solidFill>
            <a:srgbClr val="1E3059"/>
          </a:solidFill>
          <a:ln/>
        </p:spPr>
      </p:sp>
      <p:sp>
        <p:nvSpPr>
          <p:cNvPr id="43" name="Shape 41"/>
          <p:cNvSpPr/>
          <p:nvPr/>
        </p:nvSpPr>
        <p:spPr>
          <a:xfrm>
            <a:off x="6784848" y="2286000"/>
            <a:ext cx="2048256" cy="54864"/>
          </a:xfrm>
          <a:prstGeom prst="rect">
            <a:avLst/>
          </a:prstGeom>
          <a:solidFill>
            <a:srgbClr val="FBBF24"/>
          </a:solidFill>
          <a:ln/>
        </p:spPr>
      </p:sp>
      <p:sp>
        <p:nvSpPr>
          <p:cNvPr id="44" name="Text 42"/>
          <p:cNvSpPr/>
          <p:nvPr/>
        </p:nvSpPr>
        <p:spPr>
          <a:xfrm>
            <a:off x="6876288" y="2395728"/>
            <a:ext cx="1865376" cy="182880"/>
          </a:xfrm>
          <a:prstGeom prst="rect">
            <a:avLst/>
          </a:prstGeom>
          <a:noFill/>
          <a:ln/>
        </p:spPr>
        <p:txBody>
          <a:bodyPr wrap="square" lIns="0" tIns="0" rIns="0" bIns="0" rtlCol="0" anchor="ctr"/>
          <a:lstStyle/>
          <a:p>
            <a:pPr indent="0" marL="0">
              <a:buNone/>
            </a:pPr>
            <a:r>
              <a:rPr lang="en-US" sz="800" i="1" dirty="0">
                <a:solidFill>
                  <a:srgbClr val="FBBF24"/>
                </a:solidFill>
                <a:latin typeface="Calibri" pitchFamily="34" charset="0"/>
                <a:ea typeface="Calibri" pitchFamily="34" charset="-122"/>
                <a:cs typeface="Calibri" pitchFamily="34" charset="-120"/>
              </a:rPr>
              <a:t>Config</a:t>
            </a:r>
            <a:endParaRPr lang="en-US" sz="800" dirty="0"/>
          </a:p>
        </p:txBody>
      </p:sp>
      <p:sp>
        <p:nvSpPr>
          <p:cNvPr id="45" name="Text 43"/>
          <p:cNvSpPr/>
          <p:nvPr/>
        </p:nvSpPr>
        <p:spPr>
          <a:xfrm>
            <a:off x="6876288" y="256032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Secret</a:t>
            </a:r>
            <a:endParaRPr lang="en-US" sz="1200" dirty="0"/>
          </a:p>
        </p:txBody>
      </p:sp>
      <p:sp>
        <p:nvSpPr>
          <p:cNvPr id="46" name="Text 44"/>
          <p:cNvSpPr/>
          <p:nvPr/>
        </p:nvSpPr>
        <p:spPr>
          <a:xfrm>
            <a:off x="6876288" y="285292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base64 only — NOT encrypted. NEVER use for prod secrets. Mount from external vault via CSI driver instead.</a:t>
            </a:r>
            <a:endParaRPr lang="en-US" sz="850" dirty="0"/>
          </a:p>
        </p:txBody>
      </p:sp>
      <p:sp>
        <p:nvSpPr>
          <p:cNvPr id="47" name="Shape 45"/>
          <p:cNvSpPr/>
          <p:nvPr/>
        </p:nvSpPr>
        <p:spPr>
          <a:xfrm>
            <a:off x="256032" y="3749040"/>
            <a:ext cx="2048256" cy="1325880"/>
          </a:xfrm>
          <a:prstGeom prst="rect">
            <a:avLst/>
          </a:prstGeom>
          <a:solidFill>
            <a:srgbClr val="1E3059"/>
          </a:solidFill>
          <a:ln/>
        </p:spPr>
      </p:sp>
      <p:sp>
        <p:nvSpPr>
          <p:cNvPr id="48" name="Shape 46"/>
          <p:cNvSpPr/>
          <p:nvPr/>
        </p:nvSpPr>
        <p:spPr>
          <a:xfrm>
            <a:off x="256032" y="3749040"/>
            <a:ext cx="2048256" cy="54864"/>
          </a:xfrm>
          <a:prstGeom prst="rect">
            <a:avLst/>
          </a:prstGeom>
          <a:solidFill>
            <a:srgbClr val="10B981"/>
          </a:solidFill>
          <a:ln/>
        </p:spPr>
      </p:sp>
      <p:sp>
        <p:nvSpPr>
          <p:cNvPr id="49" name="Text 47"/>
          <p:cNvSpPr/>
          <p:nvPr/>
        </p:nvSpPr>
        <p:spPr>
          <a:xfrm>
            <a:off x="347472" y="3858768"/>
            <a:ext cx="1865376" cy="182880"/>
          </a:xfrm>
          <a:prstGeom prst="rect">
            <a:avLst/>
          </a:prstGeom>
          <a:noFill/>
          <a:ln/>
        </p:spPr>
        <p:txBody>
          <a:bodyPr wrap="square" lIns="0" tIns="0" rIns="0" bIns="0" rtlCol="0" anchor="ctr"/>
          <a:lstStyle/>
          <a:p>
            <a:pPr indent="0" marL="0">
              <a:buNone/>
            </a:pPr>
            <a:r>
              <a:rPr lang="en-US" sz="800" i="1" dirty="0">
                <a:solidFill>
                  <a:srgbClr val="10B981"/>
                </a:solidFill>
                <a:latin typeface="Calibri" pitchFamily="34" charset="0"/>
                <a:ea typeface="Calibri" pitchFamily="34" charset="-122"/>
                <a:cs typeface="Calibri" pitchFamily="34" charset="-120"/>
              </a:rPr>
              <a:t>Identity</a:t>
            </a:r>
            <a:endParaRPr lang="en-US" sz="800" dirty="0"/>
          </a:p>
        </p:txBody>
      </p:sp>
      <p:sp>
        <p:nvSpPr>
          <p:cNvPr id="50" name="Text 48"/>
          <p:cNvSpPr/>
          <p:nvPr/>
        </p:nvSpPr>
        <p:spPr>
          <a:xfrm>
            <a:off x="347472" y="402336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ServiceAccount</a:t>
            </a:r>
            <a:endParaRPr lang="en-US" sz="1200" dirty="0"/>
          </a:p>
        </p:txBody>
      </p:sp>
      <p:sp>
        <p:nvSpPr>
          <p:cNvPr id="51" name="Text 49"/>
          <p:cNvSpPr/>
          <p:nvPr/>
        </p:nvSpPr>
        <p:spPr>
          <a:xfrm>
            <a:off x="347472" y="431596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Pod identity. The mechanism for IRSA, Workload Identity, SPIFFE/SPIRE. One SA per workload, not shared.</a:t>
            </a:r>
            <a:endParaRPr lang="en-US" sz="850" dirty="0"/>
          </a:p>
        </p:txBody>
      </p:sp>
      <p:sp>
        <p:nvSpPr>
          <p:cNvPr id="52" name="Shape 50"/>
          <p:cNvSpPr/>
          <p:nvPr/>
        </p:nvSpPr>
        <p:spPr>
          <a:xfrm>
            <a:off x="2432304" y="3749040"/>
            <a:ext cx="2048256" cy="1325880"/>
          </a:xfrm>
          <a:prstGeom prst="rect">
            <a:avLst/>
          </a:prstGeom>
          <a:solidFill>
            <a:srgbClr val="1E3059"/>
          </a:solidFill>
          <a:ln/>
        </p:spPr>
      </p:sp>
      <p:sp>
        <p:nvSpPr>
          <p:cNvPr id="53" name="Shape 51"/>
          <p:cNvSpPr/>
          <p:nvPr/>
        </p:nvSpPr>
        <p:spPr>
          <a:xfrm>
            <a:off x="2432304" y="3749040"/>
            <a:ext cx="2048256" cy="54864"/>
          </a:xfrm>
          <a:prstGeom prst="rect">
            <a:avLst/>
          </a:prstGeom>
          <a:solidFill>
            <a:srgbClr val="F59E0B"/>
          </a:solidFill>
          <a:ln/>
        </p:spPr>
      </p:sp>
      <p:sp>
        <p:nvSpPr>
          <p:cNvPr id="54" name="Text 52"/>
          <p:cNvSpPr/>
          <p:nvPr/>
        </p:nvSpPr>
        <p:spPr>
          <a:xfrm>
            <a:off x="2523744" y="3858768"/>
            <a:ext cx="1865376" cy="182880"/>
          </a:xfrm>
          <a:prstGeom prst="rect">
            <a:avLst/>
          </a:prstGeom>
          <a:noFill/>
          <a:ln/>
        </p:spPr>
        <p:txBody>
          <a:bodyPr wrap="square" lIns="0" tIns="0" rIns="0" bIns="0" rtlCol="0" anchor="ctr"/>
          <a:lstStyle/>
          <a:p>
            <a:pPr indent="0" marL="0">
              <a:buNone/>
            </a:pPr>
            <a:r>
              <a:rPr lang="en-US" sz="800" i="1" dirty="0">
                <a:solidFill>
                  <a:srgbClr val="F59E0B"/>
                </a:solidFill>
                <a:latin typeface="Calibri" pitchFamily="34" charset="0"/>
                <a:ea typeface="Calibri" pitchFamily="34" charset="-122"/>
                <a:cs typeface="Calibri" pitchFamily="34" charset="-120"/>
              </a:rPr>
              <a:t>RBAC</a:t>
            </a:r>
            <a:endParaRPr lang="en-US" sz="800" dirty="0"/>
          </a:p>
        </p:txBody>
      </p:sp>
      <p:sp>
        <p:nvSpPr>
          <p:cNvPr id="55" name="Text 53"/>
          <p:cNvSpPr/>
          <p:nvPr/>
        </p:nvSpPr>
        <p:spPr>
          <a:xfrm>
            <a:off x="2523744" y="402336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Role/Binding</a:t>
            </a:r>
            <a:endParaRPr lang="en-US" sz="1200" dirty="0"/>
          </a:p>
        </p:txBody>
      </p:sp>
      <p:sp>
        <p:nvSpPr>
          <p:cNvPr id="56" name="Text 54"/>
          <p:cNvSpPr/>
          <p:nvPr/>
        </p:nvSpPr>
        <p:spPr>
          <a:xfrm>
            <a:off x="2523744" y="431596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Defines permissions (verbs on resources) and binds them to subjects. Namespace-scoped. Never use cluster-admin.</a:t>
            </a:r>
            <a:endParaRPr lang="en-US" sz="850" dirty="0"/>
          </a:p>
        </p:txBody>
      </p:sp>
      <p:sp>
        <p:nvSpPr>
          <p:cNvPr id="57" name="Shape 55"/>
          <p:cNvSpPr/>
          <p:nvPr/>
        </p:nvSpPr>
        <p:spPr>
          <a:xfrm>
            <a:off x="4608576" y="3749040"/>
            <a:ext cx="2048256" cy="1325880"/>
          </a:xfrm>
          <a:prstGeom prst="rect">
            <a:avLst/>
          </a:prstGeom>
          <a:solidFill>
            <a:srgbClr val="1E3059"/>
          </a:solidFill>
          <a:ln/>
        </p:spPr>
      </p:sp>
      <p:sp>
        <p:nvSpPr>
          <p:cNvPr id="58" name="Shape 56"/>
          <p:cNvSpPr/>
          <p:nvPr/>
        </p:nvSpPr>
        <p:spPr>
          <a:xfrm>
            <a:off x="4608576" y="3749040"/>
            <a:ext cx="2048256" cy="54864"/>
          </a:xfrm>
          <a:prstGeom prst="rect">
            <a:avLst/>
          </a:prstGeom>
          <a:solidFill>
            <a:srgbClr val="60A5FA"/>
          </a:solidFill>
          <a:ln/>
        </p:spPr>
      </p:sp>
      <p:sp>
        <p:nvSpPr>
          <p:cNvPr id="59" name="Text 57"/>
          <p:cNvSpPr/>
          <p:nvPr/>
        </p:nvSpPr>
        <p:spPr>
          <a:xfrm>
            <a:off x="4700016" y="3858768"/>
            <a:ext cx="1865376" cy="182880"/>
          </a:xfrm>
          <a:prstGeom prst="rect">
            <a:avLst/>
          </a:prstGeom>
          <a:noFill/>
          <a:ln/>
        </p:spPr>
        <p:txBody>
          <a:bodyPr wrap="square" lIns="0" tIns="0" rIns="0" bIns="0" rtlCol="0" anchor="ctr"/>
          <a:lstStyle/>
          <a:p>
            <a:pPr indent="0" marL="0">
              <a:buNone/>
            </a:pPr>
            <a:r>
              <a:rPr lang="en-US" sz="800" i="1" dirty="0">
                <a:solidFill>
                  <a:srgbClr val="60A5FA"/>
                </a:solidFill>
                <a:latin typeface="Calibri" pitchFamily="34" charset="0"/>
                <a:ea typeface="Calibri" pitchFamily="34" charset="-122"/>
                <a:cs typeface="Calibri" pitchFamily="34" charset="-120"/>
              </a:rPr>
              <a:t>Storage</a:t>
            </a:r>
            <a:endParaRPr lang="en-US" sz="800" dirty="0"/>
          </a:p>
        </p:txBody>
      </p:sp>
      <p:sp>
        <p:nvSpPr>
          <p:cNvPr id="60" name="Text 58"/>
          <p:cNvSpPr/>
          <p:nvPr/>
        </p:nvSpPr>
        <p:spPr>
          <a:xfrm>
            <a:off x="4700016" y="402336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PVC/PV</a:t>
            </a:r>
            <a:endParaRPr lang="en-US" sz="1200" dirty="0"/>
          </a:p>
        </p:txBody>
      </p:sp>
      <p:sp>
        <p:nvSpPr>
          <p:cNvPr id="61" name="Text 59"/>
          <p:cNvSpPr/>
          <p:nvPr/>
        </p:nvSpPr>
        <p:spPr>
          <a:xfrm>
            <a:off x="4700016" y="431596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PersistentVolumeClaim requests storage; PV provides it. StorageClass enables dynamic provisioning.</a:t>
            </a:r>
            <a:endParaRPr lang="en-US" sz="850" dirty="0"/>
          </a:p>
        </p:txBody>
      </p:sp>
      <p:sp>
        <p:nvSpPr>
          <p:cNvPr id="62" name="Shape 60"/>
          <p:cNvSpPr/>
          <p:nvPr/>
        </p:nvSpPr>
        <p:spPr>
          <a:xfrm>
            <a:off x="6784848" y="3749040"/>
            <a:ext cx="2048256" cy="1325880"/>
          </a:xfrm>
          <a:prstGeom prst="rect">
            <a:avLst/>
          </a:prstGeom>
          <a:solidFill>
            <a:srgbClr val="1E3059"/>
          </a:solidFill>
          <a:ln/>
        </p:spPr>
      </p:sp>
      <p:sp>
        <p:nvSpPr>
          <p:cNvPr id="63" name="Shape 61"/>
          <p:cNvSpPr/>
          <p:nvPr/>
        </p:nvSpPr>
        <p:spPr>
          <a:xfrm>
            <a:off x="6784848" y="3749040"/>
            <a:ext cx="2048256" cy="54864"/>
          </a:xfrm>
          <a:prstGeom prst="rect">
            <a:avLst/>
          </a:prstGeom>
          <a:solidFill>
            <a:srgbClr val="94A3B8"/>
          </a:solidFill>
          <a:ln/>
        </p:spPr>
      </p:sp>
      <p:sp>
        <p:nvSpPr>
          <p:cNvPr id="64" name="Text 62"/>
          <p:cNvSpPr/>
          <p:nvPr/>
        </p:nvSpPr>
        <p:spPr>
          <a:xfrm>
            <a:off x="6876288" y="3858768"/>
            <a:ext cx="1865376" cy="182880"/>
          </a:xfrm>
          <a:prstGeom prst="rect">
            <a:avLst/>
          </a:prstGeom>
          <a:noFill/>
          <a:ln/>
        </p:spPr>
        <p:txBody>
          <a:bodyPr wrap="square" lIns="0" tIns="0" rIns="0" bIns="0"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Isolation</a:t>
            </a:r>
            <a:endParaRPr lang="en-US" sz="800" dirty="0"/>
          </a:p>
        </p:txBody>
      </p:sp>
      <p:sp>
        <p:nvSpPr>
          <p:cNvPr id="65" name="Text 63"/>
          <p:cNvSpPr/>
          <p:nvPr/>
        </p:nvSpPr>
        <p:spPr>
          <a:xfrm>
            <a:off x="6876288" y="4023360"/>
            <a:ext cx="1865376" cy="256032"/>
          </a:xfrm>
          <a:prstGeom prst="rect">
            <a:avLst/>
          </a:prstGeom>
          <a:noFill/>
          <a:ln/>
        </p:spPr>
        <p:txBody>
          <a:bodyPr wrap="square" lIns="0" tIns="0" rIns="0" bIns="0"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Namespace</a:t>
            </a:r>
            <a:endParaRPr lang="en-US" sz="1200" dirty="0"/>
          </a:p>
        </p:txBody>
      </p:sp>
      <p:sp>
        <p:nvSpPr>
          <p:cNvPr id="66" name="Text 64"/>
          <p:cNvSpPr/>
          <p:nvPr/>
        </p:nvSpPr>
        <p:spPr>
          <a:xfrm>
            <a:off x="6876288" y="4315968"/>
            <a:ext cx="1865376" cy="71323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Logical isolation boundary. Scopes RBAC, NetworkPolicy, ResourceQuota. NOT a security sandbox by itself.</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22D3EE"/>
                </a:solidFill>
              </a:rPr>
              <a:t>NETWORKING</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Kubernetes Networking Model</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Every pod gets a unique IP · No NAT between pods · CNI plugin enforces NetworkPolicy</a:t>
            </a:r>
            <a:endParaRPr lang="en-US" sz="1100" dirty="0"/>
          </a:p>
        </p:txBody>
      </p:sp>
      <p:pic>
        <p:nvPicPr>
          <p:cNvPr id="7" name="Image 0" descr="preencoded.png">    </p:cNvPr>
          <p:cNvPicPr>
            <a:picLocks noChangeAspect="1"/>
          </p:cNvPicPr>
          <p:nvPr/>
        </p:nvPicPr>
        <p:blipFill>
          <a:blip r:embed="rId1"/>
          <a:stretch>
            <a:fillRect/>
          </a:stretch>
        </p:blipFill>
        <p:spPr>
          <a:xfrm>
            <a:off x="228600" y="777240"/>
            <a:ext cx="8732520" cy="4160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22D3EE"/>
                </a:solidFill>
              </a:rPr>
              <a:t>NETWORKING</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Zero Trust Network Posture in Kubernetes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Default K8s = allow all. Zero trust requires explicit configuration.</a:t>
            </a:r>
            <a:endParaRPr lang="en-US" sz="1100" dirty="0"/>
          </a:p>
        </p:txBody>
      </p:sp>
      <p:sp>
        <p:nvSpPr>
          <p:cNvPr id="7" name="Shape 5"/>
          <p:cNvSpPr/>
          <p:nvPr/>
        </p:nvSpPr>
        <p:spPr>
          <a:xfrm>
            <a:off x="256032" y="822960"/>
            <a:ext cx="8705088" cy="658368"/>
          </a:xfrm>
          <a:prstGeom prst="rect">
            <a:avLst/>
          </a:prstGeom>
          <a:solidFill>
            <a:srgbClr val="2D0F0F"/>
          </a:solidFill>
          <a:ln/>
        </p:spPr>
      </p:sp>
      <p:sp>
        <p:nvSpPr>
          <p:cNvPr id="8" name="Shape 6"/>
          <p:cNvSpPr/>
          <p:nvPr/>
        </p:nvSpPr>
        <p:spPr>
          <a:xfrm>
            <a:off x="256032" y="822960"/>
            <a:ext cx="54864" cy="658368"/>
          </a:xfrm>
          <a:prstGeom prst="rect">
            <a:avLst/>
          </a:prstGeom>
          <a:solidFill>
            <a:srgbClr val="EF4444"/>
          </a:solidFill>
          <a:ln/>
        </p:spPr>
      </p:sp>
      <p:sp>
        <p:nvSpPr>
          <p:cNvPr id="9" name="Text 7"/>
          <p:cNvSpPr/>
          <p:nvPr/>
        </p:nvSpPr>
        <p:spPr>
          <a:xfrm>
            <a:off x="384048" y="868680"/>
            <a:ext cx="8412480" cy="5486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DEFAULT STATE: All pods can communicate with all other pods across all namespaces. This is the opposite of zero trust.</a:t>
            </a:r>
            <a:endParaRPr lang="en-US" sz="1300" dirty="0"/>
          </a:p>
        </p:txBody>
      </p:sp>
      <p:sp>
        <p:nvSpPr>
          <p:cNvPr id="10" name="Shape 8"/>
          <p:cNvSpPr/>
          <p:nvPr/>
        </p:nvSpPr>
        <p:spPr>
          <a:xfrm>
            <a:off x="256032" y="1572768"/>
            <a:ext cx="2066544" cy="3383280"/>
          </a:xfrm>
          <a:prstGeom prst="rect">
            <a:avLst/>
          </a:prstGeom>
          <a:solidFill>
            <a:srgbClr val="1E3059"/>
          </a:solidFill>
          <a:ln/>
        </p:spPr>
      </p:sp>
      <p:sp>
        <p:nvSpPr>
          <p:cNvPr id="11" name="Shape 9"/>
          <p:cNvSpPr/>
          <p:nvPr/>
        </p:nvSpPr>
        <p:spPr>
          <a:xfrm>
            <a:off x="256032" y="1572768"/>
            <a:ext cx="2066544" cy="548640"/>
          </a:xfrm>
          <a:prstGeom prst="rect">
            <a:avLst/>
          </a:prstGeom>
          <a:solidFill>
            <a:srgbClr val="EF4444">
              <a:alpha val="70000"/>
            </a:srgbClr>
          </a:solidFill>
          <a:ln/>
        </p:spPr>
      </p:sp>
      <p:sp>
        <p:nvSpPr>
          <p:cNvPr id="12" name="Text 10"/>
          <p:cNvSpPr/>
          <p:nvPr/>
        </p:nvSpPr>
        <p:spPr>
          <a:xfrm>
            <a:off x="256032" y="1572768"/>
            <a:ext cx="502920" cy="548640"/>
          </a:xfrm>
          <a:prstGeom prst="rect">
            <a:avLst/>
          </a:prstGeom>
          <a:noFill/>
          <a:ln/>
        </p:spPr>
        <p:txBody>
          <a:bodyPr wrap="square" lIns="0" tIns="0" rIns="0" bIns="0" rtlCol="0" anchor="ctr"/>
          <a:lstStyle/>
          <a:p>
            <a:pPr algn="ctr" indent="0" marL="0">
              <a:buNone/>
            </a:pPr>
            <a:r>
              <a:rPr lang="en-US" sz="2200" b="1" dirty="0">
                <a:solidFill>
                  <a:srgbClr val="EF4444"/>
                </a:solidFill>
                <a:latin typeface="Calibri" pitchFamily="34" charset="0"/>
                <a:ea typeface="Calibri" pitchFamily="34" charset="-122"/>
                <a:cs typeface="Calibri" pitchFamily="34" charset="-120"/>
              </a:rPr>
              <a:t>1</a:t>
            </a:r>
            <a:endParaRPr lang="en-US" sz="2200" dirty="0"/>
          </a:p>
        </p:txBody>
      </p:sp>
      <p:sp>
        <p:nvSpPr>
          <p:cNvPr id="13" name="Text 11"/>
          <p:cNvSpPr/>
          <p:nvPr/>
        </p:nvSpPr>
        <p:spPr>
          <a:xfrm>
            <a:off x="804672" y="1627632"/>
            <a:ext cx="1417320" cy="438912"/>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Default-Deny Policies</a:t>
            </a:r>
            <a:endParaRPr lang="en-US" sz="1100" dirty="0"/>
          </a:p>
        </p:txBody>
      </p:sp>
      <p:sp>
        <p:nvSpPr>
          <p:cNvPr id="14" name="Text 12"/>
          <p:cNvSpPr/>
          <p:nvPr/>
        </p:nvSpPr>
        <p:spPr>
          <a:xfrm>
            <a:off x="365760" y="2194560"/>
            <a:ext cx="1828800" cy="27157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Apply a deny-all ingress AND deny-all egress NetworkPolicy to every namespace.</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Without this, any pod can reach any other pod across all namespaces. Even after adding allowlist policies, the default-deny is your safety net.</a:t>
            </a:r>
            <a:endParaRPr lang="en-US" sz="950" dirty="0"/>
          </a:p>
        </p:txBody>
      </p:sp>
      <p:sp>
        <p:nvSpPr>
          <p:cNvPr id="15" name="Shape 13"/>
          <p:cNvSpPr/>
          <p:nvPr/>
        </p:nvSpPr>
        <p:spPr>
          <a:xfrm>
            <a:off x="2450592" y="1572768"/>
            <a:ext cx="2066544" cy="3383280"/>
          </a:xfrm>
          <a:prstGeom prst="rect">
            <a:avLst/>
          </a:prstGeom>
          <a:solidFill>
            <a:srgbClr val="1E3059"/>
          </a:solidFill>
          <a:ln/>
        </p:spPr>
      </p:sp>
      <p:sp>
        <p:nvSpPr>
          <p:cNvPr id="16" name="Shape 14"/>
          <p:cNvSpPr/>
          <p:nvPr/>
        </p:nvSpPr>
        <p:spPr>
          <a:xfrm>
            <a:off x="2450592" y="1572768"/>
            <a:ext cx="2066544" cy="548640"/>
          </a:xfrm>
          <a:prstGeom prst="rect">
            <a:avLst/>
          </a:prstGeom>
          <a:solidFill>
            <a:srgbClr val="F59E0B">
              <a:alpha val="70000"/>
            </a:srgbClr>
          </a:solidFill>
          <a:ln/>
        </p:spPr>
      </p:sp>
      <p:sp>
        <p:nvSpPr>
          <p:cNvPr id="17" name="Text 15"/>
          <p:cNvSpPr/>
          <p:nvPr/>
        </p:nvSpPr>
        <p:spPr>
          <a:xfrm>
            <a:off x="2450592" y="1572768"/>
            <a:ext cx="502920" cy="548640"/>
          </a:xfrm>
          <a:prstGeom prst="rect">
            <a:avLst/>
          </a:prstGeom>
          <a:noFill/>
          <a:ln/>
        </p:spPr>
        <p:txBody>
          <a:bodyPr wrap="square" lIns="0" tIns="0" rIns="0" bIns="0" rtlCol="0" anchor="ctr"/>
          <a:lstStyle/>
          <a:p>
            <a:pPr algn="ctr" indent="0" marL="0">
              <a:buNone/>
            </a:pPr>
            <a:r>
              <a:rPr lang="en-US" sz="2200" b="1" dirty="0">
                <a:solidFill>
                  <a:srgbClr val="F59E0B"/>
                </a:solidFill>
                <a:latin typeface="Calibri" pitchFamily="34" charset="0"/>
                <a:ea typeface="Calibri" pitchFamily="34" charset="-122"/>
                <a:cs typeface="Calibri" pitchFamily="34" charset="-120"/>
              </a:rPr>
              <a:t>2</a:t>
            </a:r>
            <a:endParaRPr lang="en-US" sz="2200" dirty="0"/>
          </a:p>
        </p:txBody>
      </p:sp>
      <p:sp>
        <p:nvSpPr>
          <p:cNvPr id="18" name="Text 16"/>
          <p:cNvSpPr/>
          <p:nvPr/>
        </p:nvSpPr>
        <p:spPr>
          <a:xfrm>
            <a:off x="2999232" y="1627632"/>
            <a:ext cx="1417320" cy="438912"/>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Explicit Allowlist Policies</a:t>
            </a:r>
            <a:endParaRPr lang="en-US" sz="1100" dirty="0"/>
          </a:p>
        </p:txBody>
      </p:sp>
      <p:sp>
        <p:nvSpPr>
          <p:cNvPr id="19" name="Text 17"/>
          <p:cNvSpPr/>
          <p:nvPr/>
        </p:nvSpPr>
        <p:spPr>
          <a:xfrm>
            <a:off x="2560320" y="2194560"/>
            <a:ext cx="1828800" cy="27157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Define NetworkPolicies that allow only the specific communication paths your application requires.</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Document every allowed path. If you can't justify a communication path, block it.</a:t>
            </a:r>
            <a:endParaRPr lang="en-US" sz="950" dirty="0"/>
          </a:p>
        </p:txBody>
      </p:sp>
      <p:sp>
        <p:nvSpPr>
          <p:cNvPr id="20" name="Shape 18"/>
          <p:cNvSpPr/>
          <p:nvPr/>
        </p:nvSpPr>
        <p:spPr>
          <a:xfrm>
            <a:off x="4645152" y="1572768"/>
            <a:ext cx="2066544" cy="3383280"/>
          </a:xfrm>
          <a:prstGeom prst="rect">
            <a:avLst/>
          </a:prstGeom>
          <a:solidFill>
            <a:srgbClr val="1E3059"/>
          </a:solidFill>
          <a:ln/>
        </p:spPr>
      </p:sp>
      <p:sp>
        <p:nvSpPr>
          <p:cNvPr id="21" name="Shape 19"/>
          <p:cNvSpPr/>
          <p:nvPr/>
        </p:nvSpPr>
        <p:spPr>
          <a:xfrm>
            <a:off x="4645152" y="1572768"/>
            <a:ext cx="2066544" cy="548640"/>
          </a:xfrm>
          <a:prstGeom prst="rect">
            <a:avLst/>
          </a:prstGeom>
          <a:solidFill>
            <a:srgbClr val="FBBF24">
              <a:alpha val="70000"/>
            </a:srgbClr>
          </a:solidFill>
          <a:ln/>
        </p:spPr>
      </p:sp>
      <p:sp>
        <p:nvSpPr>
          <p:cNvPr id="22" name="Text 20"/>
          <p:cNvSpPr/>
          <p:nvPr/>
        </p:nvSpPr>
        <p:spPr>
          <a:xfrm>
            <a:off x="4645152" y="1572768"/>
            <a:ext cx="502920" cy="548640"/>
          </a:xfrm>
          <a:prstGeom prst="rect">
            <a:avLst/>
          </a:prstGeom>
          <a:noFill/>
          <a:ln/>
        </p:spPr>
        <p:txBody>
          <a:bodyPr wrap="square" lIns="0" tIns="0" rIns="0" bIns="0" rtlCol="0" anchor="ctr"/>
          <a:lstStyle/>
          <a:p>
            <a:pPr algn="ctr" indent="0" marL="0">
              <a:buNone/>
            </a:pPr>
            <a:r>
              <a:rPr lang="en-US" sz="2200" b="1" dirty="0">
                <a:solidFill>
                  <a:srgbClr val="FBBF24"/>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5193792" y="1627632"/>
            <a:ext cx="1417320" cy="438912"/>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Egress Controls</a:t>
            </a:r>
            <a:endParaRPr lang="en-US" sz="1100" dirty="0"/>
          </a:p>
        </p:txBody>
      </p:sp>
      <p:sp>
        <p:nvSpPr>
          <p:cNvPr id="24" name="Text 22"/>
          <p:cNvSpPr/>
          <p:nvPr/>
        </p:nvSpPr>
        <p:spPr>
          <a:xfrm>
            <a:off x="4754880" y="2194560"/>
            <a:ext cx="1828800" cy="27157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Restrict pod egress to known internal services and explicitly approved external endpoints.</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Block unrestricted internet egress from all pods. A pod that can reach the internet is a data exfiltration risk.</a:t>
            </a:r>
            <a:endParaRPr lang="en-US" sz="950" dirty="0"/>
          </a:p>
        </p:txBody>
      </p:sp>
      <p:sp>
        <p:nvSpPr>
          <p:cNvPr id="25" name="Shape 23"/>
          <p:cNvSpPr/>
          <p:nvPr/>
        </p:nvSpPr>
        <p:spPr>
          <a:xfrm>
            <a:off x="6839712" y="1572768"/>
            <a:ext cx="2066544" cy="3383280"/>
          </a:xfrm>
          <a:prstGeom prst="rect">
            <a:avLst/>
          </a:prstGeom>
          <a:solidFill>
            <a:srgbClr val="1E3059"/>
          </a:solidFill>
          <a:ln/>
        </p:spPr>
      </p:sp>
      <p:sp>
        <p:nvSpPr>
          <p:cNvPr id="26" name="Shape 24"/>
          <p:cNvSpPr/>
          <p:nvPr/>
        </p:nvSpPr>
        <p:spPr>
          <a:xfrm>
            <a:off x="6839712" y="1572768"/>
            <a:ext cx="2066544" cy="548640"/>
          </a:xfrm>
          <a:prstGeom prst="rect">
            <a:avLst/>
          </a:prstGeom>
          <a:solidFill>
            <a:srgbClr val="10B981">
              <a:alpha val="70000"/>
            </a:srgbClr>
          </a:solidFill>
          <a:ln/>
        </p:spPr>
      </p:sp>
      <p:sp>
        <p:nvSpPr>
          <p:cNvPr id="27" name="Text 25"/>
          <p:cNvSpPr/>
          <p:nvPr/>
        </p:nvSpPr>
        <p:spPr>
          <a:xfrm>
            <a:off x="6839712" y="1572768"/>
            <a:ext cx="502920" cy="548640"/>
          </a:xfrm>
          <a:prstGeom prst="rect">
            <a:avLst/>
          </a:prstGeom>
          <a:noFill/>
          <a:ln/>
        </p:spPr>
        <p:txBody>
          <a:bodyPr wrap="square" lIns="0" tIns="0" rIns="0" bIns="0" rtlCol="0" anchor="ctr"/>
          <a:lstStyle/>
          <a:p>
            <a:pPr algn="ctr" indent="0" marL="0">
              <a:buNone/>
            </a:pPr>
            <a:r>
              <a:rPr lang="en-US" sz="2200" b="1" dirty="0">
                <a:solidFill>
                  <a:srgbClr val="10B981"/>
                </a:solidFill>
                <a:latin typeface="Calibri" pitchFamily="34" charset="0"/>
                <a:ea typeface="Calibri" pitchFamily="34" charset="-122"/>
                <a:cs typeface="Calibri" pitchFamily="34" charset="-120"/>
              </a:rPr>
              <a:t>4</a:t>
            </a:r>
            <a:endParaRPr lang="en-US" sz="2200" dirty="0"/>
          </a:p>
        </p:txBody>
      </p:sp>
      <p:sp>
        <p:nvSpPr>
          <p:cNvPr id="28" name="Text 26"/>
          <p:cNvSpPr/>
          <p:nvPr/>
        </p:nvSpPr>
        <p:spPr>
          <a:xfrm>
            <a:off x="7388352" y="1627632"/>
            <a:ext cx="1417320" cy="438912"/>
          </a:xfrm>
          <a:prstGeom prst="rect">
            <a:avLst/>
          </a:prstGeom>
          <a:noFill/>
          <a:ln/>
        </p:spPr>
        <p:txBody>
          <a:bodyPr wrap="square" lIns="0" tIns="0" rIns="0" bIns="0"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CNI with L7 Enforcement</a:t>
            </a:r>
            <a:endParaRPr lang="en-US" sz="1100" dirty="0"/>
          </a:p>
        </p:txBody>
      </p:sp>
      <p:sp>
        <p:nvSpPr>
          <p:cNvPr id="29" name="Text 27"/>
          <p:cNvSpPr/>
          <p:nvPr/>
        </p:nvSpPr>
        <p:spPr>
          <a:xfrm>
            <a:off x="6949440" y="2194560"/>
            <a:ext cx="1828800" cy="27157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Use Cilium or Calico. kubenet does NOT enforce NetworkPolicy.</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Cilium (eBPF) provides L7-aware policy (HTTP methods, paths), replaces kube-proxy, and delivers detailed network observability including intranode traffic.</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For ingress routing, prefer Gateway API (GA since v1.28) over Ingress for new deployments. Ingress NGINX has announced retirement.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FBBF24"/>
                </a:solidFill>
              </a:rPr>
              <a:t>RBAC</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Role-Based Access Control (RBAC)</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Subjects + Bindings + Roles = Permissions · RBAC is additive — no deny rules</a:t>
            </a:r>
            <a:endParaRPr lang="en-US" sz="1100" dirty="0"/>
          </a:p>
        </p:txBody>
      </p:sp>
      <p:pic>
        <p:nvPicPr>
          <p:cNvPr id="7" name="Image 0" descr="preencoded.png">    </p:cNvPr>
          <p:cNvPicPr>
            <a:picLocks noChangeAspect="1"/>
          </p:cNvPicPr>
          <p:nvPr/>
        </p:nvPicPr>
        <p:blipFill>
          <a:blip r:embed="rId1"/>
          <a:stretch>
            <a:fillRect/>
          </a:stretch>
        </p:blipFill>
        <p:spPr>
          <a:xfrm>
            <a:off x="228600" y="777240"/>
            <a:ext cx="8732520" cy="4160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10B981"/>
                </a:solidFill>
              </a:rPr>
              <a:t>POD SECURITY</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Pod Security Architecture</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Pod Security Standards + critical spec controls — enforced via admission webhook (OPA/Kyverno)</a:t>
            </a:r>
            <a:endParaRPr lang="en-US" sz="1100" dirty="0"/>
          </a:p>
        </p:txBody>
      </p:sp>
      <p:pic>
        <p:nvPicPr>
          <p:cNvPr id="7" name="Image 0" descr="preencoded.png">    </p:cNvPr>
          <p:cNvPicPr>
            <a:picLocks noChangeAspect="1"/>
          </p:cNvPicPr>
          <p:nvPr/>
        </p:nvPicPr>
        <p:blipFill>
          <a:blip r:embed="rId1"/>
          <a:stretch>
            <a:fillRect/>
          </a:stretch>
        </p:blipFill>
        <p:spPr>
          <a:xfrm>
            <a:off x="228600" y="777240"/>
            <a:ext cx="8732520" cy="4160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A78BFA"/>
                </a:solidFill>
              </a:rPr>
              <a:t>SECRETS MGMT</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Secrets Management Architecture</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Kubernetes Secrets = base64 only. The correct architecture never stores secrets in etcd.</a:t>
            </a:r>
            <a:endParaRPr lang="en-US" sz="1100" dirty="0"/>
          </a:p>
        </p:txBody>
      </p:sp>
      <p:pic>
        <p:nvPicPr>
          <p:cNvPr id="7" name="Image 0" descr="preencoded.png">    </p:cNvPr>
          <p:cNvPicPr>
            <a:picLocks noChangeAspect="1"/>
          </p:cNvPicPr>
          <p:nvPr/>
        </p:nvPicPr>
        <p:blipFill>
          <a:blip r:embed="rId1"/>
          <a:stretch>
            <a:fillRect/>
          </a:stretch>
        </p:blipFill>
        <p:spPr>
          <a:xfrm>
            <a:off x="228600" y="777240"/>
            <a:ext cx="8732520" cy="4160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A78BFA"/>
                </a:solidFill>
              </a:rPr>
              <a:t>STORAGE</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Storage Architecture &amp; CSI</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PersistentVolumes · StorageClasses · CSI Secrets Store driver</a:t>
            </a:r>
            <a:endParaRPr lang="en-US" sz="1100" dirty="0"/>
          </a:p>
        </p:txBody>
      </p:sp>
      <p:sp>
        <p:nvSpPr>
          <p:cNvPr id="7" name="Text 5"/>
          <p:cNvSpPr/>
          <p:nvPr/>
        </p:nvSpPr>
        <p:spPr>
          <a:xfrm>
            <a:off x="256032" y="822960"/>
            <a:ext cx="4160520" cy="274320"/>
          </a:xfrm>
          <a:prstGeom prst="rect">
            <a:avLst/>
          </a:prstGeom>
          <a:noFill/>
          <a:ln/>
        </p:spPr>
        <p:txBody>
          <a:bodyPr wrap="square" lIns="0" tIns="0" rIns="0" bIns="0" rtlCol="0" anchor="ctr"/>
          <a:lstStyle/>
          <a:p>
            <a:pPr indent="0" marL="0">
              <a:buNone/>
            </a:pPr>
            <a:r>
              <a:rPr lang="en-US" sz="1100" b="1" dirty="0">
                <a:solidFill>
                  <a:srgbClr val="60A5FA"/>
                </a:solidFill>
                <a:latin typeface="Calibri" pitchFamily="34" charset="0"/>
                <a:ea typeface="Calibri" pitchFamily="34" charset="-122"/>
                <a:cs typeface="Calibri" pitchFamily="34" charset="-120"/>
              </a:rPr>
              <a:t>VOLUME TYPES</a:t>
            </a:r>
            <a:endParaRPr lang="en-US" sz="1100" dirty="0"/>
          </a:p>
        </p:txBody>
      </p:sp>
      <p:sp>
        <p:nvSpPr>
          <p:cNvPr id="8" name="Shape 6"/>
          <p:cNvSpPr/>
          <p:nvPr/>
        </p:nvSpPr>
        <p:spPr>
          <a:xfrm>
            <a:off x="256032" y="1143000"/>
            <a:ext cx="4160520" cy="804672"/>
          </a:xfrm>
          <a:prstGeom prst="rect">
            <a:avLst/>
          </a:prstGeom>
          <a:solidFill>
            <a:srgbClr val="1E3059"/>
          </a:solidFill>
          <a:ln/>
        </p:spPr>
      </p:sp>
      <p:sp>
        <p:nvSpPr>
          <p:cNvPr id="9" name="Shape 7"/>
          <p:cNvSpPr/>
          <p:nvPr/>
        </p:nvSpPr>
        <p:spPr>
          <a:xfrm>
            <a:off x="256032" y="1143000"/>
            <a:ext cx="54864" cy="804672"/>
          </a:xfrm>
          <a:prstGeom prst="rect">
            <a:avLst/>
          </a:prstGeom>
          <a:solidFill>
            <a:srgbClr val="22D3EE"/>
          </a:solidFill>
          <a:ln/>
        </p:spPr>
      </p:sp>
      <p:sp>
        <p:nvSpPr>
          <p:cNvPr id="10" name="Text 8"/>
          <p:cNvSpPr/>
          <p:nvPr/>
        </p:nvSpPr>
        <p:spPr>
          <a:xfrm>
            <a:off x="384048" y="1207008"/>
            <a:ext cx="3886200" cy="256032"/>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emptyDir</a:t>
            </a:r>
            <a:endParaRPr lang="en-US" sz="1200" dirty="0"/>
          </a:p>
        </p:txBody>
      </p:sp>
      <p:sp>
        <p:nvSpPr>
          <p:cNvPr id="11" name="Text 9"/>
          <p:cNvSpPr/>
          <p:nvPr/>
        </p:nvSpPr>
        <p:spPr>
          <a:xfrm>
            <a:off x="384048" y="1508760"/>
            <a:ext cx="3886200"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Ephemeral scratch space. Deleted with the pod. Shared between containers in same pod.</a:t>
            </a:r>
            <a:endParaRPr lang="en-US" sz="950" dirty="0"/>
          </a:p>
        </p:txBody>
      </p:sp>
      <p:sp>
        <p:nvSpPr>
          <p:cNvPr id="12" name="Shape 10"/>
          <p:cNvSpPr/>
          <p:nvPr/>
        </p:nvSpPr>
        <p:spPr>
          <a:xfrm>
            <a:off x="256032" y="2075688"/>
            <a:ext cx="4160520" cy="804672"/>
          </a:xfrm>
          <a:prstGeom prst="rect">
            <a:avLst/>
          </a:prstGeom>
          <a:solidFill>
            <a:srgbClr val="1E3059"/>
          </a:solidFill>
          <a:ln/>
        </p:spPr>
      </p:sp>
      <p:sp>
        <p:nvSpPr>
          <p:cNvPr id="13" name="Shape 11"/>
          <p:cNvSpPr/>
          <p:nvPr/>
        </p:nvSpPr>
        <p:spPr>
          <a:xfrm>
            <a:off x="256032" y="2075688"/>
            <a:ext cx="54864" cy="804672"/>
          </a:xfrm>
          <a:prstGeom prst="rect">
            <a:avLst/>
          </a:prstGeom>
          <a:solidFill>
            <a:srgbClr val="EF4444"/>
          </a:solidFill>
          <a:ln/>
        </p:spPr>
      </p:sp>
      <p:sp>
        <p:nvSpPr>
          <p:cNvPr id="14" name="Text 12"/>
          <p:cNvSpPr/>
          <p:nvPr/>
        </p:nvSpPr>
        <p:spPr>
          <a:xfrm>
            <a:off x="384048" y="2139696"/>
            <a:ext cx="3886200" cy="256032"/>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hostPath</a:t>
            </a:r>
            <a:endParaRPr lang="en-US" sz="1200" dirty="0"/>
          </a:p>
        </p:txBody>
      </p:sp>
      <p:sp>
        <p:nvSpPr>
          <p:cNvPr id="15" name="Text 13"/>
          <p:cNvSpPr/>
          <p:nvPr/>
        </p:nvSpPr>
        <p:spPr>
          <a:xfrm>
            <a:off x="384048" y="2441448"/>
            <a:ext cx="3886200"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AVOID IN PRODUCTION. Mounts node filesystem into pod. Can expose /etc, /var, sensitive host files to container.</a:t>
            </a:r>
            <a:endParaRPr lang="en-US" sz="950" dirty="0"/>
          </a:p>
        </p:txBody>
      </p:sp>
      <p:sp>
        <p:nvSpPr>
          <p:cNvPr id="16" name="Shape 14"/>
          <p:cNvSpPr/>
          <p:nvPr/>
        </p:nvSpPr>
        <p:spPr>
          <a:xfrm>
            <a:off x="256032" y="3008376"/>
            <a:ext cx="4160520" cy="804672"/>
          </a:xfrm>
          <a:prstGeom prst="rect">
            <a:avLst/>
          </a:prstGeom>
          <a:solidFill>
            <a:srgbClr val="1E3059"/>
          </a:solidFill>
          <a:ln/>
        </p:spPr>
      </p:sp>
      <p:sp>
        <p:nvSpPr>
          <p:cNvPr id="17" name="Shape 15"/>
          <p:cNvSpPr/>
          <p:nvPr/>
        </p:nvSpPr>
        <p:spPr>
          <a:xfrm>
            <a:off x="256032" y="3008376"/>
            <a:ext cx="54864" cy="804672"/>
          </a:xfrm>
          <a:prstGeom prst="rect">
            <a:avLst/>
          </a:prstGeom>
          <a:solidFill>
            <a:srgbClr val="10B981"/>
          </a:solidFill>
          <a:ln/>
        </p:spPr>
      </p:sp>
      <p:sp>
        <p:nvSpPr>
          <p:cNvPr id="18" name="Text 16"/>
          <p:cNvSpPr/>
          <p:nvPr/>
        </p:nvSpPr>
        <p:spPr>
          <a:xfrm>
            <a:off x="384048" y="3072384"/>
            <a:ext cx="3886200" cy="256032"/>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PVC</a:t>
            </a:r>
            <a:endParaRPr lang="en-US" sz="1200" dirty="0"/>
          </a:p>
        </p:txBody>
      </p:sp>
      <p:sp>
        <p:nvSpPr>
          <p:cNvPr id="19" name="Text 17"/>
          <p:cNvSpPr/>
          <p:nvPr/>
        </p:nvSpPr>
        <p:spPr>
          <a:xfrm>
            <a:off x="384048" y="3374136"/>
            <a:ext cx="3886200"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Correct pattern for persistent storage. Decouples storage lifecycle from pod lifecycle. Backed by cloud block storage.</a:t>
            </a:r>
            <a:endParaRPr lang="en-US" sz="950" dirty="0"/>
          </a:p>
        </p:txBody>
      </p:sp>
      <p:sp>
        <p:nvSpPr>
          <p:cNvPr id="20" name="Shape 18"/>
          <p:cNvSpPr/>
          <p:nvPr/>
        </p:nvSpPr>
        <p:spPr>
          <a:xfrm>
            <a:off x="256032" y="3941064"/>
            <a:ext cx="4160520" cy="804672"/>
          </a:xfrm>
          <a:prstGeom prst="rect">
            <a:avLst/>
          </a:prstGeom>
          <a:solidFill>
            <a:srgbClr val="1E3059"/>
          </a:solidFill>
          <a:ln/>
        </p:spPr>
      </p:sp>
      <p:sp>
        <p:nvSpPr>
          <p:cNvPr id="21" name="Shape 19"/>
          <p:cNvSpPr/>
          <p:nvPr/>
        </p:nvSpPr>
        <p:spPr>
          <a:xfrm>
            <a:off x="256032" y="3941064"/>
            <a:ext cx="54864" cy="804672"/>
          </a:xfrm>
          <a:prstGeom prst="rect">
            <a:avLst/>
          </a:prstGeom>
          <a:solidFill>
            <a:srgbClr val="A78BFA"/>
          </a:solidFill>
          <a:ln/>
        </p:spPr>
      </p:sp>
      <p:sp>
        <p:nvSpPr>
          <p:cNvPr id="22" name="Text 20"/>
          <p:cNvSpPr/>
          <p:nvPr/>
        </p:nvSpPr>
        <p:spPr>
          <a:xfrm>
            <a:off x="384048" y="4005072"/>
            <a:ext cx="3886200" cy="256032"/>
          </a:xfrm>
          <a:prstGeom prst="rect">
            <a:avLst/>
          </a:prstGeom>
          <a:noFill/>
          <a:ln/>
        </p:spPr>
        <p:txBody>
          <a:bodyPr wrap="square" lIns="0" tIns="0" rIns="0" bIns="0" rtlCol="0" anchor="ctr"/>
          <a:lstStyle/>
          <a:p>
            <a:pPr indent="0" marL="0">
              <a:buNone/>
            </a:pPr>
            <a:r>
              <a:rPr lang="en-US" sz="1200" b="1" dirty="0">
                <a:solidFill>
                  <a:srgbClr val="A78BFA"/>
                </a:solidFill>
                <a:latin typeface="Calibri" pitchFamily="34" charset="0"/>
                <a:ea typeface="Calibri" pitchFamily="34" charset="-122"/>
                <a:cs typeface="Calibri" pitchFamily="34" charset="-120"/>
              </a:rPr>
              <a:t>CSI</a:t>
            </a:r>
            <a:endParaRPr lang="en-US" sz="1200" dirty="0"/>
          </a:p>
        </p:txBody>
      </p:sp>
      <p:sp>
        <p:nvSpPr>
          <p:cNvPr id="23" name="Text 21"/>
          <p:cNvSpPr/>
          <p:nvPr/>
        </p:nvSpPr>
        <p:spPr>
          <a:xfrm>
            <a:off x="384048" y="4306824"/>
            <a:ext cx="3886200"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Plugin-based storage. Enables external secrets stores (Vault, Secrets Manager, Key Vault) to mount directly into pods.</a:t>
            </a:r>
            <a:endParaRPr lang="en-US" sz="950" dirty="0"/>
          </a:p>
        </p:txBody>
      </p:sp>
      <p:sp>
        <p:nvSpPr>
          <p:cNvPr id="24" name="Text 22"/>
          <p:cNvSpPr/>
          <p:nvPr/>
        </p:nvSpPr>
        <p:spPr>
          <a:xfrm>
            <a:off x="4572000" y="822960"/>
            <a:ext cx="4389120" cy="274320"/>
          </a:xfrm>
          <a:prstGeom prst="rect">
            <a:avLst/>
          </a:prstGeom>
          <a:noFill/>
          <a:ln/>
        </p:spPr>
        <p:txBody>
          <a:bodyPr wrap="square" lIns="0" tIns="0" rIns="0" bIns="0" rtlCol="0" anchor="ctr"/>
          <a:lstStyle/>
          <a:p>
            <a:pPr indent="0" marL="0">
              <a:buNone/>
            </a:pPr>
            <a:r>
              <a:rPr lang="en-US" sz="1100" b="1" dirty="0">
                <a:solidFill>
                  <a:srgbClr val="A78BFA"/>
                </a:solidFill>
                <a:latin typeface="Calibri" pitchFamily="34" charset="0"/>
                <a:ea typeface="Calibri" pitchFamily="34" charset="-122"/>
                <a:cs typeface="Calibri" pitchFamily="34" charset="-120"/>
              </a:rPr>
              <a:t>CSI SECRETS STORE DRIVER PATTERN</a:t>
            </a:r>
            <a:endParaRPr lang="en-US" sz="1100" dirty="0"/>
          </a:p>
        </p:txBody>
      </p:sp>
      <p:sp>
        <p:nvSpPr>
          <p:cNvPr id="25" name="Shape 23"/>
          <p:cNvSpPr/>
          <p:nvPr/>
        </p:nvSpPr>
        <p:spPr>
          <a:xfrm>
            <a:off x="4572000" y="1143000"/>
            <a:ext cx="4389120" cy="3794760"/>
          </a:xfrm>
          <a:prstGeom prst="rect">
            <a:avLst/>
          </a:prstGeom>
          <a:solidFill>
            <a:srgbClr val="1E3059"/>
          </a:solidFill>
          <a:ln/>
        </p:spPr>
      </p:sp>
      <p:sp>
        <p:nvSpPr>
          <p:cNvPr id="26" name="Shape 24"/>
          <p:cNvSpPr/>
          <p:nvPr/>
        </p:nvSpPr>
        <p:spPr>
          <a:xfrm>
            <a:off x="4663440" y="1261872"/>
            <a:ext cx="384048" cy="384048"/>
          </a:xfrm>
          <a:prstGeom prst="ellipse">
            <a:avLst/>
          </a:prstGeom>
          <a:solidFill>
            <a:srgbClr val="10B981"/>
          </a:solidFill>
          <a:ln/>
        </p:spPr>
      </p:sp>
      <p:sp>
        <p:nvSpPr>
          <p:cNvPr id="27" name="Text 25"/>
          <p:cNvSpPr/>
          <p:nvPr/>
        </p:nvSpPr>
        <p:spPr>
          <a:xfrm>
            <a:off x="4663440" y="1261872"/>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rPr>
              <a:t>1</a:t>
            </a:r>
            <a:endParaRPr lang="en-US" sz="1400" dirty="0"/>
          </a:p>
        </p:txBody>
      </p:sp>
      <p:sp>
        <p:nvSpPr>
          <p:cNvPr id="28" name="Text 26"/>
          <p:cNvSpPr/>
          <p:nvPr/>
        </p:nvSpPr>
        <p:spPr>
          <a:xfrm>
            <a:off x="5166360" y="1243584"/>
            <a:ext cx="3611880" cy="256032"/>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External Secrets Manager</a:t>
            </a:r>
            <a:endParaRPr lang="en-US" sz="1100" dirty="0"/>
          </a:p>
        </p:txBody>
      </p:sp>
      <p:sp>
        <p:nvSpPr>
          <p:cNvPr id="29" name="Text 27"/>
          <p:cNvSpPr/>
          <p:nvPr/>
        </p:nvSpPr>
        <p:spPr>
          <a:xfrm>
            <a:off x="5166360" y="1508760"/>
            <a:ext cx="361188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Vault / AWS Secrets Manager</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Azure Key Vault / GCP Secret Manager</a:t>
            </a:r>
            <a:endParaRPr lang="en-US" sz="900" dirty="0"/>
          </a:p>
        </p:txBody>
      </p:sp>
      <p:sp>
        <p:nvSpPr>
          <p:cNvPr id="30" name="Shape 28"/>
          <p:cNvSpPr/>
          <p:nvPr/>
        </p:nvSpPr>
        <p:spPr>
          <a:xfrm>
            <a:off x="4855464" y="1664208"/>
            <a:ext cx="0" cy="466344"/>
          </a:xfrm>
          <a:prstGeom prst="line">
            <a:avLst/>
          </a:prstGeom>
          <a:noFill/>
          <a:ln w="19050">
            <a:solidFill>
              <a:srgbClr val="10B981"/>
            </a:solidFill>
            <a:prstDash val="dash"/>
          </a:ln>
        </p:spPr>
      </p:sp>
      <p:sp>
        <p:nvSpPr>
          <p:cNvPr id="31" name="Shape 29"/>
          <p:cNvSpPr/>
          <p:nvPr/>
        </p:nvSpPr>
        <p:spPr>
          <a:xfrm>
            <a:off x="4663440" y="2130552"/>
            <a:ext cx="384048" cy="384048"/>
          </a:xfrm>
          <a:prstGeom prst="ellipse">
            <a:avLst/>
          </a:prstGeom>
          <a:solidFill>
            <a:srgbClr val="22D3EE"/>
          </a:solidFill>
          <a:ln/>
        </p:spPr>
      </p:sp>
      <p:sp>
        <p:nvSpPr>
          <p:cNvPr id="32" name="Text 30"/>
          <p:cNvSpPr/>
          <p:nvPr/>
        </p:nvSpPr>
        <p:spPr>
          <a:xfrm>
            <a:off x="4663440" y="2130552"/>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rPr>
              <a:t>2</a:t>
            </a:r>
            <a:endParaRPr lang="en-US" sz="1400" dirty="0"/>
          </a:p>
        </p:txBody>
      </p:sp>
      <p:sp>
        <p:nvSpPr>
          <p:cNvPr id="33" name="Text 31"/>
          <p:cNvSpPr/>
          <p:nvPr/>
        </p:nvSpPr>
        <p:spPr>
          <a:xfrm>
            <a:off x="5166360" y="2112264"/>
            <a:ext cx="3611880" cy="256032"/>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CSI Driver (node agent)</a:t>
            </a:r>
            <a:endParaRPr lang="en-US" sz="1100" dirty="0"/>
          </a:p>
        </p:txBody>
      </p:sp>
      <p:sp>
        <p:nvSpPr>
          <p:cNvPr id="34" name="Text 32"/>
          <p:cNvSpPr/>
          <p:nvPr/>
        </p:nvSpPr>
        <p:spPr>
          <a:xfrm>
            <a:off x="5166360" y="2377440"/>
            <a:ext cx="361188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Fetches secrets on pod start.</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Holds in tmpfs. Short TTL.</a:t>
            </a:r>
            <a:endParaRPr lang="en-US" sz="900" dirty="0"/>
          </a:p>
        </p:txBody>
      </p:sp>
      <p:sp>
        <p:nvSpPr>
          <p:cNvPr id="35" name="Shape 33"/>
          <p:cNvSpPr/>
          <p:nvPr/>
        </p:nvSpPr>
        <p:spPr>
          <a:xfrm>
            <a:off x="4855464" y="2532888"/>
            <a:ext cx="0" cy="466344"/>
          </a:xfrm>
          <a:prstGeom prst="line">
            <a:avLst/>
          </a:prstGeom>
          <a:noFill/>
          <a:ln w="19050">
            <a:solidFill>
              <a:srgbClr val="22D3EE"/>
            </a:solidFill>
            <a:prstDash val="dash"/>
          </a:ln>
        </p:spPr>
      </p:sp>
      <p:sp>
        <p:nvSpPr>
          <p:cNvPr id="36" name="Shape 34"/>
          <p:cNvSpPr/>
          <p:nvPr/>
        </p:nvSpPr>
        <p:spPr>
          <a:xfrm>
            <a:off x="4663440" y="2999232"/>
            <a:ext cx="384048" cy="384048"/>
          </a:xfrm>
          <a:prstGeom prst="ellipse">
            <a:avLst/>
          </a:prstGeom>
          <a:solidFill>
            <a:srgbClr val="3B82F6"/>
          </a:solidFill>
          <a:ln/>
        </p:spPr>
      </p:sp>
      <p:sp>
        <p:nvSpPr>
          <p:cNvPr id="37" name="Text 35"/>
          <p:cNvSpPr/>
          <p:nvPr/>
        </p:nvSpPr>
        <p:spPr>
          <a:xfrm>
            <a:off x="4663440" y="2999232"/>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rPr>
              <a:t>3</a:t>
            </a:r>
            <a:endParaRPr lang="en-US" sz="1400" dirty="0"/>
          </a:p>
        </p:txBody>
      </p:sp>
      <p:sp>
        <p:nvSpPr>
          <p:cNvPr id="38" name="Text 36"/>
          <p:cNvSpPr/>
          <p:nvPr/>
        </p:nvSpPr>
        <p:spPr>
          <a:xfrm>
            <a:off x="5166360" y="2980944"/>
            <a:ext cx="3611880" cy="256032"/>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Volume mount in pod</a:t>
            </a:r>
            <a:endParaRPr lang="en-US" sz="1100" dirty="0"/>
          </a:p>
        </p:txBody>
      </p:sp>
      <p:sp>
        <p:nvSpPr>
          <p:cNvPr id="39" name="Text 37"/>
          <p:cNvSpPr/>
          <p:nvPr/>
        </p:nvSpPr>
        <p:spPr>
          <a:xfrm>
            <a:off x="5166360" y="3246120"/>
            <a:ext cx="361188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App reads from file path.</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No env var, no K8s Secret.</a:t>
            </a:r>
            <a:endParaRPr lang="en-US" sz="900" dirty="0"/>
          </a:p>
        </p:txBody>
      </p:sp>
      <p:sp>
        <p:nvSpPr>
          <p:cNvPr id="40" name="Shape 38"/>
          <p:cNvSpPr/>
          <p:nvPr/>
        </p:nvSpPr>
        <p:spPr>
          <a:xfrm>
            <a:off x="4855464" y="3401568"/>
            <a:ext cx="0" cy="466344"/>
          </a:xfrm>
          <a:prstGeom prst="line">
            <a:avLst/>
          </a:prstGeom>
          <a:noFill/>
          <a:ln w="19050">
            <a:solidFill>
              <a:srgbClr val="3B82F6"/>
            </a:solidFill>
            <a:prstDash val="dash"/>
          </a:ln>
        </p:spPr>
      </p:sp>
      <p:sp>
        <p:nvSpPr>
          <p:cNvPr id="41" name="Shape 39"/>
          <p:cNvSpPr/>
          <p:nvPr/>
        </p:nvSpPr>
        <p:spPr>
          <a:xfrm>
            <a:off x="4663440" y="3867912"/>
            <a:ext cx="384048" cy="384048"/>
          </a:xfrm>
          <a:prstGeom prst="ellipse">
            <a:avLst/>
          </a:prstGeom>
          <a:solidFill>
            <a:srgbClr val="A78BFA"/>
          </a:solidFill>
          <a:ln/>
        </p:spPr>
      </p:sp>
      <p:sp>
        <p:nvSpPr>
          <p:cNvPr id="42" name="Text 40"/>
          <p:cNvSpPr/>
          <p:nvPr/>
        </p:nvSpPr>
        <p:spPr>
          <a:xfrm>
            <a:off x="4663440" y="3867912"/>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rPr>
              <a:t>4</a:t>
            </a:r>
            <a:endParaRPr lang="en-US" sz="1400" dirty="0"/>
          </a:p>
        </p:txBody>
      </p:sp>
      <p:sp>
        <p:nvSpPr>
          <p:cNvPr id="43" name="Text 41"/>
          <p:cNvSpPr/>
          <p:nvPr/>
        </p:nvSpPr>
        <p:spPr>
          <a:xfrm>
            <a:off x="5166360" y="3849624"/>
            <a:ext cx="3611880" cy="256032"/>
          </a:xfrm>
          <a:prstGeom prst="rect">
            <a:avLst/>
          </a:prstGeom>
          <a:noFill/>
          <a:ln/>
        </p:spPr>
        <p:txBody>
          <a:bodyPr wrap="square" lIns="0" tIns="0" rIns="0" bIns="0" rtlCol="0" anchor="ctr"/>
          <a:lstStyle/>
          <a:p>
            <a:pPr indent="0" marL="0">
              <a:buNone/>
            </a:pPr>
            <a:r>
              <a:rPr lang="en-US" sz="1100" b="1" dirty="0">
                <a:solidFill>
                  <a:srgbClr val="A78BFA"/>
                </a:solidFill>
                <a:latin typeface="Calibri" pitchFamily="34" charset="0"/>
                <a:ea typeface="Calibri" pitchFamily="34" charset="-122"/>
                <a:cs typeface="Calibri" pitchFamily="34" charset="-120"/>
              </a:rPr>
              <a:t>Auto-rotation</a:t>
            </a:r>
            <a:endParaRPr lang="en-US" sz="1100" dirty="0"/>
          </a:p>
        </p:txBody>
      </p:sp>
      <p:sp>
        <p:nvSpPr>
          <p:cNvPr id="44" name="Text 42"/>
          <p:cNvSpPr/>
          <p:nvPr/>
        </p:nvSpPr>
        <p:spPr>
          <a:xfrm>
            <a:off x="5166360" y="4114800"/>
            <a:ext cx="361188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Store rotates → driver detects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 remounts without pod restart.</a:t>
            </a:r>
            <a:endParaRPr lang="en-US" sz="900" dirty="0"/>
          </a:p>
        </p:txBody>
      </p:sp>
      <p:sp>
        <p:nvSpPr>
          <p:cNvPr id="45" name="Shape 43"/>
          <p:cNvSpPr/>
          <p:nvPr/>
        </p:nvSpPr>
        <p:spPr>
          <a:xfrm>
            <a:off x="4572000" y="4736592"/>
            <a:ext cx="4389120" cy="246888"/>
          </a:xfrm>
          <a:prstGeom prst="rect">
            <a:avLst/>
          </a:prstGeom>
          <a:solidFill>
            <a:srgbClr val="0F3A27"/>
          </a:solidFill>
          <a:ln/>
        </p:spPr>
      </p:sp>
      <p:sp>
        <p:nvSpPr>
          <p:cNvPr id="46" name="Text 44"/>
          <p:cNvSpPr/>
          <p:nvPr/>
        </p:nvSpPr>
        <p:spPr>
          <a:xfrm>
            <a:off x="4663440" y="4764024"/>
            <a:ext cx="4206240" cy="201168"/>
          </a:xfrm>
          <a:prstGeom prst="rect">
            <a:avLst/>
          </a:prstGeom>
          <a:noFill/>
          <a:ln/>
        </p:spPr>
        <p:txBody>
          <a:bodyPr wrap="square" lIns="0" tIns="0" rIns="0" bIns="0" rtlCol="0" anchor="ctr"/>
          <a:lstStyle/>
          <a:p>
            <a:pPr indent="0" marL="0">
              <a:buNone/>
            </a:pPr>
            <a:r>
              <a:rPr lang="en-US" sz="850" dirty="0">
                <a:solidFill>
                  <a:srgbClr val="10B981"/>
                </a:solidFill>
                <a:latin typeface="Calibri" pitchFamily="34" charset="0"/>
                <a:ea typeface="Calibri" pitchFamily="34" charset="-122"/>
                <a:cs typeface="Calibri" pitchFamily="34" charset="-120"/>
              </a:rPr>
              <a:t>RESULT: etcd contains zero sensitive credentials · All secrets short-lived and audited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1C35"/>
          </a:solidFill>
          <a:ln/>
        </p:spPr>
      </p:sp>
      <p:sp>
        <p:nvSpPr>
          <p:cNvPr id="3" name="Text 1"/>
          <p:cNvSpPr/>
          <p:nvPr/>
        </p:nvSpPr>
        <p:spPr>
          <a:xfrm rot="16200000">
            <a:off x="0" y="1371600"/>
            <a:ext cx="5143500" cy="164592"/>
          </a:xfrm>
          <a:prstGeom prst="rect">
            <a:avLst/>
          </a:prstGeom>
          <a:noFill/>
          <a:ln/>
        </p:spPr>
        <p:txBody>
          <a:bodyPr wrap="square" lIns="0" tIns="0" rIns="0" bIns="0" rtlCol="0" anchor="ctr"/>
          <a:lstStyle/>
          <a:p>
            <a:pPr algn="ctr" indent="0" marL="0">
              <a:buNone/>
            </a:pPr>
            <a:r>
              <a:rPr lang="en-US" sz="800" b="1" spc="300" kern="0" dirty="0">
                <a:solidFill>
                  <a:srgbClr val="F59E0B"/>
                </a:solidFill>
              </a:rPr>
              <a:t>OPERATIONS</a:t>
            </a:r>
            <a:endParaRPr lang="en-US" sz="800" dirty="0"/>
          </a:p>
        </p:txBody>
      </p:sp>
      <p:sp>
        <p:nvSpPr>
          <p:cNvPr id="4" name="Shape 2"/>
          <p:cNvSpPr/>
          <p:nvPr/>
        </p:nvSpPr>
        <p:spPr>
          <a:xfrm>
            <a:off x="164592" y="0"/>
            <a:ext cx="8979408" cy="713232"/>
          </a:xfrm>
          <a:prstGeom prst="rect">
            <a:avLst/>
          </a:prstGeom>
          <a:solidFill>
            <a:srgbClr val="0F1C35"/>
          </a:solidFill>
          <a:ln/>
        </p:spPr>
      </p:sp>
      <p:sp>
        <p:nvSpPr>
          <p:cNvPr id="5" name="Text 3"/>
          <p:cNvSpPr/>
          <p:nvPr/>
        </p:nvSpPr>
        <p:spPr>
          <a:xfrm>
            <a:off x="274320" y="36576"/>
            <a:ext cx="8046720" cy="402336"/>
          </a:xfrm>
          <a:prstGeom prst="rect">
            <a:avLst/>
          </a:prstGeom>
          <a:noFill/>
          <a:ln/>
        </p:spPr>
        <p:txBody>
          <a:bodyPr wrap="square" lIns="0" tIns="0" rIns="0" bIns="0" rtlCol="0" anchor="ctr"/>
          <a:lstStyle/>
          <a:p>
            <a:pPr indent="0" marL="0">
              <a:buNone/>
            </a:pPr>
            <a:r>
              <a:rPr lang="en-US" sz="2400" b="1" dirty="0">
                <a:solidFill>
                  <a:srgbClr val="F1F5F9"/>
                </a:solidFill>
                <a:latin typeface="Calibri" pitchFamily="34" charset="0"/>
                <a:ea typeface="Calibri" pitchFamily="34" charset="-122"/>
                <a:cs typeface="Calibri" pitchFamily="34" charset="-120"/>
              </a:rPr>
              <a:t>Observability &amp; Operations</a:t>
            </a:r>
            <a:endParaRPr lang="en-US" sz="2400" dirty="0"/>
          </a:p>
        </p:txBody>
      </p:sp>
      <p:sp>
        <p:nvSpPr>
          <p:cNvPr id="6" name="Text 4"/>
          <p:cNvSpPr/>
          <p:nvPr/>
        </p:nvSpPr>
        <p:spPr>
          <a:xfrm>
            <a:off x="274320" y="420624"/>
            <a:ext cx="8046720" cy="246888"/>
          </a:xfrm>
          <a:prstGeom prst="rect">
            <a:avLst/>
          </a:prstGeom>
          <a:noFill/>
          <a:ln/>
        </p:spPr>
        <p:txBody>
          <a:bodyPr wrap="square" lIns="0" tIns="0" rIns="0" bIns="0" rtlCol="0" anchor="t"/>
          <a:lstStyle/>
          <a:p>
            <a:pPr indent="0" marL="0">
              <a:buNone/>
            </a:pPr>
            <a:r>
              <a:rPr lang="en-US" sz="1100" dirty="0">
                <a:solidFill>
                  <a:srgbClr val="60A5FA"/>
                </a:solidFill>
                <a:latin typeface="Calibri" pitchFamily="34" charset="0"/>
                <a:ea typeface="Calibri" pitchFamily="34" charset="-122"/>
                <a:cs typeface="Calibri" pitchFamily="34" charset="-120"/>
              </a:rPr>
              <a:t>Metrics · Logs · Traces · Audit Logging · Upgrade Strategy · Multi-Cluster</a:t>
            </a:r>
            <a:endParaRPr lang="en-US" sz="1100" dirty="0"/>
          </a:p>
        </p:txBody>
      </p:sp>
      <p:sp>
        <p:nvSpPr>
          <p:cNvPr id="7" name="Text 5"/>
          <p:cNvSpPr/>
          <p:nvPr/>
        </p:nvSpPr>
        <p:spPr>
          <a:xfrm>
            <a:off x="256032" y="822960"/>
            <a:ext cx="8705088" cy="256032"/>
          </a:xfrm>
          <a:prstGeom prst="rect">
            <a:avLst/>
          </a:prstGeom>
          <a:noFill/>
          <a:ln/>
        </p:spPr>
        <p:txBody>
          <a:bodyPr wrap="square" lIns="0" tIns="0" rIns="0" bIns="0" rtlCol="0" anchor="ctr"/>
          <a:lstStyle/>
          <a:p>
            <a:pPr indent="0" marL="0">
              <a:buNone/>
            </a:pPr>
            <a:r>
              <a:rPr lang="en-US" sz="1100" b="1" dirty="0">
                <a:solidFill>
                  <a:srgbClr val="60A5FA"/>
                </a:solidFill>
                <a:latin typeface="Calibri" pitchFamily="34" charset="0"/>
                <a:ea typeface="Calibri" pitchFamily="34" charset="-122"/>
                <a:cs typeface="Calibri" pitchFamily="34" charset="-120"/>
              </a:rPr>
              <a:t>THE THREE OBSERVABILITY PILLARS</a:t>
            </a:r>
            <a:endParaRPr lang="en-US" sz="1100" dirty="0"/>
          </a:p>
        </p:txBody>
      </p:sp>
      <p:sp>
        <p:nvSpPr>
          <p:cNvPr id="8" name="Shape 6"/>
          <p:cNvSpPr/>
          <p:nvPr/>
        </p:nvSpPr>
        <p:spPr>
          <a:xfrm>
            <a:off x="256032" y="1133856"/>
            <a:ext cx="2779776" cy="1554480"/>
          </a:xfrm>
          <a:prstGeom prst="rect">
            <a:avLst/>
          </a:prstGeom>
          <a:solidFill>
            <a:srgbClr val="1E3059"/>
          </a:solidFill>
          <a:ln/>
        </p:spPr>
      </p:sp>
      <p:sp>
        <p:nvSpPr>
          <p:cNvPr id="9" name="Shape 7"/>
          <p:cNvSpPr/>
          <p:nvPr/>
        </p:nvSpPr>
        <p:spPr>
          <a:xfrm>
            <a:off x="256032" y="1133856"/>
            <a:ext cx="2779776" cy="54864"/>
          </a:xfrm>
          <a:prstGeom prst="rect">
            <a:avLst/>
          </a:prstGeom>
          <a:solidFill>
            <a:srgbClr val="3B82F6"/>
          </a:solidFill>
          <a:ln/>
        </p:spPr>
      </p:sp>
      <p:pic>
        <p:nvPicPr>
          <p:cNvPr id="10" name="Image 0" descr="preencoded.png">    </p:cNvPr>
          <p:cNvPicPr>
            <a:picLocks noChangeAspect="1"/>
          </p:cNvPicPr>
          <p:nvPr/>
        </p:nvPicPr>
        <p:blipFill>
          <a:blip r:embed="rId1"/>
          <a:stretch>
            <a:fillRect/>
          </a:stretch>
        </p:blipFill>
        <p:spPr>
          <a:xfrm>
            <a:off x="365760" y="1225296"/>
            <a:ext cx="365760" cy="365760"/>
          </a:xfrm>
          <a:prstGeom prst="rect">
            <a:avLst/>
          </a:prstGeom>
        </p:spPr>
      </p:pic>
      <p:sp>
        <p:nvSpPr>
          <p:cNvPr id="11" name="Text 8"/>
          <p:cNvSpPr/>
          <p:nvPr/>
        </p:nvSpPr>
        <p:spPr>
          <a:xfrm>
            <a:off x="822960" y="1225296"/>
            <a:ext cx="2103120" cy="365760"/>
          </a:xfrm>
          <a:prstGeom prst="rect">
            <a:avLst/>
          </a:prstGeom>
          <a:noFill/>
          <a:ln/>
        </p:spPr>
        <p:txBody>
          <a:bodyPr wrap="square" lIns="0" tIns="0" rIns="0" bIns="0" rtlCol="0" anchor="ctr"/>
          <a:lstStyle/>
          <a:p>
            <a:pPr indent="0" marL="0">
              <a:buNone/>
            </a:pPr>
            <a:r>
              <a:rPr lang="en-US" sz="1400" b="1" dirty="0">
                <a:solidFill>
                  <a:srgbClr val="3B82F6"/>
                </a:solidFill>
                <a:latin typeface="Calibri" pitchFamily="34" charset="0"/>
                <a:ea typeface="Calibri" pitchFamily="34" charset="-122"/>
                <a:cs typeface="Calibri" pitchFamily="34" charset="-120"/>
              </a:rPr>
              <a:t>Metrics</a:t>
            </a:r>
            <a:endParaRPr lang="en-US" sz="1400" dirty="0"/>
          </a:p>
        </p:txBody>
      </p:sp>
      <p:sp>
        <p:nvSpPr>
          <p:cNvPr id="12" name="Text 9"/>
          <p:cNvSpPr/>
          <p:nvPr/>
        </p:nvSpPr>
        <p:spPr>
          <a:xfrm>
            <a:off x="365760" y="1664208"/>
            <a:ext cx="2560320" cy="98755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Prometheus (or cloud-native equiv) is the standard. Node Exporter for OS metrics, kube-state-metrics for K8s object state, /metrics endpoints on pods. Metrics Server for kubectl top and HPA.</a:t>
            </a:r>
            <a:endParaRPr lang="en-US" sz="950" dirty="0"/>
          </a:p>
        </p:txBody>
      </p:sp>
      <p:sp>
        <p:nvSpPr>
          <p:cNvPr id="13" name="Shape 10"/>
          <p:cNvSpPr/>
          <p:nvPr/>
        </p:nvSpPr>
        <p:spPr>
          <a:xfrm>
            <a:off x="3163824" y="1133856"/>
            <a:ext cx="2779776" cy="1554480"/>
          </a:xfrm>
          <a:prstGeom prst="rect">
            <a:avLst/>
          </a:prstGeom>
          <a:solidFill>
            <a:srgbClr val="1E3059"/>
          </a:solidFill>
          <a:ln/>
        </p:spPr>
      </p:sp>
      <p:sp>
        <p:nvSpPr>
          <p:cNvPr id="14" name="Shape 11"/>
          <p:cNvSpPr/>
          <p:nvPr/>
        </p:nvSpPr>
        <p:spPr>
          <a:xfrm>
            <a:off x="3163824" y="1133856"/>
            <a:ext cx="2779776" cy="54864"/>
          </a:xfrm>
          <a:prstGeom prst="rect">
            <a:avLst/>
          </a:prstGeom>
          <a:solidFill>
            <a:srgbClr val="22D3EE"/>
          </a:solidFill>
          <a:ln/>
        </p:spPr>
      </p:sp>
      <p:pic>
        <p:nvPicPr>
          <p:cNvPr id="15" name="Image 1" descr="preencoded.png">    </p:cNvPr>
          <p:cNvPicPr>
            <a:picLocks noChangeAspect="1"/>
          </p:cNvPicPr>
          <p:nvPr/>
        </p:nvPicPr>
        <p:blipFill>
          <a:blip r:embed="rId2"/>
          <a:stretch>
            <a:fillRect/>
          </a:stretch>
        </p:blipFill>
        <p:spPr>
          <a:xfrm>
            <a:off x="3273552" y="1225296"/>
            <a:ext cx="365760" cy="365760"/>
          </a:xfrm>
          <a:prstGeom prst="rect">
            <a:avLst/>
          </a:prstGeom>
        </p:spPr>
      </p:pic>
      <p:sp>
        <p:nvSpPr>
          <p:cNvPr id="16" name="Text 12"/>
          <p:cNvSpPr/>
          <p:nvPr/>
        </p:nvSpPr>
        <p:spPr>
          <a:xfrm>
            <a:off x="3730752" y="1225296"/>
            <a:ext cx="2103120" cy="365760"/>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Logs</a:t>
            </a:r>
            <a:endParaRPr lang="en-US" sz="1400" dirty="0"/>
          </a:p>
        </p:txBody>
      </p:sp>
      <p:sp>
        <p:nvSpPr>
          <p:cNvPr id="17" name="Text 13"/>
          <p:cNvSpPr/>
          <p:nvPr/>
        </p:nvSpPr>
        <p:spPr>
          <a:xfrm>
            <a:off x="3273552" y="1664208"/>
            <a:ext cx="2560320" cy="98755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No native log aggregation. DaemonSet-based agents (Fluent Bit, Filebeat) collect container stdout/stderr and ship to Elasticsearch, CloudWatch, Azure Monitor, Cloud Logging, or Splunk.</a:t>
            </a:r>
            <a:endParaRPr lang="en-US" sz="950" dirty="0"/>
          </a:p>
        </p:txBody>
      </p:sp>
      <p:sp>
        <p:nvSpPr>
          <p:cNvPr id="18" name="Shape 14"/>
          <p:cNvSpPr/>
          <p:nvPr/>
        </p:nvSpPr>
        <p:spPr>
          <a:xfrm>
            <a:off x="6071616" y="1133856"/>
            <a:ext cx="2779776" cy="1554480"/>
          </a:xfrm>
          <a:prstGeom prst="rect">
            <a:avLst/>
          </a:prstGeom>
          <a:solidFill>
            <a:srgbClr val="1E3059"/>
          </a:solidFill>
          <a:ln/>
        </p:spPr>
      </p:sp>
      <p:sp>
        <p:nvSpPr>
          <p:cNvPr id="19" name="Shape 15"/>
          <p:cNvSpPr/>
          <p:nvPr/>
        </p:nvSpPr>
        <p:spPr>
          <a:xfrm>
            <a:off x="6071616" y="1133856"/>
            <a:ext cx="2779776" cy="54864"/>
          </a:xfrm>
          <a:prstGeom prst="rect">
            <a:avLst/>
          </a:prstGeom>
          <a:solidFill>
            <a:srgbClr val="A78BFA"/>
          </a:solidFill>
          <a:ln/>
        </p:spPr>
      </p:sp>
      <p:pic>
        <p:nvPicPr>
          <p:cNvPr id="20" name="Image 2" descr="preencoded.png">    </p:cNvPr>
          <p:cNvPicPr>
            <a:picLocks noChangeAspect="1"/>
          </p:cNvPicPr>
          <p:nvPr/>
        </p:nvPicPr>
        <p:blipFill>
          <a:blip r:embed="rId3"/>
          <a:stretch>
            <a:fillRect/>
          </a:stretch>
        </p:blipFill>
        <p:spPr>
          <a:xfrm>
            <a:off x="6181344" y="1225296"/>
            <a:ext cx="365760" cy="365760"/>
          </a:xfrm>
          <a:prstGeom prst="rect">
            <a:avLst/>
          </a:prstGeom>
        </p:spPr>
      </p:pic>
      <p:sp>
        <p:nvSpPr>
          <p:cNvPr id="21" name="Text 16"/>
          <p:cNvSpPr/>
          <p:nvPr/>
        </p:nvSpPr>
        <p:spPr>
          <a:xfrm>
            <a:off x="6638544" y="1225296"/>
            <a:ext cx="2103120" cy="36576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Traces</a:t>
            </a:r>
            <a:endParaRPr lang="en-US" sz="1400" dirty="0"/>
          </a:p>
        </p:txBody>
      </p:sp>
      <p:sp>
        <p:nvSpPr>
          <p:cNvPr id="22" name="Text 17"/>
          <p:cNvSpPr/>
          <p:nvPr/>
        </p:nvSpPr>
        <p:spPr>
          <a:xfrm>
            <a:off x="6181344" y="1664208"/>
            <a:ext cx="2560320" cy="98755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Requires instrumentation (OpenTelemetry) or service mesh sidecar injection. Not automatic. Jaeger or Zipkin as backends. Essential for debugging latency in microservice architectures.</a:t>
            </a:r>
            <a:endParaRPr lang="en-US" sz="950" dirty="0"/>
          </a:p>
        </p:txBody>
      </p:sp>
      <p:sp>
        <p:nvSpPr>
          <p:cNvPr id="23" name="Shape 18"/>
          <p:cNvSpPr/>
          <p:nvPr/>
        </p:nvSpPr>
        <p:spPr>
          <a:xfrm>
            <a:off x="256032" y="2788920"/>
            <a:ext cx="4206240" cy="2212848"/>
          </a:xfrm>
          <a:prstGeom prst="rect">
            <a:avLst/>
          </a:prstGeom>
          <a:solidFill>
            <a:srgbClr val="1E3059"/>
          </a:solidFill>
          <a:ln/>
        </p:spPr>
      </p:sp>
      <p:sp>
        <p:nvSpPr>
          <p:cNvPr id="24" name="Shape 19"/>
          <p:cNvSpPr/>
          <p:nvPr/>
        </p:nvSpPr>
        <p:spPr>
          <a:xfrm>
            <a:off x="256032" y="2788920"/>
            <a:ext cx="54864" cy="2212848"/>
          </a:xfrm>
          <a:prstGeom prst="rect">
            <a:avLst/>
          </a:prstGeom>
          <a:solidFill>
            <a:srgbClr val="EF4444"/>
          </a:solidFill>
          <a:ln/>
        </p:spPr>
      </p:sp>
      <p:sp>
        <p:nvSpPr>
          <p:cNvPr id="25" name="Text 20"/>
          <p:cNvSpPr/>
          <p:nvPr/>
        </p:nvSpPr>
        <p:spPr>
          <a:xfrm>
            <a:off x="384048" y="2834640"/>
            <a:ext cx="3931920" cy="27432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Audit Logging (Security Critical)</a:t>
            </a:r>
            <a:endParaRPr lang="en-US" sz="1200" dirty="0"/>
          </a:p>
        </p:txBody>
      </p:sp>
      <p:sp>
        <p:nvSpPr>
          <p:cNvPr id="26" name="Text 21"/>
          <p:cNvSpPr/>
          <p:nvPr/>
        </p:nvSpPr>
        <p:spPr>
          <a:xfrm>
            <a:off x="384048" y="3163824"/>
            <a:ext cx="3931920" cy="17739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Records every request to kube-apiserver. NOT enabled by default in managed services.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Must capture: metadata for all requests · request body for writes to Secrets, RBAC, ConfigMaps · responses for sensitive reads.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Ship to immutable storage outside cluster. Retain 90 days minimum (financial services: 1 year+).</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Alert on: cluster-admin binding creation · anonymous access · exec into pods · secrets reads in bulk.</a:t>
            </a:r>
            <a:endParaRPr lang="en-US" sz="950" dirty="0"/>
          </a:p>
        </p:txBody>
      </p:sp>
      <p:sp>
        <p:nvSpPr>
          <p:cNvPr id="27" name="Shape 22"/>
          <p:cNvSpPr/>
          <p:nvPr/>
        </p:nvSpPr>
        <p:spPr>
          <a:xfrm>
            <a:off x="4572000" y="2788920"/>
            <a:ext cx="4389120" cy="1042416"/>
          </a:xfrm>
          <a:prstGeom prst="rect">
            <a:avLst/>
          </a:prstGeom>
          <a:solidFill>
            <a:srgbClr val="1E3059"/>
          </a:solidFill>
          <a:ln/>
        </p:spPr>
      </p:sp>
      <p:sp>
        <p:nvSpPr>
          <p:cNvPr id="28" name="Shape 23"/>
          <p:cNvSpPr/>
          <p:nvPr/>
        </p:nvSpPr>
        <p:spPr>
          <a:xfrm>
            <a:off x="4572000" y="2788920"/>
            <a:ext cx="54864" cy="1042416"/>
          </a:xfrm>
          <a:prstGeom prst="rect">
            <a:avLst/>
          </a:prstGeom>
          <a:solidFill>
            <a:srgbClr val="10B981"/>
          </a:solidFill>
          <a:ln/>
        </p:spPr>
      </p:sp>
      <p:sp>
        <p:nvSpPr>
          <p:cNvPr id="29" name="Text 24"/>
          <p:cNvSpPr/>
          <p:nvPr/>
        </p:nvSpPr>
        <p:spPr>
          <a:xfrm>
            <a:off x="4700016" y="2834640"/>
            <a:ext cx="4160520" cy="256032"/>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Upgrade Strategy</a:t>
            </a:r>
            <a:endParaRPr lang="en-US" sz="1200" dirty="0"/>
          </a:p>
        </p:txBody>
      </p:sp>
      <p:sp>
        <p:nvSpPr>
          <p:cNvPr id="30" name="Text 25"/>
          <p:cNvSpPr/>
          <p:nvPr/>
        </p:nvSpPr>
        <p:spPr>
          <a:xfrm>
            <a:off x="4700016" y="3127248"/>
            <a:ext cx="4160520" cy="6583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New minor version ~3x per year (every 15 weeks) · 14-month support window · Current: v1.35 (Dec 2025) · Pattern: cordon → drain (respects PDBs) → upgrade → uncordon. PodDisruptionBudgets are mandatory. Ensure cgroup v2 on all nodes before upgrading to v1.35+.</a:t>
            </a:r>
            <a:endParaRPr lang="en-US" sz="950" dirty="0"/>
          </a:p>
        </p:txBody>
      </p:sp>
      <p:sp>
        <p:nvSpPr>
          <p:cNvPr id="31" name="Shape 26"/>
          <p:cNvSpPr/>
          <p:nvPr/>
        </p:nvSpPr>
        <p:spPr>
          <a:xfrm>
            <a:off x="4572000" y="3913632"/>
            <a:ext cx="4389120" cy="1088136"/>
          </a:xfrm>
          <a:prstGeom prst="rect">
            <a:avLst/>
          </a:prstGeom>
          <a:solidFill>
            <a:srgbClr val="1E3059"/>
          </a:solidFill>
          <a:ln/>
        </p:spPr>
      </p:sp>
      <p:sp>
        <p:nvSpPr>
          <p:cNvPr id="32" name="Shape 27"/>
          <p:cNvSpPr/>
          <p:nvPr/>
        </p:nvSpPr>
        <p:spPr>
          <a:xfrm>
            <a:off x="4572000" y="3913632"/>
            <a:ext cx="54864" cy="1088136"/>
          </a:xfrm>
          <a:prstGeom prst="rect">
            <a:avLst/>
          </a:prstGeom>
          <a:solidFill>
            <a:srgbClr val="F59E0B"/>
          </a:solidFill>
          <a:ln/>
        </p:spPr>
      </p:sp>
      <p:sp>
        <p:nvSpPr>
          <p:cNvPr id="33" name="Text 28"/>
          <p:cNvSpPr/>
          <p:nvPr/>
        </p:nvSpPr>
        <p:spPr>
          <a:xfrm>
            <a:off x="4700016" y="3959352"/>
            <a:ext cx="416052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Multi-Cluster Patterns</a:t>
            </a:r>
            <a:endParaRPr lang="en-US" sz="1200" dirty="0"/>
          </a:p>
        </p:txBody>
      </p:sp>
      <p:sp>
        <p:nvSpPr>
          <p:cNvPr id="34" name="Text 29"/>
          <p:cNvSpPr/>
          <p:nvPr/>
        </p:nvSpPr>
        <p:spPr>
          <a:xfrm>
            <a:off x="4700016" y="4251960"/>
            <a:ext cx="4160520" cy="7132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Separate cluster per environment (dev/staging/prod) · Per compliance domain (PCI vs non-PCI) · Multi-region active-active for DR · Hub-spoke with GitOps fleet management (Flux, ArgoCD, GKE Fleet, AWS EKS Anywhere).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C35"/>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B82F6"/>
          </a:solidFill>
          <a:ln/>
        </p:spPr>
      </p:sp>
      <p:sp>
        <p:nvSpPr>
          <p:cNvPr id="3" name="Text 1"/>
          <p:cNvSpPr/>
          <p:nvPr/>
        </p:nvSpPr>
        <p:spPr>
          <a:xfrm>
            <a:off x="365760" y="256032"/>
            <a:ext cx="8503920" cy="411480"/>
          </a:xfrm>
          <a:prstGeom prst="rect">
            <a:avLst/>
          </a:prstGeom>
          <a:noFill/>
          <a:ln/>
        </p:spPr>
        <p:txBody>
          <a:bodyPr wrap="square" lIns="0" tIns="0" rIns="0" bIns="0" rtlCol="0" anchor="ctr"/>
          <a:lstStyle/>
          <a:p>
            <a:pPr indent="0" marL="0">
              <a:buNone/>
            </a:pPr>
            <a:r>
              <a:rPr lang="en-US" sz="1100" b="1" spc="400" kern="0" dirty="0">
                <a:solidFill>
                  <a:srgbClr val="3B82F6"/>
                </a:solidFill>
                <a:latin typeface="Calibri" pitchFamily="34" charset="0"/>
                <a:ea typeface="Calibri" pitchFamily="34" charset="-122"/>
                <a:cs typeface="Calibri" pitchFamily="34" charset="-120"/>
              </a:rPr>
              <a:t>KEY TAKEAWAYS</a:t>
            </a:r>
            <a:endParaRPr lang="en-US" sz="1100" dirty="0"/>
          </a:p>
        </p:txBody>
      </p:sp>
      <p:sp>
        <p:nvSpPr>
          <p:cNvPr id="4" name="Text 2"/>
          <p:cNvSpPr/>
          <p:nvPr/>
        </p:nvSpPr>
        <p:spPr>
          <a:xfrm>
            <a:off x="365760" y="621792"/>
            <a:ext cx="8503920" cy="457200"/>
          </a:xfrm>
          <a:prstGeom prst="rect">
            <a:avLst/>
          </a:prstGeom>
          <a:noFill/>
          <a:ln/>
        </p:spPr>
        <p:txBody>
          <a:bodyPr wrap="square" lIns="0" tIns="0" rIns="0" bIns="0"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Kubernetes Architecture Reference</a:t>
            </a:r>
            <a:endParaRPr lang="en-US" sz="2800" dirty="0"/>
          </a:p>
        </p:txBody>
      </p:sp>
      <p:sp>
        <p:nvSpPr>
          <p:cNvPr id="5" name="Shape 3"/>
          <p:cNvSpPr/>
          <p:nvPr/>
        </p:nvSpPr>
        <p:spPr>
          <a:xfrm>
            <a:off x="365760" y="1261872"/>
            <a:ext cx="2706624" cy="1572768"/>
          </a:xfrm>
          <a:prstGeom prst="rect">
            <a:avLst/>
          </a:prstGeom>
          <a:solidFill>
            <a:srgbClr val="1A2744"/>
          </a:solidFill>
          <a:ln/>
        </p:spPr>
      </p:sp>
      <p:sp>
        <p:nvSpPr>
          <p:cNvPr id="6" name="Shape 4"/>
          <p:cNvSpPr/>
          <p:nvPr/>
        </p:nvSpPr>
        <p:spPr>
          <a:xfrm>
            <a:off x="365760" y="1261872"/>
            <a:ext cx="2706624" cy="54864"/>
          </a:xfrm>
          <a:prstGeom prst="rect">
            <a:avLst/>
          </a:prstGeom>
          <a:solidFill>
            <a:srgbClr val="3B82F6"/>
          </a:solidFill>
          <a:ln/>
        </p:spPr>
      </p:sp>
      <p:sp>
        <p:nvSpPr>
          <p:cNvPr id="7" name="Text 5"/>
          <p:cNvSpPr/>
          <p:nvPr/>
        </p:nvSpPr>
        <p:spPr>
          <a:xfrm>
            <a:off x="475488" y="1389888"/>
            <a:ext cx="411480" cy="320040"/>
          </a:xfrm>
          <a:prstGeom prst="rect">
            <a:avLst/>
          </a:prstGeom>
          <a:noFill/>
          <a:ln/>
        </p:spPr>
        <p:txBody>
          <a:bodyPr wrap="square" lIns="0" tIns="0" rIns="0" bIns="0" rtlCol="0" anchor="ctr"/>
          <a:lstStyle/>
          <a:p>
            <a:pPr indent="0" marL="0">
              <a:buNone/>
            </a:pPr>
            <a:r>
              <a:rPr lang="en-US" sz="1600" b="1" dirty="0">
                <a:solidFill>
                  <a:srgbClr val="3B82F6"/>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914400" y="1389888"/>
            <a:ext cx="2029968" cy="320040"/>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Everything goes through the API server</a:t>
            </a:r>
            <a:endParaRPr lang="en-US" sz="1050" dirty="0"/>
          </a:p>
        </p:txBody>
      </p:sp>
      <p:sp>
        <p:nvSpPr>
          <p:cNvPr id="9" name="Text 7"/>
          <p:cNvSpPr/>
          <p:nvPr/>
        </p:nvSpPr>
        <p:spPr>
          <a:xfrm>
            <a:off x="475488" y="1792224"/>
            <a:ext cx="2487168" cy="98755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Centralizes auth, authz, and audit. The API server is your highest-value target and your single control point.</a:t>
            </a:r>
            <a:endParaRPr lang="en-US" sz="900" dirty="0"/>
          </a:p>
        </p:txBody>
      </p:sp>
      <p:sp>
        <p:nvSpPr>
          <p:cNvPr id="10" name="Shape 8"/>
          <p:cNvSpPr/>
          <p:nvPr/>
        </p:nvSpPr>
        <p:spPr>
          <a:xfrm>
            <a:off x="3218688" y="1261872"/>
            <a:ext cx="2706624" cy="1572768"/>
          </a:xfrm>
          <a:prstGeom prst="rect">
            <a:avLst/>
          </a:prstGeom>
          <a:solidFill>
            <a:srgbClr val="1A2744"/>
          </a:solidFill>
          <a:ln/>
        </p:spPr>
      </p:sp>
      <p:sp>
        <p:nvSpPr>
          <p:cNvPr id="11" name="Shape 9"/>
          <p:cNvSpPr/>
          <p:nvPr/>
        </p:nvSpPr>
        <p:spPr>
          <a:xfrm>
            <a:off x="3218688" y="1261872"/>
            <a:ext cx="2706624" cy="54864"/>
          </a:xfrm>
          <a:prstGeom prst="rect">
            <a:avLst/>
          </a:prstGeom>
          <a:solidFill>
            <a:srgbClr val="FBBF24"/>
          </a:solidFill>
          <a:ln/>
        </p:spPr>
      </p:sp>
      <p:sp>
        <p:nvSpPr>
          <p:cNvPr id="12" name="Text 10"/>
          <p:cNvSpPr/>
          <p:nvPr/>
        </p:nvSpPr>
        <p:spPr>
          <a:xfrm>
            <a:off x="3328416" y="1389888"/>
            <a:ext cx="411480" cy="320040"/>
          </a:xfrm>
          <a:prstGeom prst="rect">
            <a:avLst/>
          </a:prstGeom>
          <a:noFill/>
          <a:ln/>
        </p:spPr>
        <p:txBody>
          <a:bodyPr wrap="square" lIns="0" tIns="0" rIns="0" bIns="0" rtlCol="0" anchor="ctr"/>
          <a:lstStyle/>
          <a:p>
            <a:pPr indent="0" marL="0">
              <a:buNone/>
            </a:pPr>
            <a:r>
              <a:rPr lang="en-US" sz="1600" b="1" dirty="0">
                <a:solidFill>
                  <a:srgbClr val="FBBF24"/>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3767328" y="1389888"/>
            <a:ext cx="2029968" cy="320040"/>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etcd is the crown jewel</a:t>
            </a:r>
            <a:endParaRPr lang="en-US" sz="1050" dirty="0"/>
          </a:p>
        </p:txBody>
      </p:sp>
      <p:sp>
        <p:nvSpPr>
          <p:cNvPr id="14" name="Text 12"/>
          <p:cNvSpPr/>
          <p:nvPr/>
        </p:nvSpPr>
        <p:spPr>
          <a:xfrm>
            <a:off x="3328416" y="1792224"/>
            <a:ext cx="2487168" cy="98755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Holds complete cluster state including Secrets. Requires envelope encryption (KMS) and must never be network-accessible outside the control plane.</a:t>
            </a:r>
            <a:endParaRPr lang="en-US" sz="900" dirty="0"/>
          </a:p>
        </p:txBody>
      </p:sp>
      <p:sp>
        <p:nvSpPr>
          <p:cNvPr id="15" name="Shape 13"/>
          <p:cNvSpPr/>
          <p:nvPr/>
        </p:nvSpPr>
        <p:spPr>
          <a:xfrm>
            <a:off x="6071616" y="1261872"/>
            <a:ext cx="2706624" cy="1572768"/>
          </a:xfrm>
          <a:prstGeom prst="rect">
            <a:avLst/>
          </a:prstGeom>
          <a:solidFill>
            <a:srgbClr val="1A2744"/>
          </a:solidFill>
          <a:ln/>
        </p:spPr>
      </p:sp>
      <p:sp>
        <p:nvSpPr>
          <p:cNvPr id="16" name="Shape 14"/>
          <p:cNvSpPr/>
          <p:nvPr/>
        </p:nvSpPr>
        <p:spPr>
          <a:xfrm>
            <a:off x="6071616" y="1261872"/>
            <a:ext cx="2706624" cy="54864"/>
          </a:xfrm>
          <a:prstGeom prst="rect">
            <a:avLst/>
          </a:prstGeom>
          <a:solidFill>
            <a:srgbClr val="EF4444"/>
          </a:solidFill>
          <a:ln/>
        </p:spPr>
      </p:sp>
      <p:sp>
        <p:nvSpPr>
          <p:cNvPr id="17" name="Text 15"/>
          <p:cNvSpPr/>
          <p:nvPr/>
        </p:nvSpPr>
        <p:spPr>
          <a:xfrm>
            <a:off x="6181344" y="1389888"/>
            <a:ext cx="411480" cy="320040"/>
          </a:xfrm>
          <a:prstGeom prst="rect">
            <a:avLst/>
          </a:prstGeom>
          <a:noFill/>
          <a:ln/>
        </p:spPr>
        <p:txBody>
          <a:bodyPr wrap="square" lIns="0" tIns="0" rIns="0" bIns="0" rtlCol="0" anchor="ctr"/>
          <a:lstStyle/>
          <a:p>
            <a:pPr indent="0" marL="0">
              <a:buNone/>
            </a:pPr>
            <a:r>
              <a:rPr lang="en-US" sz="1600" b="1" dirty="0">
                <a:solidFill>
                  <a:srgbClr val="EF4444"/>
                </a:solidFill>
                <a:latin typeface="Calibri" pitchFamily="34" charset="0"/>
                <a:ea typeface="Calibri" pitchFamily="34" charset="-122"/>
                <a:cs typeface="Calibri" pitchFamily="34" charset="-120"/>
              </a:rPr>
              <a:t>03</a:t>
            </a:r>
            <a:endParaRPr lang="en-US" sz="1600" dirty="0"/>
          </a:p>
        </p:txBody>
      </p:sp>
      <p:sp>
        <p:nvSpPr>
          <p:cNvPr id="18" name="Text 16"/>
          <p:cNvSpPr/>
          <p:nvPr/>
        </p:nvSpPr>
        <p:spPr>
          <a:xfrm>
            <a:off x="6620256" y="1389888"/>
            <a:ext cx="2029968" cy="320040"/>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Default posture is insecure</a:t>
            </a:r>
            <a:endParaRPr lang="en-US" sz="1050" dirty="0"/>
          </a:p>
        </p:txBody>
      </p:sp>
      <p:sp>
        <p:nvSpPr>
          <p:cNvPr id="19" name="Text 17"/>
          <p:cNvSpPr/>
          <p:nvPr/>
        </p:nvSpPr>
        <p:spPr>
          <a:xfrm>
            <a:off x="6181344" y="1792224"/>
            <a:ext cx="2487168" cy="98755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No default-deny network policy. No Secrets encryption. No pod security restrictions. Every production cluster requires explicit hardening.</a:t>
            </a:r>
            <a:endParaRPr lang="en-US" sz="900" dirty="0"/>
          </a:p>
        </p:txBody>
      </p:sp>
      <p:sp>
        <p:nvSpPr>
          <p:cNvPr id="20" name="Shape 18"/>
          <p:cNvSpPr/>
          <p:nvPr/>
        </p:nvSpPr>
        <p:spPr>
          <a:xfrm>
            <a:off x="365760" y="3017520"/>
            <a:ext cx="2706624" cy="1572768"/>
          </a:xfrm>
          <a:prstGeom prst="rect">
            <a:avLst/>
          </a:prstGeom>
          <a:solidFill>
            <a:srgbClr val="1A2744"/>
          </a:solidFill>
          <a:ln/>
        </p:spPr>
      </p:sp>
      <p:sp>
        <p:nvSpPr>
          <p:cNvPr id="21" name="Shape 19"/>
          <p:cNvSpPr/>
          <p:nvPr/>
        </p:nvSpPr>
        <p:spPr>
          <a:xfrm>
            <a:off x="365760" y="3017520"/>
            <a:ext cx="2706624" cy="54864"/>
          </a:xfrm>
          <a:prstGeom prst="rect">
            <a:avLst/>
          </a:prstGeom>
          <a:solidFill>
            <a:srgbClr val="10B981"/>
          </a:solidFill>
          <a:ln/>
        </p:spPr>
      </p:sp>
      <p:sp>
        <p:nvSpPr>
          <p:cNvPr id="22" name="Text 20"/>
          <p:cNvSpPr/>
          <p:nvPr/>
        </p:nvSpPr>
        <p:spPr>
          <a:xfrm>
            <a:off x="475488" y="3145536"/>
            <a:ext cx="411480" cy="320040"/>
          </a:xfrm>
          <a:prstGeom prst="rect">
            <a:avLst/>
          </a:prstGeom>
          <a:noFill/>
          <a:ln/>
        </p:spPr>
        <p:txBody>
          <a:bodyPr wrap="square" lIns="0" tIns="0" rIns="0" bIns="0"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914400" y="3145536"/>
            <a:ext cx="2029968" cy="320040"/>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Workload identity beats credentials</a:t>
            </a:r>
            <a:endParaRPr lang="en-US" sz="1050" dirty="0"/>
          </a:p>
        </p:txBody>
      </p:sp>
      <p:sp>
        <p:nvSpPr>
          <p:cNvPr id="24" name="Text 22"/>
          <p:cNvSpPr/>
          <p:nvPr/>
        </p:nvSpPr>
        <p:spPr>
          <a:xfrm>
            <a:off x="475488" y="3547872"/>
            <a:ext cx="2487168" cy="98755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IRSA / Workload Identity / GKE WI eliminate static credentials entirely. Any pod with static cloud credentials is an architectural defect.</a:t>
            </a:r>
            <a:endParaRPr lang="en-US" sz="900" dirty="0"/>
          </a:p>
        </p:txBody>
      </p:sp>
      <p:sp>
        <p:nvSpPr>
          <p:cNvPr id="25" name="Shape 23"/>
          <p:cNvSpPr/>
          <p:nvPr/>
        </p:nvSpPr>
        <p:spPr>
          <a:xfrm>
            <a:off x="3218688" y="3017520"/>
            <a:ext cx="2706624" cy="1572768"/>
          </a:xfrm>
          <a:prstGeom prst="rect">
            <a:avLst/>
          </a:prstGeom>
          <a:solidFill>
            <a:srgbClr val="1A2744"/>
          </a:solidFill>
          <a:ln/>
        </p:spPr>
      </p:sp>
      <p:sp>
        <p:nvSpPr>
          <p:cNvPr id="26" name="Shape 24"/>
          <p:cNvSpPr/>
          <p:nvPr/>
        </p:nvSpPr>
        <p:spPr>
          <a:xfrm>
            <a:off x="3218688" y="3017520"/>
            <a:ext cx="2706624" cy="54864"/>
          </a:xfrm>
          <a:prstGeom prst="rect">
            <a:avLst/>
          </a:prstGeom>
          <a:solidFill>
            <a:srgbClr val="A78BFA"/>
          </a:solidFill>
          <a:ln/>
        </p:spPr>
      </p:sp>
      <p:sp>
        <p:nvSpPr>
          <p:cNvPr id="27" name="Text 25"/>
          <p:cNvSpPr/>
          <p:nvPr/>
        </p:nvSpPr>
        <p:spPr>
          <a:xfrm>
            <a:off x="3328416" y="3145536"/>
            <a:ext cx="411480" cy="320040"/>
          </a:xfrm>
          <a:prstGeom prst="rect">
            <a:avLst/>
          </a:prstGeom>
          <a:noFill/>
          <a:ln/>
        </p:spPr>
        <p:txBody>
          <a:bodyPr wrap="square" lIns="0" tIns="0" rIns="0" bIns="0" rtlCol="0" anchor="ctr"/>
          <a:lstStyle/>
          <a:p>
            <a:pPr indent="0" marL="0">
              <a:buNone/>
            </a:pPr>
            <a:r>
              <a:rPr lang="en-US" sz="1600" b="1" dirty="0">
                <a:solidFill>
                  <a:srgbClr val="A78BFA"/>
                </a:solidFill>
                <a:latin typeface="Calibri" pitchFamily="34" charset="0"/>
                <a:ea typeface="Calibri" pitchFamily="34" charset="-122"/>
                <a:cs typeface="Calibri" pitchFamily="34" charset="-120"/>
              </a:rPr>
              <a:t>05</a:t>
            </a:r>
            <a:endParaRPr lang="en-US" sz="1600" dirty="0"/>
          </a:p>
        </p:txBody>
      </p:sp>
      <p:sp>
        <p:nvSpPr>
          <p:cNvPr id="28" name="Text 26"/>
          <p:cNvSpPr/>
          <p:nvPr/>
        </p:nvSpPr>
        <p:spPr>
          <a:xfrm>
            <a:off x="3767328" y="3145536"/>
            <a:ext cx="2029968" cy="320040"/>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Secrets belong in external stores</a:t>
            </a:r>
            <a:endParaRPr lang="en-US" sz="1050" dirty="0"/>
          </a:p>
        </p:txBody>
      </p:sp>
      <p:sp>
        <p:nvSpPr>
          <p:cNvPr id="29" name="Text 27"/>
          <p:cNvSpPr/>
          <p:nvPr/>
        </p:nvSpPr>
        <p:spPr>
          <a:xfrm>
            <a:off x="3328416" y="3547872"/>
            <a:ext cx="2487168" cy="98755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Kubernetes Secrets = base64. Use CSI Secrets Store driver with Vault / cloud KMS. Zero secrets in etcd in any production deployment.</a:t>
            </a:r>
            <a:endParaRPr lang="en-US" sz="900" dirty="0"/>
          </a:p>
        </p:txBody>
      </p:sp>
      <p:sp>
        <p:nvSpPr>
          <p:cNvPr id="30" name="Shape 28"/>
          <p:cNvSpPr/>
          <p:nvPr/>
        </p:nvSpPr>
        <p:spPr>
          <a:xfrm>
            <a:off x="6071616" y="3017520"/>
            <a:ext cx="2706624" cy="1572768"/>
          </a:xfrm>
          <a:prstGeom prst="rect">
            <a:avLst/>
          </a:prstGeom>
          <a:solidFill>
            <a:srgbClr val="1A2744"/>
          </a:solidFill>
          <a:ln/>
        </p:spPr>
      </p:sp>
      <p:sp>
        <p:nvSpPr>
          <p:cNvPr id="31" name="Shape 29"/>
          <p:cNvSpPr/>
          <p:nvPr/>
        </p:nvSpPr>
        <p:spPr>
          <a:xfrm>
            <a:off x="6071616" y="3017520"/>
            <a:ext cx="2706624" cy="54864"/>
          </a:xfrm>
          <a:prstGeom prst="rect">
            <a:avLst/>
          </a:prstGeom>
          <a:solidFill>
            <a:srgbClr val="22D3EE"/>
          </a:solidFill>
          <a:ln/>
        </p:spPr>
      </p:sp>
      <p:sp>
        <p:nvSpPr>
          <p:cNvPr id="32" name="Text 30"/>
          <p:cNvSpPr/>
          <p:nvPr/>
        </p:nvSpPr>
        <p:spPr>
          <a:xfrm>
            <a:off x="6181344" y="3145536"/>
            <a:ext cx="411480" cy="320040"/>
          </a:xfrm>
          <a:prstGeom prst="rect">
            <a:avLst/>
          </a:prstGeom>
          <a:noFill/>
          <a:ln/>
        </p:spPr>
        <p:txBody>
          <a:bodyPr wrap="square" lIns="0" tIns="0" rIns="0" bIns="0" rtlCol="0" anchor="ctr"/>
          <a:lstStyle/>
          <a:p>
            <a:pPr indent="0" marL="0">
              <a:buNone/>
            </a:pPr>
            <a:r>
              <a:rPr lang="en-US" sz="1600" b="1" dirty="0">
                <a:solidFill>
                  <a:srgbClr val="22D3EE"/>
                </a:solidFill>
                <a:latin typeface="Calibri" pitchFamily="34" charset="0"/>
                <a:ea typeface="Calibri" pitchFamily="34" charset="-122"/>
                <a:cs typeface="Calibri" pitchFamily="34" charset="-120"/>
              </a:rPr>
              <a:t>06</a:t>
            </a:r>
            <a:endParaRPr lang="en-US" sz="1600" dirty="0"/>
          </a:p>
        </p:txBody>
      </p:sp>
      <p:sp>
        <p:nvSpPr>
          <p:cNvPr id="33" name="Text 31"/>
          <p:cNvSpPr/>
          <p:nvPr/>
        </p:nvSpPr>
        <p:spPr>
          <a:xfrm>
            <a:off x="6620256" y="3145536"/>
            <a:ext cx="2029968" cy="320040"/>
          </a:xfrm>
          <a:prstGeom prst="rect">
            <a:avLst/>
          </a:prstGeom>
          <a:noFill/>
          <a:ln/>
        </p:spPr>
        <p:txBody>
          <a:bodyPr wrap="square" lIns="0" tIns="0" rIns="0" bIns="0" rtlCol="0" anchor="ctr"/>
          <a:lstStyle/>
          <a:p>
            <a:pPr indent="0" marL="0">
              <a:buNone/>
            </a:pPr>
            <a:r>
              <a:rPr lang="en-US" sz="1050" b="1" dirty="0">
                <a:solidFill>
                  <a:srgbClr val="F1F5F9"/>
                </a:solidFill>
                <a:latin typeface="Calibri" pitchFamily="34" charset="0"/>
                <a:ea typeface="Calibri" pitchFamily="34" charset="-122"/>
                <a:cs typeface="Calibri" pitchFamily="34" charset="-120"/>
              </a:rPr>
              <a:t>CNI choice is a security decision</a:t>
            </a:r>
            <a:endParaRPr lang="en-US" sz="1050" dirty="0"/>
          </a:p>
        </p:txBody>
      </p:sp>
      <p:sp>
        <p:nvSpPr>
          <p:cNvPr id="34" name="Text 32"/>
          <p:cNvSpPr/>
          <p:nvPr/>
        </p:nvSpPr>
        <p:spPr>
          <a:xfrm>
            <a:off x="6181344" y="3547872"/>
            <a:ext cx="2487168" cy="98755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Not all CNIs enforce NetworkPolicy. Cilium (eBPF) is most capable: L7-aware policy, replaces kube-proxy, intranode visibility. cgroup v1 removed in v1.35; containerd 2.x required for v1.36+.</a:t>
            </a:r>
            <a:endParaRPr lang="en-US" sz="900" dirty="0"/>
          </a:p>
        </p:txBody>
      </p:sp>
      <p:sp>
        <p:nvSpPr>
          <p:cNvPr id="35" name="Shape 33"/>
          <p:cNvSpPr/>
          <p:nvPr/>
        </p:nvSpPr>
        <p:spPr>
          <a:xfrm>
            <a:off x="365760" y="4818888"/>
            <a:ext cx="8503920" cy="201168"/>
          </a:xfrm>
          <a:prstGeom prst="rect">
            <a:avLst/>
          </a:prstGeom>
          <a:solidFill>
            <a:srgbClr val="1E3059"/>
          </a:solidFill>
          <a:ln/>
        </p:spPr>
      </p:sp>
      <p:sp>
        <p:nvSpPr>
          <p:cNvPr id="36" name="Text 34"/>
          <p:cNvSpPr/>
          <p:nvPr/>
        </p:nvSpPr>
        <p:spPr>
          <a:xfrm>
            <a:off x="365760" y="4846320"/>
            <a:ext cx="8503920" cy="16459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Kubernetes Architecture Reference  ·  Enterprise Security Architect Edition  ·  Based on Kubernetes v1.35 (December 2025)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Architecture Reference</dc:title>
  <dc:subject>PptxGenJS Presentation</dc:subject>
  <dc:creator>Enterprise Security Architect</dc:creator>
  <cp:lastModifiedBy>Enterprise Security Architect</cp:lastModifiedBy>
  <cp:revision>1</cp:revision>
  <dcterms:created xsi:type="dcterms:W3CDTF">2026-02-24T21:37:55Z</dcterms:created>
  <dcterms:modified xsi:type="dcterms:W3CDTF">2026-02-24T21:37:55Z</dcterms:modified>
</cp:coreProperties>
</file>