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9" d="100"/>
          <a:sy n="169" d="100"/>
        </p:scale>
        <p:origin x="5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2983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IGA is the governance layer that ensures the right people have the right access at the right time. It is the control discipline that prevents access creep, enforces separation of duties, automates the identity lifecycle, and produces the audit evidence required by SOX, PCI DSS, HIPAA, and ISO 27001.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IGA covers the full identity governance cycle: from provisioning at hire through access reviews to deprovisioning at termination, with SoD enforcement and audit evidence generation throughout.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01: Executive Summary.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IGA is not a compliance checkbox tool. Excessive, stale, and orphaned access is the primary enabler of lateral movement after initial breach. IGA is the control that reduces the blast radius available to an adversary who has compromised an account. The governance controls (SoD, lifecycle automation, certification) directly limit what an attacker can do after gaining initial access.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reference model shows the separation of responsibilities across the identity stack. The most common architectural mistake is conflating these layers. IGA governs who has access. IdP controls how they authenticate. PAM controls what privileged sessions they can open. These platforms integrate through defined interfaces: HRMS fires JML events to IGA; IGA provisions accounts and informs PAM of approved access windows; IdP handles authentication and token issuance; PAM governs the privileged session itself.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enterprise confusion: expecting IGA to handle authentication (that's IdP) or expecting PAM to govern access lifecycle (that's IGA). Clearly separating these responsibilities is the first step to a coherent identity architecture. They integrate but do not overlap: IGA approves a privileged access request → PAM enforces the session window → IdP authenticates the user → IGA reviews the access at the next certification cycle.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02: IGA Core Concepts.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IGA failure: the Mover event. When a user transfers departments or gets promoted, their old entitlements are rarely removed because the Mover workflow was either not configured or not enforced. After 5 years at a company, a senior manager may have accumulated access from every role they've held. This is access creep, and it is exploited by both insiders and external adversaries who compromise the account.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03: Access Certification.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design point: auto-revocation on non-response is what makes certification a real security control. Organizations that only flag uncertified access without revoking it have a compliance exercise, not a governance control. The consequence of non-participation must be access removal, not just a tracking note. This requires management buy-in and executive communication before campaign launch.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04: Separation of Duties.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SoD is the most audit-sensitive IGA control for SOX and PCI. External auditors will specifically test: (1) do SoD rules exist for critical financial transactions? (2) are violations detected and remediated? (3) are exceptions documented with compensating controls? Organizations with no SoD rules in their IGA platform typically fail their IT General Controls (ITGC) audit for SOX. SAP GRC Access Control is the most widely deployed ERP SoD enforcement tool; its rules can be imported into SailPoint and Saviynt.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05: SCIM 2.0 &amp; Provisioning.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SCIM 2.0 is the modern provisioning standard. Any SaaS application that does not support SCIM should be treated as a governance gap. For legacy non-SCIM applications, IGA platforms use proprietary connectors or LDAP-based provisioning as a fallback. The reconciliation cycle is what detects entitlement drift: access granted outside the IGA workflow by a local admin directly in the target system. This drift is a frequent audit finding and a common initial persistence technique for insider threats.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06: Privileged &amp; Service Account Governance.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 accounts are the most neglected identity category in most enterprises. They are not tied to a person so they often escape HR-driven offboarding. They frequently have privileged access. And they are not included in certification campaigns because reviewers don't know who should certify them. IGA must treat service accounts as first-class governed identities with mandatory ownership, expiry dates, and annual re-certification, just like human accounts.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07: Cloud Entitlements (CIEM).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CIEM is the fastest-growing identity security segment as of 2024-2025 due to the explosion of cloud machine identities. Most organizations have 10-50x more machine identities in cloud than human user identities, yet have zero governance on them. AWS IAM Access Advisor and Azure Permissions Insights provide free least-privilege analysis built into the cloud platforms; CIEM platforms add cross-account analysis, automated remediation, and IGA integration on top of this foundation.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08: Identity Analytics.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AI-driven recommendations are the key to making certification scalable in large organizations. Without recommendations, a reviewer facing 200 entitlements to review will rubber-stamp everything rather than spend hours on each decision. With context (peer group says 95% of your peers don't have this entitlement; this entitlement hasn't been used in 180 days; risk score is HIGH), reviewers make accurate decisions in seconds. SailPoint AI Recommendations reports 83% reduction in certification time in production deployments.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09: MITRE ATT&amp;CK.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IGA is a post-breach blast-radius control as much as a pre-breach prevention control. When an adversary compromises an account, the question is: how much damage can they do with that account? An account with 50 legacy entitlements from 5 prior roles is vastly more dangerous than an account with only current-role birthright access. IGA's core contribution to security is limiting the effective blast radius of any compromised identity by ensuring entitlements reflect least privilege at all times.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attack path shows how a real identity breach unfolds across stages, and which control stops it. No single platform covers every stage. IGA limits blast radius through entitlement governance. IdP enforces strong authentication and continuous evaluation. PAM controls privileged sessions. CIEM catches cloud permission abuse. Missing any one of these creates gaps that sophisticated attackers will exploit — and have, in Solarwinds (Golden SAML), LAPSUS$ (token theft), and Capital One (cloud role abuse).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10: Vendor Landscape &amp; NIST Controls.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Gartner Magic Quadrant for Identity Governance and Administration: SailPoint and Saviynt are the current leaders as of 2024. Microsoft Entra ID Governance is the fastest-growing option for Microsoft-centric organizations due to tight integration and licensing advantages for Entra ID P2 customers. Key evaluation criteria: (1) HRMS integration quality with your specific HRMS vendor, (2) SoD rule depth for your ERP, (3) cloud entitlement governance capabilities, (4) AI recommendation maturity, (5) total cost including connector licensing.</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Audit priority: AC-2 and AC-5 are the two most commonly tested controls in SOX ITGC and FedRAMP assessments. AC-2 evidence = IGA-generated provisioning logs and access certification reports. AC-5 evidence = SoD rule definitions, violation detection reports, and exception documentation. Organizations without IGA generate this evidence manually from spreadsheets, which auditors increasingly challenge as insufficient for large environments.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11: Roadmap.</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Sequencing advice: Phase 1 HRMS integration and orphaned account remediation are prerequisites for everything else. You cannot certify access you haven't inventoried. The orphaned account exercise frequently surfaces serious findings (terminated employees with active accounts, contractor accounts years past their engagement end) that create immediate remediation urgency and executive support for the IGA investment. Start there.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Three questions to ask of your IGA program today: (1) What is your termination-to-deprovisioning SLA, and do you measure it? (2) How many orphaned accounts do you have right now? (3) When was the last SoD violation remediated, and how long did it take? If you cannot answer these questions with data, your IGA program is a compliance exercise, not a security control.</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C5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D7D46"/>
          </a:solidFill>
          <a:ln w="12700">
            <a:solidFill>
              <a:srgbClr val="2D7D46"/>
            </a:solidFill>
            <a:prstDash val="solid"/>
          </a:ln>
        </p:spPr>
        <p:txBody>
          <a:bodyPr/>
          <a:lstStyle/>
          <a:p>
            <a:endParaRPr lang="en-US"/>
          </a:p>
        </p:txBody>
      </p:sp>
      <p:sp>
        <p:nvSpPr>
          <p:cNvPr id="3" name="Shape 1"/>
          <p:cNvSpPr/>
          <p:nvPr/>
        </p:nvSpPr>
        <p:spPr>
          <a:xfrm>
            <a:off x="0" y="73152"/>
            <a:ext cx="9144000" cy="36576"/>
          </a:xfrm>
          <a:prstGeom prst="rect">
            <a:avLst/>
          </a:prstGeom>
          <a:solidFill>
            <a:srgbClr val="E8A838"/>
          </a:solidFill>
          <a:ln w="12700">
            <a:solidFill>
              <a:srgbClr val="E8A838"/>
            </a:solidFill>
            <a:prstDash val="solid"/>
          </a:ln>
        </p:spPr>
        <p:txBody>
          <a:bodyPr/>
          <a:lstStyle/>
          <a:p>
            <a:endParaRPr lang="en-US"/>
          </a:p>
        </p:txBody>
      </p:sp>
      <p:sp>
        <p:nvSpPr>
          <p:cNvPr id="4" name="Text 2"/>
          <p:cNvSpPr/>
          <p:nvPr/>
        </p:nvSpPr>
        <p:spPr>
          <a:xfrm>
            <a:off x="548640" y="914400"/>
            <a:ext cx="8046720" cy="685800"/>
          </a:xfrm>
          <a:prstGeom prst="rect">
            <a:avLst/>
          </a:prstGeom>
          <a:noFill/>
          <a:ln/>
        </p:spPr>
        <p:txBody>
          <a:bodyPr wrap="square" lIns="0" tIns="0" rIns="0" bIns="0"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Identity Governance &amp;</a:t>
            </a:r>
            <a:endParaRPr lang="en-US" sz="3600" dirty="0"/>
          </a:p>
        </p:txBody>
      </p:sp>
      <p:sp>
        <p:nvSpPr>
          <p:cNvPr id="5" name="Text 3"/>
          <p:cNvSpPr/>
          <p:nvPr/>
        </p:nvSpPr>
        <p:spPr>
          <a:xfrm>
            <a:off x="548640" y="1600200"/>
            <a:ext cx="8046720" cy="594360"/>
          </a:xfrm>
          <a:prstGeom prst="rect">
            <a:avLst/>
          </a:prstGeom>
          <a:noFill/>
          <a:ln/>
        </p:spPr>
        <p:txBody>
          <a:bodyPr wrap="square" lIns="0" tIns="0" rIns="0" bIns="0" rtlCol="0" anchor="ctr"/>
          <a:lstStyle/>
          <a:p>
            <a:pPr marL="0" indent="0" algn="l">
              <a:buNone/>
            </a:pPr>
            <a:r>
              <a:rPr lang="en-US" sz="3200" b="1" dirty="0">
                <a:solidFill>
                  <a:srgbClr val="2D7D46"/>
                </a:solidFill>
                <a:latin typeface="Calibri" pitchFamily="34" charset="0"/>
                <a:ea typeface="Calibri" pitchFamily="34" charset="-122"/>
                <a:cs typeface="Calibri" pitchFamily="34" charset="-120"/>
              </a:rPr>
              <a:t>Administration (IGA)</a:t>
            </a:r>
            <a:endParaRPr lang="en-US" sz="3200" dirty="0"/>
          </a:p>
        </p:txBody>
      </p:sp>
      <p:sp>
        <p:nvSpPr>
          <p:cNvPr id="6" name="Shape 4"/>
          <p:cNvSpPr/>
          <p:nvPr/>
        </p:nvSpPr>
        <p:spPr>
          <a:xfrm>
            <a:off x="548640" y="2331720"/>
            <a:ext cx="1280160" cy="347472"/>
          </a:xfrm>
          <a:prstGeom prst="rect">
            <a:avLst/>
          </a:prstGeom>
          <a:solidFill>
            <a:srgbClr val="2D7D46"/>
          </a:solidFill>
          <a:ln w="12700">
            <a:solidFill>
              <a:srgbClr val="2D7D46"/>
            </a:solidFill>
            <a:prstDash val="solid"/>
          </a:ln>
        </p:spPr>
        <p:txBody>
          <a:bodyPr/>
          <a:lstStyle/>
          <a:p>
            <a:endParaRPr lang="en-US"/>
          </a:p>
        </p:txBody>
      </p:sp>
      <p:sp>
        <p:nvSpPr>
          <p:cNvPr id="7" name="Text 5"/>
          <p:cNvSpPr/>
          <p:nvPr/>
        </p:nvSpPr>
        <p:spPr>
          <a:xfrm>
            <a:off x="548640" y="2331720"/>
            <a:ext cx="128016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Lifecycle</a:t>
            </a:r>
            <a:endParaRPr lang="en-US" sz="1300" dirty="0"/>
          </a:p>
        </p:txBody>
      </p:sp>
      <p:sp>
        <p:nvSpPr>
          <p:cNvPr id="8" name="Shape 6"/>
          <p:cNvSpPr/>
          <p:nvPr/>
        </p:nvSpPr>
        <p:spPr>
          <a:xfrm>
            <a:off x="2011680" y="2331720"/>
            <a:ext cx="1280160" cy="347472"/>
          </a:xfrm>
          <a:prstGeom prst="rect">
            <a:avLst/>
          </a:prstGeom>
          <a:solidFill>
            <a:srgbClr val="E8A838"/>
          </a:solidFill>
          <a:ln w="12700">
            <a:solidFill>
              <a:srgbClr val="E8A838"/>
            </a:solidFill>
            <a:prstDash val="solid"/>
          </a:ln>
        </p:spPr>
        <p:txBody>
          <a:bodyPr/>
          <a:lstStyle/>
          <a:p>
            <a:endParaRPr lang="en-US"/>
          </a:p>
        </p:txBody>
      </p:sp>
      <p:sp>
        <p:nvSpPr>
          <p:cNvPr id="9" name="Text 7"/>
          <p:cNvSpPr/>
          <p:nvPr/>
        </p:nvSpPr>
        <p:spPr>
          <a:xfrm>
            <a:off x="2011680" y="2331720"/>
            <a:ext cx="128016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Governance</a:t>
            </a:r>
            <a:endParaRPr lang="en-US" sz="1300" dirty="0"/>
          </a:p>
        </p:txBody>
      </p:sp>
      <p:sp>
        <p:nvSpPr>
          <p:cNvPr id="10" name="Shape 8"/>
          <p:cNvSpPr/>
          <p:nvPr/>
        </p:nvSpPr>
        <p:spPr>
          <a:xfrm>
            <a:off x="3474720" y="2331720"/>
            <a:ext cx="1280160" cy="347472"/>
          </a:xfrm>
          <a:prstGeom prst="rect">
            <a:avLst/>
          </a:prstGeom>
          <a:solidFill>
            <a:srgbClr val="0E5A8A"/>
          </a:solidFill>
          <a:ln w="12700">
            <a:solidFill>
              <a:srgbClr val="0E5A8A"/>
            </a:solidFill>
            <a:prstDash val="solid"/>
          </a:ln>
        </p:spPr>
        <p:txBody>
          <a:bodyPr/>
          <a:lstStyle/>
          <a:p>
            <a:endParaRPr lang="en-US"/>
          </a:p>
        </p:txBody>
      </p:sp>
      <p:sp>
        <p:nvSpPr>
          <p:cNvPr id="11" name="Text 9"/>
          <p:cNvSpPr/>
          <p:nvPr/>
        </p:nvSpPr>
        <p:spPr>
          <a:xfrm>
            <a:off x="3474720" y="2331720"/>
            <a:ext cx="128016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Compliance</a:t>
            </a:r>
            <a:endParaRPr lang="en-US" sz="1300" dirty="0"/>
          </a:p>
        </p:txBody>
      </p:sp>
      <p:sp>
        <p:nvSpPr>
          <p:cNvPr id="12" name="Shape 10"/>
          <p:cNvSpPr/>
          <p:nvPr/>
        </p:nvSpPr>
        <p:spPr>
          <a:xfrm>
            <a:off x="548640" y="2816352"/>
            <a:ext cx="8046720" cy="0"/>
          </a:xfrm>
          <a:prstGeom prst="line">
            <a:avLst/>
          </a:prstGeom>
          <a:noFill/>
          <a:ln w="12700">
            <a:solidFill>
              <a:srgbClr val="8BAAC2"/>
            </a:solidFill>
            <a:prstDash val="dash"/>
          </a:ln>
        </p:spPr>
        <p:txBody>
          <a:bodyPr/>
          <a:lstStyle/>
          <a:p>
            <a:endParaRPr lang="en-US"/>
          </a:p>
        </p:txBody>
      </p:sp>
      <p:sp>
        <p:nvSpPr>
          <p:cNvPr id="13" name="Text 11"/>
          <p:cNvSpPr/>
          <p:nvPr/>
        </p:nvSpPr>
        <p:spPr>
          <a:xfrm>
            <a:off x="548640" y="2944368"/>
            <a:ext cx="8046720" cy="274320"/>
          </a:xfrm>
          <a:prstGeom prst="rect">
            <a:avLst/>
          </a:prstGeom>
          <a:noFill/>
          <a:ln/>
        </p:spPr>
        <p:txBody>
          <a:bodyPr wrap="square" lIns="0" tIns="0" rIns="0" bIns="0" rtlCol="0" anchor="ctr"/>
          <a:lstStyle/>
          <a:p>
            <a:pPr marL="0" indent="0">
              <a:buNone/>
            </a:pPr>
            <a:r>
              <a:rPr lang="en-US" sz="1200" b="1" dirty="0">
                <a:solidFill>
                  <a:srgbClr val="C9DDE8"/>
                </a:solidFill>
                <a:latin typeface="Calibri" pitchFamily="34" charset="0"/>
                <a:ea typeface="Calibri" pitchFamily="34" charset="-122"/>
                <a:cs typeface="Calibri" pitchFamily="34" charset="-120"/>
              </a:rPr>
              <a:t>Audience: </a:t>
            </a:r>
            <a:r>
              <a:rPr lang="en-US" sz="1200" dirty="0">
                <a:solidFill>
                  <a:srgbClr val="C9DDE8"/>
                </a:solidFill>
                <a:latin typeface="Calibri" pitchFamily="34" charset="0"/>
                <a:ea typeface="Calibri" pitchFamily="34" charset="-122"/>
                <a:cs typeface="Calibri" pitchFamily="34" charset="-120"/>
              </a:rPr>
              <a:t>Security Architecture</a:t>
            </a:r>
            <a:endParaRPr lang="en-US" sz="1200" dirty="0"/>
          </a:p>
        </p:txBody>
      </p:sp>
      <p:sp>
        <p:nvSpPr>
          <p:cNvPr id="14" name="Text 12"/>
          <p:cNvSpPr/>
          <p:nvPr/>
        </p:nvSpPr>
        <p:spPr>
          <a:xfrm>
            <a:off x="548640" y="3255264"/>
            <a:ext cx="8046720" cy="274320"/>
          </a:xfrm>
          <a:prstGeom prst="rect">
            <a:avLst/>
          </a:prstGeom>
          <a:noFill/>
          <a:ln/>
        </p:spPr>
        <p:txBody>
          <a:bodyPr wrap="square" lIns="0" tIns="0" rIns="0" bIns="0" rtlCol="0" anchor="ctr"/>
          <a:lstStyle/>
          <a:p>
            <a:pPr marL="0" indent="0">
              <a:buNone/>
            </a:pPr>
            <a:r>
              <a:rPr lang="en-US" sz="1200" b="1" dirty="0">
                <a:solidFill>
                  <a:srgbClr val="C9DDE8"/>
                </a:solidFill>
                <a:latin typeface="Calibri" pitchFamily="34" charset="0"/>
                <a:ea typeface="Calibri" pitchFamily="34" charset="-122"/>
                <a:cs typeface="Calibri" pitchFamily="34" charset="-120"/>
              </a:rPr>
              <a:t>Frameworks: </a:t>
            </a:r>
            <a:r>
              <a:rPr lang="en-US" sz="1200" dirty="0">
                <a:solidFill>
                  <a:srgbClr val="C9DDE8"/>
                </a:solidFill>
                <a:latin typeface="Calibri" pitchFamily="34" charset="0"/>
                <a:ea typeface="Calibri" pitchFamily="34" charset="-122"/>
                <a:cs typeface="Calibri" pitchFamily="34" charset="-120"/>
              </a:rPr>
              <a:t>NIST SP 800-53 Rev 5  |  NIST SP 800-207 (Zero Trust)  |  MITRE ATT&amp;CK Enterprise</a:t>
            </a:r>
            <a:endParaRPr lang="en-US" sz="1200" dirty="0"/>
          </a:p>
        </p:txBody>
      </p:sp>
      <p:sp>
        <p:nvSpPr>
          <p:cNvPr id="15" name="Text 13"/>
          <p:cNvSpPr/>
          <p:nvPr/>
        </p:nvSpPr>
        <p:spPr>
          <a:xfrm>
            <a:off x="548640" y="3566160"/>
            <a:ext cx="8046720" cy="274320"/>
          </a:xfrm>
          <a:prstGeom prst="rect">
            <a:avLst/>
          </a:prstGeom>
          <a:noFill/>
          <a:ln/>
        </p:spPr>
        <p:txBody>
          <a:bodyPr wrap="square" lIns="0" tIns="0" rIns="0" bIns="0" rtlCol="0" anchor="ctr"/>
          <a:lstStyle/>
          <a:p>
            <a:pPr marL="0" indent="0">
              <a:buNone/>
            </a:pPr>
            <a:r>
              <a:rPr lang="en-US" sz="1100" dirty="0">
                <a:solidFill>
                  <a:srgbClr val="8BAAC2"/>
                </a:solidFill>
                <a:latin typeface="Calibri" pitchFamily="34" charset="0"/>
                <a:ea typeface="Calibri" pitchFamily="34" charset="-122"/>
                <a:cs typeface="Calibri" pitchFamily="34" charset="-120"/>
              </a:rPr>
              <a:t>Eran Shpigelman  |  Version 1.0  |  March 2026</a:t>
            </a:r>
            <a:endParaRPr lang="en-US" sz="1100" dirty="0"/>
          </a:p>
        </p:txBody>
      </p:sp>
      <p:sp>
        <p:nvSpPr>
          <p:cNvPr id="16" name="Shape 14"/>
          <p:cNvSpPr/>
          <p:nvPr/>
        </p:nvSpPr>
        <p:spPr>
          <a:xfrm>
            <a:off x="0" y="4869180"/>
            <a:ext cx="9144000" cy="274320"/>
          </a:xfrm>
          <a:prstGeom prst="rect">
            <a:avLst/>
          </a:prstGeom>
          <a:solidFill>
            <a:srgbClr val="0A2840"/>
          </a:solidFill>
          <a:ln w="12700">
            <a:solidFill>
              <a:srgbClr val="0A2840"/>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C5E"/>
          </a:solidFill>
          <a:ln w="12700">
            <a:solidFill>
              <a:srgbClr val="1A3C5E"/>
            </a:solidFill>
            <a:prstDash val="solid"/>
          </a:ln>
        </p:spPr>
        <p:txBody>
          <a:bodyPr/>
          <a:lstStyle/>
          <a:p>
            <a:endParaRPr lang="en-US"/>
          </a:p>
        </p:txBody>
      </p:sp>
      <p:sp>
        <p:nvSpPr>
          <p:cNvPr id="3" name="Text 1"/>
          <p:cNvSpPr/>
          <p:nvPr/>
        </p:nvSpPr>
        <p:spPr>
          <a:xfrm>
            <a:off x="457200" y="0"/>
            <a:ext cx="8229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Agenda</a:t>
            </a:r>
            <a:endParaRPr lang="en-US" sz="2200" dirty="0"/>
          </a:p>
        </p:txBody>
      </p:sp>
      <p:sp>
        <p:nvSpPr>
          <p:cNvPr id="4" name="Shape 2"/>
          <p:cNvSpPr/>
          <p:nvPr/>
        </p:nvSpPr>
        <p:spPr>
          <a:xfrm>
            <a:off x="365760" y="914400"/>
            <a:ext cx="402336" cy="402336"/>
          </a:xfrm>
          <a:prstGeom prst="rect">
            <a:avLst/>
          </a:prstGeom>
          <a:solidFill>
            <a:srgbClr val="1A3C5E"/>
          </a:solidFill>
          <a:ln w="12700">
            <a:solidFill>
              <a:srgbClr val="1A3C5E"/>
            </a:solidFill>
            <a:prstDash val="solid"/>
          </a:ln>
        </p:spPr>
        <p:txBody>
          <a:bodyPr/>
          <a:lstStyle/>
          <a:p>
            <a:endParaRPr lang="en-US"/>
          </a:p>
        </p:txBody>
      </p:sp>
      <p:sp>
        <p:nvSpPr>
          <p:cNvPr id="5" name="Text 3"/>
          <p:cNvSpPr/>
          <p:nvPr/>
        </p:nvSpPr>
        <p:spPr>
          <a:xfrm>
            <a:off x="365760" y="914400"/>
            <a:ext cx="402336" cy="402336"/>
          </a:xfrm>
          <a:prstGeom prst="rect">
            <a:avLst/>
          </a:prstGeom>
          <a:noFill/>
          <a:ln/>
        </p:spPr>
        <p:txBody>
          <a:bodyPr wrap="square" lIns="0" tIns="0" rIns="0" bIns="0" rtlCol="0" anchor="ctr"/>
          <a:lstStyle/>
          <a:p>
            <a:pPr marL="0" indent="0" algn="ctr">
              <a:buNone/>
            </a:pPr>
            <a:r>
              <a:rPr lang="en-US" sz="1200" b="1" dirty="0">
                <a:solidFill>
                  <a:srgbClr val="2D7D46"/>
                </a:solidFill>
                <a:latin typeface="Calibri" pitchFamily="34" charset="0"/>
                <a:ea typeface="Calibri" pitchFamily="34" charset="-122"/>
                <a:cs typeface="Calibri" pitchFamily="34" charset="-120"/>
              </a:rPr>
              <a:t>01</a:t>
            </a:r>
            <a:endParaRPr lang="en-US" sz="1200" dirty="0"/>
          </a:p>
        </p:txBody>
      </p:sp>
      <p:sp>
        <p:nvSpPr>
          <p:cNvPr id="6" name="Text 4"/>
          <p:cNvSpPr/>
          <p:nvPr/>
        </p:nvSpPr>
        <p:spPr>
          <a:xfrm>
            <a:off x="868680" y="950976"/>
            <a:ext cx="3657600" cy="347472"/>
          </a:xfrm>
          <a:prstGeom prst="rect">
            <a:avLst/>
          </a:prstGeom>
          <a:noFill/>
          <a:ln/>
        </p:spPr>
        <p:txBody>
          <a:bodyPr wrap="square" lIns="0" tIns="0" rIns="0" bIns="0" rtlCol="0" anchor="ctr"/>
          <a:lstStyle/>
          <a:p>
            <a:pPr marL="0" indent="0">
              <a:buNone/>
            </a:pPr>
            <a:r>
              <a:rPr lang="en-US" sz="1250" dirty="0">
                <a:solidFill>
                  <a:srgbClr val="1A2E44"/>
                </a:solidFill>
                <a:latin typeface="Calibri" pitchFamily="34" charset="0"/>
                <a:ea typeface="Calibri" pitchFamily="34" charset="-122"/>
                <a:cs typeface="Calibri" pitchFamily="34" charset="-120"/>
              </a:rPr>
              <a:t>Executive Summary — Why IGA Is a Security Control</a:t>
            </a:r>
            <a:endParaRPr lang="en-US" sz="1250" dirty="0"/>
          </a:p>
        </p:txBody>
      </p:sp>
      <p:sp>
        <p:nvSpPr>
          <p:cNvPr id="7" name="Shape 5"/>
          <p:cNvSpPr/>
          <p:nvPr/>
        </p:nvSpPr>
        <p:spPr>
          <a:xfrm>
            <a:off x="365760" y="1572768"/>
            <a:ext cx="402336" cy="402336"/>
          </a:xfrm>
          <a:prstGeom prst="rect">
            <a:avLst/>
          </a:prstGeom>
          <a:solidFill>
            <a:srgbClr val="1A3C5E"/>
          </a:solidFill>
          <a:ln w="12700">
            <a:solidFill>
              <a:srgbClr val="1A3C5E"/>
            </a:solidFill>
            <a:prstDash val="solid"/>
          </a:ln>
        </p:spPr>
        <p:txBody>
          <a:bodyPr/>
          <a:lstStyle/>
          <a:p>
            <a:endParaRPr lang="en-US"/>
          </a:p>
        </p:txBody>
      </p:sp>
      <p:sp>
        <p:nvSpPr>
          <p:cNvPr id="8" name="Text 6"/>
          <p:cNvSpPr/>
          <p:nvPr/>
        </p:nvSpPr>
        <p:spPr>
          <a:xfrm>
            <a:off x="365760" y="1572768"/>
            <a:ext cx="402336" cy="402336"/>
          </a:xfrm>
          <a:prstGeom prst="rect">
            <a:avLst/>
          </a:prstGeom>
          <a:noFill/>
          <a:ln/>
        </p:spPr>
        <p:txBody>
          <a:bodyPr wrap="square" lIns="0" tIns="0" rIns="0" bIns="0" rtlCol="0" anchor="ctr"/>
          <a:lstStyle/>
          <a:p>
            <a:pPr marL="0" indent="0" algn="ctr">
              <a:buNone/>
            </a:pPr>
            <a:r>
              <a:rPr lang="en-US" sz="1200" b="1" dirty="0">
                <a:solidFill>
                  <a:srgbClr val="2D7D46"/>
                </a:solidFill>
                <a:latin typeface="Calibri" pitchFamily="34" charset="0"/>
                <a:ea typeface="Calibri" pitchFamily="34" charset="-122"/>
                <a:cs typeface="Calibri" pitchFamily="34" charset="-120"/>
              </a:rPr>
              <a:t>02</a:t>
            </a:r>
            <a:endParaRPr lang="en-US" sz="1200" dirty="0"/>
          </a:p>
        </p:txBody>
      </p:sp>
      <p:sp>
        <p:nvSpPr>
          <p:cNvPr id="9" name="Text 7"/>
          <p:cNvSpPr/>
          <p:nvPr/>
        </p:nvSpPr>
        <p:spPr>
          <a:xfrm>
            <a:off x="868680" y="1609344"/>
            <a:ext cx="3657600" cy="347472"/>
          </a:xfrm>
          <a:prstGeom prst="rect">
            <a:avLst/>
          </a:prstGeom>
          <a:noFill/>
          <a:ln/>
        </p:spPr>
        <p:txBody>
          <a:bodyPr wrap="square" lIns="0" tIns="0" rIns="0" bIns="0" rtlCol="0" anchor="ctr"/>
          <a:lstStyle/>
          <a:p>
            <a:pPr marL="0" indent="0">
              <a:buNone/>
            </a:pPr>
            <a:r>
              <a:rPr lang="en-US" sz="1250" dirty="0">
                <a:solidFill>
                  <a:srgbClr val="1A2E44"/>
                </a:solidFill>
                <a:latin typeface="Calibri" pitchFamily="34" charset="0"/>
                <a:ea typeface="Calibri" pitchFamily="34" charset="-122"/>
                <a:cs typeface="Calibri" pitchFamily="34" charset="-120"/>
              </a:rPr>
              <a:t>IGA Core Concepts: JML Lifecycle &amp; Platform Architecture</a:t>
            </a:r>
            <a:endParaRPr lang="en-US" sz="1250" dirty="0"/>
          </a:p>
        </p:txBody>
      </p:sp>
      <p:sp>
        <p:nvSpPr>
          <p:cNvPr id="10" name="Shape 8"/>
          <p:cNvSpPr/>
          <p:nvPr/>
        </p:nvSpPr>
        <p:spPr>
          <a:xfrm>
            <a:off x="365760" y="2231136"/>
            <a:ext cx="402336" cy="402336"/>
          </a:xfrm>
          <a:prstGeom prst="rect">
            <a:avLst/>
          </a:prstGeom>
          <a:solidFill>
            <a:srgbClr val="1A3C5E"/>
          </a:solidFill>
          <a:ln w="12700">
            <a:solidFill>
              <a:srgbClr val="1A3C5E"/>
            </a:solidFill>
            <a:prstDash val="solid"/>
          </a:ln>
        </p:spPr>
        <p:txBody>
          <a:bodyPr/>
          <a:lstStyle/>
          <a:p>
            <a:endParaRPr lang="en-US"/>
          </a:p>
        </p:txBody>
      </p:sp>
      <p:sp>
        <p:nvSpPr>
          <p:cNvPr id="11" name="Text 9"/>
          <p:cNvSpPr/>
          <p:nvPr/>
        </p:nvSpPr>
        <p:spPr>
          <a:xfrm>
            <a:off x="365760" y="2231136"/>
            <a:ext cx="402336" cy="402336"/>
          </a:xfrm>
          <a:prstGeom prst="rect">
            <a:avLst/>
          </a:prstGeom>
          <a:noFill/>
          <a:ln/>
        </p:spPr>
        <p:txBody>
          <a:bodyPr wrap="square" lIns="0" tIns="0" rIns="0" bIns="0" rtlCol="0" anchor="ctr"/>
          <a:lstStyle/>
          <a:p>
            <a:pPr marL="0" indent="0" algn="ctr">
              <a:buNone/>
            </a:pPr>
            <a:r>
              <a:rPr lang="en-US" sz="1200" b="1" dirty="0">
                <a:solidFill>
                  <a:srgbClr val="2D7D46"/>
                </a:solidFill>
                <a:latin typeface="Calibri" pitchFamily="34" charset="0"/>
                <a:ea typeface="Calibri" pitchFamily="34" charset="-122"/>
                <a:cs typeface="Calibri" pitchFamily="34" charset="-120"/>
              </a:rPr>
              <a:t>03</a:t>
            </a:r>
            <a:endParaRPr lang="en-US" sz="1200" dirty="0"/>
          </a:p>
        </p:txBody>
      </p:sp>
      <p:sp>
        <p:nvSpPr>
          <p:cNvPr id="12" name="Text 10"/>
          <p:cNvSpPr/>
          <p:nvPr/>
        </p:nvSpPr>
        <p:spPr>
          <a:xfrm>
            <a:off x="868680" y="2267712"/>
            <a:ext cx="3657600" cy="347472"/>
          </a:xfrm>
          <a:prstGeom prst="rect">
            <a:avLst/>
          </a:prstGeom>
          <a:noFill/>
          <a:ln/>
        </p:spPr>
        <p:txBody>
          <a:bodyPr wrap="square" lIns="0" tIns="0" rIns="0" bIns="0" rtlCol="0" anchor="ctr"/>
          <a:lstStyle/>
          <a:p>
            <a:pPr marL="0" indent="0">
              <a:buNone/>
            </a:pPr>
            <a:r>
              <a:rPr lang="en-US" sz="1250" dirty="0">
                <a:solidFill>
                  <a:srgbClr val="1A2E44"/>
                </a:solidFill>
                <a:latin typeface="Calibri" pitchFamily="34" charset="0"/>
                <a:ea typeface="Calibri" pitchFamily="34" charset="-122"/>
                <a:cs typeface="Calibri" pitchFamily="34" charset="-120"/>
              </a:rPr>
              <a:t>Access Certification and Access Reviews</a:t>
            </a:r>
            <a:endParaRPr lang="en-US" sz="1250" dirty="0"/>
          </a:p>
        </p:txBody>
      </p:sp>
      <p:sp>
        <p:nvSpPr>
          <p:cNvPr id="13" name="Shape 11"/>
          <p:cNvSpPr/>
          <p:nvPr/>
        </p:nvSpPr>
        <p:spPr>
          <a:xfrm>
            <a:off x="365760" y="2889504"/>
            <a:ext cx="402336" cy="402336"/>
          </a:xfrm>
          <a:prstGeom prst="rect">
            <a:avLst/>
          </a:prstGeom>
          <a:solidFill>
            <a:srgbClr val="1A3C5E"/>
          </a:solidFill>
          <a:ln w="12700">
            <a:solidFill>
              <a:srgbClr val="1A3C5E"/>
            </a:solidFill>
            <a:prstDash val="solid"/>
          </a:ln>
        </p:spPr>
        <p:txBody>
          <a:bodyPr/>
          <a:lstStyle/>
          <a:p>
            <a:endParaRPr lang="en-US"/>
          </a:p>
        </p:txBody>
      </p:sp>
      <p:sp>
        <p:nvSpPr>
          <p:cNvPr id="14" name="Text 12"/>
          <p:cNvSpPr/>
          <p:nvPr/>
        </p:nvSpPr>
        <p:spPr>
          <a:xfrm>
            <a:off x="365760" y="2889504"/>
            <a:ext cx="402336" cy="402336"/>
          </a:xfrm>
          <a:prstGeom prst="rect">
            <a:avLst/>
          </a:prstGeom>
          <a:noFill/>
          <a:ln/>
        </p:spPr>
        <p:txBody>
          <a:bodyPr wrap="square" lIns="0" tIns="0" rIns="0" bIns="0" rtlCol="0" anchor="ctr"/>
          <a:lstStyle/>
          <a:p>
            <a:pPr marL="0" indent="0" algn="ctr">
              <a:buNone/>
            </a:pPr>
            <a:r>
              <a:rPr lang="en-US" sz="1200" b="1" dirty="0">
                <a:solidFill>
                  <a:srgbClr val="2D7D46"/>
                </a:solidFill>
                <a:latin typeface="Calibri" pitchFamily="34" charset="0"/>
                <a:ea typeface="Calibri" pitchFamily="34" charset="-122"/>
                <a:cs typeface="Calibri" pitchFamily="34" charset="-120"/>
              </a:rPr>
              <a:t>04</a:t>
            </a:r>
            <a:endParaRPr lang="en-US" sz="1200" dirty="0"/>
          </a:p>
        </p:txBody>
      </p:sp>
      <p:sp>
        <p:nvSpPr>
          <p:cNvPr id="15" name="Text 13"/>
          <p:cNvSpPr/>
          <p:nvPr/>
        </p:nvSpPr>
        <p:spPr>
          <a:xfrm>
            <a:off x="868680" y="2926080"/>
            <a:ext cx="3657600" cy="347472"/>
          </a:xfrm>
          <a:prstGeom prst="rect">
            <a:avLst/>
          </a:prstGeom>
          <a:noFill/>
          <a:ln/>
        </p:spPr>
        <p:txBody>
          <a:bodyPr wrap="square" lIns="0" tIns="0" rIns="0" bIns="0" rtlCol="0" anchor="ctr"/>
          <a:lstStyle/>
          <a:p>
            <a:pPr marL="0" indent="0">
              <a:buNone/>
            </a:pPr>
            <a:r>
              <a:rPr lang="en-US" sz="1250" dirty="0">
                <a:solidFill>
                  <a:srgbClr val="1A2E44"/>
                </a:solidFill>
                <a:latin typeface="Calibri" pitchFamily="34" charset="0"/>
                <a:ea typeface="Calibri" pitchFamily="34" charset="-122"/>
                <a:cs typeface="Calibri" pitchFamily="34" charset="-120"/>
              </a:rPr>
              <a:t>Separation of Duties (SoD) Architecture</a:t>
            </a:r>
            <a:endParaRPr lang="en-US" sz="1250" dirty="0"/>
          </a:p>
        </p:txBody>
      </p:sp>
      <p:sp>
        <p:nvSpPr>
          <p:cNvPr id="16" name="Shape 14"/>
          <p:cNvSpPr/>
          <p:nvPr/>
        </p:nvSpPr>
        <p:spPr>
          <a:xfrm>
            <a:off x="365760" y="3547872"/>
            <a:ext cx="402336" cy="402336"/>
          </a:xfrm>
          <a:prstGeom prst="rect">
            <a:avLst/>
          </a:prstGeom>
          <a:solidFill>
            <a:srgbClr val="1A3C5E"/>
          </a:solidFill>
          <a:ln w="12700">
            <a:solidFill>
              <a:srgbClr val="1A3C5E"/>
            </a:solidFill>
            <a:prstDash val="solid"/>
          </a:ln>
        </p:spPr>
        <p:txBody>
          <a:bodyPr/>
          <a:lstStyle/>
          <a:p>
            <a:endParaRPr lang="en-US"/>
          </a:p>
        </p:txBody>
      </p:sp>
      <p:sp>
        <p:nvSpPr>
          <p:cNvPr id="17" name="Text 15"/>
          <p:cNvSpPr/>
          <p:nvPr/>
        </p:nvSpPr>
        <p:spPr>
          <a:xfrm>
            <a:off x="365760" y="3547872"/>
            <a:ext cx="402336" cy="402336"/>
          </a:xfrm>
          <a:prstGeom prst="rect">
            <a:avLst/>
          </a:prstGeom>
          <a:noFill/>
          <a:ln/>
        </p:spPr>
        <p:txBody>
          <a:bodyPr wrap="square" lIns="0" tIns="0" rIns="0" bIns="0" rtlCol="0" anchor="ctr"/>
          <a:lstStyle/>
          <a:p>
            <a:pPr marL="0" indent="0" algn="ctr">
              <a:buNone/>
            </a:pPr>
            <a:r>
              <a:rPr lang="en-US" sz="1200" b="1" dirty="0">
                <a:solidFill>
                  <a:srgbClr val="2D7D46"/>
                </a:solidFill>
                <a:latin typeface="Calibri" pitchFamily="34" charset="0"/>
                <a:ea typeface="Calibri" pitchFamily="34" charset="-122"/>
                <a:cs typeface="Calibri" pitchFamily="34" charset="-120"/>
              </a:rPr>
              <a:t>05</a:t>
            </a:r>
            <a:endParaRPr lang="en-US" sz="1200" dirty="0"/>
          </a:p>
        </p:txBody>
      </p:sp>
      <p:sp>
        <p:nvSpPr>
          <p:cNvPr id="18" name="Text 16"/>
          <p:cNvSpPr/>
          <p:nvPr/>
        </p:nvSpPr>
        <p:spPr>
          <a:xfrm>
            <a:off x="868680" y="3584448"/>
            <a:ext cx="3657600" cy="347472"/>
          </a:xfrm>
          <a:prstGeom prst="rect">
            <a:avLst/>
          </a:prstGeom>
          <a:noFill/>
          <a:ln/>
        </p:spPr>
        <p:txBody>
          <a:bodyPr wrap="square" lIns="0" tIns="0" rIns="0" bIns="0" rtlCol="0" anchor="ctr"/>
          <a:lstStyle/>
          <a:p>
            <a:pPr marL="0" indent="0">
              <a:buNone/>
            </a:pPr>
            <a:r>
              <a:rPr lang="en-US" sz="1250" dirty="0">
                <a:solidFill>
                  <a:srgbClr val="1A2E44"/>
                </a:solidFill>
                <a:latin typeface="Calibri" pitchFamily="34" charset="0"/>
                <a:ea typeface="Calibri" pitchFamily="34" charset="-122"/>
                <a:cs typeface="Calibri" pitchFamily="34" charset="-120"/>
              </a:rPr>
              <a:t>SCIM 2.0 and Provisioning Architecture</a:t>
            </a:r>
            <a:endParaRPr lang="en-US" sz="1250" dirty="0"/>
          </a:p>
        </p:txBody>
      </p:sp>
      <p:sp>
        <p:nvSpPr>
          <p:cNvPr id="19" name="Shape 17"/>
          <p:cNvSpPr/>
          <p:nvPr/>
        </p:nvSpPr>
        <p:spPr>
          <a:xfrm>
            <a:off x="4846320" y="914400"/>
            <a:ext cx="402336" cy="402336"/>
          </a:xfrm>
          <a:prstGeom prst="rect">
            <a:avLst/>
          </a:prstGeom>
          <a:solidFill>
            <a:srgbClr val="1A3C5E"/>
          </a:solidFill>
          <a:ln w="12700">
            <a:solidFill>
              <a:srgbClr val="1A3C5E"/>
            </a:solidFill>
            <a:prstDash val="solid"/>
          </a:ln>
        </p:spPr>
        <p:txBody>
          <a:bodyPr/>
          <a:lstStyle/>
          <a:p>
            <a:endParaRPr lang="en-US"/>
          </a:p>
        </p:txBody>
      </p:sp>
      <p:sp>
        <p:nvSpPr>
          <p:cNvPr id="20" name="Text 18"/>
          <p:cNvSpPr/>
          <p:nvPr/>
        </p:nvSpPr>
        <p:spPr>
          <a:xfrm>
            <a:off x="4846320" y="914400"/>
            <a:ext cx="402336" cy="402336"/>
          </a:xfrm>
          <a:prstGeom prst="rect">
            <a:avLst/>
          </a:prstGeom>
          <a:noFill/>
          <a:ln/>
        </p:spPr>
        <p:txBody>
          <a:bodyPr wrap="square" lIns="0" tIns="0" rIns="0" bIns="0" rtlCol="0" anchor="ctr"/>
          <a:lstStyle/>
          <a:p>
            <a:pPr marL="0" indent="0" algn="ctr">
              <a:buNone/>
            </a:pPr>
            <a:r>
              <a:rPr lang="en-US" sz="1200" b="1" dirty="0">
                <a:solidFill>
                  <a:srgbClr val="2D7D46"/>
                </a:solidFill>
                <a:latin typeface="Calibri" pitchFamily="34" charset="0"/>
                <a:ea typeface="Calibri" pitchFamily="34" charset="-122"/>
                <a:cs typeface="Calibri" pitchFamily="34" charset="-120"/>
              </a:rPr>
              <a:t>06</a:t>
            </a:r>
            <a:endParaRPr lang="en-US" sz="1200" dirty="0"/>
          </a:p>
        </p:txBody>
      </p:sp>
      <p:sp>
        <p:nvSpPr>
          <p:cNvPr id="21" name="Text 19"/>
          <p:cNvSpPr/>
          <p:nvPr/>
        </p:nvSpPr>
        <p:spPr>
          <a:xfrm>
            <a:off x="5349240" y="950976"/>
            <a:ext cx="3657600" cy="347472"/>
          </a:xfrm>
          <a:prstGeom prst="rect">
            <a:avLst/>
          </a:prstGeom>
          <a:noFill/>
          <a:ln/>
        </p:spPr>
        <p:txBody>
          <a:bodyPr wrap="square" lIns="0" tIns="0" rIns="0" bIns="0" rtlCol="0" anchor="ctr"/>
          <a:lstStyle/>
          <a:p>
            <a:pPr marL="0" indent="0">
              <a:buNone/>
            </a:pPr>
            <a:r>
              <a:rPr lang="en-US" sz="1250" dirty="0">
                <a:solidFill>
                  <a:srgbClr val="1A2E44"/>
                </a:solidFill>
                <a:latin typeface="Calibri" pitchFamily="34" charset="0"/>
                <a:ea typeface="Calibri" pitchFamily="34" charset="-122"/>
                <a:cs typeface="Calibri" pitchFamily="34" charset="-120"/>
              </a:rPr>
              <a:t>Privileged Access &amp; Service Account Governance</a:t>
            </a:r>
            <a:endParaRPr lang="en-US" sz="1250" dirty="0"/>
          </a:p>
        </p:txBody>
      </p:sp>
      <p:sp>
        <p:nvSpPr>
          <p:cNvPr id="22" name="Shape 20"/>
          <p:cNvSpPr/>
          <p:nvPr/>
        </p:nvSpPr>
        <p:spPr>
          <a:xfrm>
            <a:off x="4846320" y="1572768"/>
            <a:ext cx="402336" cy="402336"/>
          </a:xfrm>
          <a:prstGeom prst="rect">
            <a:avLst/>
          </a:prstGeom>
          <a:solidFill>
            <a:srgbClr val="1A3C5E"/>
          </a:solidFill>
          <a:ln w="12700">
            <a:solidFill>
              <a:srgbClr val="1A3C5E"/>
            </a:solidFill>
            <a:prstDash val="solid"/>
          </a:ln>
        </p:spPr>
        <p:txBody>
          <a:bodyPr/>
          <a:lstStyle/>
          <a:p>
            <a:endParaRPr lang="en-US"/>
          </a:p>
        </p:txBody>
      </p:sp>
      <p:sp>
        <p:nvSpPr>
          <p:cNvPr id="23" name="Text 21"/>
          <p:cNvSpPr/>
          <p:nvPr/>
        </p:nvSpPr>
        <p:spPr>
          <a:xfrm>
            <a:off x="4846320" y="1572768"/>
            <a:ext cx="402336" cy="402336"/>
          </a:xfrm>
          <a:prstGeom prst="rect">
            <a:avLst/>
          </a:prstGeom>
          <a:noFill/>
          <a:ln/>
        </p:spPr>
        <p:txBody>
          <a:bodyPr wrap="square" lIns="0" tIns="0" rIns="0" bIns="0" rtlCol="0" anchor="ctr"/>
          <a:lstStyle/>
          <a:p>
            <a:pPr marL="0" indent="0" algn="ctr">
              <a:buNone/>
            </a:pPr>
            <a:r>
              <a:rPr lang="en-US" sz="1200" b="1" dirty="0">
                <a:solidFill>
                  <a:srgbClr val="2D7D46"/>
                </a:solidFill>
                <a:latin typeface="Calibri" pitchFamily="34" charset="0"/>
                <a:ea typeface="Calibri" pitchFamily="34" charset="-122"/>
                <a:cs typeface="Calibri" pitchFamily="34" charset="-120"/>
              </a:rPr>
              <a:t>07</a:t>
            </a:r>
            <a:endParaRPr lang="en-US" sz="1200" dirty="0"/>
          </a:p>
        </p:txBody>
      </p:sp>
      <p:sp>
        <p:nvSpPr>
          <p:cNvPr id="24" name="Text 22"/>
          <p:cNvSpPr/>
          <p:nvPr/>
        </p:nvSpPr>
        <p:spPr>
          <a:xfrm>
            <a:off x="5349240" y="1609344"/>
            <a:ext cx="3657600" cy="347472"/>
          </a:xfrm>
          <a:prstGeom prst="rect">
            <a:avLst/>
          </a:prstGeom>
          <a:noFill/>
          <a:ln/>
        </p:spPr>
        <p:txBody>
          <a:bodyPr wrap="square" lIns="0" tIns="0" rIns="0" bIns="0" rtlCol="0" anchor="ctr"/>
          <a:lstStyle/>
          <a:p>
            <a:pPr marL="0" indent="0">
              <a:buNone/>
            </a:pPr>
            <a:r>
              <a:rPr lang="en-US" sz="1250" dirty="0">
                <a:solidFill>
                  <a:srgbClr val="1A2E44"/>
                </a:solidFill>
                <a:latin typeface="Calibri" pitchFamily="34" charset="0"/>
                <a:ea typeface="Calibri" pitchFamily="34" charset="-122"/>
                <a:cs typeface="Calibri" pitchFamily="34" charset="-120"/>
              </a:rPr>
              <a:t>Cloud Entitlement Management (CIEM)</a:t>
            </a:r>
            <a:endParaRPr lang="en-US" sz="1250" dirty="0"/>
          </a:p>
        </p:txBody>
      </p:sp>
      <p:sp>
        <p:nvSpPr>
          <p:cNvPr id="25" name="Shape 23"/>
          <p:cNvSpPr/>
          <p:nvPr/>
        </p:nvSpPr>
        <p:spPr>
          <a:xfrm>
            <a:off x="4846320" y="2231136"/>
            <a:ext cx="402336" cy="402336"/>
          </a:xfrm>
          <a:prstGeom prst="rect">
            <a:avLst/>
          </a:prstGeom>
          <a:solidFill>
            <a:srgbClr val="1A3C5E"/>
          </a:solidFill>
          <a:ln w="12700">
            <a:solidFill>
              <a:srgbClr val="1A3C5E"/>
            </a:solidFill>
            <a:prstDash val="solid"/>
          </a:ln>
        </p:spPr>
        <p:txBody>
          <a:bodyPr/>
          <a:lstStyle/>
          <a:p>
            <a:endParaRPr lang="en-US"/>
          </a:p>
        </p:txBody>
      </p:sp>
      <p:sp>
        <p:nvSpPr>
          <p:cNvPr id="26" name="Text 24"/>
          <p:cNvSpPr/>
          <p:nvPr/>
        </p:nvSpPr>
        <p:spPr>
          <a:xfrm>
            <a:off x="4846320" y="2231136"/>
            <a:ext cx="402336" cy="402336"/>
          </a:xfrm>
          <a:prstGeom prst="rect">
            <a:avLst/>
          </a:prstGeom>
          <a:noFill/>
          <a:ln/>
        </p:spPr>
        <p:txBody>
          <a:bodyPr wrap="square" lIns="0" tIns="0" rIns="0" bIns="0" rtlCol="0" anchor="ctr"/>
          <a:lstStyle/>
          <a:p>
            <a:pPr marL="0" indent="0" algn="ctr">
              <a:buNone/>
            </a:pPr>
            <a:r>
              <a:rPr lang="en-US" sz="1200" b="1" dirty="0">
                <a:solidFill>
                  <a:srgbClr val="2D7D46"/>
                </a:solidFill>
                <a:latin typeface="Calibri" pitchFamily="34" charset="0"/>
                <a:ea typeface="Calibri" pitchFamily="34" charset="-122"/>
                <a:cs typeface="Calibri" pitchFamily="34" charset="-120"/>
              </a:rPr>
              <a:t>08</a:t>
            </a:r>
            <a:endParaRPr lang="en-US" sz="1200" dirty="0"/>
          </a:p>
        </p:txBody>
      </p:sp>
      <p:sp>
        <p:nvSpPr>
          <p:cNvPr id="27" name="Text 25"/>
          <p:cNvSpPr/>
          <p:nvPr/>
        </p:nvSpPr>
        <p:spPr>
          <a:xfrm>
            <a:off x="5349240" y="2267712"/>
            <a:ext cx="3657600" cy="347472"/>
          </a:xfrm>
          <a:prstGeom prst="rect">
            <a:avLst/>
          </a:prstGeom>
          <a:noFill/>
          <a:ln/>
        </p:spPr>
        <p:txBody>
          <a:bodyPr wrap="square" lIns="0" tIns="0" rIns="0" bIns="0" rtlCol="0" anchor="ctr"/>
          <a:lstStyle/>
          <a:p>
            <a:pPr marL="0" indent="0">
              <a:buNone/>
            </a:pPr>
            <a:r>
              <a:rPr lang="en-US" sz="1250" dirty="0">
                <a:solidFill>
                  <a:srgbClr val="1A2E44"/>
                </a:solidFill>
                <a:latin typeface="Calibri" pitchFamily="34" charset="0"/>
                <a:ea typeface="Calibri" pitchFamily="34" charset="-122"/>
                <a:cs typeface="Calibri" pitchFamily="34" charset="-120"/>
              </a:rPr>
              <a:t>Identity Analytics and AI-Driven Governance</a:t>
            </a:r>
            <a:endParaRPr lang="en-US" sz="1250" dirty="0"/>
          </a:p>
        </p:txBody>
      </p:sp>
      <p:sp>
        <p:nvSpPr>
          <p:cNvPr id="28" name="Shape 26"/>
          <p:cNvSpPr/>
          <p:nvPr/>
        </p:nvSpPr>
        <p:spPr>
          <a:xfrm>
            <a:off x="4846320" y="2889504"/>
            <a:ext cx="402336" cy="402336"/>
          </a:xfrm>
          <a:prstGeom prst="rect">
            <a:avLst/>
          </a:prstGeom>
          <a:solidFill>
            <a:srgbClr val="1A3C5E"/>
          </a:solidFill>
          <a:ln w="12700">
            <a:solidFill>
              <a:srgbClr val="1A3C5E"/>
            </a:solidFill>
            <a:prstDash val="solid"/>
          </a:ln>
        </p:spPr>
        <p:txBody>
          <a:bodyPr/>
          <a:lstStyle/>
          <a:p>
            <a:endParaRPr lang="en-US"/>
          </a:p>
        </p:txBody>
      </p:sp>
      <p:sp>
        <p:nvSpPr>
          <p:cNvPr id="29" name="Text 27"/>
          <p:cNvSpPr/>
          <p:nvPr/>
        </p:nvSpPr>
        <p:spPr>
          <a:xfrm>
            <a:off x="4846320" y="2889504"/>
            <a:ext cx="402336" cy="402336"/>
          </a:xfrm>
          <a:prstGeom prst="rect">
            <a:avLst/>
          </a:prstGeom>
          <a:noFill/>
          <a:ln/>
        </p:spPr>
        <p:txBody>
          <a:bodyPr wrap="square" lIns="0" tIns="0" rIns="0" bIns="0" rtlCol="0" anchor="ctr"/>
          <a:lstStyle/>
          <a:p>
            <a:pPr marL="0" indent="0" algn="ctr">
              <a:buNone/>
            </a:pPr>
            <a:r>
              <a:rPr lang="en-US" sz="1200" b="1" dirty="0">
                <a:solidFill>
                  <a:srgbClr val="2D7D46"/>
                </a:solidFill>
                <a:latin typeface="Calibri" pitchFamily="34" charset="0"/>
                <a:ea typeface="Calibri" pitchFamily="34" charset="-122"/>
                <a:cs typeface="Calibri" pitchFamily="34" charset="-120"/>
              </a:rPr>
              <a:t>09</a:t>
            </a:r>
            <a:endParaRPr lang="en-US" sz="1200" dirty="0"/>
          </a:p>
        </p:txBody>
      </p:sp>
      <p:sp>
        <p:nvSpPr>
          <p:cNvPr id="30" name="Text 28"/>
          <p:cNvSpPr/>
          <p:nvPr/>
        </p:nvSpPr>
        <p:spPr>
          <a:xfrm>
            <a:off x="5349240" y="2926080"/>
            <a:ext cx="3657600" cy="347472"/>
          </a:xfrm>
          <a:prstGeom prst="rect">
            <a:avLst/>
          </a:prstGeom>
          <a:noFill/>
          <a:ln/>
        </p:spPr>
        <p:txBody>
          <a:bodyPr wrap="square" lIns="0" tIns="0" rIns="0" bIns="0" rtlCol="0" anchor="ctr"/>
          <a:lstStyle/>
          <a:p>
            <a:pPr marL="0" indent="0">
              <a:buNone/>
            </a:pPr>
            <a:r>
              <a:rPr lang="en-US" sz="1250" dirty="0">
                <a:solidFill>
                  <a:srgbClr val="1A2E44"/>
                </a:solidFill>
                <a:latin typeface="Calibri" pitchFamily="34" charset="0"/>
                <a:ea typeface="Calibri" pitchFamily="34" charset="-122"/>
                <a:cs typeface="Calibri" pitchFamily="34" charset="-120"/>
              </a:rPr>
              <a:t>MITRE ATT&amp;CK Mapping</a:t>
            </a:r>
            <a:endParaRPr lang="en-US" sz="1250" dirty="0"/>
          </a:p>
        </p:txBody>
      </p:sp>
      <p:sp>
        <p:nvSpPr>
          <p:cNvPr id="31" name="Shape 29"/>
          <p:cNvSpPr/>
          <p:nvPr/>
        </p:nvSpPr>
        <p:spPr>
          <a:xfrm>
            <a:off x="4846320" y="3547872"/>
            <a:ext cx="402336" cy="402336"/>
          </a:xfrm>
          <a:prstGeom prst="rect">
            <a:avLst/>
          </a:prstGeom>
          <a:solidFill>
            <a:srgbClr val="1A3C5E"/>
          </a:solidFill>
          <a:ln w="12700">
            <a:solidFill>
              <a:srgbClr val="1A3C5E"/>
            </a:solidFill>
            <a:prstDash val="solid"/>
          </a:ln>
        </p:spPr>
        <p:txBody>
          <a:bodyPr/>
          <a:lstStyle/>
          <a:p>
            <a:endParaRPr lang="en-US"/>
          </a:p>
        </p:txBody>
      </p:sp>
      <p:sp>
        <p:nvSpPr>
          <p:cNvPr id="32" name="Text 30"/>
          <p:cNvSpPr/>
          <p:nvPr/>
        </p:nvSpPr>
        <p:spPr>
          <a:xfrm>
            <a:off x="4846320" y="3547872"/>
            <a:ext cx="402336" cy="402336"/>
          </a:xfrm>
          <a:prstGeom prst="rect">
            <a:avLst/>
          </a:prstGeom>
          <a:noFill/>
          <a:ln/>
        </p:spPr>
        <p:txBody>
          <a:bodyPr wrap="square" lIns="0" tIns="0" rIns="0" bIns="0" rtlCol="0" anchor="ctr"/>
          <a:lstStyle/>
          <a:p>
            <a:pPr marL="0" indent="0" algn="ctr">
              <a:buNone/>
            </a:pPr>
            <a:r>
              <a:rPr lang="en-US" sz="1200" b="1" dirty="0">
                <a:solidFill>
                  <a:srgbClr val="2D7D46"/>
                </a:solidFill>
                <a:latin typeface="Calibri" pitchFamily="34" charset="0"/>
                <a:ea typeface="Calibri" pitchFamily="34" charset="-122"/>
                <a:cs typeface="Calibri" pitchFamily="34" charset="-120"/>
              </a:rPr>
              <a:t>10</a:t>
            </a:r>
            <a:endParaRPr lang="en-US" sz="1200" dirty="0"/>
          </a:p>
        </p:txBody>
      </p:sp>
      <p:sp>
        <p:nvSpPr>
          <p:cNvPr id="33" name="Text 31"/>
          <p:cNvSpPr/>
          <p:nvPr/>
        </p:nvSpPr>
        <p:spPr>
          <a:xfrm>
            <a:off x="5349240" y="3584448"/>
            <a:ext cx="3657600" cy="347472"/>
          </a:xfrm>
          <a:prstGeom prst="rect">
            <a:avLst/>
          </a:prstGeom>
          <a:noFill/>
          <a:ln/>
        </p:spPr>
        <p:txBody>
          <a:bodyPr wrap="square" lIns="0" tIns="0" rIns="0" bIns="0" rtlCol="0" anchor="ctr"/>
          <a:lstStyle/>
          <a:p>
            <a:pPr marL="0" indent="0">
              <a:buNone/>
            </a:pPr>
            <a:r>
              <a:rPr lang="en-US" sz="1250" dirty="0">
                <a:solidFill>
                  <a:srgbClr val="1A2E44"/>
                </a:solidFill>
                <a:latin typeface="Calibri" pitchFamily="34" charset="0"/>
                <a:ea typeface="Calibri" pitchFamily="34" charset="-122"/>
                <a:cs typeface="Calibri" pitchFamily="34" charset="-120"/>
              </a:rPr>
              <a:t>Vendor Landscape &amp; NIST Controls Mapping</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3C5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D7D46"/>
          </a:solidFill>
          <a:ln w="12700">
            <a:solidFill>
              <a:srgbClr val="2D7D46"/>
            </a:solidFill>
            <a:prstDash val="solid"/>
          </a:ln>
        </p:spPr>
        <p:txBody>
          <a:bodyPr/>
          <a:lstStyle/>
          <a:p>
            <a:endParaRPr lang="en-US"/>
          </a:p>
        </p:txBody>
      </p:sp>
      <p:sp>
        <p:nvSpPr>
          <p:cNvPr id="3" name="Text 1"/>
          <p:cNvSpPr/>
          <p:nvPr/>
        </p:nvSpPr>
        <p:spPr>
          <a:xfrm>
            <a:off x="6858000" y="731520"/>
            <a:ext cx="2103120" cy="2560320"/>
          </a:xfrm>
          <a:prstGeom prst="rect">
            <a:avLst/>
          </a:prstGeom>
          <a:noFill/>
          <a:ln/>
        </p:spPr>
        <p:txBody>
          <a:bodyPr wrap="square" lIns="0" tIns="0" rIns="0" bIns="0" rtlCol="0" anchor="ctr"/>
          <a:lstStyle/>
          <a:p>
            <a:pPr marL="0" indent="0" algn="r">
              <a:buNone/>
            </a:pPr>
            <a:r>
              <a:rPr lang="en-US" sz="14000" b="1" dirty="0">
                <a:solidFill>
                  <a:srgbClr val="1A4A30"/>
                </a:solidFill>
                <a:latin typeface="Calibri" pitchFamily="34" charset="0"/>
                <a:ea typeface="Calibri" pitchFamily="34" charset="-122"/>
                <a:cs typeface="Calibri" pitchFamily="34" charset="-120"/>
              </a:rPr>
              <a:t>01</a:t>
            </a:r>
            <a:endParaRPr lang="en-US" sz="14000" dirty="0"/>
          </a:p>
        </p:txBody>
      </p:sp>
      <p:sp>
        <p:nvSpPr>
          <p:cNvPr id="4" name="Text 2"/>
          <p:cNvSpPr/>
          <p:nvPr/>
        </p:nvSpPr>
        <p:spPr>
          <a:xfrm>
            <a:off x="320040" y="1600200"/>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Executive Summary</a:t>
            </a:r>
            <a:endParaRPr lang="en-US" sz="3000" dirty="0"/>
          </a:p>
        </p:txBody>
      </p:sp>
      <p:sp>
        <p:nvSpPr>
          <p:cNvPr id="5" name="Shape 3"/>
          <p:cNvSpPr/>
          <p:nvPr/>
        </p:nvSpPr>
        <p:spPr>
          <a:xfrm>
            <a:off x="320040" y="2468880"/>
            <a:ext cx="6217920" cy="0"/>
          </a:xfrm>
          <a:prstGeom prst="line">
            <a:avLst/>
          </a:prstGeom>
          <a:noFill/>
          <a:ln w="6350">
            <a:solidFill>
              <a:srgbClr val="8BAAC2"/>
            </a:solidFill>
            <a:prstDash val="solid"/>
          </a:ln>
        </p:spPr>
        <p:txBody>
          <a:bodyPr/>
          <a:lstStyle/>
          <a:p>
            <a:endParaRPr lang="en-US"/>
          </a:p>
        </p:txBody>
      </p:sp>
      <p:sp>
        <p:nvSpPr>
          <p:cNvPr id="6" name="Text 4"/>
          <p:cNvSpPr/>
          <p:nvPr/>
        </p:nvSpPr>
        <p:spPr>
          <a:xfrm>
            <a:off x="320040" y="2542032"/>
            <a:ext cx="6400800" cy="457200"/>
          </a:xfrm>
          <a:prstGeom prst="rect">
            <a:avLst/>
          </a:prstGeom>
          <a:noFill/>
          <a:ln/>
        </p:spPr>
        <p:txBody>
          <a:bodyPr wrap="square" lIns="0" tIns="0" rIns="0" bIns="0" rtlCol="0" anchor="ctr"/>
          <a:lstStyle/>
          <a:p>
            <a:pPr marL="0" indent="0">
              <a:buNone/>
            </a:pPr>
            <a:r>
              <a:rPr lang="en-US" sz="1400" i="1" dirty="0">
                <a:solidFill>
                  <a:srgbClr val="C9DDE8"/>
                </a:solidFill>
                <a:latin typeface="Calibri" pitchFamily="34" charset="0"/>
                <a:ea typeface="Calibri" pitchFamily="34" charset="-122"/>
                <a:cs typeface="Calibri" pitchFamily="34" charset="-120"/>
              </a:rPr>
              <a:t>Why IGA is a security control, not just compliance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C5E"/>
          </a:solidFill>
          <a:ln w="12700">
            <a:solidFill>
              <a:srgbClr val="1A3C5E"/>
            </a:solidFill>
            <a:prstDash val="solid"/>
          </a:ln>
        </p:spPr>
        <p:txBody>
          <a:bodyPr/>
          <a:lstStyle/>
          <a:p>
            <a:endParaRPr lang="en-US"/>
          </a:p>
        </p:txBody>
      </p:sp>
      <p:sp>
        <p:nvSpPr>
          <p:cNvPr id="3" name="Text 1"/>
          <p:cNvSpPr/>
          <p:nvPr/>
        </p:nvSpPr>
        <p:spPr>
          <a:xfrm>
            <a:off x="457200" y="0"/>
            <a:ext cx="8229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Executive Summary</a:t>
            </a:r>
            <a:endParaRPr lang="en-US" sz="2200" dirty="0"/>
          </a:p>
        </p:txBody>
      </p:sp>
      <p:sp>
        <p:nvSpPr>
          <p:cNvPr id="4" name="Shape 2"/>
          <p:cNvSpPr/>
          <p:nvPr/>
        </p:nvSpPr>
        <p:spPr>
          <a:xfrm>
            <a:off x="320040" y="822960"/>
            <a:ext cx="2560320" cy="1463040"/>
          </a:xfrm>
          <a:prstGeom prst="rect">
            <a:avLst/>
          </a:prstGeom>
          <a:solidFill>
            <a:srgbClr val="1A3C5E"/>
          </a:solidFill>
          <a:ln w="12700">
            <a:solidFill>
              <a:srgbClr val="1A3C5E"/>
            </a:solidFill>
            <a:prstDash val="solid"/>
          </a:ln>
          <a:effectLst>
            <a:outerShdw blurRad="63500" dist="25400" dir="8100000" algn="bl" rotWithShape="0">
              <a:srgbClr val="000000">
                <a:alpha val="12000"/>
              </a:srgbClr>
            </a:outerShdw>
          </a:effectLst>
        </p:spPr>
        <p:txBody>
          <a:bodyPr/>
          <a:lstStyle/>
          <a:p>
            <a:endParaRPr lang="en-US"/>
          </a:p>
        </p:txBody>
      </p:sp>
      <p:sp>
        <p:nvSpPr>
          <p:cNvPr id="5" name="Text 3"/>
          <p:cNvSpPr/>
          <p:nvPr/>
        </p:nvSpPr>
        <p:spPr>
          <a:xfrm>
            <a:off x="320040" y="868680"/>
            <a:ext cx="2560320" cy="731520"/>
          </a:xfrm>
          <a:prstGeom prst="rect">
            <a:avLst/>
          </a:prstGeom>
          <a:noFill/>
          <a:ln/>
        </p:spPr>
        <p:txBody>
          <a:bodyPr wrap="square" lIns="0" tIns="0" rIns="0" bIns="0" rtlCol="0" anchor="ctr"/>
          <a:lstStyle/>
          <a:p>
            <a:pPr marL="0" indent="0" algn="ctr">
              <a:buNone/>
            </a:pPr>
            <a:r>
              <a:rPr lang="en-US" sz="3600" b="1" dirty="0">
                <a:solidFill>
                  <a:srgbClr val="2D7D46"/>
                </a:solidFill>
                <a:latin typeface="Calibri" pitchFamily="34" charset="0"/>
                <a:ea typeface="Calibri" pitchFamily="34" charset="-122"/>
                <a:cs typeface="Calibri" pitchFamily="34" charset="-120"/>
              </a:rPr>
              <a:t>74%</a:t>
            </a:r>
            <a:endParaRPr lang="en-US" sz="3600" dirty="0"/>
          </a:p>
        </p:txBody>
      </p:sp>
      <p:sp>
        <p:nvSpPr>
          <p:cNvPr id="6" name="Text 4"/>
          <p:cNvSpPr/>
          <p:nvPr/>
        </p:nvSpPr>
        <p:spPr>
          <a:xfrm>
            <a:off x="320040" y="1600200"/>
            <a:ext cx="2560320" cy="502920"/>
          </a:xfrm>
          <a:prstGeom prst="rect">
            <a:avLst/>
          </a:prstGeom>
          <a:noFill/>
          <a:ln/>
        </p:spPr>
        <p:txBody>
          <a:bodyPr wrap="square" lIns="0" tIns="0" rIns="0" bIns="0" rtlCol="0" anchor="ctr"/>
          <a:lstStyle/>
          <a:p>
            <a:pPr marL="0" indent="0" algn="ctr">
              <a:buNone/>
            </a:pPr>
            <a:r>
              <a:rPr lang="en-US" sz="1100" dirty="0">
                <a:solidFill>
                  <a:srgbClr val="C9DDE8"/>
                </a:solidFill>
                <a:latin typeface="Calibri" pitchFamily="34" charset="0"/>
                <a:ea typeface="Calibri" pitchFamily="34" charset="-122"/>
                <a:cs typeface="Calibri" pitchFamily="34" charset="-120"/>
              </a:rPr>
              <a:t>of breaches involve</a:t>
            </a:r>
            <a:endParaRPr lang="en-US" sz="1100" dirty="0"/>
          </a:p>
          <a:p>
            <a:pPr marL="0" indent="0" algn="ctr">
              <a:buNone/>
            </a:pPr>
            <a:r>
              <a:rPr lang="en-US" sz="1100" dirty="0">
                <a:solidFill>
                  <a:srgbClr val="C9DDE8"/>
                </a:solidFill>
                <a:latin typeface="Calibri" pitchFamily="34" charset="0"/>
                <a:ea typeface="Calibri" pitchFamily="34" charset="-122"/>
                <a:cs typeface="Calibri" pitchFamily="34" charset="-120"/>
              </a:rPr>
              <a:t>the human element</a:t>
            </a:r>
            <a:endParaRPr lang="en-US" sz="1100" dirty="0"/>
          </a:p>
        </p:txBody>
      </p:sp>
      <p:sp>
        <p:nvSpPr>
          <p:cNvPr id="7" name="Text 5"/>
          <p:cNvSpPr/>
          <p:nvPr/>
        </p:nvSpPr>
        <p:spPr>
          <a:xfrm>
            <a:off x="320040" y="2103120"/>
            <a:ext cx="2560320" cy="182880"/>
          </a:xfrm>
          <a:prstGeom prst="rect">
            <a:avLst/>
          </a:prstGeom>
          <a:noFill/>
          <a:ln/>
        </p:spPr>
        <p:txBody>
          <a:bodyPr wrap="square" lIns="0" tIns="0" rIns="0" bIns="0" rtlCol="0" anchor="ctr"/>
          <a:lstStyle/>
          <a:p>
            <a:pPr marL="0" indent="0" algn="ctr">
              <a:buNone/>
            </a:pPr>
            <a:r>
              <a:rPr lang="en-US" sz="800" i="1" dirty="0">
                <a:solidFill>
                  <a:srgbClr val="8BAAC2"/>
                </a:solidFill>
                <a:latin typeface="Calibri" pitchFamily="34" charset="0"/>
                <a:ea typeface="Calibri" pitchFamily="34" charset="-122"/>
                <a:cs typeface="Calibri" pitchFamily="34" charset="-120"/>
              </a:rPr>
              <a:t>Verizon DBIR 2023</a:t>
            </a:r>
            <a:endParaRPr lang="en-US" sz="800" dirty="0"/>
          </a:p>
        </p:txBody>
      </p:sp>
      <p:sp>
        <p:nvSpPr>
          <p:cNvPr id="8" name="Shape 6"/>
          <p:cNvSpPr/>
          <p:nvPr/>
        </p:nvSpPr>
        <p:spPr>
          <a:xfrm>
            <a:off x="3154680" y="822960"/>
            <a:ext cx="2560320" cy="1463040"/>
          </a:xfrm>
          <a:prstGeom prst="rect">
            <a:avLst/>
          </a:prstGeom>
          <a:solidFill>
            <a:srgbClr val="1A3C5E"/>
          </a:solidFill>
          <a:ln w="12700">
            <a:solidFill>
              <a:srgbClr val="1A3C5E"/>
            </a:solidFill>
            <a:prstDash val="solid"/>
          </a:ln>
          <a:effectLst>
            <a:outerShdw blurRad="63500" dist="25400" dir="8100000" algn="bl" rotWithShape="0">
              <a:srgbClr val="000000">
                <a:alpha val="12000"/>
              </a:srgbClr>
            </a:outerShdw>
          </a:effectLst>
        </p:spPr>
        <p:txBody>
          <a:bodyPr/>
          <a:lstStyle/>
          <a:p>
            <a:endParaRPr lang="en-US"/>
          </a:p>
        </p:txBody>
      </p:sp>
      <p:sp>
        <p:nvSpPr>
          <p:cNvPr id="9" name="Text 7"/>
          <p:cNvSpPr/>
          <p:nvPr/>
        </p:nvSpPr>
        <p:spPr>
          <a:xfrm>
            <a:off x="3154680" y="868680"/>
            <a:ext cx="2560320" cy="731520"/>
          </a:xfrm>
          <a:prstGeom prst="rect">
            <a:avLst/>
          </a:prstGeom>
          <a:noFill/>
          <a:ln/>
        </p:spPr>
        <p:txBody>
          <a:bodyPr wrap="square" lIns="0" tIns="0" rIns="0" bIns="0" rtlCol="0" anchor="ctr"/>
          <a:lstStyle/>
          <a:p>
            <a:pPr marL="0" indent="0" algn="ctr">
              <a:buNone/>
            </a:pPr>
            <a:r>
              <a:rPr lang="en-US" sz="3600" b="1" dirty="0">
                <a:solidFill>
                  <a:srgbClr val="2D7D46"/>
                </a:solidFill>
                <a:latin typeface="Calibri" pitchFamily="34" charset="0"/>
                <a:ea typeface="Calibri" pitchFamily="34" charset="-122"/>
                <a:cs typeface="Calibri" pitchFamily="34" charset="-120"/>
              </a:rPr>
              <a:t>#1</a:t>
            </a:r>
            <a:endParaRPr lang="en-US" sz="3600" dirty="0"/>
          </a:p>
        </p:txBody>
      </p:sp>
      <p:sp>
        <p:nvSpPr>
          <p:cNvPr id="10" name="Text 8"/>
          <p:cNvSpPr/>
          <p:nvPr/>
        </p:nvSpPr>
        <p:spPr>
          <a:xfrm>
            <a:off x="3154680" y="1600200"/>
            <a:ext cx="2560320" cy="502920"/>
          </a:xfrm>
          <a:prstGeom prst="rect">
            <a:avLst/>
          </a:prstGeom>
          <a:noFill/>
          <a:ln/>
        </p:spPr>
        <p:txBody>
          <a:bodyPr wrap="square" lIns="0" tIns="0" rIns="0" bIns="0" rtlCol="0" anchor="ctr"/>
          <a:lstStyle/>
          <a:p>
            <a:pPr marL="0" indent="0" algn="ctr">
              <a:buNone/>
            </a:pPr>
            <a:r>
              <a:rPr lang="en-US" sz="1100" dirty="0">
                <a:solidFill>
                  <a:srgbClr val="C9DDE8"/>
                </a:solidFill>
                <a:latin typeface="Calibri" pitchFamily="34" charset="0"/>
                <a:ea typeface="Calibri" pitchFamily="34" charset="-122"/>
                <a:cs typeface="Calibri" pitchFamily="34" charset="-120"/>
              </a:rPr>
              <a:t>access risk: excessive &amp;</a:t>
            </a:r>
            <a:endParaRPr lang="en-US" sz="1100" dirty="0"/>
          </a:p>
          <a:p>
            <a:pPr marL="0" indent="0" algn="ctr">
              <a:buNone/>
            </a:pPr>
            <a:r>
              <a:rPr lang="en-US" sz="1100" dirty="0">
                <a:solidFill>
                  <a:srgbClr val="C9DDE8"/>
                </a:solidFill>
                <a:latin typeface="Calibri" pitchFamily="34" charset="0"/>
                <a:ea typeface="Calibri" pitchFamily="34" charset="-122"/>
                <a:cs typeface="Calibri" pitchFamily="34" charset="-120"/>
              </a:rPr>
              <a:t>orphaned entitlements</a:t>
            </a:r>
            <a:endParaRPr lang="en-US" sz="1100" dirty="0"/>
          </a:p>
        </p:txBody>
      </p:sp>
      <p:sp>
        <p:nvSpPr>
          <p:cNvPr id="11" name="Text 9"/>
          <p:cNvSpPr/>
          <p:nvPr/>
        </p:nvSpPr>
        <p:spPr>
          <a:xfrm>
            <a:off x="3154680" y="2103120"/>
            <a:ext cx="2560320" cy="182880"/>
          </a:xfrm>
          <a:prstGeom prst="rect">
            <a:avLst/>
          </a:prstGeom>
          <a:noFill/>
          <a:ln/>
        </p:spPr>
        <p:txBody>
          <a:bodyPr wrap="square" lIns="0" tIns="0" rIns="0" bIns="0" rtlCol="0" anchor="ctr"/>
          <a:lstStyle/>
          <a:p>
            <a:pPr marL="0" indent="0" algn="ctr">
              <a:buNone/>
            </a:pPr>
            <a:r>
              <a:rPr lang="en-US" sz="800" i="1" dirty="0">
                <a:solidFill>
                  <a:srgbClr val="8BAAC2"/>
                </a:solidFill>
                <a:latin typeface="Calibri" pitchFamily="34" charset="0"/>
                <a:ea typeface="Calibri" pitchFamily="34" charset="-122"/>
                <a:cs typeface="Calibri" pitchFamily="34" charset="-120"/>
              </a:rPr>
              <a:t>NIST SP 800-53 AC-2</a:t>
            </a:r>
            <a:endParaRPr lang="en-US" sz="800" dirty="0"/>
          </a:p>
        </p:txBody>
      </p:sp>
      <p:sp>
        <p:nvSpPr>
          <p:cNvPr id="12" name="Shape 10"/>
          <p:cNvSpPr/>
          <p:nvPr/>
        </p:nvSpPr>
        <p:spPr>
          <a:xfrm>
            <a:off x="5989320" y="822960"/>
            <a:ext cx="2560320" cy="1463040"/>
          </a:xfrm>
          <a:prstGeom prst="rect">
            <a:avLst/>
          </a:prstGeom>
          <a:solidFill>
            <a:srgbClr val="1A3C5E"/>
          </a:solidFill>
          <a:ln w="12700">
            <a:solidFill>
              <a:srgbClr val="1A3C5E"/>
            </a:solidFill>
            <a:prstDash val="solid"/>
          </a:ln>
          <a:effectLst>
            <a:outerShdw blurRad="63500" dist="25400" dir="8100000" algn="bl" rotWithShape="0">
              <a:srgbClr val="000000">
                <a:alpha val="12000"/>
              </a:srgbClr>
            </a:outerShdw>
          </a:effectLst>
        </p:spPr>
        <p:txBody>
          <a:bodyPr/>
          <a:lstStyle/>
          <a:p>
            <a:endParaRPr lang="en-US"/>
          </a:p>
        </p:txBody>
      </p:sp>
      <p:sp>
        <p:nvSpPr>
          <p:cNvPr id="13" name="Text 11"/>
          <p:cNvSpPr/>
          <p:nvPr/>
        </p:nvSpPr>
        <p:spPr>
          <a:xfrm>
            <a:off x="5989320" y="868680"/>
            <a:ext cx="2560320" cy="731520"/>
          </a:xfrm>
          <a:prstGeom prst="rect">
            <a:avLst/>
          </a:prstGeom>
          <a:noFill/>
          <a:ln/>
        </p:spPr>
        <p:txBody>
          <a:bodyPr wrap="square" lIns="0" tIns="0" rIns="0" bIns="0" rtlCol="0" anchor="ctr"/>
          <a:lstStyle/>
          <a:p>
            <a:pPr marL="0" indent="0" algn="ctr">
              <a:buNone/>
            </a:pPr>
            <a:r>
              <a:rPr lang="en-US" sz="3600" b="1" dirty="0">
                <a:solidFill>
                  <a:srgbClr val="2D7D46"/>
                </a:solidFill>
                <a:latin typeface="Calibri" pitchFamily="34" charset="0"/>
                <a:ea typeface="Calibri" pitchFamily="34" charset="-122"/>
                <a:cs typeface="Calibri" pitchFamily="34" charset="-120"/>
              </a:rPr>
              <a:t>JML</a:t>
            </a:r>
            <a:endParaRPr lang="en-US" sz="3600" dirty="0"/>
          </a:p>
        </p:txBody>
      </p:sp>
      <p:sp>
        <p:nvSpPr>
          <p:cNvPr id="14" name="Text 12"/>
          <p:cNvSpPr/>
          <p:nvPr/>
        </p:nvSpPr>
        <p:spPr>
          <a:xfrm>
            <a:off x="5989320" y="1600200"/>
            <a:ext cx="2560320" cy="502920"/>
          </a:xfrm>
          <a:prstGeom prst="rect">
            <a:avLst/>
          </a:prstGeom>
          <a:noFill/>
          <a:ln/>
        </p:spPr>
        <p:txBody>
          <a:bodyPr wrap="square" lIns="0" tIns="0" rIns="0" bIns="0" rtlCol="0" anchor="ctr"/>
          <a:lstStyle/>
          <a:p>
            <a:pPr marL="0" indent="0" algn="ctr">
              <a:buNone/>
            </a:pPr>
            <a:r>
              <a:rPr lang="en-US" sz="1100" dirty="0">
                <a:solidFill>
                  <a:srgbClr val="C9DDE8"/>
                </a:solidFill>
                <a:latin typeface="Calibri" pitchFamily="34" charset="0"/>
                <a:ea typeface="Calibri" pitchFamily="34" charset="-122"/>
                <a:cs typeface="Calibri" pitchFamily="34" charset="-120"/>
              </a:rPr>
              <a:t>lifecycle automation is</a:t>
            </a:r>
            <a:endParaRPr lang="en-US" sz="1100" dirty="0"/>
          </a:p>
          <a:p>
            <a:pPr marL="0" indent="0" algn="ctr">
              <a:buNone/>
            </a:pPr>
            <a:r>
              <a:rPr lang="en-US" sz="1100" dirty="0">
                <a:solidFill>
                  <a:srgbClr val="C9DDE8"/>
                </a:solidFill>
                <a:latin typeface="Calibri" pitchFamily="34" charset="0"/>
                <a:ea typeface="Calibri" pitchFamily="34" charset="-122"/>
                <a:cs typeface="Calibri" pitchFamily="34" charset="-120"/>
              </a:rPr>
              <a:t>the IGA foundation</a:t>
            </a:r>
            <a:endParaRPr lang="en-US" sz="1100" dirty="0"/>
          </a:p>
        </p:txBody>
      </p:sp>
      <p:sp>
        <p:nvSpPr>
          <p:cNvPr id="15" name="Text 13"/>
          <p:cNvSpPr/>
          <p:nvPr/>
        </p:nvSpPr>
        <p:spPr>
          <a:xfrm>
            <a:off x="5989320" y="2103120"/>
            <a:ext cx="2560320" cy="182880"/>
          </a:xfrm>
          <a:prstGeom prst="rect">
            <a:avLst/>
          </a:prstGeom>
          <a:noFill/>
          <a:ln/>
        </p:spPr>
        <p:txBody>
          <a:bodyPr wrap="square" lIns="0" tIns="0" rIns="0" bIns="0" rtlCol="0" anchor="ctr"/>
          <a:lstStyle/>
          <a:p>
            <a:pPr marL="0" indent="0" algn="ctr">
              <a:buNone/>
            </a:pPr>
            <a:r>
              <a:rPr lang="en-US" sz="800" i="1" dirty="0">
                <a:solidFill>
                  <a:srgbClr val="8BAAC2"/>
                </a:solidFill>
                <a:latin typeface="Calibri" pitchFamily="34" charset="0"/>
                <a:ea typeface="Calibri" pitchFamily="34" charset="-122"/>
                <a:cs typeface="Calibri" pitchFamily="34" charset="-120"/>
              </a:rPr>
              <a:t>NIST SP 800-53 PS-4/PS-5</a:t>
            </a:r>
            <a:endParaRPr lang="en-US" sz="800" dirty="0"/>
          </a:p>
        </p:txBody>
      </p:sp>
      <p:sp>
        <p:nvSpPr>
          <p:cNvPr id="16" name="Text 14"/>
          <p:cNvSpPr/>
          <p:nvPr/>
        </p:nvSpPr>
        <p:spPr>
          <a:xfrm>
            <a:off x="320040" y="2514600"/>
            <a:ext cx="8503920" cy="320040"/>
          </a:xfrm>
          <a:prstGeom prst="rect">
            <a:avLst/>
          </a:prstGeom>
          <a:noFill/>
          <a:ln/>
        </p:spPr>
        <p:txBody>
          <a:bodyPr wrap="square" lIns="0" tIns="0" rIns="0" bIns="0" rtlCol="0" anchor="ctr"/>
          <a:lstStyle/>
          <a:p>
            <a:pPr marL="0" indent="0">
              <a:buNone/>
            </a:pPr>
            <a:r>
              <a:rPr lang="en-US" sz="1400" b="1" dirty="0">
                <a:solidFill>
                  <a:srgbClr val="1A3C5E"/>
                </a:solidFill>
                <a:latin typeface="Calibri" pitchFamily="34" charset="0"/>
                <a:ea typeface="Calibri" pitchFamily="34" charset="-122"/>
                <a:cs typeface="Calibri" pitchFamily="34" charset="-120"/>
              </a:rPr>
              <a:t>The Case for IGA as a Security Control</a:t>
            </a:r>
            <a:endParaRPr lang="en-US" sz="1400" dirty="0"/>
          </a:p>
        </p:txBody>
      </p:sp>
      <p:sp>
        <p:nvSpPr>
          <p:cNvPr id="17" name="Shape 15"/>
          <p:cNvSpPr/>
          <p:nvPr/>
        </p:nvSpPr>
        <p:spPr>
          <a:xfrm>
            <a:off x="320040" y="2834640"/>
            <a:ext cx="8503920" cy="0"/>
          </a:xfrm>
          <a:prstGeom prst="line">
            <a:avLst/>
          </a:prstGeom>
          <a:noFill/>
          <a:ln w="12700">
            <a:solidFill>
              <a:srgbClr val="C9DDE8"/>
            </a:solidFill>
            <a:prstDash val="solid"/>
          </a:ln>
        </p:spPr>
        <p:txBody>
          <a:bodyPr/>
          <a:lstStyle/>
          <a:p>
            <a:endParaRPr lang="en-US"/>
          </a:p>
        </p:txBody>
      </p:sp>
      <p:sp>
        <p:nvSpPr>
          <p:cNvPr id="18" name="Text 16"/>
          <p:cNvSpPr/>
          <p:nvPr/>
        </p:nvSpPr>
        <p:spPr>
          <a:xfrm>
            <a:off x="320040" y="2907792"/>
            <a:ext cx="8503920" cy="420624"/>
          </a:xfrm>
          <a:prstGeom prst="rect">
            <a:avLst/>
          </a:prstGeom>
          <a:noFill/>
          <a:ln/>
        </p:spPr>
        <p:txBody>
          <a:bodyPr wrap="square" lIns="0" tIns="0" rIns="0" bIns="0" rtlCol="0" anchor="ctr"/>
          <a:lstStyle/>
          <a:p>
            <a:pPr marL="0" indent="0">
              <a:buNone/>
            </a:pPr>
            <a:r>
              <a:rPr lang="en-US" sz="1150" b="1" dirty="0">
                <a:solidFill>
                  <a:srgbClr val="2D7D46"/>
                </a:solidFill>
                <a:latin typeface="Calibri" pitchFamily="34" charset="0"/>
                <a:ea typeface="Calibri" pitchFamily="34" charset="-122"/>
                <a:cs typeface="Calibri" pitchFamily="34" charset="-120"/>
              </a:rPr>
              <a:t>▸ </a:t>
            </a:r>
            <a:r>
              <a:rPr lang="en-US" sz="1150" dirty="0">
                <a:solidFill>
                  <a:srgbClr val="4B6076"/>
                </a:solidFill>
                <a:latin typeface="Calibri" pitchFamily="34" charset="0"/>
                <a:ea typeface="Calibri" pitchFamily="34" charset="-122"/>
                <a:cs typeface="Calibri" pitchFamily="34" charset="-120"/>
              </a:rPr>
              <a:t>Access accumulates without governance. Employees change roles but keep prior entitlements. Terminated accounts stay active. Service accounts outlive their applications. IGA fixes this systematically.</a:t>
            </a:r>
            <a:endParaRPr lang="en-US" sz="1150" dirty="0"/>
          </a:p>
        </p:txBody>
      </p:sp>
      <p:sp>
        <p:nvSpPr>
          <p:cNvPr id="19" name="Text 17"/>
          <p:cNvSpPr/>
          <p:nvPr/>
        </p:nvSpPr>
        <p:spPr>
          <a:xfrm>
            <a:off x="320040" y="3383280"/>
            <a:ext cx="8503920" cy="420624"/>
          </a:xfrm>
          <a:prstGeom prst="rect">
            <a:avLst/>
          </a:prstGeom>
          <a:noFill/>
          <a:ln/>
        </p:spPr>
        <p:txBody>
          <a:bodyPr wrap="square" lIns="0" tIns="0" rIns="0" bIns="0" rtlCol="0" anchor="ctr"/>
          <a:lstStyle/>
          <a:p>
            <a:pPr marL="0" indent="0">
              <a:buNone/>
            </a:pPr>
            <a:r>
              <a:rPr lang="en-US" sz="1150" b="1" dirty="0">
                <a:solidFill>
                  <a:srgbClr val="2D7D46"/>
                </a:solidFill>
                <a:latin typeface="Calibri" pitchFamily="34" charset="0"/>
                <a:ea typeface="Calibri" pitchFamily="34" charset="-122"/>
                <a:cs typeface="Calibri" pitchFamily="34" charset="-120"/>
              </a:rPr>
              <a:t>▸ </a:t>
            </a:r>
            <a:r>
              <a:rPr lang="en-US" sz="1150" dirty="0">
                <a:solidFill>
                  <a:srgbClr val="4B6076"/>
                </a:solidFill>
                <a:latin typeface="Calibri" pitchFamily="34" charset="0"/>
                <a:ea typeface="Calibri" pitchFamily="34" charset="-122"/>
                <a:cs typeface="Calibri" pitchFamily="34" charset="-120"/>
              </a:rPr>
              <a:t>Separation of Duties is a compliance mandate and a fraud control. SoD rule enforcement in IGA prevents toxic combinations (Create + Approve in ERP) that enable insider fraud and external exploitation.</a:t>
            </a:r>
            <a:endParaRPr lang="en-US" sz="1150" dirty="0"/>
          </a:p>
        </p:txBody>
      </p:sp>
      <p:sp>
        <p:nvSpPr>
          <p:cNvPr id="20" name="Text 18"/>
          <p:cNvSpPr/>
          <p:nvPr/>
        </p:nvSpPr>
        <p:spPr>
          <a:xfrm>
            <a:off x="320040" y="3858768"/>
            <a:ext cx="8503920" cy="420624"/>
          </a:xfrm>
          <a:prstGeom prst="rect">
            <a:avLst/>
          </a:prstGeom>
          <a:noFill/>
          <a:ln/>
        </p:spPr>
        <p:txBody>
          <a:bodyPr wrap="square" lIns="0" tIns="0" rIns="0" bIns="0" rtlCol="0" anchor="ctr"/>
          <a:lstStyle/>
          <a:p>
            <a:pPr marL="0" indent="0">
              <a:buNone/>
            </a:pPr>
            <a:r>
              <a:rPr lang="en-US" sz="1150" b="1" dirty="0">
                <a:solidFill>
                  <a:srgbClr val="2D7D46"/>
                </a:solidFill>
                <a:latin typeface="Calibri" pitchFamily="34" charset="0"/>
                <a:ea typeface="Calibri" pitchFamily="34" charset="-122"/>
                <a:cs typeface="Calibri" pitchFamily="34" charset="-120"/>
              </a:rPr>
              <a:t>▸ </a:t>
            </a:r>
            <a:r>
              <a:rPr lang="en-US" sz="1150" dirty="0">
                <a:solidFill>
                  <a:srgbClr val="4B6076"/>
                </a:solidFill>
                <a:latin typeface="Calibri" pitchFamily="34" charset="0"/>
                <a:ea typeface="Calibri" pitchFamily="34" charset="-122"/>
                <a:cs typeface="Calibri" pitchFamily="34" charset="-120"/>
              </a:rPr>
              <a:t>Automated lifecycle management (JML) is the only scalable answer. Manual provisioning and deprovisioning fails at enterprise scale. HRMS-to-IGA integration achieves same-day deprovisioning at termination.</a:t>
            </a:r>
            <a:endParaRPr lang="en-US" sz="1150" dirty="0"/>
          </a:p>
        </p:txBody>
      </p:sp>
      <p:sp>
        <p:nvSpPr>
          <p:cNvPr id="21" name="Text 19"/>
          <p:cNvSpPr/>
          <p:nvPr/>
        </p:nvSpPr>
        <p:spPr>
          <a:xfrm>
            <a:off x="320040" y="4334256"/>
            <a:ext cx="8503920" cy="420624"/>
          </a:xfrm>
          <a:prstGeom prst="rect">
            <a:avLst/>
          </a:prstGeom>
          <a:noFill/>
          <a:ln/>
        </p:spPr>
        <p:txBody>
          <a:bodyPr wrap="square" lIns="0" tIns="0" rIns="0" bIns="0" rtlCol="0" anchor="ctr"/>
          <a:lstStyle/>
          <a:p>
            <a:pPr marL="0" indent="0">
              <a:buNone/>
            </a:pPr>
            <a:r>
              <a:rPr lang="en-US" sz="1150" b="1" dirty="0">
                <a:solidFill>
                  <a:srgbClr val="2D7D46"/>
                </a:solidFill>
                <a:latin typeface="Calibri" pitchFamily="34" charset="0"/>
                <a:ea typeface="Calibri" pitchFamily="34" charset="-122"/>
                <a:cs typeface="Calibri" pitchFamily="34" charset="-120"/>
              </a:rPr>
              <a:t>▸ </a:t>
            </a:r>
            <a:r>
              <a:rPr lang="en-US" sz="1150" dirty="0">
                <a:solidFill>
                  <a:srgbClr val="4B6076"/>
                </a:solidFill>
                <a:latin typeface="Calibri" pitchFamily="34" charset="0"/>
                <a:ea typeface="Calibri" pitchFamily="34" charset="-122"/>
                <a:cs typeface="Calibri" pitchFamily="34" charset="-120"/>
              </a:rPr>
              <a:t>Access certification produces the audit evidence required by SOX, PCI DSS 4.0, HIPAA, and ISO 27001. IGA replaces spreadsheets with automated, AI-assisted, defensible certification workflows.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C5E"/>
          </a:solidFill>
          <a:ln w="12700">
            <a:solidFill>
              <a:srgbClr val="1A3C5E"/>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Identity Architecture Reference Model</a:t>
            </a:r>
            <a:endParaRPr lang="en-US" sz="2000" dirty="0"/>
          </a:p>
        </p:txBody>
      </p:sp>
      <p:sp>
        <p:nvSpPr>
          <p:cNvPr id="4" name="Shape 2"/>
          <p:cNvSpPr/>
          <p:nvPr/>
        </p:nvSpPr>
        <p:spPr>
          <a:xfrm>
            <a:off x="228600" y="822960"/>
            <a:ext cx="4937760" cy="530352"/>
          </a:xfrm>
          <a:prstGeom prst="rect">
            <a:avLst/>
          </a:prstGeom>
          <a:solidFill>
            <a:srgbClr val="2D7D46"/>
          </a:solidFill>
          <a:ln w="12700">
            <a:solidFill>
              <a:srgbClr val="2D7D46"/>
            </a:solidFill>
            <a:prstDash val="solid"/>
          </a:ln>
          <a:effectLst>
            <a:outerShdw blurRad="63500" dist="25400" dir="8100000" algn="bl" rotWithShape="0">
              <a:srgbClr val="000000">
                <a:alpha val="12000"/>
              </a:srgbClr>
            </a:outerShdw>
          </a:effectLst>
        </p:spPr>
        <p:txBody>
          <a:bodyPr/>
          <a:lstStyle/>
          <a:p>
            <a:endParaRPr lang="en-US"/>
          </a:p>
        </p:txBody>
      </p:sp>
      <p:sp>
        <p:nvSpPr>
          <p:cNvPr id="5" name="Text 3"/>
          <p:cNvSpPr/>
          <p:nvPr/>
        </p:nvSpPr>
        <p:spPr>
          <a:xfrm>
            <a:off x="320040" y="822960"/>
            <a:ext cx="2073859" cy="26517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HRMS</a:t>
            </a:r>
            <a:endParaRPr lang="en-US" sz="1100" dirty="0"/>
          </a:p>
        </p:txBody>
      </p:sp>
      <p:sp>
        <p:nvSpPr>
          <p:cNvPr id="6" name="Text 4"/>
          <p:cNvSpPr/>
          <p:nvPr/>
        </p:nvSpPr>
        <p:spPr>
          <a:xfrm>
            <a:off x="320040" y="1088136"/>
            <a:ext cx="2073859" cy="265176"/>
          </a:xfrm>
          <a:prstGeom prst="rect">
            <a:avLst/>
          </a:prstGeom>
          <a:noFill/>
          <a:ln/>
        </p:spPr>
        <p:txBody>
          <a:bodyPr wrap="square" lIns="0" tIns="0" rIns="0" bIns="0" rtlCol="0" anchor="ctr"/>
          <a:lstStyle/>
          <a:p>
            <a:pPr marL="0" indent="0">
              <a:buNone/>
            </a:pPr>
            <a:r>
              <a:rPr lang="en-US" sz="850" i="1" dirty="0">
                <a:solidFill>
                  <a:srgbClr val="CCDDE8"/>
                </a:solidFill>
                <a:latin typeface="Calibri" pitchFamily="34" charset="0"/>
                <a:ea typeface="Calibri" pitchFamily="34" charset="-122"/>
                <a:cs typeface="Calibri" pitchFamily="34" charset="-120"/>
              </a:rPr>
              <a:t>Authoritative Source</a:t>
            </a:r>
            <a:endParaRPr lang="en-US" sz="850" dirty="0"/>
          </a:p>
        </p:txBody>
      </p:sp>
      <p:sp>
        <p:nvSpPr>
          <p:cNvPr id="7" name="Text 5"/>
          <p:cNvSpPr/>
          <p:nvPr/>
        </p:nvSpPr>
        <p:spPr>
          <a:xfrm>
            <a:off x="2401214" y="822960"/>
            <a:ext cx="2666390" cy="53035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Workday  ·  SAP SuccessFactors  ·  Oracle HCM  ·  Contractor System</a:t>
            </a:r>
            <a:endParaRPr lang="en-US" sz="850" dirty="0"/>
          </a:p>
        </p:txBody>
      </p:sp>
      <p:sp>
        <p:nvSpPr>
          <p:cNvPr id="8" name="Shape 6"/>
          <p:cNvSpPr/>
          <p:nvPr/>
        </p:nvSpPr>
        <p:spPr>
          <a:xfrm>
            <a:off x="2697480" y="1353312"/>
            <a:ext cx="0" cy="128016"/>
          </a:xfrm>
          <a:prstGeom prst="line">
            <a:avLst/>
          </a:prstGeom>
          <a:noFill/>
          <a:ln w="25400">
            <a:solidFill>
              <a:srgbClr val="E8A838"/>
            </a:solidFill>
            <a:prstDash val="solid"/>
          </a:ln>
        </p:spPr>
        <p:txBody>
          <a:bodyPr/>
          <a:lstStyle/>
          <a:p>
            <a:endParaRPr lang="en-US"/>
          </a:p>
        </p:txBody>
      </p:sp>
      <p:sp>
        <p:nvSpPr>
          <p:cNvPr id="9" name="Shape 7"/>
          <p:cNvSpPr/>
          <p:nvPr/>
        </p:nvSpPr>
        <p:spPr>
          <a:xfrm>
            <a:off x="228600" y="1481328"/>
            <a:ext cx="4937760" cy="530352"/>
          </a:xfrm>
          <a:prstGeom prst="rect">
            <a:avLst/>
          </a:prstGeom>
          <a:solidFill>
            <a:srgbClr val="1A3C5E"/>
          </a:solidFill>
          <a:ln w="12700">
            <a:solidFill>
              <a:srgbClr val="1A3C5E"/>
            </a:solidFill>
            <a:prstDash val="solid"/>
          </a:ln>
          <a:effectLst>
            <a:outerShdw blurRad="63500" dist="25400" dir="8100000" algn="bl" rotWithShape="0">
              <a:srgbClr val="000000">
                <a:alpha val="12000"/>
              </a:srgbClr>
            </a:outerShdw>
          </a:effectLst>
        </p:spPr>
        <p:txBody>
          <a:bodyPr/>
          <a:lstStyle/>
          <a:p>
            <a:endParaRPr lang="en-US"/>
          </a:p>
        </p:txBody>
      </p:sp>
      <p:sp>
        <p:nvSpPr>
          <p:cNvPr id="10" name="Text 8"/>
          <p:cNvSpPr/>
          <p:nvPr/>
        </p:nvSpPr>
        <p:spPr>
          <a:xfrm>
            <a:off x="320040" y="1481328"/>
            <a:ext cx="2073859" cy="26517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IGA Platform</a:t>
            </a:r>
            <a:endParaRPr lang="en-US" sz="1100" dirty="0"/>
          </a:p>
        </p:txBody>
      </p:sp>
      <p:sp>
        <p:nvSpPr>
          <p:cNvPr id="11" name="Text 9"/>
          <p:cNvSpPr/>
          <p:nvPr/>
        </p:nvSpPr>
        <p:spPr>
          <a:xfrm>
            <a:off x="320040" y="1746504"/>
            <a:ext cx="2073859" cy="265176"/>
          </a:xfrm>
          <a:prstGeom prst="rect">
            <a:avLst/>
          </a:prstGeom>
          <a:noFill/>
          <a:ln/>
        </p:spPr>
        <p:txBody>
          <a:bodyPr wrap="square" lIns="0" tIns="0" rIns="0" bIns="0" rtlCol="0" anchor="ctr"/>
          <a:lstStyle/>
          <a:p>
            <a:pPr marL="0" indent="0">
              <a:buNone/>
            </a:pPr>
            <a:r>
              <a:rPr lang="en-US" sz="850" i="1" dirty="0">
                <a:solidFill>
                  <a:srgbClr val="CCDDE8"/>
                </a:solidFill>
                <a:latin typeface="Calibri" pitchFamily="34" charset="0"/>
                <a:ea typeface="Calibri" pitchFamily="34" charset="-122"/>
                <a:cs typeface="Calibri" pitchFamily="34" charset="-120"/>
              </a:rPr>
              <a:t>Governance Layer</a:t>
            </a:r>
            <a:endParaRPr lang="en-US" sz="850" dirty="0"/>
          </a:p>
        </p:txBody>
      </p:sp>
      <p:sp>
        <p:nvSpPr>
          <p:cNvPr id="12" name="Text 10"/>
          <p:cNvSpPr/>
          <p:nvPr/>
        </p:nvSpPr>
        <p:spPr>
          <a:xfrm>
            <a:off x="2401214" y="1481328"/>
            <a:ext cx="2666390" cy="53035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SailPoint  ·  Saviynt  ·  Entra ID Governance  ·  One Identity</a:t>
            </a:r>
            <a:endParaRPr lang="en-US" sz="850" dirty="0"/>
          </a:p>
        </p:txBody>
      </p:sp>
      <p:sp>
        <p:nvSpPr>
          <p:cNvPr id="13" name="Shape 11"/>
          <p:cNvSpPr/>
          <p:nvPr/>
        </p:nvSpPr>
        <p:spPr>
          <a:xfrm>
            <a:off x="2697480" y="2011680"/>
            <a:ext cx="0" cy="128016"/>
          </a:xfrm>
          <a:prstGeom prst="line">
            <a:avLst/>
          </a:prstGeom>
          <a:noFill/>
          <a:ln w="25400">
            <a:solidFill>
              <a:srgbClr val="E8A838"/>
            </a:solidFill>
            <a:prstDash val="solid"/>
          </a:ln>
        </p:spPr>
        <p:txBody>
          <a:bodyPr/>
          <a:lstStyle/>
          <a:p>
            <a:endParaRPr lang="en-US"/>
          </a:p>
        </p:txBody>
      </p:sp>
      <p:sp>
        <p:nvSpPr>
          <p:cNvPr id="14" name="Shape 12"/>
          <p:cNvSpPr/>
          <p:nvPr/>
        </p:nvSpPr>
        <p:spPr>
          <a:xfrm>
            <a:off x="228600" y="2139696"/>
            <a:ext cx="4937760" cy="530352"/>
          </a:xfrm>
          <a:prstGeom prst="rect">
            <a:avLst/>
          </a:prstGeom>
          <a:solidFill>
            <a:srgbClr val="1565C0"/>
          </a:solidFill>
          <a:ln w="12700">
            <a:solidFill>
              <a:srgbClr val="1565C0"/>
            </a:solidFill>
            <a:prstDash val="solid"/>
          </a:ln>
          <a:effectLst>
            <a:outerShdw blurRad="63500" dist="25400" dir="8100000" algn="bl" rotWithShape="0">
              <a:srgbClr val="000000">
                <a:alpha val="12000"/>
              </a:srgbClr>
            </a:outerShdw>
          </a:effectLst>
        </p:spPr>
        <p:txBody>
          <a:bodyPr/>
          <a:lstStyle/>
          <a:p>
            <a:endParaRPr lang="en-US"/>
          </a:p>
        </p:txBody>
      </p:sp>
      <p:sp>
        <p:nvSpPr>
          <p:cNvPr id="15" name="Text 13"/>
          <p:cNvSpPr/>
          <p:nvPr/>
        </p:nvSpPr>
        <p:spPr>
          <a:xfrm>
            <a:off x="320040" y="2139696"/>
            <a:ext cx="2073859" cy="26517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Identity Provider (IdP)</a:t>
            </a:r>
            <a:endParaRPr lang="en-US" sz="1100" dirty="0"/>
          </a:p>
        </p:txBody>
      </p:sp>
      <p:sp>
        <p:nvSpPr>
          <p:cNvPr id="16" name="Text 14"/>
          <p:cNvSpPr/>
          <p:nvPr/>
        </p:nvSpPr>
        <p:spPr>
          <a:xfrm>
            <a:off x="320040" y="2404872"/>
            <a:ext cx="2073859" cy="265176"/>
          </a:xfrm>
          <a:prstGeom prst="rect">
            <a:avLst/>
          </a:prstGeom>
          <a:noFill/>
          <a:ln/>
        </p:spPr>
        <p:txBody>
          <a:bodyPr wrap="square" lIns="0" tIns="0" rIns="0" bIns="0" rtlCol="0" anchor="ctr"/>
          <a:lstStyle/>
          <a:p>
            <a:pPr marL="0" indent="0">
              <a:buNone/>
            </a:pPr>
            <a:r>
              <a:rPr lang="en-US" sz="850" i="1" dirty="0">
                <a:solidFill>
                  <a:srgbClr val="CCDDE8"/>
                </a:solidFill>
                <a:latin typeface="Calibri" pitchFamily="34" charset="0"/>
                <a:ea typeface="Calibri" pitchFamily="34" charset="-122"/>
                <a:cs typeface="Calibri" pitchFamily="34" charset="-120"/>
              </a:rPr>
              <a:t>Authentication Layer</a:t>
            </a:r>
            <a:endParaRPr lang="en-US" sz="850" dirty="0"/>
          </a:p>
        </p:txBody>
      </p:sp>
      <p:sp>
        <p:nvSpPr>
          <p:cNvPr id="17" name="Text 15"/>
          <p:cNvSpPr/>
          <p:nvPr/>
        </p:nvSpPr>
        <p:spPr>
          <a:xfrm>
            <a:off x="2401214" y="2139696"/>
            <a:ext cx="2666390" cy="53035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Okta  ·  Microsoft Entra ID  ·  Ping Identity</a:t>
            </a:r>
            <a:endParaRPr lang="en-US" sz="850" dirty="0"/>
          </a:p>
        </p:txBody>
      </p:sp>
      <p:sp>
        <p:nvSpPr>
          <p:cNvPr id="18" name="Shape 16"/>
          <p:cNvSpPr/>
          <p:nvPr/>
        </p:nvSpPr>
        <p:spPr>
          <a:xfrm>
            <a:off x="2697480" y="2670048"/>
            <a:ext cx="0" cy="128016"/>
          </a:xfrm>
          <a:prstGeom prst="line">
            <a:avLst/>
          </a:prstGeom>
          <a:noFill/>
          <a:ln w="25400">
            <a:solidFill>
              <a:srgbClr val="E8A838"/>
            </a:solidFill>
            <a:prstDash val="solid"/>
          </a:ln>
        </p:spPr>
        <p:txBody>
          <a:bodyPr/>
          <a:lstStyle/>
          <a:p>
            <a:endParaRPr lang="en-US"/>
          </a:p>
        </p:txBody>
      </p:sp>
      <p:sp>
        <p:nvSpPr>
          <p:cNvPr id="19" name="Shape 17"/>
          <p:cNvSpPr/>
          <p:nvPr/>
        </p:nvSpPr>
        <p:spPr>
          <a:xfrm>
            <a:off x="228600" y="2798064"/>
            <a:ext cx="4937760" cy="530352"/>
          </a:xfrm>
          <a:prstGeom prst="rect">
            <a:avLst/>
          </a:prstGeom>
          <a:solidFill>
            <a:srgbClr val="6B21A8"/>
          </a:solidFill>
          <a:ln w="12700">
            <a:solidFill>
              <a:srgbClr val="6B21A8"/>
            </a:solidFill>
            <a:prstDash val="solid"/>
          </a:ln>
          <a:effectLst>
            <a:outerShdw blurRad="63500" dist="25400" dir="8100000" algn="bl" rotWithShape="0">
              <a:srgbClr val="000000">
                <a:alpha val="12000"/>
              </a:srgbClr>
            </a:outerShdw>
          </a:effectLst>
        </p:spPr>
        <p:txBody>
          <a:bodyPr/>
          <a:lstStyle/>
          <a:p>
            <a:endParaRPr lang="en-US"/>
          </a:p>
        </p:txBody>
      </p:sp>
      <p:sp>
        <p:nvSpPr>
          <p:cNvPr id="20" name="Text 18"/>
          <p:cNvSpPr/>
          <p:nvPr/>
        </p:nvSpPr>
        <p:spPr>
          <a:xfrm>
            <a:off x="320040" y="2798064"/>
            <a:ext cx="2073859" cy="26517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PAM Platform</a:t>
            </a:r>
            <a:endParaRPr lang="en-US" sz="1100" dirty="0"/>
          </a:p>
        </p:txBody>
      </p:sp>
      <p:sp>
        <p:nvSpPr>
          <p:cNvPr id="21" name="Text 19"/>
          <p:cNvSpPr/>
          <p:nvPr/>
        </p:nvSpPr>
        <p:spPr>
          <a:xfrm>
            <a:off x="320040" y="3063240"/>
            <a:ext cx="2073859" cy="265176"/>
          </a:xfrm>
          <a:prstGeom prst="rect">
            <a:avLst/>
          </a:prstGeom>
          <a:noFill/>
          <a:ln/>
        </p:spPr>
        <p:txBody>
          <a:bodyPr wrap="square" lIns="0" tIns="0" rIns="0" bIns="0" rtlCol="0" anchor="ctr"/>
          <a:lstStyle/>
          <a:p>
            <a:pPr marL="0" indent="0">
              <a:buNone/>
            </a:pPr>
            <a:r>
              <a:rPr lang="en-US" sz="850" i="1" dirty="0">
                <a:solidFill>
                  <a:srgbClr val="CCDDE8"/>
                </a:solidFill>
                <a:latin typeface="Calibri" pitchFamily="34" charset="0"/>
                <a:ea typeface="Calibri" pitchFamily="34" charset="-122"/>
                <a:cs typeface="Calibri" pitchFamily="34" charset="-120"/>
              </a:rPr>
              <a:t>Privileged Layer</a:t>
            </a:r>
            <a:endParaRPr lang="en-US" sz="850" dirty="0"/>
          </a:p>
        </p:txBody>
      </p:sp>
      <p:sp>
        <p:nvSpPr>
          <p:cNvPr id="22" name="Text 20"/>
          <p:cNvSpPr/>
          <p:nvPr/>
        </p:nvSpPr>
        <p:spPr>
          <a:xfrm>
            <a:off x="2401214" y="2798064"/>
            <a:ext cx="2666390" cy="53035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CyberArk  ·  BeyondTrust  ·  HashiCorp Vault</a:t>
            </a:r>
            <a:endParaRPr lang="en-US" sz="850" dirty="0"/>
          </a:p>
        </p:txBody>
      </p:sp>
      <p:sp>
        <p:nvSpPr>
          <p:cNvPr id="23" name="Shape 21"/>
          <p:cNvSpPr/>
          <p:nvPr/>
        </p:nvSpPr>
        <p:spPr>
          <a:xfrm>
            <a:off x="2697480" y="3328416"/>
            <a:ext cx="0" cy="128016"/>
          </a:xfrm>
          <a:prstGeom prst="line">
            <a:avLst/>
          </a:prstGeom>
          <a:noFill/>
          <a:ln w="25400">
            <a:solidFill>
              <a:srgbClr val="E8A838"/>
            </a:solidFill>
            <a:prstDash val="solid"/>
          </a:ln>
        </p:spPr>
        <p:txBody>
          <a:bodyPr/>
          <a:lstStyle/>
          <a:p>
            <a:endParaRPr lang="en-US"/>
          </a:p>
        </p:txBody>
      </p:sp>
      <p:sp>
        <p:nvSpPr>
          <p:cNvPr id="24" name="Shape 22"/>
          <p:cNvSpPr/>
          <p:nvPr/>
        </p:nvSpPr>
        <p:spPr>
          <a:xfrm>
            <a:off x="228600" y="3456432"/>
            <a:ext cx="4937760" cy="530352"/>
          </a:xfrm>
          <a:prstGeom prst="rect">
            <a:avLst/>
          </a:prstGeom>
          <a:solidFill>
            <a:srgbClr val="4A5568"/>
          </a:solidFill>
          <a:ln w="12700">
            <a:solidFill>
              <a:srgbClr val="4A5568"/>
            </a:solidFill>
            <a:prstDash val="solid"/>
          </a:ln>
          <a:effectLst>
            <a:outerShdw blurRad="63500" dist="25400" dir="8100000" algn="bl" rotWithShape="0">
              <a:srgbClr val="000000">
                <a:alpha val="12000"/>
              </a:srgbClr>
            </a:outerShdw>
          </a:effectLst>
        </p:spPr>
        <p:txBody>
          <a:bodyPr/>
          <a:lstStyle/>
          <a:p>
            <a:endParaRPr lang="en-US"/>
          </a:p>
        </p:txBody>
      </p:sp>
      <p:sp>
        <p:nvSpPr>
          <p:cNvPr id="25" name="Text 23"/>
          <p:cNvSpPr/>
          <p:nvPr/>
        </p:nvSpPr>
        <p:spPr>
          <a:xfrm>
            <a:off x="320040" y="3456432"/>
            <a:ext cx="2073859" cy="26517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Target Systems</a:t>
            </a:r>
            <a:endParaRPr lang="en-US" sz="1100" dirty="0"/>
          </a:p>
        </p:txBody>
      </p:sp>
      <p:sp>
        <p:nvSpPr>
          <p:cNvPr id="26" name="Text 24"/>
          <p:cNvSpPr/>
          <p:nvPr/>
        </p:nvSpPr>
        <p:spPr>
          <a:xfrm>
            <a:off x="320040" y="3721608"/>
            <a:ext cx="2073859" cy="265176"/>
          </a:xfrm>
          <a:prstGeom prst="rect">
            <a:avLst/>
          </a:prstGeom>
          <a:noFill/>
          <a:ln/>
        </p:spPr>
        <p:txBody>
          <a:bodyPr wrap="square" lIns="0" tIns="0" rIns="0" bIns="0" rtlCol="0" anchor="ctr"/>
          <a:lstStyle/>
          <a:p>
            <a:pPr marL="0" indent="0">
              <a:buNone/>
            </a:pPr>
            <a:r>
              <a:rPr lang="en-US" sz="850" i="1" dirty="0">
                <a:solidFill>
                  <a:srgbClr val="CCDDE8"/>
                </a:solidFill>
                <a:latin typeface="Calibri" pitchFamily="34" charset="0"/>
                <a:ea typeface="Calibri" pitchFamily="34" charset="-122"/>
                <a:cs typeface="Calibri" pitchFamily="34" charset="-120"/>
              </a:rPr>
              <a:t>Resource Layer</a:t>
            </a:r>
            <a:endParaRPr lang="en-US" sz="850" dirty="0"/>
          </a:p>
        </p:txBody>
      </p:sp>
      <p:sp>
        <p:nvSpPr>
          <p:cNvPr id="27" name="Text 25"/>
          <p:cNvSpPr/>
          <p:nvPr/>
        </p:nvSpPr>
        <p:spPr>
          <a:xfrm>
            <a:off x="2401214" y="3456432"/>
            <a:ext cx="2666390" cy="530352"/>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Active Directory  ·  Cloud IAM  ·  SaaS Apps  ·  SAP/Oracle ERP</a:t>
            </a:r>
            <a:endParaRPr lang="en-US" sz="850" dirty="0"/>
          </a:p>
        </p:txBody>
      </p:sp>
      <p:sp>
        <p:nvSpPr>
          <p:cNvPr id="28" name="Text 26"/>
          <p:cNvSpPr/>
          <p:nvPr/>
        </p:nvSpPr>
        <p:spPr>
          <a:xfrm>
            <a:off x="5394960" y="822960"/>
            <a:ext cx="3520440" cy="256032"/>
          </a:xfrm>
          <a:prstGeom prst="rect">
            <a:avLst/>
          </a:prstGeom>
          <a:noFill/>
          <a:ln/>
        </p:spPr>
        <p:txBody>
          <a:bodyPr wrap="square" lIns="0" tIns="0" rIns="0" bIns="0" rtlCol="0" anchor="ctr"/>
          <a:lstStyle/>
          <a:p>
            <a:pPr marL="0" indent="0">
              <a:buNone/>
            </a:pPr>
            <a:r>
              <a:rPr lang="en-US" sz="1100" b="1" dirty="0">
                <a:solidFill>
                  <a:srgbClr val="1A3C5E"/>
                </a:solidFill>
                <a:latin typeface="Calibri" pitchFamily="34" charset="0"/>
                <a:ea typeface="Calibri" pitchFamily="34" charset="-122"/>
                <a:cs typeface="Calibri" pitchFamily="34" charset="-120"/>
              </a:rPr>
              <a:t>Layer Responsibilities</a:t>
            </a:r>
            <a:endParaRPr lang="en-US" sz="1100" dirty="0"/>
          </a:p>
        </p:txBody>
      </p:sp>
      <p:sp>
        <p:nvSpPr>
          <p:cNvPr id="29" name="Shape 27"/>
          <p:cNvSpPr/>
          <p:nvPr/>
        </p:nvSpPr>
        <p:spPr>
          <a:xfrm>
            <a:off x="5394960" y="1152144"/>
            <a:ext cx="3520440" cy="621792"/>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30" name="Shape 28"/>
          <p:cNvSpPr/>
          <p:nvPr/>
        </p:nvSpPr>
        <p:spPr>
          <a:xfrm>
            <a:off x="5394960" y="1152144"/>
            <a:ext cx="566928" cy="621792"/>
          </a:xfrm>
          <a:prstGeom prst="rect">
            <a:avLst/>
          </a:prstGeom>
          <a:solidFill>
            <a:srgbClr val="2D7D46"/>
          </a:solidFill>
          <a:ln w="12700">
            <a:solidFill>
              <a:srgbClr val="2D7D46"/>
            </a:solidFill>
            <a:prstDash val="solid"/>
          </a:ln>
        </p:spPr>
        <p:txBody>
          <a:bodyPr/>
          <a:lstStyle/>
          <a:p>
            <a:endParaRPr lang="en-US"/>
          </a:p>
        </p:txBody>
      </p:sp>
      <p:sp>
        <p:nvSpPr>
          <p:cNvPr id="31" name="Text 29"/>
          <p:cNvSpPr/>
          <p:nvPr/>
        </p:nvSpPr>
        <p:spPr>
          <a:xfrm>
            <a:off x="5394960" y="1152144"/>
            <a:ext cx="566928" cy="62179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HRMS</a:t>
            </a:r>
            <a:endParaRPr lang="en-US" sz="900" dirty="0"/>
          </a:p>
        </p:txBody>
      </p:sp>
      <p:sp>
        <p:nvSpPr>
          <p:cNvPr id="32" name="Text 30"/>
          <p:cNvSpPr/>
          <p:nvPr/>
        </p:nvSpPr>
        <p:spPr>
          <a:xfrm>
            <a:off x="6035040" y="1216152"/>
            <a:ext cx="2834640" cy="237744"/>
          </a:xfrm>
          <a:prstGeom prst="rect">
            <a:avLst/>
          </a:prstGeom>
          <a:noFill/>
          <a:ln/>
        </p:spPr>
        <p:txBody>
          <a:bodyPr wrap="square" lIns="0" tIns="0" rIns="0" bIns="0" rtlCol="0" anchor="ctr"/>
          <a:lstStyle/>
          <a:p>
            <a:pPr marL="0" indent="0">
              <a:buNone/>
            </a:pPr>
            <a:r>
              <a:rPr lang="en-US" sz="850" dirty="0">
                <a:solidFill>
                  <a:srgbClr val="4B6076"/>
                </a:solidFill>
                <a:latin typeface="Calibri" pitchFamily="34" charset="0"/>
                <a:ea typeface="Calibri" pitchFamily="34" charset="-122"/>
                <a:cs typeface="Calibri" pitchFamily="34" charset="-120"/>
              </a:rPr>
              <a:t>▸  Source of truth for all identity attributes</a:t>
            </a:r>
            <a:endParaRPr lang="en-US" sz="850" dirty="0"/>
          </a:p>
        </p:txBody>
      </p:sp>
      <p:sp>
        <p:nvSpPr>
          <p:cNvPr id="33" name="Text 31"/>
          <p:cNvSpPr/>
          <p:nvPr/>
        </p:nvSpPr>
        <p:spPr>
          <a:xfrm>
            <a:off x="6035040" y="1481328"/>
            <a:ext cx="2834640" cy="237744"/>
          </a:xfrm>
          <a:prstGeom prst="rect">
            <a:avLst/>
          </a:prstGeom>
          <a:noFill/>
          <a:ln/>
        </p:spPr>
        <p:txBody>
          <a:bodyPr wrap="square" lIns="0" tIns="0" rIns="0" bIns="0" rtlCol="0" anchor="ctr"/>
          <a:lstStyle/>
          <a:p>
            <a:pPr marL="0" indent="0">
              <a:buNone/>
            </a:pPr>
            <a:r>
              <a:rPr lang="en-US" sz="850" dirty="0">
                <a:solidFill>
                  <a:srgbClr val="4B6076"/>
                </a:solidFill>
                <a:latin typeface="Calibri" pitchFamily="34" charset="0"/>
                <a:ea typeface="Calibri" pitchFamily="34" charset="-122"/>
                <a:cs typeface="Calibri" pitchFamily="34" charset="-120"/>
              </a:rPr>
              <a:t>▸  Fires JML lifecycle events to IGA</a:t>
            </a:r>
            <a:endParaRPr lang="en-US" sz="850" dirty="0"/>
          </a:p>
        </p:txBody>
      </p:sp>
      <p:sp>
        <p:nvSpPr>
          <p:cNvPr id="34" name="Shape 32"/>
          <p:cNvSpPr/>
          <p:nvPr/>
        </p:nvSpPr>
        <p:spPr>
          <a:xfrm>
            <a:off x="5394960" y="1847088"/>
            <a:ext cx="3520440" cy="621792"/>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35" name="Shape 33"/>
          <p:cNvSpPr/>
          <p:nvPr/>
        </p:nvSpPr>
        <p:spPr>
          <a:xfrm>
            <a:off x="5394960" y="1847088"/>
            <a:ext cx="566928" cy="621792"/>
          </a:xfrm>
          <a:prstGeom prst="rect">
            <a:avLst/>
          </a:prstGeom>
          <a:solidFill>
            <a:srgbClr val="1A3C5E"/>
          </a:solidFill>
          <a:ln w="12700">
            <a:solidFill>
              <a:srgbClr val="1A3C5E"/>
            </a:solidFill>
            <a:prstDash val="solid"/>
          </a:ln>
        </p:spPr>
        <p:txBody>
          <a:bodyPr/>
          <a:lstStyle/>
          <a:p>
            <a:endParaRPr lang="en-US"/>
          </a:p>
        </p:txBody>
      </p:sp>
      <p:sp>
        <p:nvSpPr>
          <p:cNvPr id="36" name="Text 34"/>
          <p:cNvSpPr/>
          <p:nvPr/>
        </p:nvSpPr>
        <p:spPr>
          <a:xfrm>
            <a:off x="5394960" y="1847088"/>
            <a:ext cx="566928" cy="62179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IGA</a:t>
            </a:r>
            <a:endParaRPr lang="en-US" sz="900" dirty="0"/>
          </a:p>
        </p:txBody>
      </p:sp>
      <p:sp>
        <p:nvSpPr>
          <p:cNvPr id="37" name="Text 35"/>
          <p:cNvSpPr/>
          <p:nvPr/>
        </p:nvSpPr>
        <p:spPr>
          <a:xfrm>
            <a:off x="6035040" y="1911096"/>
            <a:ext cx="2834640" cy="237744"/>
          </a:xfrm>
          <a:prstGeom prst="rect">
            <a:avLst/>
          </a:prstGeom>
          <a:noFill/>
          <a:ln/>
        </p:spPr>
        <p:txBody>
          <a:bodyPr wrap="square" lIns="0" tIns="0" rIns="0" bIns="0" rtlCol="0" anchor="ctr"/>
          <a:lstStyle/>
          <a:p>
            <a:pPr marL="0" indent="0">
              <a:buNone/>
            </a:pPr>
            <a:r>
              <a:rPr lang="en-US" sz="850" dirty="0">
                <a:solidFill>
                  <a:srgbClr val="4B6076"/>
                </a:solidFill>
                <a:latin typeface="Calibri" pitchFamily="34" charset="0"/>
                <a:ea typeface="Calibri" pitchFamily="34" charset="-122"/>
                <a:cs typeface="Calibri" pitchFamily="34" charset="-120"/>
              </a:rPr>
              <a:t>▸  Lifecycle governance, certification, SoD</a:t>
            </a:r>
            <a:endParaRPr lang="en-US" sz="850" dirty="0"/>
          </a:p>
        </p:txBody>
      </p:sp>
      <p:sp>
        <p:nvSpPr>
          <p:cNvPr id="38" name="Text 36"/>
          <p:cNvSpPr/>
          <p:nvPr/>
        </p:nvSpPr>
        <p:spPr>
          <a:xfrm>
            <a:off x="6035040" y="2176272"/>
            <a:ext cx="2834640" cy="237744"/>
          </a:xfrm>
          <a:prstGeom prst="rect">
            <a:avLst/>
          </a:prstGeom>
          <a:noFill/>
          <a:ln/>
        </p:spPr>
        <p:txBody>
          <a:bodyPr wrap="square" lIns="0" tIns="0" rIns="0" bIns="0" rtlCol="0" anchor="ctr"/>
          <a:lstStyle/>
          <a:p>
            <a:pPr marL="0" indent="0">
              <a:buNone/>
            </a:pPr>
            <a:r>
              <a:rPr lang="en-US" sz="850" dirty="0">
                <a:solidFill>
                  <a:srgbClr val="4B6076"/>
                </a:solidFill>
                <a:latin typeface="Calibri" pitchFamily="34" charset="0"/>
                <a:ea typeface="Calibri" pitchFamily="34" charset="-122"/>
                <a:cs typeface="Calibri" pitchFamily="34" charset="-120"/>
              </a:rPr>
              <a:t>▸  Provisions to target systems via connectors</a:t>
            </a:r>
            <a:endParaRPr lang="en-US" sz="850" dirty="0"/>
          </a:p>
        </p:txBody>
      </p:sp>
      <p:sp>
        <p:nvSpPr>
          <p:cNvPr id="39" name="Shape 37"/>
          <p:cNvSpPr/>
          <p:nvPr/>
        </p:nvSpPr>
        <p:spPr>
          <a:xfrm>
            <a:off x="5394960" y="2542032"/>
            <a:ext cx="3520440" cy="621792"/>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40" name="Shape 38"/>
          <p:cNvSpPr/>
          <p:nvPr/>
        </p:nvSpPr>
        <p:spPr>
          <a:xfrm>
            <a:off x="5394960" y="2542032"/>
            <a:ext cx="566928" cy="621792"/>
          </a:xfrm>
          <a:prstGeom prst="rect">
            <a:avLst/>
          </a:prstGeom>
          <a:solidFill>
            <a:srgbClr val="1565C0"/>
          </a:solidFill>
          <a:ln w="12700">
            <a:solidFill>
              <a:srgbClr val="1565C0"/>
            </a:solidFill>
            <a:prstDash val="solid"/>
          </a:ln>
        </p:spPr>
        <p:txBody>
          <a:bodyPr/>
          <a:lstStyle/>
          <a:p>
            <a:endParaRPr lang="en-US"/>
          </a:p>
        </p:txBody>
      </p:sp>
      <p:sp>
        <p:nvSpPr>
          <p:cNvPr id="41" name="Text 39"/>
          <p:cNvSpPr/>
          <p:nvPr/>
        </p:nvSpPr>
        <p:spPr>
          <a:xfrm>
            <a:off x="5394960" y="2542032"/>
            <a:ext cx="566928" cy="62179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IdP</a:t>
            </a:r>
            <a:endParaRPr lang="en-US" sz="900" dirty="0"/>
          </a:p>
        </p:txBody>
      </p:sp>
      <p:sp>
        <p:nvSpPr>
          <p:cNvPr id="42" name="Text 40"/>
          <p:cNvSpPr/>
          <p:nvPr/>
        </p:nvSpPr>
        <p:spPr>
          <a:xfrm>
            <a:off x="6035040" y="2606040"/>
            <a:ext cx="2834640" cy="237744"/>
          </a:xfrm>
          <a:prstGeom prst="rect">
            <a:avLst/>
          </a:prstGeom>
          <a:noFill/>
          <a:ln/>
        </p:spPr>
        <p:txBody>
          <a:bodyPr wrap="square" lIns="0" tIns="0" rIns="0" bIns="0" rtlCol="0" anchor="ctr"/>
          <a:lstStyle/>
          <a:p>
            <a:pPr marL="0" indent="0">
              <a:buNone/>
            </a:pPr>
            <a:r>
              <a:rPr lang="en-US" sz="850" dirty="0">
                <a:solidFill>
                  <a:srgbClr val="4B6076"/>
                </a:solidFill>
                <a:latin typeface="Calibri" pitchFamily="34" charset="0"/>
                <a:ea typeface="Calibri" pitchFamily="34" charset="-122"/>
                <a:cs typeface="Calibri" pitchFamily="34" charset="-120"/>
              </a:rPr>
              <a:t>▸  Authenticates users, issues tokens, enforces MFA</a:t>
            </a:r>
            <a:endParaRPr lang="en-US" sz="850" dirty="0"/>
          </a:p>
        </p:txBody>
      </p:sp>
      <p:sp>
        <p:nvSpPr>
          <p:cNvPr id="43" name="Text 41"/>
          <p:cNvSpPr/>
          <p:nvPr/>
        </p:nvSpPr>
        <p:spPr>
          <a:xfrm>
            <a:off x="6035040" y="2871216"/>
            <a:ext cx="2834640" cy="237744"/>
          </a:xfrm>
          <a:prstGeom prst="rect">
            <a:avLst/>
          </a:prstGeom>
          <a:noFill/>
          <a:ln/>
        </p:spPr>
        <p:txBody>
          <a:bodyPr wrap="square" lIns="0" tIns="0" rIns="0" bIns="0" rtlCol="0" anchor="ctr"/>
          <a:lstStyle/>
          <a:p>
            <a:pPr marL="0" indent="0">
              <a:buNone/>
            </a:pPr>
            <a:r>
              <a:rPr lang="en-US" sz="850" dirty="0">
                <a:solidFill>
                  <a:srgbClr val="4B6076"/>
                </a:solidFill>
                <a:latin typeface="Calibri" pitchFamily="34" charset="0"/>
                <a:ea typeface="Calibri" pitchFamily="34" charset="-122"/>
                <a:cs typeface="Calibri" pitchFamily="34" charset="-120"/>
              </a:rPr>
              <a:t>▸  Session management and Conditional Access</a:t>
            </a:r>
            <a:endParaRPr lang="en-US" sz="850" dirty="0"/>
          </a:p>
        </p:txBody>
      </p:sp>
      <p:sp>
        <p:nvSpPr>
          <p:cNvPr id="44" name="Shape 42"/>
          <p:cNvSpPr/>
          <p:nvPr/>
        </p:nvSpPr>
        <p:spPr>
          <a:xfrm>
            <a:off x="5394960" y="3236976"/>
            <a:ext cx="3520440" cy="621792"/>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45" name="Shape 43"/>
          <p:cNvSpPr/>
          <p:nvPr/>
        </p:nvSpPr>
        <p:spPr>
          <a:xfrm>
            <a:off x="5394960" y="3236976"/>
            <a:ext cx="566928" cy="621792"/>
          </a:xfrm>
          <a:prstGeom prst="rect">
            <a:avLst/>
          </a:prstGeom>
          <a:solidFill>
            <a:srgbClr val="6B21A8"/>
          </a:solidFill>
          <a:ln w="12700">
            <a:solidFill>
              <a:srgbClr val="6B21A8"/>
            </a:solidFill>
            <a:prstDash val="solid"/>
          </a:ln>
        </p:spPr>
        <p:txBody>
          <a:bodyPr/>
          <a:lstStyle/>
          <a:p>
            <a:endParaRPr lang="en-US"/>
          </a:p>
        </p:txBody>
      </p:sp>
      <p:sp>
        <p:nvSpPr>
          <p:cNvPr id="46" name="Text 44"/>
          <p:cNvSpPr/>
          <p:nvPr/>
        </p:nvSpPr>
        <p:spPr>
          <a:xfrm>
            <a:off x="5394960" y="3236976"/>
            <a:ext cx="566928" cy="62179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PAM</a:t>
            </a:r>
            <a:endParaRPr lang="en-US" sz="900" dirty="0"/>
          </a:p>
        </p:txBody>
      </p:sp>
      <p:sp>
        <p:nvSpPr>
          <p:cNvPr id="47" name="Text 45"/>
          <p:cNvSpPr/>
          <p:nvPr/>
        </p:nvSpPr>
        <p:spPr>
          <a:xfrm>
            <a:off x="6035040" y="3300984"/>
            <a:ext cx="2834640" cy="237744"/>
          </a:xfrm>
          <a:prstGeom prst="rect">
            <a:avLst/>
          </a:prstGeom>
          <a:noFill/>
          <a:ln/>
        </p:spPr>
        <p:txBody>
          <a:bodyPr wrap="square" lIns="0" tIns="0" rIns="0" bIns="0" rtlCol="0" anchor="ctr"/>
          <a:lstStyle/>
          <a:p>
            <a:pPr marL="0" indent="0">
              <a:buNone/>
            </a:pPr>
            <a:r>
              <a:rPr lang="en-US" sz="850" dirty="0">
                <a:solidFill>
                  <a:srgbClr val="4B6076"/>
                </a:solidFill>
                <a:latin typeface="Calibri" pitchFamily="34" charset="0"/>
                <a:ea typeface="Calibri" pitchFamily="34" charset="-122"/>
                <a:cs typeface="Calibri" pitchFamily="34" charset="-120"/>
              </a:rPr>
              <a:t>▸  Vaults and rotates privileged credentials</a:t>
            </a:r>
            <a:endParaRPr lang="en-US" sz="850" dirty="0"/>
          </a:p>
        </p:txBody>
      </p:sp>
      <p:sp>
        <p:nvSpPr>
          <p:cNvPr id="48" name="Text 46"/>
          <p:cNvSpPr/>
          <p:nvPr/>
        </p:nvSpPr>
        <p:spPr>
          <a:xfrm>
            <a:off x="6035040" y="3566160"/>
            <a:ext cx="2834640" cy="237744"/>
          </a:xfrm>
          <a:prstGeom prst="rect">
            <a:avLst/>
          </a:prstGeom>
          <a:noFill/>
          <a:ln/>
        </p:spPr>
        <p:txBody>
          <a:bodyPr wrap="square" lIns="0" tIns="0" rIns="0" bIns="0" rtlCol="0" anchor="ctr"/>
          <a:lstStyle/>
          <a:p>
            <a:pPr marL="0" indent="0">
              <a:buNone/>
            </a:pPr>
            <a:r>
              <a:rPr lang="en-US" sz="850" dirty="0">
                <a:solidFill>
                  <a:srgbClr val="4B6076"/>
                </a:solidFill>
                <a:latin typeface="Calibri" pitchFamily="34" charset="0"/>
                <a:ea typeface="Calibri" pitchFamily="34" charset="-122"/>
                <a:cs typeface="Calibri" pitchFamily="34" charset="-120"/>
              </a:rPr>
              <a:t>▸  Records sessions; enforces JIT access windows</a:t>
            </a:r>
            <a:endParaRPr lang="en-US" sz="850" dirty="0"/>
          </a:p>
        </p:txBody>
      </p:sp>
      <p:sp>
        <p:nvSpPr>
          <p:cNvPr id="49" name="Shape 47"/>
          <p:cNvSpPr/>
          <p:nvPr/>
        </p:nvSpPr>
        <p:spPr>
          <a:xfrm>
            <a:off x="5394960" y="3931920"/>
            <a:ext cx="3520440" cy="621792"/>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50" name="Shape 48"/>
          <p:cNvSpPr/>
          <p:nvPr/>
        </p:nvSpPr>
        <p:spPr>
          <a:xfrm>
            <a:off x="5394960" y="3931920"/>
            <a:ext cx="566928" cy="621792"/>
          </a:xfrm>
          <a:prstGeom prst="rect">
            <a:avLst/>
          </a:prstGeom>
          <a:solidFill>
            <a:srgbClr val="4A5568"/>
          </a:solidFill>
          <a:ln w="12700">
            <a:solidFill>
              <a:srgbClr val="4A5568"/>
            </a:solidFill>
            <a:prstDash val="solid"/>
          </a:ln>
        </p:spPr>
        <p:txBody>
          <a:bodyPr/>
          <a:lstStyle/>
          <a:p>
            <a:endParaRPr lang="en-US"/>
          </a:p>
        </p:txBody>
      </p:sp>
      <p:sp>
        <p:nvSpPr>
          <p:cNvPr id="51" name="Text 49"/>
          <p:cNvSpPr/>
          <p:nvPr/>
        </p:nvSpPr>
        <p:spPr>
          <a:xfrm>
            <a:off x="5394960" y="3931920"/>
            <a:ext cx="566928" cy="62179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Target</a:t>
            </a:r>
            <a:endParaRPr lang="en-US" sz="900" dirty="0"/>
          </a:p>
        </p:txBody>
      </p:sp>
      <p:sp>
        <p:nvSpPr>
          <p:cNvPr id="52" name="Text 50"/>
          <p:cNvSpPr/>
          <p:nvPr/>
        </p:nvSpPr>
        <p:spPr>
          <a:xfrm>
            <a:off x="6035040" y="3995928"/>
            <a:ext cx="2834640" cy="237744"/>
          </a:xfrm>
          <a:prstGeom prst="rect">
            <a:avLst/>
          </a:prstGeom>
          <a:noFill/>
          <a:ln/>
        </p:spPr>
        <p:txBody>
          <a:bodyPr wrap="square" lIns="0" tIns="0" rIns="0" bIns="0" rtlCol="0" anchor="ctr"/>
          <a:lstStyle/>
          <a:p>
            <a:pPr marL="0" indent="0">
              <a:buNone/>
            </a:pPr>
            <a:r>
              <a:rPr lang="en-US" sz="850" dirty="0">
                <a:solidFill>
                  <a:srgbClr val="4B6076"/>
                </a:solidFill>
                <a:latin typeface="Calibri" pitchFamily="34" charset="0"/>
                <a:ea typeface="Calibri" pitchFamily="34" charset="-122"/>
                <a:cs typeface="Calibri" pitchFamily="34" charset="-120"/>
              </a:rPr>
              <a:t>▸  Applications, directories, cloud services</a:t>
            </a:r>
            <a:endParaRPr lang="en-US" sz="850" dirty="0"/>
          </a:p>
        </p:txBody>
      </p:sp>
      <p:sp>
        <p:nvSpPr>
          <p:cNvPr id="53" name="Text 51"/>
          <p:cNvSpPr/>
          <p:nvPr/>
        </p:nvSpPr>
        <p:spPr>
          <a:xfrm>
            <a:off x="6035040" y="4261104"/>
            <a:ext cx="2834640" cy="237744"/>
          </a:xfrm>
          <a:prstGeom prst="rect">
            <a:avLst/>
          </a:prstGeom>
          <a:noFill/>
          <a:ln/>
        </p:spPr>
        <p:txBody>
          <a:bodyPr wrap="square" lIns="0" tIns="0" rIns="0" bIns="0" rtlCol="0" anchor="ctr"/>
          <a:lstStyle/>
          <a:p>
            <a:pPr marL="0" indent="0">
              <a:buNone/>
            </a:pPr>
            <a:r>
              <a:rPr lang="en-US" sz="850" dirty="0">
                <a:solidFill>
                  <a:srgbClr val="4B6076"/>
                </a:solidFill>
                <a:latin typeface="Calibri" pitchFamily="34" charset="0"/>
                <a:ea typeface="Calibri" pitchFamily="34" charset="-122"/>
                <a:cs typeface="Calibri" pitchFamily="34" charset="-120"/>
              </a:rPr>
              <a:t>▸  Consume provisioned identities and tokens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C5E"/>
          </a:solidFill>
          <a:ln w="12700">
            <a:solidFill>
              <a:srgbClr val="1A3C5E"/>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IGA vs. IdP vs. PAM: Responsibility Model</a:t>
            </a:r>
            <a:endParaRPr lang="en-US" sz="2000" dirty="0"/>
          </a:p>
        </p:txBody>
      </p:sp>
      <p:sp>
        <p:nvSpPr>
          <p:cNvPr id="4" name="Text 2"/>
          <p:cNvSpPr/>
          <p:nvPr/>
        </p:nvSpPr>
        <p:spPr>
          <a:xfrm>
            <a:off x="365760" y="749808"/>
            <a:ext cx="8412480" cy="237744"/>
          </a:xfrm>
          <a:prstGeom prst="rect">
            <a:avLst/>
          </a:prstGeom>
          <a:noFill/>
          <a:ln/>
        </p:spPr>
        <p:txBody>
          <a:bodyPr wrap="square" lIns="0" tIns="0" rIns="0" bIns="0" rtlCol="0" anchor="ctr"/>
          <a:lstStyle/>
          <a:p>
            <a:pPr marL="0" indent="0">
              <a:buNone/>
            </a:pPr>
            <a:r>
              <a:rPr lang="en-US" sz="1000" i="1" dirty="0">
                <a:solidFill>
                  <a:srgbClr val="4B6076"/>
                </a:solidFill>
                <a:latin typeface="Calibri" pitchFamily="34" charset="0"/>
                <a:ea typeface="Calibri" pitchFamily="34" charset="-122"/>
                <a:cs typeface="Calibri" pitchFamily="34" charset="-120"/>
              </a:rPr>
              <a:t>These three platforms are often confused. Each has a distinct, non-overlapping responsibility in the identity stack.</a:t>
            </a:r>
            <a:endParaRPr lang="en-US" sz="1000" dirty="0"/>
          </a:p>
        </p:txBody>
      </p:sp>
      <p:sp>
        <p:nvSpPr>
          <p:cNvPr id="5" name="Shape 3"/>
          <p:cNvSpPr/>
          <p:nvPr/>
        </p:nvSpPr>
        <p:spPr>
          <a:xfrm>
            <a:off x="228600" y="1060704"/>
            <a:ext cx="2743200" cy="502920"/>
          </a:xfrm>
          <a:prstGeom prst="rect">
            <a:avLst/>
          </a:prstGeom>
          <a:solidFill>
            <a:srgbClr val="1A3C5E"/>
          </a:solidFill>
          <a:ln w="12700">
            <a:solidFill>
              <a:srgbClr val="1A3C5E"/>
            </a:solidFill>
            <a:prstDash val="solid"/>
          </a:ln>
          <a:effectLst>
            <a:outerShdw blurRad="63500" dist="25400" dir="8100000" algn="bl" rotWithShape="0">
              <a:srgbClr val="000000">
                <a:alpha val="12000"/>
              </a:srgbClr>
            </a:outerShdw>
          </a:effectLst>
        </p:spPr>
        <p:txBody>
          <a:bodyPr/>
          <a:lstStyle/>
          <a:p>
            <a:endParaRPr lang="en-US"/>
          </a:p>
        </p:txBody>
      </p:sp>
      <p:sp>
        <p:nvSpPr>
          <p:cNvPr id="6" name="Text 4"/>
          <p:cNvSpPr/>
          <p:nvPr/>
        </p:nvSpPr>
        <p:spPr>
          <a:xfrm>
            <a:off x="320040" y="1060704"/>
            <a:ext cx="2560320" cy="2743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IGA</a:t>
            </a:r>
            <a:endParaRPr lang="en-US" sz="1800" dirty="0"/>
          </a:p>
        </p:txBody>
      </p:sp>
      <p:sp>
        <p:nvSpPr>
          <p:cNvPr id="7" name="Text 5"/>
          <p:cNvSpPr/>
          <p:nvPr/>
        </p:nvSpPr>
        <p:spPr>
          <a:xfrm>
            <a:off x="320040" y="1335024"/>
            <a:ext cx="2560320" cy="201168"/>
          </a:xfrm>
          <a:prstGeom prst="rect">
            <a:avLst/>
          </a:prstGeom>
          <a:noFill/>
          <a:ln/>
        </p:spPr>
        <p:txBody>
          <a:bodyPr wrap="square" lIns="0" tIns="0" rIns="0" bIns="0" rtlCol="0" anchor="ctr"/>
          <a:lstStyle/>
          <a:p>
            <a:pPr marL="0" indent="0">
              <a:buNone/>
            </a:pPr>
            <a:r>
              <a:rPr lang="en-US" sz="850" i="1" dirty="0">
                <a:solidFill>
                  <a:srgbClr val="FFFFFF"/>
                </a:solidFill>
                <a:latin typeface="Calibri" pitchFamily="34" charset="0"/>
                <a:ea typeface="Calibri" pitchFamily="34" charset="-122"/>
                <a:cs typeface="Calibri" pitchFamily="34" charset="-120"/>
              </a:rPr>
              <a:t>Identity Governance &amp; Administration</a:t>
            </a:r>
            <a:endParaRPr lang="en-US" sz="850" dirty="0"/>
          </a:p>
        </p:txBody>
      </p:sp>
      <p:sp>
        <p:nvSpPr>
          <p:cNvPr id="8" name="Shape 6"/>
          <p:cNvSpPr/>
          <p:nvPr/>
        </p:nvSpPr>
        <p:spPr>
          <a:xfrm>
            <a:off x="228600" y="1627632"/>
            <a:ext cx="2743200" cy="475488"/>
          </a:xfrm>
          <a:prstGeom prst="rect">
            <a:avLst/>
          </a:prstGeom>
          <a:solidFill>
            <a:srgbClr val="FFFFFF"/>
          </a:solidFill>
          <a:ln w="6350">
            <a:solidFill>
              <a:srgbClr val="C9DDE8"/>
            </a:solidFill>
            <a:prstDash val="solid"/>
          </a:ln>
        </p:spPr>
        <p:txBody>
          <a:bodyPr/>
          <a:lstStyle/>
          <a:p>
            <a:endParaRPr lang="en-US"/>
          </a:p>
        </p:txBody>
      </p:sp>
      <p:sp>
        <p:nvSpPr>
          <p:cNvPr id="9" name="Text 7"/>
          <p:cNvSpPr/>
          <p:nvPr/>
        </p:nvSpPr>
        <p:spPr>
          <a:xfrm>
            <a:off x="301752" y="1655064"/>
            <a:ext cx="2596896" cy="182880"/>
          </a:xfrm>
          <a:prstGeom prst="rect">
            <a:avLst/>
          </a:prstGeom>
          <a:noFill/>
          <a:ln/>
        </p:spPr>
        <p:txBody>
          <a:bodyPr wrap="square" lIns="0" tIns="0" rIns="0" bIns="0" rtlCol="0" anchor="ctr"/>
          <a:lstStyle/>
          <a:p>
            <a:pPr marL="0" indent="0">
              <a:buNone/>
            </a:pPr>
            <a:r>
              <a:rPr lang="en-US" sz="850" b="1" dirty="0">
                <a:solidFill>
                  <a:srgbClr val="1A3C5E"/>
                </a:solidFill>
                <a:latin typeface="Calibri" pitchFamily="34" charset="0"/>
                <a:ea typeface="Calibri" pitchFamily="34" charset="-122"/>
                <a:cs typeface="Calibri" pitchFamily="34" charset="-120"/>
              </a:rPr>
              <a:t>Core Function</a:t>
            </a:r>
            <a:endParaRPr lang="en-US" sz="850" dirty="0"/>
          </a:p>
        </p:txBody>
      </p:sp>
      <p:sp>
        <p:nvSpPr>
          <p:cNvPr id="10" name="Text 8"/>
          <p:cNvSpPr/>
          <p:nvPr/>
        </p:nvSpPr>
        <p:spPr>
          <a:xfrm>
            <a:off x="301752" y="1856232"/>
            <a:ext cx="2596896" cy="219456"/>
          </a:xfrm>
          <a:prstGeom prst="rect">
            <a:avLst/>
          </a:prstGeom>
          <a:noFill/>
          <a:ln/>
        </p:spPr>
        <p:txBody>
          <a:bodyPr wrap="square" lIns="0" tIns="0" rIns="0" bIns="0" rtlCol="0" anchor="ctr"/>
          <a:lstStyle/>
          <a:p>
            <a:pPr marL="0" indent="0">
              <a:buNone/>
            </a:pPr>
            <a:r>
              <a:rPr lang="en-US" sz="800" dirty="0">
                <a:solidFill>
                  <a:srgbClr val="4B6076"/>
                </a:solidFill>
                <a:latin typeface="Calibri" pitchFamily="34" charset="0"/>
                <a:ea typeface="Calibri" pitchFamily="34" charset="-122"/>
                <a:cs typeface="Calibri" pitchFamily="34" charset="-120"/>
              </a:rPr>
              <a:t>Who has access to what — and should they?</a:t>
            </a:r>
            <a:endParaRPr lang="en-US" sz="800" dirty="0"/>
          </a:p>
        </p:txBody>
      </p:sp>
      <p:sp>
        <p:nvSpPr>
          <p:cNvPr id="11" name="Shape 9"/>
          <p:cNvSpPr/>
          <p:nvPr/>
        </p:nvSpPr>
        <p:spPr>
          <a:xfrm>
            <a:off x="228600" y="2157984"/>
            <a:ext cx="2743200" cy="475488"/>
          </a:xfrm>
          <a:prstGeom prst="rect">
            <a:avLst/>
          </a:prstGeom>
          <a:solidFill>
            <a:srgbClr val="F0F4F8"/>
          </a:solidFill>
          <a:ln w="6350">
            <a:solidFill>
              <a:srgbClr val="C9DDE8"/>
            </a:solidFill>
            <a:prstDash val="solid"/>
          </a:ln>
        </p:spPr>
        <p:txBody>
          <a:bodyPr/>
          <a:lstStyle/>
          <a:p>
            <a:endParaRPr lang="en-US"/>
          </a:p>
        </p:txBody>
      </p:sp>
      <p:sp>
        <p:nvSpPr>
          <p:cNvPr id="12" name="Text 10"/>
          <p:cNvSpPr/>
          <p:nvPr/>
        </p:nvSpPr>
        <p:spPr>
          <a:xfrm>
            <a:off x="301752" y="2185416"/>
            <a:ext cx="2596896" cy="182880"/>
          </a:xfrm>
          <a:prstGeom prst="rect">
            <a:avLst/>
          </a:prstGeom>
          <a:noFill/>
          <a:ln/>
        </p:spPr>
        <p:txBody>
          <a:bodyPr wrap="square" lIns="0" tIns="0" rIns="0" bIns="0" rtlCol="0" anchor="ctr"/>
          <a:lstStyle/>
          <a:p>
            <a:pPr marL="0" indent="0">
              <a:buNone/>
            </a:pPr>
            <a:r>
              <a:rPr lang="en-US" sz="850" b="1" dirty="0">
                <a:solidFill>
                  <a:srgbClr val="1A3C5E"/>
                </a:solidFill>
                <a:latin typeface="Calibri" pitchFamily="34" charset="0"/>
                <a:ea typeface="Calibri" pitchFamily="34" charset="-122"/>
                <a:cs typeface="Calibri" pitchFamily="34" charset="-120"/>
              </a:rPr>
              <a:t>Joiner/Mover/Leaver</a:t>
            </a:r>
            <a:endParaRPr lang="en-US" sz="850" dirty="0"/>
          </a:p>
        </p:txBody>
      </p:sp>
      <p:sp>
        <p:nvSpPr>
          <p:cNvPr id="13" name="Text 11"/>
          <p:cNvSpPr/>
          <p:nvPr/>
        </p:nvSpPr>
        <p:spPr>
          <a:xfrm>
            <a:off x="301752" y="2386584"/>
            <a:ext cx="2596896" cy="219456"/>
          </a:xfrm>
          <a:prstGeom prst="rect">
            <a:avLst/>
          </a:prstGeom>
          <a:noFill/>
          <a:ln/>
        </p:spPr>
        <p:txBody>
          <a:bodyPr wrap="square" lIns="0" tIns="0" rIns="0" bIns="0" rtlCol="0" anchor="ctr"/>
          <a:lstStyle/>
          <a:p>
            <a:pPr marL="0" indent="0">
              <a:buNone/>
            </a:pPr>
            <a:r>
              <a:rPr lang="en-US" sz="800" dirty="0">
                <a:solidFill>
                  <a:srgbClr val="4B6076"/>
                </a:solidFill>
                <a:latin typeface="Calibri" pitchFamily="34" charset="0"/>
                <a:ea typeface="Calibri" pitchFamily="34" charset="-122"/>
                <a:cs typeface="Calibri" pitchFamily="34" charset="-120"/>
              </a:rPr>
              <a:t>Automated lifecycle via HRMS integration</a:t>
            </a:r>
            <a:endParaRPr lang="en-US" sz="800" dirty="0"/>
          </a:p>
        </p:txBody>
      </p:sp>
      <p:sp>
        <p:nvSpPr>
          <p:cNvPr id="14" name="Shape 12"/>
          <p:cNvSpPr/>
          <p:nvPr/>
        </p:nvSpPr>
        <p:spPr>
          <a:xfrm>
            <a:off x="228600" y="2688336"/>
            <a:ext cx="2743200" cy="475488"/>
          </a:xfrm>
          <a:prstGeom prst="rect">
            <a:avLst/>
          </a:prstGeom>
          <a:solidFill>
            <a:srgbClr val="FFFFFF"/>
          </a:solidFill>
          <a:ln w="6350">
            <a:solidFill>
              <a:srgbClr val="C9DDE8"/>
            </a:solidFill>
            <a:prstDash val="solid"/>
          </a:ln>
        </p:spPr>
        <p:txBody>
          <a:bodyPr/>
          <a:lstStyle/>
          <a:p>
            <a:endParaRPr lang="en-US"/>
          </a:p>
        </p:txBody>
      </p:sp>
      <p:sp>
        <p:nvSpPr>
          <p:cNvPr id="15" name="Text 13"/>
          <p:cNvSpPr/>
          <p:nvPr/>
        </p:nvSpPr>
        <p:spPr>
          <a:xfrm>
            <a:off x="301752" y="2715768"/>
            <a:ext cx="2596896" cy="182880"/>
          </a:xfrm>
          <a:prstGeom prst="rect">
            <a:avLst/>
          </a:prstGeom>
          <a:noFill/>
          <a:ln/>
        </p:spPr>
        <p:txBody>
          <a:bodyPr wrap="square" lIns="0" tIns="0" rIns="0" bIns="0" rtlCol="0" anchor="ctr"/>
          <a:lstStyle/>
          <a:p>
            <a:pPr marL="0" indent="0">
              <a:buNone/>
            </a:pPr>
            <a:r>
              <a:rPr lang="en-US" sz="850" b="1" dirty="0">
                <a:solidFill>
                  <a:srgbClr val="1A3C5E"/>
                </a:solidFill>
                <a:latin typeface="Calibri" pitchFamily="34" charset="0"/>
                <a:ea typeface="Calibri" pitchFamily="34" charset="-122"/>
                <a:cs typeface="Calibri" pitchFamily="34" charset="-120"/>
              </a:rPr>
              <a:t>Access Certification</a:t>
            </a:r>
            <a:endParaRPr lang="en-US" sz="850" dirty="0"/>
          </a:p>
        </p:txBody>
      </p:sp>
      <p:sp>
        <p:nvSpPr>
          <p:cNvPr id="16" name="Text 14"/>
          <p:cNvSpPr/>
          <p:nvPr/>
        </p:nvSpPr>
        <p:spPr>
          <a:xfrm>
            <a:off x="301752" y="2916936"/>
            <a:ext cx="2596896" cy="219456"/>
          </a:xfrm>
          <a:prstGeom prst="rect">
            <a:avLst/>
          </a:prstGeom>
          <a:noFill/>
          <a:ln/>
        </p:spPr>
        <p:txBody>
          <a:bodyPr wrap="square" lIns="0" tIns="0" rIns="0" bIns="0" rtlCol="0" anchor="ctr"/>
          <a:lstStyle/>
          <a:p>
            <a:pPr marL="0" indent="0">
              <a:buNone/>
            </a:pPr>
            <a:r>
              <a:rPr lang="en-US" sz="800" dirty="0">
                <a:solidFill>
                  <a:srgbClr val="4B6076"/>
                </a:solidFill>
                <a:latin typeface="Calibri" pitchFamily="34" charset="0"/>
                <a:ea typeface="Calibri" pitchFamily="34" charset="-122"/>
                <a:cs typeface="Calibri" pitchFamily="34" charset="-120"/>
              </a:rPr>
              <a:t>Periodic review of entitlements by owners</a:t>
            </a:r>
            <a:endParaRPr lang="en-US" sz="800" dirty="0"/>
          </a:p>
        </p:txBody>
      </p:sp>
      <p:sp>
        <p:nvSpPr>
          <p:cNvPr id="17" name="Shape 15"/>
          <p:cNvSpPr/>
          <p:nvPr/>
        </p:nvSpPr>
        <p:spPr>
          <a:xfrm>
            <a:off x="228600" y="3218688"/>
            <a:ext cx="2743200" cy="475488"/>
          </a:xfrm>
          <a:prstGeom prst="rect">
            <a:avLst/>
          </a:prstGeom>
          <a:solidFill>
            <a:srgbClr val="F0F4F8"/>
          </a:solidFill>
          <a:ln w="6350">
            <a:solidFill>
              <a:srgbClr val="C9DDE8"/>
            </a:solidFill>
            <a:prstDash val="solid"/>
          </a:ln>
        </p:spPr>
        <p:txBody>
          <a:bodyPr/>
          <a:lstStyle/>
          <a:p>
            <a:endParaRPr lang="en-US"/>
          </a:p>
        </p:txBody>
      </p:sp>
      <p:sp>
        <p:nvSpPr>
          <p:cNvPr id="18" name="Text 16"/>
          <p:cNvSpPr/>
          <p:nvPr/>
        </p:nvSpPr>
        <p:spPr>
          <a:xfrm>
            <a:off x="301752" y="3246120"/>
            <a:ext cx="2596896" cy="182880"/>
          </a:xfrm>
          <a:prstGeom prst="rect">
            <a:avLst/>
          </a:prstGeom>
          <a:noFill/>
          <a:ln/>
        </p:spPr>
        <p:txBody>
          <a:bodyPr wrap="square" lIns="0" tIns="0" rIns="0" bIns="0" rtlCol="0" anchor="ctr"/>
          <a:lstStyle/>
          <a:p>
            <a:pPr marL="0" indent="0">
              <a:buNone/>
            </a:pPr>
            <a:r>
              <a:rPr lang="en-US" sz="850" b="1" dirty="0">
                <a:solidFill>
                  <a:srgbClr val="1A3C5E"/>
                </a:solidFill>
                <a:latin typeface="Calibri" pitchFamily="34" charset="0"/>
                <a:ea typeface="Calibri" pitchFamily="34" charset="-122"/>
                <a:cs typeface="Calibri" pitchFamily="34" charset="-120"/>
              </a:rPr>
              <a:t>SoD Enforcement</a:t>
            </a:r>
            <a:endParaRPr lang="en-US" sz="850" dirty="0"/>
          </a:p>
        </p:txBody>
      </p:sp>
      <p:sp>
        <p:nvSpPr>
          <p:cNvPr id="19" name="Text 17"/>
          <p:cNvSpPr/>
          <p:nvPr/>
        </p:nvSpPr>
        <p:spPr>
          <a:xfrm>
            <a:off x="301752" y="3447288"/>
            <a:ext cx="2596896" cy="219456"/>
          </a:xfrm>
          <a:prstGeom prst="rect">
            <a:avLst/>
          </a:prstGeom>
          <a:noFill/>
          <a:ln/>
        </p:spPr>
        <p:txBody>
          <a:bodyPr wrap="square" lIns="0" tIns="0" rIns="0" bIns="0" rtlCol="0" anchor="ctr"/>
          <a:lstStyle/>
          <a:p>
            <a:pPr marL="0" indent="0">
              <a:buNone/>
            </a:pPr>
            <a:r>
              <a:rPr lang="en-US" sz="800" dirty="0">
                <a:solidFill>
                  <a:srgbClr val="4B6076"/>
                </a:solidFill>
                <a:latin typeface="Calibri" pitchFamily="34" charset="0"/>
                <a:ea typeface="Calibri" pitchFamily="34" charset="-122"/>
                <a:cs typeface="Calibri" pitchFamily="34" charset="-120"/>
              </a:rPr>
              <a:t>Toxic combination detection and blocking</a:t>
            </a:r>
            <a:endParaRPr lang="en-US" sz="800" dirty="0"/>
          </a:p>
        </p:txBody>
      </p:sp>
      <p:sp>
        <p:nvSpPr>
          <p:cNvPr id="20" name="Shape 18"/>
          <p:cNvSpPr/>
          <p:nvPr/>
        </p:nvSpPr>
        <p:spPr>
          <a:xfrm>
            <a:off x="228600" y="3749040"/>
            <a:ext cx="2743200" cy="475488"/>
          </a:xfrm>
          <a:prstGeom prst="rect">
            <a:avLst/>
          </a:prstGeom>
          <a:solidFill>
            <a:srgbClr val="FFFFFF"/>
          </a:solidFill>
          <a:ln w="6350">
            <a:solidFill>
              <a:srgbClr val="C9DDE8"/>
            </a:solidFill>
            <a:prstDash val="solid"/>
          </a:ln>
        </p:spPr>
        <p:txBody>
          <a:bodyPr/>
          <a:lstStyle/>
          <a:p>
            <a:endParaRPr lang="en-US"/>
          </a:p>
        </p:txBody>
      </p:sp>
      <p:sp>
        <p:nvSpPr>
          <p:cNvPr id="21" name="Text 19"/>
          <p:cNvSpPr/>
          <p:nvPr/>
        </p:nvSpPr>
        <p:spPr>
          <a:xfrm>
            <a:off x="301752" y="3776472"/>
            <a:ext cx="2596896" cy="182880"/>
          </a:xfrm>
          <a:prstGeom prst="rect">
            <a:avLst/>
          </a:prstGeom>
          <a:noFill/>
          <a:ln/>
        </p:spPr>
        <p:txBody>
          <a:bodyPr wrap="square" lIns="0" tIns="0" rIns="0" bIns="0" rtlCol="0" anchor="ctr"/>
          <a:lstStyle/>
          <a:p>
            <a:pPr marL="0" indent="0">
              <a:buNone/>
            </a:pPr>
            <a:r>
              <a:rPr lang="en-US" sz="850" b="1" dirty="0">
                <a:solidFill>
                  <a:srgbClr val="1A3C5E"/>
                </a:solidFill>
                <a:latin typeface="Calibri" pitchFamily="34" charset="0"/>
                <a:ea typeface="Calibri" pitchFamily="34" charset="-122"/>
                <a:cs typeface="Calibri" pitchFamily="34" charset="-120"/>
              </a:rPr>
              <a:t>Identity Analytics</a:t>
            </a:r>
            <a:endParaRPr lang="en-US" sz="850" dirty="0"/>
          </a:p>
        </p:txBody>
      </p:sp>
      <p:sp>
        <p:nvSpPr>
          <p:cNvPr id="22" name="Text 20"/>
          <p:cNvSpPr/>
          <p:nvPr/>
        </p:nvSpPr>
        <p:spPr>
          <a:xfrm>
            <a:off x="301752" y="3977640"/>
            <a:ext cx="2596896" cy="219456"/>
          </a:xfrm>
          <a:prstGeom prst="rect">
            <a:avLst/>
          </a:prstGeom>
          <a:noFill/>
          <a:ln/>
        </p:spPr>
        <p:txBody>
          <a:bodyPr wrap="square" lIns="0" tIns="0" rIns="0" bIns="0" rtlCol="0" anchor="ctr"/>
          <a:lstStyle/>
          <a:p>
            <a:pPr marL="0" indent="0">
              <a:buNone/>
            </a:pPr>
            <a:r>
              <a:rPr lang="en-US" sz="800" dirty="0">
                <a:solidFill>
                  <a:srgbClr val="4B6076"/>
                </a:solidFill>
                <a:latin typeface="Calibri" pitchFamily="34" charset="0"/>
                <a:ea typeface="Calibri" pitchFamily="34" charset="-122"/>
                <a:cs typeface="Calibri" pitchFamily="34" charset="-120"/>
              </a:rPr>
              <a:t>Risk scoring, peer group outlier detection</a:t>
            </a:r>
            <a:endParaRPr lang="en-US" sz="800" dirty="0"/>
          </a:p>
        </p:txBody>
      </p:sp>
      <p:sp>
        <p:nvSpPr>
          <p:cNvPr id="23" name="Shape 21"/>
          <p:cNvSpPr/>
          <p:nvPr/>
        </p:nvSpPr>
        <p:spPr>
          <a:xfrm>
            <a:off x="228600" y="4279392"/>
            <a:ext cx="2743200" cy="475488"/>
          </a:xfrm>
          <a:prstGeom prst="rect">
            <a:avLst/>
          </a:prstGeom>
          <a:solidFill>
            <a:srgbClr val="F0F4F8"/>
          </a:solidFill>
          <a:ln w="6350">
            <a:solidFill>
              <a:srgbClr val="C9DDE8"/>
            </a:solidFill>
            <a:prstDash val="solid"/>
          </a:ln>
        </p:spPr>
        <p:txBody>
          <a:bodyPr/>
          <a:lstStyle/>
          <a:p>
            <a:endParaRPr lang="en-US"/>
          </a:p>
        </p:txBody>
      </p:sp>
      <p:sp>
        <p:nvSpPr>
          <p:cNvPr id="24" name="Text 22"/>
          <p:cNvSpPr/>
          <p:nvPr/>
        </p:nvSpPr>
        <p:spPr>
          <a:xfrm>
            <a:off x="301752" y="4306824"/>
            <a:ext cx="2596896" cy="182880"/>
          </a:xfrm>
          <a:prstGeom prst="rect">
            <a:avLst/>
          </a:prstGeom>
          <a:noFill/>
          <a:ln/>
        </p:spPr>
        <p:txBody>
          <a:bodyPr wrap="square" lIns="0" tIns="0" rIns="0" bIns="0" rtlCol="0" anchor="ctr"/>
          <a:lstStyle/>
          <a:p>
            <a:pPr marL="0" indent="0">
              <a:buNone/>
            </a:pPr>
            <a:r>
              <a:rPr lang="en-US" sz="850" b="1" dirty="0">
                <a:solidFill>
                  <a:srgbClr val="1A3C5E"/>
                </a:solidFill>
                <a:latin typeface="Calibri" pitchFamily="34" charset="0"/>
                <a:ea typeface="Calibri" pitchFamily="34" charset="-122"/>
                <a:cs typeface="Calibri" pitchFamily="34" charset="-120"/>
              </a:rPr>
              <a:t>Audit Evidence</a:t>
            </a:r>
            <a:endParaRPr lang="en-US" sz="850" dirty="0"/>
          </a:p>
        </p:txBody>
      </p:sp>
      <p:sp>
        <p:nvSpPr>
          <p:cNvPr id="25" name="Text 23"/>
          <p:cNvSpPr/>
          <p:nvPr/>
        </p:nvSpPr>
        <p:spPr>
          <a:xfrm>
            <a:off x="301752" y="4507992"/>
            <a:ext cx="2596896" cy="219456"/>
          </a:xfrm>
          <a:prstGeom prst="rect">
            <a:avLst/>
          </a:prstGeom>
          <a:noFill/>
          <a:ln/>
        </p:spPr>
        <p:txBody>
          <a:bodyPr wrap="square" lIns="0" tIns="0" rIns="0" bIns="0" rtlCol="0" anchor="ctr"/>
          <a:lstStyle/>
          <a:p>
            <a:pPr marL="0" indent="0">
              <a:buNone/>
            </a:pPr>
            <a:r>
              <a:rPr lang="en-US" sz="800" dirty="0">
                <a:solidFill>
                  <a:srgbClr val="4B6076"/>
                </a:solidFill>
                <a:latin typeface="Calibri" pitchFamily="34" charset="0"/>
                <a:ea typeface="Calibri" pitchFamily="34" charset="-122"/>
                <a:cs typeface="Calibri" pitchFamily="34" charset="-120"/>
              </a:rPr>
              <a:t>Provisioning logs, review records, exceptions</a:t>
            </a:r>
            <a:endParaRPr lang="en-US" sz="800" dirty="0"/>
          </a:p>
        </p:txBody>
      </p:sp>
      <p:sp>
        <p:nvSpPr>
          <p:cNvPr id="26" name="Shape 24"/>
          <p:cNvSpPr/>
          <p:nvPr/>
        </p:nvSpPr>
        <p:spPr>
          <a:xfrm>
            <a:off x="3154680" y="1060704"/>
            <a:ext cx="2743200" cy="502920"/>
          </a:xfrm>
          <a:prstGeom prst="rect">
            <a:avLst/>
          </a:prstGeom>
          <a:solidFill>
            <a:srgbClr val="1565C0"/>
          </a:solidFill>
          <a:ln w="12700">
            <a:solidFill>
              <a:srgbClr val="1565C0"/>
            </a:solidFill>
            <a:prstDash val="solid"/>
          </a:ln>
          <a:effectLst>
            <a:outerShdw blurRad="63500" dist="25400" dir="8100000" algn="bl" rotWithShape="0">
              <a:srgbClr val="000000">
                <a:alpha val="12000"/>
              </a:srgbClr>
            </a:outerShdw>
          </a:effectLst>
        </p:spPr>
        <p:txBody>
          <a:bodyPr/>
          <a:lstStyle/>
          <a:p>
            <a:endParaRPr lang="en-US"/>
          </a:p>
        </p:txBody>
      </p:sp>
      <p:sp>
        <p:nvSpPr>
          <p:cNvPr id="27" name="Text 25"/>
          <p:cNvSpPr/>
          <p:nvPr/>
        </p:nvSpPr>
        <p:spPr>
          <a:xfrm>
            <a:off x="3246120" y="1060704"/>
            <a:ext cx="2560320" cy="2743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IdP</a:t>
            </a:r>
            <a:endParaRPr lang="en-US" sz="1800" dirty="0"/>
          </a:p>
        </p:txBody>
      </p:sp>
      <p:sp>
        <p:nvSpPr>
          <p:cNvPr id="28" name="Text 26"/>
          <p:cNvSpPr/>
          <p:nvPr/>
        </p:nvSpPr>
        <p:spPr>
          <a:xfrm>
            <a:off x="3246120" y="1335024"/>
            <a:ext cx="2560320" cy="201168"/>
          </a:xfrm>
          <a:prstGeom prst="rect">
            <a:avLst/>
          </a:prstGeom>
          <a:noFill/>
          <a:ln/>
        </p:spPr>
        <p:txBody>
          <a:bodyPr wrap="square" lIns="0" tIns="0" rIns="0" bIns="0" rtlCol="0" anchor="ctr"/>
          <a:lstStyle/>
          <a:p>
            <a:pPr marL="0" indent="0">
              <a:buNone/>
            </a:pPr>
            <a:r>
              <a:rPr lang="en-US" sz="850" i="1" dirty="0">
                <a:solidFill>
                  <a:srgbClr val="FFFFFF"/>
                </a:solidFill>
                <a:latin typeface="Calibri" pitchFamily="34" charset="0"/>
                <a:ea typeface="Calibri" pitchFamily="34" charset="-122"/>
                <a:cs typeface="Calibri" pitchFamily="34" charset="-120"/>
              </a:rPr>
              <a:t>Identity Provider</a:t>
            </a:r>
            <a:endParaRPr lang="en-US" sz="850" dirty="0"/>
          </a:p>
        </p:txBody>
      </p:sp>
      <p:sp>
        <p:nvSpPr>
          <p:cNvPr id="29" name="Shape 27"/>
          <p:cNvSpPr/>
          <p:nvPr/>
        </p:nvSpPr>
        <p:spPr>
          <a:xfrm>
            <a:off x="3154680" y="1627632"/>
            <a:ext cx="2743200" cy="475488"/>
          </a:xfrm>
          <a:prstGeom prst="rect">
            <a:avLst/>
          </a:prstGeom>
          <a:solidFill>
            <a:srgbClr val="FFFFFF"/>
          </a:solidFill>
          <a:ln w="6350">
            <a:solidFill>
              <a:srgbClr val="C9DDE8"/>
            </a:solidFill>
            <a:prstDash val="solid"/>
          </a:ln>
        </p:spPr>
        <p:txBody>
          <a:bodyPr/>
          <a:lstStyle/>
          <a:p>
            <a:endParaRPr lang="en-US"/>
          </a:p>
        </p:txBody>
      </p:sp>
      <p:sp>
        <p:nvSpPr>
          <p:cNvPr id="30" name="Text 28"/>
          <p:cNvSpPr/>
          <p:nvPr/>
        </p:nvSpPr>
        <p:spPr>
          <a:xfrm>
            <a:off x="3227832" y="1655064"/>
            <a:ext cx="2596896" cy="182880"/>
          </a:xfrm>
          <a:prstGeom prst="rect">
            <a:avLst/>
          </a:prstGeom>
          <a:noFill/>
          <a:ln/>
        </p:spPr>
        <p:txBody>
          <a:bodyPr wrap="square" lIns="0" tIns="0" rIns="0" bIns="0" rtlCol="0" anchor="ctr"/>
          <a:lstStyle/>
          <a:p>
            <a:pPr marL="0" indent="0">
              <a:buNone/>
            </a:pPr>
            <a:r>
              <a:rPr lang="en-US" sz="850" b="1" dirty="0">
                <a:solidFill>
                  <a:srgbClr val="1565C0"/>
                </a:solidFill>
                <a:latin typeface="Calibri" pitchFamily="34" charset="0"/>
                <a:ea typeface="Calibri" pitchFamily="34" charset="-122"/>
                <a:cs typeface="Calibri" pitchFamily="34" charset="-120"/>
              </a:rPr>
              <a:t>Core Function</a:t>
            </a:r>
            <a:endParaRPr lang="en-US" sz="850" dirty="0"/>
          </a:p>
        </p:txBody>
      </p:sp>
      <p:sp>
        <p:nvSpPr>
          <p:cNvPr id="31" name="Text 29"/>
          <p:cNvSpPr/>
          <p:nvPr/>
        </p:nvSpPr>
        <p:spPr>
          <a:xfrm>
            <a:off x="3227832" y="1856232"/>
            <a:ext cx="2596896" cy="219456"/>
          </a:xfrm>
          <a:prstGeom prst="rect">
            <a:avLst/>
          </a:prstGeom>
          <a:noFill/>
          <a:ln/>
        </p:spPr>
        <p:txBody>
          <a:bodyPr wrap="square" lIns="0" tIns="0" rIns="0" bIns="0" rtlCol="0" anchor="ctr"/>
          <a:lstStyle/>
          <a:p>
            <a:pPr marL="0" indent="0">
              <a:buNone/>
            </a:pPr>
            <a:r>
              <a:rPr lang="en-US" sz="800" dirty="0">
                <a:solidFill>
                  <a:srgbClr val="4B6076"/>
                </a:solidFill>
                <a:latin typeface="Calibri" pitchFamily="34" charset="0"/>
                <a:ea typeface="Calibri" pitchFamily="34" charset="-122"/>
                <a:cs typeface="Calibri" pitchFamily="34" charset="-120"/>
              </a:rPr>
              <a:t>How users prove who they are</a:t>
            </a:r>
            <a:endParaRPr lang="en-US" sz="800" dirty="0"/>
          </a:p>
        </p:txBody>
      </p:sp>
      <p:sp>
        <p:nvSpPr>
          <p:cNvPr id="32" name="Shape 30"/>
          <p:cNvSpPr/>
          <p:nvPr/>
        </p:nvSpPr>
        <p:spPr>
          <a:xfrm>
            <a:off x="3154680" y="2157984"/>
            <a:ext cx="2743200" cy="475488"/>
          </a:xfrm>
          <a:prstGeom prst="rect">
            <a:avLst/>
          </a:prstGeom>
          <a:solidFill>
            <a:srgbClr val="F0F4F8"/>
          </a:solidFill>
          <a:ln w="6350">
            <a:solidFill>
              <a:srgbClr val="C9DDE8"/>
            </a:solidFill>
            <a:prstDash val="solid"/>
          </a:ln>
        </p:spPr>
        <p:txBody>
          <a:bodyPr/>
          <a:lstStyle/>
          <a:p>
            <a:endParaRPr lang="en-US"/>
          </a:p>
        </p:txBody>
      </p:sp>
      <p:sp>
        <p:nvSpPr>
          <p:cNvPr id="33" name="Text 31"/>
          <p:cNvSpPr/>
          <p:nvPr/>
        </p:nvSpPr>
        <p:spPr>
          <a:xfrm>
            <a:off x="3227832" y="2185416"/>
            <a:ext cx="2596896" cy="182880"/>
          </a:xfrm>
          <a:prstGeom prst="rect">
            <a:avLst/>
          </a:prstGeom>
          <a:noFill/>
          <a:ln/>
        </p:spPr>
        <p:txBody>
          <a:bodyPr wrap="square" lIns="0" tIns="0" rIns="0" bIns="0" rtlCol="0" anchor="ctr"/>
          <a:lstStyle/>
          <a:p>
            <a:pPr marL="0" indent="0">
              <a:buNone/>
            </a:pPr>
            <a:r>
              <a:rPr lang="en-US" sz="850" b="1" dirty="0">
                <a:solidFill>
                  <a:srgbClr val="1565C0"/>
                </a:solidFill>
                <a:latin typeface="Calibri" pitchFamily="34" charset="0"/>
                <a:ea typeface="Calibri" pitchFamily="34" charset="-122"/>
                <a:cs typeface="Calibri" pitchFamily="34" charset="-120"/>
              </a:rPr>
              <a:t>Authentication</a:t>
            </a:r>
            <a:endParaRPr lang="en-US" sz="850" dirty="0"/>
          </a:p>
        </p:txBody>
      </p:sp>
      <p:sp>
        <p:nvSpPr>
          <p:cNvPr id="34" name="Text 32"/>
          <p:cNvSpPr/>
          <p:nvPr/>
        </p:nvSpPr>
        <p:spPr>
          <a:xfrm>
            <a:off x="3227832" y="2386584"/>
            <a:ext cx="2596896" cy="219456"/>
          </a:xfrm>
          <a:prstGeom prst="rect">
            <a:avLst/>
          </a:prstGeom>
          <a:noFill/>
          <a:ln/>
        </p:spPr>
        <p:txBody>
          <a:bodyPr wrap="square" lIns="0" tIns="0" rIns="0" bIns="0" rtlCol="0" anchor="ctr"/>
          <a:lstStyle/>
          <a:p>
            <a:pPr marL="0" indent="0">
              <a:buNone/>
            </a:pPr>
            <a:r>
              <a:rPr lang="en-US" sz="800" dirty="0">
                <a:solidFill>
                  <a:srgbClr val="4B6076"/>
                </a:solidFill>
                <a:latin typeface="Calibri" pitchFamily="34" charset="0"/>
                <a:ea typeface="Calibri" pitchFamily="34" charset="-122"/>
                <a:cs typeface="Calibri" pitchFamily="34" charset="-120"/>
              </a:rPr>
              <a:t>Password, MFA, passwordless (FIDO2/passkey)</a:t>
            </a:r>
            <a:endParaRPr lang="en-US" sz="800" dirty="0"/>
          </a:p>
        </p:txBody>
      </p:sp>
      <p:sp>
        <p:nvSpPr>
          <p:cNvPr id="35" name="Shape 33"/>
          <p:cNvSpPr/>
          <p:nvPr/>
        </p:nvSpPr>
        <p:spPr>
          <a:xfrm>
            <a:off x="3154680" y="2688336"/>
            <a:ext cx="2743200" cy="475488"/>
          </a:xfrm>
          <a:prstGeom prst="rect">
            <a:avLst/>
          </a:prstGeom>
          <a:solidFill>
            <a:srgbClr val="FFFFFF"/>
          </a:solidFill>
          <a:ln w="6350">
            <a:solidFill>
              <a:srgbClr val="C9DDE8"/>
            </a:solidFill>
            <a:prstDash val="solid"/>
          </a:ln>
        </p:spPr>
        <p:txBody>
          <a:bodyPr/>
          <a:lstStyle/>
          <a:p>
            <a:endParaRPr lang="en-US"/>
          </a:p>
        </p:txBody>
      </p:sp>
      <p:sp>
        <p:nvSpPr>
          <p:cNvPr id="36" name="Text 34"/>
          <p:cNvSpPr/>
          <p:nvPr/>
        </p:nvSpPr>
        <p:spPr>
          <a:xfrm>
            <a:off x="3227832" y="2715768"/>
            <a:ext cx="2596896" cy="182880"/>
          </a:xfrm>
          <a:prstGeom prst="rect">
            <a:avLst/>
          </a:prstGeom>
          <a:noFill/>
          <a:ln/>
        </p:spPr>
        <p:txBody>
          <a:bodyPr wrap="square" lIns="0" tIns="0" rIns="0" bIns="0" rtlCol="0" anchor="ctr"/>
          <a:lstStyle/>
          <a:p>
            <a:pPr marL="0" indent="0">
              <a:buNone/>
            </a:pPr>
            <a:r>
              <a:rPr lang="en-US" sz="850" b="1" dirty="0">
                <a:solidFill>
                  <a:srgbClr val="1565C0"/>
                </a:solidFill>
                <a:latin typeface="Calibri" pitchFamily="34" charset="0"/>
                <a:ea typeface="Calibri" pitchFamily="34" charset="-122"/>
                <a:cs typeface="Calibri" pitchFamily="34" charset="-120"/>
              </a:rPr>
              <a:t>Token Issuance</a:t>
            </a:r>
            <a:endParaRPr lang="en-US" sz="850" dirty="0"/>
          </a:p>
        </p:txBody>
      </p:sp>
      <p:sp>
        <p:nvSpPr>
          <p:cNvPr id="37" name="Text 35"/>
          <p:cNvSpPr/>
          <p:nvPr/>
        </p:nvSpPr>
        <p:spPr>
          <a:xfrm>
            <a:off x="3227832" y="2916936"/>
            <a:ext cx="2596896" cy="219456"/>
          </a:xfrm>
          <a:prstGeom prst="rect">
            <a:avLst/>
          </a:prstGeom>
          <a:noFill/>
          <a:ln/>
        </p:spPr>
        <p:txBody>
          <a:bodyPr wrap="square" lIns="0" tIns="0" rIns="0" bIns="0" rtlCol="0" anchor="ctr"/>
          <a:lstStyle/>
          <a:p>
            <a:pPr marL="0" indent="0">
              <a:buNone/>
            </a:pPr>
            <a:r>
              <a:rPr lang="en-US" sz="800" dirty="0">
                <a:solidFill>
                  <a:srgbClr val="4B6076"/>
                </a:solidFill>
                <a:latin typeface="Calibri" pitchFamily="34" charset="0"/>
                <a:ea typeface="Calibri" pitchFamily="34" charset="-122"/>
                <a:cs typeface="Calibri" pitchFamily="34" charset="-120"/>
              </a:rPr>
              <a:t>SAML assertions, OIDC tokens, Kerberos tickets</a:t>
            </a:r>
            <a:endParaRPr lang="en-US" sz="800" dirty="0"/>
          </a:p>
        </p:txBody>
      </p:sp>
      <p:sp>
        <p:nvSpPr>
          <p:cNvPr id="38" name="Shape 36"/>
          <p:cNvSpPr/>
          <p:nvPr/>
        </p:nvSpPr>
        <p:spPr>
          <a:xfrm>
            <a:off x="3154680" y="3218688"/>
            <a:ext cx="2743200" cy="475488"/>
          </a:xfrm>
          <a:prstGeom prst="rect">
            <a:avLst/>
          </a:prstGeom>
          <a:solidFill>
            <a:srgbClr val="F0F4F8"/>
          </a:solidFill>
          <a:ln w="6350">
            <a:solidFill>
              <a:srgbClr val="C9DDE8"/>
            </a:solidFill>
            <a:prstDash val="solid"/>
          </a:ln>
        </p:spPr>
        <p:txBody>
          <a:bodyPr/>
          <a:lstStyle/>
          <a:p>
            <a:endParaRPr lang="en-US"/>
          </a:p>
        </p:txBody>
      </p:sp>
      <p:sp>
        <p:nvSpPr>
          <p:cNvPr id="39" name="Text 37"/>
          <p:cNvSpPr/>
          <p:nvPr/>
        </p:nvSpPr>
        <p:spPr>
          <a:xfrm>
            <a:off x="3227832" y="3246120"/>
            <a:ext cx="2596896" cy="182880"/>
          </a:xfrm>
          <a:prstGeom prst="rect">
            <a:avLst/>
          </a:prstGeom>
          <a:noFill/>
          <a:ln/>
        </p:spPr>
        <p:txBody>
          <a:bodyPr wrap="square" lIns="0" tIns="0" rIns="0" bIns="0" rtlCol="0" anchor="ctr"/>
          <a:lstStyle/>
          <a:p>
            <a:pPr marL="0" indent="0">
              <a:buNone/>
            </a:pPr>
            <a:r>
              <a:rPr lang="en-US" sz="850" b="1" dirty="0">
                <a:solidFill>
                  <a:srgbClr val="1565C0"/>
                </a:solidFill>
                <a:latin typeface="Calibri" pitchFamily="34" charset="0"/>
                <a:ea typeface="Calibri" pitchFamily="34" charset="-122"/>
                <a:cs typeface="Calibri" pitchFamily="34" charset="-120"/>
              </a:rPr>
              <a:t>Session Management</a:t>
            </a:r>
            <a:endParaRPr lang="en-US" sz="850" dirty="0"/>
          </a:p>
        </p:txBody>
      </p:sp>
      <p:sp>
        <p:nvSpPr>
          <p:cNvPr id="40" name="Text 38"/>
          <p:cNvSpPr/>
          <p:nvPr/>
        </p:nvSpPr>
        <p:spPr>
          <a:xfrm>
            <a:off x="3227832" y="3447288"/>
            <a:ext cx="2596896" cy="219456"/>
          </a:xfrm>
          <a:prstGeom prst="rect">
            <a:avLst/>
          </a:prstGeom>
          <a:noFill/>
          <a:ln/>
        </p:spPr>
        <p:txBody>
          <a:bodyPr wrap="square" lIns="0" tIns="0" rIns="0" bIns="0" rtlCol="0" anchor="ctr"/>
          <a:lstStyle/>
          <a:p>
            <a:pPr marL="0" indent="0">
              <a:buNone/>
            </a:pPr>
            <a:r>
              <a:rPr lang="en-US" sz="800" dirty="0">
                <a:solidFill>
                  <a:srgbClr val="4B6076"/>
                </a:solidFill>
                <a:latin typeface="Calibri" pitchFamily="34" charset="0"/>
                <a:ea typeface="Calibri" pitchFamily="34" charset="-122"/>
                <a:cs typeface="Calibri" pitchFamily="34" charset="-120"/>
              </a:rPr>
              <a:t>Login session lifecycle and logout events</a:t>
            </a:r>
            <a:endParaRPr lang="en-US" sz="800" dirty="0"/>
          </a:p>
        </p:txBody>
      </p:sp>
      <p:sp>
        <p:nvSpPr>
          <p:cNvPr id="41" name="Shape 39"/>
          <p:cNvSpPr/>
          <p:nvPr/>
        </p:nvSpPr>
        <p:spPr>
          <a:xfrm>
            <a:off x="3154680" y="3749040"/>
            <a:ext cx="2743200" cy="475488"/>
          </a:xfrm>
          <a:prstGeom prst="rect">
            <a:avLst/>
          </a:prstGeom>
          <a:solidFill>
            <a:srgbClr val="FFFFFF"/>
          </a:solidFill>
          <a:ln w="6350">
            <a:solidFill>
              <a:srgbClr val="C9DDE8"/>
            </a:solidFill>
            <a:prstDash val="solid"/>
          </a:ln>
        </p:spPr>
        <p:txBody>
          <a:bodyPr/>
          <a:lstStyle/>
          <a:p>
            <a:endParaRPr lang="en-US"/>
          </a:p>
        </p:txBody>
      </p:sp>
      <p:sp>
        <p:nvSpPr>
          <p:cNvPr id="42" name="Text 40"/>
          <p:cNvSpPr/>
          <p:nvPr/>
        </p:nvSpPr>
        <p:spPr>
          <a:xfrm>
            <a:off x="3227832" y="3776472"/>
            <a:ext cx="2596896" cy="182880"/>
          </a:xfrm>
          <a:prstGeom prst="rect">
            <a:avLst/>
          </a:prstGeom>
          <a:noFill/>
          <a:ln/>
        </p:spPr>
        <p:txBody>
          <a:bodyPr wrap="square" lIns="0" tIns="0" rIns="0" bIns="0" rtlCol="0" anchor="ctr"/>
          <a:lstStyle/>
          <a:p>
            <a:pPr marL="0" indent="0">
              <a:buNone/>
            </a:pPr>
            <a:r>
              <a:rPr lang="en-US" sz="850" b="1" dirty="0">
                <a:solidFill>
                  <a:srgbClr val="1565C0"/>
                </a:solidFill>
                <a:latin typeface="Calibri" pitchFamily="34" charset="0"/>
                <a:ea typeface="Calibri" pitchFamily="34" charset="-122"/>
                <a:cs typeface="Calibri" pitchFamily="34" charset="-120"/>
              </a:rPr>
              <a:t>Conditional Access</a:t>
            </a:r>
            <a:endParaRPr lang="en-US" sz="850" dirty="0"/>
          </a:p>
        </p:txBody>
      </p:sp>
      <p:sp>
        <p:nvSpPr>
          <p:cNvPr id="43" name="Text 41"/>
          <p:cNvSpPr/>
          <p:nvPr/>
        </p:nvSpPr>
        <p:spPr>
          <a:xfrm>
            <a:off x="3227832" y="3977640"/>
            <a:ext cx="2596896" cy="219456"/>
          </a:xfrm>
          <a:prstGeom prst="rect">
            <a:avLst/>
          </a:prstGeom>
          <a:noFill/>
          <a:ln/>
        </p:spPr>
        <p:txBody>
          <a:bodyPr wrap="square" lIns="0" tIns="0" rIns="0" bIns="0" rtlCol="0" anchor="ctr"/>
          <a:lstStyle/>
          <a:p>
            <a:pPr marL="0" indent="0">
              <a:buNone/>
            </a:pPr>
            <a:r>
              <a:rPr lang="en-US" sz="800" dirty="0">
                <a:solidFill>
                  <a:srgbClr val="4B6076"/>
                </a:solidFill>
                <a:latin typeface="Calibri" pitchFamily="34" charset="0"/>
                <a:ea typeface="Calibri" pitchFamily="34" charset="-122"/>
                <a:cs typeface="Calibri" pitchFamily="34" charset="-120"/>
              </a:rPr>
              <a:t>Context-based policies: device, risk, location</a:t>
            </a:r>
            <a:endParaRPr lang="en-US" sz="800" dirty="0"/>
          </a:p>
        </p:txBody>
      </p:sp>
      <p:sp>
        <p:nvSpPr>
          <p:cNvPr id="44" name="Shape 42"/>
          <p:cNvSpPr/>
          <p:nvPr/>
        </p:nvSpPr>
        <p:spPr>
          <a:xfrm>
            <a:off x="3154680" y="4279392"/>
            <a:ext cx="2743200" cy="475488"/>
          </a:xfrm>
          <a:prstGeom prst="rect">
            <a:avLst/>
          </a:prstGeom>
          <a:solidFill>
            <a:srgbClr val="F0F4F8"/>
          </a:solidFill>
          <a:ln w="6350">
            <a:solidFill>
              <a:srgbClr val="C9DDE8"/>
            </a:solidFill>
            <a:prstDash val="solid"/>
          </a:ln>
        </p:spPr>
        <p:txBody>
          <a:bodyPr/>
          <a:lstStyle/>
          <a:p>
            <a:endParaRPr lang="en-US"/>
          </a:p>
        </p:txBody>
      </p:sp>
      <p:sp>
        <p:nvSpPr>
          <p:cNvPr id="45" name="Text 43"/>
          <p:cNvSpPr/>
          <p:nvPr/>
        </p:nvSpPr>
        <p:spPr>
          <a:xfrm>
            <a:off x="3227832" y="4306824"/>
            <a:ext cx="2596896" cy="182880"/>
          </a:xfrm>
          <a:prstGeom prst="rect">
            <a:avLst/>
          </a:prstGeom>
          <a:noFill/>
          <a:ln/>
        </p:spPr>
        <p:txBody>
          <a:bodyPr wrap="square" lIns="0" tIns="0" rIns="0" bIns="0" rtlCol="0" anchor="ctr"/>
          <a:lstStyle/>
          <a:p>
            <a:pPr marL="0" indent="0">
              <a:buNone/>
            </a:pPr>
            <a:r>
              <a:rPr lang="en-US" sz="850" b="1" dirty="0">
                <a:solidFill>
                  <a:srgbClr val="1565C0"/>
                </a:solidFill>
                <a:latin typeface="Calibri" pitchFamily="34" charset="0"/>
                <a:ea typeface="Calibri" pitchFamily="34" charset="-122"/>
                <a:cs typeface="Calibri" pitchFamily="34" charset="-120"/>
              </a:rPr>
              <a:t>CAEP / CAE</a:t>
            </a:r>
            <a:endParaRPr lang="en-US" sz="850" dirty="0"/>
          </a:p>
        </p:txBody>
      </p:sp>
      <p:sp>
        <p:nvSpPr>
          <p:cNvPr id="46" name="Text 44"/>
          <p:cNvSpPr/>
          <p:nvPr/>
        </p:nvSpPr>
        <p:spPr>
          <a:xfrm>
            <a:off x="3227832" y="4507992"/>
            <a:ext cx="2596896" cy="219456"/>
          </a:xfrm>
          <a:prstGeom prst="rect">
            <a:avLst/>
          </a:prstGeom>
          <a:noFill/>
          <a:ln/>
        </p:spPr>
        <p:txBody>
          <a:bodyPr wrap="square" lIns="0" tIns="0" rIns="0" bIns="0" rtlCol="0" anchor="ctr"/>
          <a:lstStyle/>
          <a:p>
            <a:pPr marL="0" indent="0">
              <a:buNone/>
            </a:pPr>
            <a:r>
              <a:rPr lang="en-US" sz="800" dirty="0">
                <a:solidFill>
                  <a:srgbClr val="4B6076"/>
                </a:solidFill>
                <a:latin typeface="Calibri" pitchFamily="34" charset="0"/>
                <a:ea typeface="Calibri" pitchFamily="34" charset="-122"/>
                <a:cs typeface="Calibri" pitchFamily="34" charset="-120"/>
              </a:rPr>
              <a:t>Continuous access evaluation and revocation</a:t>
            </a:r>
            <a:endParaRPr lang="en-US" sz="800" dirty="0"/>
          </a:p>
        </p:txBody>
      </p:sp>
      <p:sp>
        <p:nvSpPr>
          <p:cNvPr id="47" name="Shape 45"/>
          <p:cNvSpPr/>
          <p:nvPr/>
        </p:nvSpPr>
        <p:spPr>
          <a:xfrm>
            <a:off x="6080760" y="1060704"/>
            <a:ext cx="2743200" cy="502920"/>
          </a:xfrm>
          <a:prstGeom prst="rect">
            <a:avLst/>
          </a:prstGeom>
          <a:solidFill>
            <a:srgbClr val="6B21A8"/>
          </a:solidFill>
          <a:ln w="12700">
            <a:solidFill>
              <a:srgbClr val="6B21A8"/>
            </a:solidFill>
            <a:prstDash val="solid"/>
          </a:ln>
          <a:effectLst>
            <a:outerShdw blurRad="63500" dist="25400" dir="8100000" algn="bl" rotWithShape="0">
              <a:srgbClr val="000000">
                <a:alpha val="12000"/>
              </a:srgbClr>
            </a:outerShdw>
          </a:effectLst>
        </p:spPr>
        <p:txBody>
          <a:bodyPr/>
          <a:lstStyle/>
          <a:p>
            <a:endParaRPr lang="en-US"/>
          </a:p>
        </p:txBody>
      </p:sp>
      <p:sp>
        <p:nvSpPr>
          <p:cNvPr id="48" name="Text 46"/>
          <p:cNvSpPr/>
          <p:nvPr/>
        </p:nvSpPr>
        <p:spPr>
          <a:xfrm>
            <a:off x="6172200" y="1060704"/>
            <a:ext cx="2560320" cy="2743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PAM</a:t>
            </a:r>
            <a:endParaRPr lang="en-US" sz="1800" dirty="0"/>
          </a:p>
        </p:txBody>
      </p:sp>
      <p:sp>
        <p:nvSpPr>
          <p:cNvPr id="49" name="Text 47"/>
          <p:cNvSpPr/>
          <p:nvPr/>
        </p:nvSpPr>
        <p:spPr>
          <a:xfrm>
            <a:off x="6172200" y="1335024"/>
            <a:ext cx="2560320" cy="201168"/>
          </a:xfrm>
          <a:prstGeom prst="rect">
            <a:avLst/>
          </a:prstGeom>
          <a:noFill/>
          <a:ln/>
        </p:spPr>
        <p:txBody>
          <a:bodyPr wrap="square" lIns="0" tIns="0" rIns="0" bIns="0" rtlCol="0" anchor="ctr"/>
          <a:lstStyle/>
          <a:p>
            <a:pPr marL="0" indent="0">
              <a:buNone/>
            </a:pPr>
            <a:r>
              <a:rPr lang="en-US" sz="850" i="1" dirty="0">
                <a:solidFill>
                  <a:srgbClr val="FFFFFF"/>
                </a:solidFill>
                <a:latin typeface="Calibri" pitchFamily="34" charset="0"/>
                <a:ea typeface="Calibri" pitchFamily="34" charset="-122"/>
                <a:cs typeface="Calibri" pitchFamily="34" charset="-120"/>
              </a:rPr>
              <a:t>Privileged Access Management</a:t>
            </a:r>
            <a:endParaRPr lang="en-US" sz="850" dirty="0"/>
          </a:p>
        </p:txBody>
      </p:sp>
      <p:sp>
        <p:nvSpPr>
          <p:cNvPr id="50" name="Shape 48"/>
          <p:cNvSpPr/>
          <p:nvPr/>
        </p:nvSpPr>
        <p:spPr>
          <a:xfrm>
            <a:off x="6080760" y="1627632"/>
            <a:ext cx="2743200" cy="475488"/>
          </a:xfrm>
          <a:prstGeom prst="rect">
            <a:avLst/>
          </a:prstGeom>
          <a:solidFill>
            <a:srgbClr val="FFFFFF"/>
          </a:solidFill>
          <a:ln w="6350">
            <a:solidFill>
              <a:srgbClr val="C9DDE8"/>
            </a:solidFill>
            <a:prstDash val="solid"/>
          </a:ln>
        </p:spPr>
        <p:txBody>
          <a:bodyPr/>
          <a:lstStyle/>
          <a:p>
            <a:endParaRPr lang="en-US"/>
          </a:p>
        </p:txBody>
      </p:sp>
      <p:sp>
        <p:nvSpPr>
          <p:cNvPr id="51" name="Text 49"/>
          <p:cNvSpPr/>
          <p:nvPr/>
        </p:nvSpPr>
        <p:spPr>
          <a:xfrm>
            <a:off x="6153912" y="1655064"/>
            <a:ext cx="2596896" cy="182880"/>
          </a:xfrm>
          <a:prstGeom prst="rect">
            <a:avLst/>
          </a:prstGeom>
          <a:noFill/>
          <a:ln/>
        </p:spPr>
        <p:txBody>
          <a:bodyPr wrap="square" lIns="0" tIns="0" rIns="0" bIns="0" rtlCol="0" anchor="ctr"/>
          <a:lstStyle/>
          <a:p>
            <a:pPr marL="0" indent="0">
              <a:buNone/>
            </a:pPr>
            <a:r>
              <a:rPr lang="en-US" sz="850" b="1" dirty="0">
                <a:solidFill>
                  <a:srgbClr val="6B21A8"/>
                </a:solidFill>
                <a:latin typeface="Calibri" pitchFamily="34" charset="0"/>
                <a:ea typeface="Calibri" pitchFamily="34" charset="-122"/>
                <a:cs typeface="Calibri" pitchFamily="34" charset="-120"/>
              </a:rPr>
              <a:t>Core Function</a:t>
            </a:r>
            <a:endParaRPr lang="en-US" sz="850" dirty="0"/>
          </a:p>
        </p:txBody>
      </p:sp>
      <p:sp>
        <p:nvSpPr>
          <p:cNvPr id="52" name="Text 50"/>
          <p:cNvSpPr/>
          <p:nvPr/>
        </p:nvSpPr>
        <p:spPr>
          <a:xfrm>
            <a:off x="6153912" y="1856232"/>
            <a:ext cx="2596896" cy="219456"/>
          </a:xfrm>
          <a:prstGeom prst="rect">
            <a:avLst/>
          </a:prstGeom>
          <a:noFill/>
          <a:ln/>
        </p:spPr>
        <p:txBody>
          <a:bodyPr wrap="square" lIns="0" tIns="0" rIns="0" bIns="0" rtlCol="0" anchor="ctr"/>
          <a:lstStyle/>
          <a:p>
            <a:pPr marL="0" indent="0">
              <a:buNone/>
            </a:pPr>
            <a:r>
              <a:rPr lang="en-US" sz="800" dirty="0">
                <a:solidFill>
                  <a:srgbClr val="4B6076"/>
                </a:solidFill>
                <a:latin typeface="Calibri" pitchFamily="34" charset="0"/>
                <a:ea typeface="Calibri" pitchFamily="34" charset="-122"/>
                <a:cs typeface="Calibri" pitchFamily="34" charset="-120"/>
              </a:rPr>
              <a:t>How privileged access is controlled and recorded</a:t>
            </a:r>
            <a:endParaRPr lang="en-US" sz="800" dirty="0"/>
          </a:p>
        </p:txBody>
      </p:sp>
      <p:sp>
        <p:nvSpPr>
          <p:cNvPr id="53" name="Shape 51"/>
          <p:cNvSpPr/>
          <p:nvPr/>
        </p:nvSpPr>
        <p:spPr>
          <a:xfrm>
            <a:off x="6080760" y="2157984"/>
            <a:ext cx="2743200" cy="475488"/>
          </a:xfrm>
          <a:prstGeom prst="rect">
            <a:avLst/>
          </a:prstGeom>
          <a:solidFill>
            <a:srgbClr val="F0F4F8"/>
          </a:solidFill>
          <a:ln w="6350">
            <a:solidFill>
              <a:srgbClr val="C9DDE8"/>
            </a:solidFill>
            <a:prstDash val="solid"/>
          </a:ln>
        </p:spPr>
        <p:txBody>
          <a:bodyPr/>
          <a:lstStyle/>
          <a:p>
            <a:endParaRPr lang="en-US"/>
          </a:p>
        </p:txBody>
      </p:sp>
      <p:sp>
        <p:nvSpPr>
          <p:cNvPr id="54" name="Text 52"/>
          <p:cNvSpPr/>
          <p:nvPr/>
        </p:nvSpPr>
        <p:spPr>
          <a:xfrm>
            <a:off x="6153912" y="2185416"/>
            <a:ext cx="2596896" cy="182880"/>
          </a:xfrm>
          <a:prstGeom prst="rect">
            <a:avLst/>
          </a:prstGeom>
          <a:noFill/>
          <a:ln/>
        </p:spPr>
        <p:txBody>
          <a:bodyPr wrap="square" lIns="0" tIns="0" rIns="0" bIns="0" rtlCol="0" anchor="ctr"/>
          <a:lstStyle/>
          <a:p>
            <a:pPr marL="0" indent="0">
              <a:buNone/>
            </a:pPr>
            <a:r>
              <a:rPr lang="en-US" sz="850" b="1" dirty="0">
                <a:solidFill>
                  <a:srgbClr val="6B21A8"/>
                </a:solidFill>
                <a:latin typeface="Calibri" pitchFamily="34" charset="0"/>
                <a:ea typeface="Calibri" pitchFamily="34" charset="-122"/>
                <a:cs typeface="Calibri" pitchFamily="34" charset="-120"/>
              </a:rPr>
              <a:t>Credential Vaulting</a:t>
            </a:r>
            <a:endParaRPr lang="en-US" sz="850" dirty="0"/>
          </a:p>
        </p:txBody>
      </p:sp>
      <p:sp>
        <p:nvSpPr>
          <p:cNvPr id="55" name="Text 53"/>
          <p:cNvSpPr/>
          <p:nvPr/>
        </p:nvSpPr>
        <p:spPr>
          <a:xfrm>
            <a:off x="6153912" y="2386584"/>
            <a:ext cx="2596896" cy="219456"/>
          </a:xfrm>
          <a:prstGeom prst="rect">
            <a:avLst/>
          </a:prstGeom>
          <a:noFill/>
          <a:ln/>
        </p:spPr>
        <p:txBody>
          <a:bodyPr wrap="square" lIns="0" tIns="0" rIns="0" bIns="0" rtlCol="0" anchor="ctr"/>
          <a:lstStyle/>
          <a:p>
            <a:pPr marL="0" indent="0">
              <a:buNone/>
            </a:pPr>
            <a:r>
              <a:rPr lang="en-US" sz="800" dirty="0">
                <a:solidFill>
                  <a:srgbClr val="4B6076"/>
                </a:solidFill>
                <a:latin typeface="Calibri" pitchFamily="34" charset="0"/>
                <a:ea typeface="Calibri" pitchFamily="34" charset="-122"/>
                <a:cs typeface="Calibri" pitchFamily="34" charset="-120"/>
              </a:rPr>
              <a:t>Secrets stored, rotated, checked out per session</a:t>
            </a:r>
            <a:endParaRPr lang="en-US" sz="800" dirty="0"/>
          </a:p>
        </p:txBody>
      </p:sp>
      <p:sp>
        <p:nvSpPr>
          <p:cNvPr id="56" name="Shape 54"/>
          <p:cNvSpPr/>
          <p:nvPr/>
        </p:nvSpPr>
        <p:spPr>
          <a:xfrm>
            <a:off x="6080760" y="2688336"/>
            <a:ext cx="2743200" cy="475488"/>
          </a:xfrm>
          <a:prstGeom prst="rect">
            <a:avLst/>
          </a:prstGeom>
          <a:solidFill>
            <a:srgbClr val="FFFFFF"/>
          </a:solidFill>
          <a:ln w="6350">
            <a:solidFill>
              <a:srgbClr val="C9DDE8"/>
            </a:solidFill>
            <a:prstDash val="solid"/>
          </a:ln>
        </p:spPr>
        <p:txBody>
          <a:bodyPr/>
          <a:lstStyle/>
          <a:p>
            <a:endParaRPr lang="en-US"/>
          </a:p>
        </p:txBody>
      </p:sp>
      <p:sp>
        <p:nvSpPr>
          <p:cNvPr id="57" name="Text 55"/>
          <p:cNvSpPr/>
          <p:nvPr/>
        </p:nvSpPr>
        <p:spPr>
          <a:xfrm>
            <a:off x="6153912" y="2715768"/>
            <a:ext cx="2596896" cy="182880"/>
          </a:xfrm>
          <a:prstGeom prst="rect">
            <a:avLst/>
          </a:prstGeom>
          <a:noFill/>
          <a:ln/>
        </p:spPr>
        <p:txBody>
          <a:bodyPr wrap="square" lIns="0" tIns="0" rIns="0" bIns="0" rtlCol="0" anchor="ctr"/>
          <a:lstStyle/>
          <a:p>
            <a:pPr marL="0" indent="0">
              <a:buNone/>
            </a:pPr>
            <a:r>
              <a:rPr lang="en-US" sz="850" b="1" dirty="0">
                <a:solidFill>
                  <a:srgbClr val="6B21A8"/>
                </a:solidFill>
                <a:latin typeface="Calibri" pitchFamily="34" charset="0"/>
                <a:ea typeface="Calibri" pitchFamily="34" charset="-122"/>
                <a:cs typeface="Calibri" pitchFamily="34" charset="-120"/>
              </a:rPr>
              <a:t>Session Recording</a:t>
            </a:r>
            <a:endParaRPr lang="en-US" sz="850" dirty="0"/>
          </a:p>
        </p:txBody>
      </p:sp>
      <p:sp>
        <p:nvSpPr>
          <p:cNvPr id="58" name="Text 56"/>
          <p:cNvSpPr/>
          <p:nvPr/>
        </p:nvSpPr>
        <p:spPr>
          <a:xfrm>
            <a:off x="6153912" y="2916936"/>
            <a:ext cx="2596896" cy="219456"/>
          </a:xfrm>
          <a:prstGeom prst="rect">
            <a:avLst/>
          </a:prstGeom>
          <a:noFill/>
          <a:ln/>
        </p:spPr>
        <p:txBody>
          <a:bodyPr wrap="square" lIns="0" tIns="0" rIns="0" bIns="0" rtlCol="0" anchor="ctr"/>
          <a:lstStyle/>
          <a:p>
            <a:pPr marL="0" indent="0">
              <a:buNone/>
            </a:pPr>
            <a:r>
              <a:rPr lang="en-US" sz="800" dirty="0">
                <a:solidFill>
                  <a:srgbClr val="4B6076"/>
                </a:solidFill>
                <a:latin typeface="Calibri" pitchFamily="34" charset="0"/>
                <a:ea typeface="Calibri" pitchFamily="34" charset="-122"/>
                <a:cs typeface="Calibri" pitchFamily="34" charset="-120"/>
              </a:rPr>
              <a:t>Full privileged session audit trail</a:t>
            </a:r>
            <a:endParaRPr lang="en-US" sz="800" dirty="0"/>
          </a:p>
        </p:txBody>
      </p:sp>
      <p:sp>
        <p:nvSpPr>
          <p:cNvPr id="59" name="Shape 57"/>
          <p:cNvSpPr/>
          <p:nvPr/>
        </p:nvSpPr>
        <p:spPr>
          <a:xfrm>
            <a:off x="6080760" y="3218688"/>
            <a:ext cx="2743200" cy="475488"/>
          </a:xfrm>
          <a:prstGeom prst="rect">
            <a:avLst/>
          </a:prstGeom>
          <a:solidFill>
            <a:srgbClr val="F0F4F8"/>
          </a:solidFill>
          <a:ln w="6350">
            <a:solidFill>
              <a:srgbClr val="C9DDE8"/>
            </a:solidFill>
            <a:prstDash val="solid"/>
          </a:ln>
        </p:spPr>
        <p:txBody>
          <a:bodyPr/>
          <a:lstStyle/>
          <a:p>
            <a:endParaRPr lang="en-US"/>
          </a:p>
        </p:txBody>
      </p:sp>
      <p:sp>
        <p:nvSpPr>
          <p:cNvPr id="60" name="Text 58"/>
          <p:cNvSpPr/>
          <p:nvPr/>
        </p:nvSpPr>
        <p:spPr>
          <a:xfrm>
            <a:off x="6153912" y="3246120"/>
            <a:ext cx="2596896" cy="182880"/>
          </a:xfrm>
          <a:prstGeom prst="rect">
            <a:avLst/>
          </a:prstGeom>
          <a:noFill/>
          <a:ln/>
        </p:spPr>
        <p:txBody>
          <a:bodyPr wrap="square" lIns="0" tIns="0" rIns="0" bIns="0" rtlCol="0" anchor="ctr"/>
          <a:lstStyle/>
          <a:p>
            <a:pPr marL="0" indent="0">
              <a:buNone/>
            </a:pPr>
            <a:r>
              <a:rPr lang="en-US" sz="850" b="1" dirty="0">
                <a:solidFill>
                  <a:srgbClr val="6B21A8"/>
                </a:solidFill>
                <a:latin typeface="Calibri" pitchFamily="34" charset="0"/>
                <a:ea typeface="Calibri" pitchFamily="34" charset="-122"/>
                <a:cs typeface="Calibri" pitchFamily="34" charset="-120"/>
              </a:rPr>
              <a:t>Just-In-Time (JIT)</a:t>
            </a:r>
            <a:endParaRPr lang="en-US" sz="850" dirty="0"/>
          </a:p>
        </p:txBody>
      </p:sp>
      <p:sp>
        <p:nvSpPr>
          <p:cNvPr id="61" name="Text 59"/>
          <p:cNvSpPr/>
          <p:nvPr/>
        </p:nvSpPr>
        <p:spPr>
          <a:xfrm>
            <a:off x="6153912" y="3447288"/>
            <a:ext cx="2596896" cy="219456"/>
          </a:xfrm>
          <a:prstGeom prst="rect">
            <a:avLst/>
          </a:prstGeom>
          <a:noFill/>
          <a:ln/>
        </p:spPr>
        <p:txBody>
          <a:bodyPr wrap="square" lIns="0" tIns="0" rIns="0" bIns="0" rtlCol="0" anchor="ctr"/>
          <a:lstStyle/>
          <a:p>
            <a:pPr marL="0" indent="0">
              <a:buNone/>
            </a:pPr>
            <a:r>
              <a:rPr lang="en-US" sz="800" dirty="0">
                <a:solidFill>
                  <a:srgbClr val="4B6076"/>
                </a:solidFill>
                <a:latin typeface="Calibri" pitchFamily="34" charset="0"/>
                <a:ea typeface="Calibri" pitchFamily="34" charset="-122"/>
                <a:cs typeface="Calibri" pitchFamily="34" charset="-120"/>
              </a:rPr>
              <a:t>Temporary privilege elevation; automatic expiry</a:t>
            </a:r>
            <a:endParaRPr lang="en-US" sz="800" dirty="0"/>
          </a:p>
        </p:txBody>
      </p:sp>
      <p:sp>
        <p:nvSpPr>
          <p:cNvPr id="62" name="Shape 60"/>
          <p:cNvSpPr/>
          <p:nvPr/>
        </p:nvSpPr>
        <p:spPr>
          <a:xfrm>
            <a:off x="6080760" y="3749040"/>
            <a:ext cx="2743200" cy="475488"/>
          </a:xfrm>
          <a:prstGeom prst="rect">
            <a:avLst/>
          </a:prstGeom>
          <a:solidFill>
            <a:srgbClr val="FFFFFF"/>
          </a:solidFill>
          <a:ln w="6350">
            <a:solidFill>
              <a:srgbClr val="C9DDE8"/>
            </a:solidFill>
            <a:prstDash val="solid"/>
          </a:ln>
        </p:spPr>
        <p:txBody>
          <a:bodyPr/>
          <a:lstStyle/>
          <a:p>
            <a:endParaRPr lang="en-US"/>
          </a:p>
        </p:txBody>
      </p:sp>
      <p:sp>
        <p:nvSpPr>
          <p:cNvPr id="63" name="Text 61"/>
          <p:cNvSpPr/>
          <p:nvPr/>
        </p:nvSpPr>
        <p:spPr>
          <a:xfrm>
            <a:off x="6153912" y="3776472"/>
            <a:ext cx="2596896" cy="182880"/>
          </a:xfrm>
          <a:prstGeom prst="rect">
            <a:avLst/>
          </a:prstGeom>
          <a:noFill/>
          <a:ln/>
        </p:spPr>
        <p:txBody>
          <a:bodyPr wrap="square" lIns="0" tIns="0" rIns="0" bIns="0" rtlCol="0" anchor="ctr"/>
          <a:lstStyle/>
          <a:p>
            <a:pPr marL="0" indent="0">
              <a:buNone/>
            </a:pPr>
            <a:r>
              <a:rPr lang="en-US" sz="850" b="1" dirty="0">
                <a:solidFill>
                  <a:srgbClr val="6B21A8"/>
                </a:solidFill>
                <a:latin typeface="Calibri" pitchFamily="34" charset="0"/>
                <a:ea typeface="Calibri" pitchFamily="34" charset="-122"/>
                <a:cs typeface="Calibri" pitchFamily="34" charset="-120"/>
              </a:rPr>
              <a:t>Zero Standing Priv.</a:t>
            </a:r>
            <a:endParaRPr lang="en-US" sz="850" dirty="0"/>
          </a:p>
        </p:txBody>
      </p:sp>
      <p:sp>
        <p:nvSpPr>
          <p:cNvPr id="64" name="Text 62"/>
          <p:cNvSpPr/>
          <p:nvPr/>
        </p:nvSpPr>
        <p:spPr>
          <a:xfrm>
            <a:off x="6153912" y="3977640"/>
            <a:ext cx="2596896" cy="219456"/>
          </a:xfrm>
          <a:prstGeom prst="rect">
            <a:avLst/>
          </a:prstGeom>
          <a:noFill/>
          <a:ln/>
        </p:spPr>
        <p:txBody>
          <a:bodyPr wrap="square" lIns="0" tIns="0" rIns="0" bIns="0" rtlCol="0" anchor="ctr"/>
          <a:lstStyle/>
          <a:p>
            <a:pPr marL="0" indent="0">
              <a:buNone/>
            </a:pPr>
            <a:r>
              <a:rPr lang="en-US" sz="800" dirty="0">
                <a:solidFill>
                  <a:srgbClr val="4B6076"/>
                </a:solidFill>
                <a:latin typeface="Calibri" pitchFamily="34" charset="0"/>
                <a:ea typeface="Calibri" pitchFamily="34" charset="-122"/>
                <a:cs typeface="Calibri" pitchFamily="34" charset="-120"/>
              </a:rPr>
              <a:t>No persistent admin accounts; all time-bound</a:t>
            </a:r>
            <a:endParaRPr lang="en-US" sz="800" dirty="0"/>
          </a:p>
        </p:txBody>
      </p:sp>
      <p:sp>
        <p:nvSpPr>
          <p:cNvPr id="65" name="Shape 63"/>
          <p:cNvSpPr/>
          <p:nvPr/>
        </p:nvSpPr>
        <p:spPr>
          <a:xfrm>
            <a:off x="6080760" y="4279392"/>
            <a:ext cx="2743200" cy="475488"/>
          </a:xfrm>
          <a:prstGeom prst="rect">
            <a:avLst/>
          </a:prstGeom>
          <a:solidFill>
            <a:srgbClr val="F0F4F8"/>
          </a:solidFill>
          <a:ln w="6350">
            <a:solidFill>
              <a:srgbClr val="C9DDE8"/>
            </a:solidFill>
            <a:prstDash val="solid"/>
          </a:ln>
        </p:spPr>
        <p:txBody>
          <a:bodyPr/>
          <a:lstStyle/>
          <a:p>
            <a:endParaRPr lang="en-US"/>
          </a:p>
        </p:txBody>
      </p:sp>
      <p:sp>
        <p:nvSpPr>
          <p:cNvPr id="66" name="Text 64"/>
          <p:cNvSpPr/>
          <p:nvPr/>
        </p:nvSpPr>
        <p:spPr>
          <a:xfrm>
            <a:off x="6153912" y="4306824"/>
            <a:ext cx="2596896" cy="182880"/>
          </a:xfrm>
          <a:prstGeom prst="rect">
            <a:avLst/>
          </a:prstGeom>
          <a:noFill/>
          <a:ln/>
        </p:spPr>
        <p:txBody>
          <a:bodyPr wrap="square" lIns="0" tIns="0" rIns="0" bIns="0" rtlCol="0" anchor="ctr"/>
          <a:lstStyle/>
          <a:p>
            <a:pPr marL="0" indent="0">
              <a:buNone/>
            </a:pPr>
            <a:r>
              <a:rPr lang="en-US" sz="850" b="1" dirty="0">
                <a:solidFill>
                  <a:srgbClr val="6B21A8"/>
                </a:solidFill>
                <a:latin typeface="Calibri" pitchFamily="34" charset="0"/>
                <a:ea typeface="Calibri" pitchFamily="34" charset="-122"/>
                <a:cs typeface="Calibri" pitchFamily="34" charset="-120"/>
              </a:rPr>
              <a:t>Break-Glass</a:t>
            </a:r>
            <a:endParaRPr lang="en-US" sz="850" dirty="0"/>
          </a:p>
        </p:txBody>
      </p:sp>
      <p:sp>
        <p:nvSpPr>
          <p:cNvPr id="67" name="Text 65"/>
          <p:cNvSpPr/>
          <p:nvPr/>
        </p:nvSpPr>
        <p:spPr>
          <a:xfrm>
            <a:off x="6153912" y="4507992"/>
            <a:ext cx="2596896" cy="219456"/>
          </a:xfrm>
          <a:prstGeom prst="rect">
            <a:avLst/>
          </a:prstGeom>
          <a:noFill/>
          <a:ln/>
        </p:spPr>
        <p:txBody>
          <a:bodyPr wrap="square" lIns="0" tIns="0" rIns="0" bIns="0" rtlCol="0" anchor="ctr"/>
          <a:lstStyle/>
          <a:p>
            <a:pPr marL="0" indent="0">
              <a:buNone/>
            </a:pPr>
            <a:r>
              <a:rPr lang="en-US" sz="800" dirty="0">
                <a:solidFill>
                  <a:srgbClr val="4B6076"/>
                </a:solidFill>
                <a:latin typeface="Calibri" pitchFamily="34" charset="0"/>
                <a:ea typeface="Calibri" pitchFamily="34" charset="-122"/>
                <a:cs typeface="Calibri" pitchFamily="34" charset="-120"/>
              </a:rPr>
              <a:t>Emergency access with mandatory alerting &amp; review</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3C5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D7D46"/>
          </a:solidFill>
          <a:ln w="12700">
            <a:solidFill>
              <a:srgbClr val="2D7D46"/>
            </a:solidFill>
            <a:prstDash val="solid"/>
          </a:ln>
        </p:spPr>
        <p:txBody>
          <a:bodyPr/>
          <a:lstStyle/>
          <a:p>
            <a:endParaRPr lang="en-US"/>
          </a:p>
        </p:txBody>
      </p:sp>
      <p:sp>
        <p:nvSpPr>
          <p:cNvPr id="3" name="Text 1"/>
          <p:cNvSpPr/>
          <p:nvPr/>
        </p:nvSpPr>
        <p:spPr>
          <a:xfrm>
            <a:off x="6858000" y="731520"/>
            <a:ext cx="2103120" cy="2560320"/>
          </a:xfrm>
          <a:prstGeom prst="rect">
            <a:avLst/>
          </a:prstGeom>
          <a:noFill/>
          <a:ln/>
        </p:spPr>
        <p:txBody>
          <a:bodyPr wrap="square" lIns="0" tIns="0" rIns="0" bIns="0" rtlCol="0" anchor="ctr"/>
          <a:lstStyle/>
          <a:p>
            <a:pPr marL="0" indent="0" algn="r">
              <a:buNone/>
            </a:pPr>
            <a:r>
              <a:rPr lang="en-US" sz="14000" b="1" dirty="0">
                <a:solidFill>
                  <a:srgbClr val="1A4A30"/>
                </a:solidFill>
                <a:latin typeface="Calibri" pitchFamily="34" charset="0"/>
                <a:ea typeface="Calibri" pitchFamily="34" charset="-122"/>
                <a:cs typeface="Calibri" pitchFamily="34" charset="-120"/>
              </a:rPr>
              <a:t>02</a:t>
            </a:r>
            <a:endParaRPr lang="en-US" sz="14000" dirty="0"/>
          </a:p>
        </p:txBody>
      </p:sp>
      <p:sp>
        <p:nvSpPr>
          <p:cNvPr id="4" name="Text 2"/>
          <p:cNvSpPr/>
          <p:nvPr/>
        </p:nvSpPr>
        <p:spPr>
          <a:xfrm>
            <a:off x="320040" y="1600200"/>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IGA Core Concepts</a:t>
            </a:r>
            <a:endParaRPr lang="en-US" sz="3000" dirty="0"/>
          </a:p>
        </p:txBody>
      </p:sp>
      <p:sp>
        <p:nvSpPr>
          <p:cNvPr id="5" name="Shape 3"/>
          <p:cNvSpPr/>
          <p:nvPr/>
        </p:nvSpPr>
        <p:spPr>
          <a:xfrm>
            <a:off x="320040" y="2468880"/>
            <a:ext cx="6217920" cy="0"/>
          </a:xfrm>
          <a:prstGeom prst="line">
            <a:avLst/>
          </a:prstGeom>
          <a:noFill/>
          <a:ln w="6350">
            <a:solidFill>
              <a:srgbClr val="8BAAC2"/>
            </a:solidFill>
            <a:prstDash val="solid"/>
          </a:ln>
        </p:spPr>
        <p:txBody>
          <a:bodyPr/>
          <a:lstStyle/>
          <a:p>
            <a:endParaRPr lang="en-US"/>
          </a:p>
        </p:txBody>
      </p:sp>
      <p:sp>
        <p:nvSpPr>
          <p:cNvPr id="6" name="Text 4"/>
          <p:cNvSpPr/>
          <p:nvPr/>
        </p:nvSpPr>
        <p:spPr>
          <a:xfrm>
            <a:off x="320040" y="2542032"/>
            <a:ext cx="6400800" cy="457200"/>
          </a:xfrm>
          <a:prstGeom prst="rect">
            <a:avLst/>
          </a:prstGeom>
          <a:noFill/>
          <a:ln/>
        </p:spPr>
        <p:txBody>
          <a:bodyPr wrap="square" lIns="0" tIns="0" rIns="0" bIns="0" rtlCol="0" anchor="ctr"/>
          <a:lstStyle/>
          <a:p>
            <a:pPr marL="0" indent="0">
              <a:buNone/>
            </a:pPr>
            <a:r>
              <a:rPr lang="en-US" sz="1400" i="1" dirty="0">
                <a:solidFill>
                  <a:srgbClr val="C9DDE8"/>
                </a:solidFill>
                <a:latin typeface="Calibri" pitchFamily="34" charset="0"/>
                <a:ea typeface="Calibri" pitchFamily="34" charset="-122"/>
                <a:cs typeface="Calibri" pitchFamily="34" charset="-120"/>
              </a:rPr>
              <a:t>Joiner-Mover-Leaver lifecycle and platform architecture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C5E"/>
          </a:solidFill>
          <a:ln w="12700">
            <a:solidFill>
              <a:srgbClr val="1A3C5E"/>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Identity Lifecycle: Joiner, Mover, Leaver (JML)</a:t>
            </a:r>
            <a:endParaRPr lang="en-US" sz="1900" dirty="0"/>
          </a:p>
        </p:txBody>
      </p:sp>
      <p:sp>
        <p:nvSpPr>
          <p:cNvPr id="4" name="Shape 2"/>
          <p:cNvSpPr/>
          <p:nvPr/>
        </p:nvSpPr>
        <p:spPr>
          <a:xfrm>
            <a:off x="182880" y="804672"/>
            <a:ext cx="2788920" cy="4160520"/>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5" name="Shape 3"/>
          <p:cNvSpPr/>
          <p:nvPr/>
        </p:nvSpPr>
        <p:spPr>
          <a:xfrm>
            <a:off x="182880" y="804672"/>
            <a:ext cx="2788920" cy="621792"/>
          </a:xfrm>
          <a:prstGeom prst="rect">
            <a:avLst/>
          </a:prstGeom>
          <a:solidFill>
            <a:srgbClr val="0D9448"/>
          </a:solidFill>
          <a:ln w="12700">
            <a:solidFill>
              <a:srgbClr val="0D9448"/>
            </a:solidFill>
            <a:prstDash val="solid"/>
          </a:ln>
        </p:spPr>
        <p:txBody>
          <a:bodyPr/>
          <a:lstStyle/>
          <a:p>
            <a:endParaRPr lang="en-US"/>
          </a:p>
        </p:txBody>
      </p:sp>
      <p:sp>
        <p:nvSpPr>
          <p:cNvPr id="6" name="Text 4"/>
          <p:cNvSpPr/>
          <p:nvPr/>
        </p:nvSpPr>
        <p:spPr>
          <a:xfrm>
            <a:off x="256032" y="822960"/>
            <a:ext cx="41148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p:nvPr/>
        </p:nvSpPr>
        <p:spPr>
          <a:xfrm>
            <a:off x="685800" y="822960"/>
            <a:ext cx="219456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JOINER</a:t>
            </a:r>
            <a:endParaRPr lang="en-US" sz="1400" dirty="0"/>
          </a:p>
        </p:txBody>
      </p:sp>
      <p:sp>
        <p:nvSpPr>
          <p:cNvPr id="8" name="Text 6"/>
          <p:cNvSpPr/>
          <p:nvPr/>
        </p:nvSpPr>
        <p:spPr>
          <a:xfrm>
            <a:off x="274320" y="1463040"/>
            <a:ext cx="2606040" cy="384048"/>
          </a:xfrm>
          <a:prstGeom prst="rect">
            <a:avLst/>
          </a:prstGeom>
          <a:noFill/>
          <a:ln/>
        </p:spPr>
        <p:txBody>
          <a:bodyPr wrap="square" lIns="0" tIns="0" rIns="0" bIns="0" rtlCol="0" anchor="ctr"/>
          <a:lstStyle/>
          <a:p>
            <a:pPr marL="0" indent="0">
              <a:buNone/>
            </a:pPr>
            <a:r>
              <a:rPr lang="en-US" sz="950" i="1" dirty="0">
                <a:solidFill>
                  <a:srgbClr val="4B6076"/>
                </a:solidFill>
                <a:latin typeface="Calibri" pitchFamily="34" charset="0"/>
                <a:ea typeface="Calibri" pitchFamily="34" charset="-122"/>
                <a:cs typeface="Calibri" pitchFamily="34" charset="-120"/>
              </a:rPr>
              <a:t>New hire, contractor, or service account created</a:t>
            </a:r>
            <a:endParaRPr lang="en-US" sz="950" dirty="0"/>
          </a:p>
        </p:txBody>
      </p:sp>
      <p:sp>
        <p:nvSpPr>
          <p:cNvPr id="9" name="Shape 7"/>
          <p:cNvSpPr/>
          <p:nvPr/>
        </p:nvSpPr>
        <p:spPr>
          <a:xfrm>
            <a:off x="274320" y="1883664"/>
            <a:ext cx="2606040" cy="0"/>
          </a:xfrm>
          <a:prstGeom prst="line">
            <a:avLst/>
          </a:prstGeom>
          <a:noFill/>
          <a:ln w="6350">
            <a:solidFill>
              <a:srgbClr val="C9DDE8"/>
            </a:solidFill>
            <a:prstDash val="solid"/>
          </a:ln>
        </p:spPr>
        <p:txBody>
          <a:bodyPr/>
          <a:lstStyle/>
          <a:p>
            <a:endParaRPr lang="en-US"/>
          </a:p>
        </p:txBody>
      </p:sp>
      <p:sp>
        <p:nvSpPr>
          <p:cNvPr id="10" name="Text 8"/>
          <p:cNvSpPr/>
          <p:nvPr/>
        </p:nvSpPr>
        <p:spPr>
          <a:xfrm>
            <a:off x="274320" y="1938528"/>
            <a:ext cx="2606040" cy="438912"/>
          </a:xfrm>
          <a:prstGeom prst="rect">
            <a:avLst/>
          </a:prstGeom>
          <a:noFill/>
          <a:ln/>
        </p:spPr>
        <p:txBody>
          <a:bodyPr wrap="square" lIns="0" tIns="0" rIns="0" bIns="0" rtlCol="0" anchor="ctr"/>
          <a:lstStyle/>
          <a:p>
            <a:pPr marL="0" indent="0">
              <a:buNone/>
            </a:pPr>
            <a:r>
              <a:rPr lang="en-US" sz="900" b="1" dirty="0">
                <a:solidFill>
                  <a:srgbClr val="0D9448"/>
                </a:solidFill>
                <a:latin typeface="Calibri" pitchFamily="34" charset="0"/>
                <a:ea typeface="Calibri" pitchFamily="34" charset="-122"/>
                <a:cs typeface="Calibri" pitchFamily="34" charset="-120"/>
              </a:rPr>
              <a:t>1. </a:t>
            </a:r>
            <a:r>
              <a:rPr lang="en-US" sz="900" dirty="0">
                <a:solidFill>
                  <a:srgbClr val="1A2E44"/>
                </a:solidFill>
                <a:latin typeface="Calibri" pitchFamily="34" charset="0"/>
                <a:ea typeface="Calibri" pitchFamily="34" charset="-122"/>
                <a:cs typeface="Calibri" pitchFamily="34" charset="-120"/>
              </a:rPr>
              <a:t>HRMS fires Joiner event (new hire record committed)</a:t>
            </a:r>
            <a:endParaRPr lang="en-US" sz="900" dirty="0"/>
          </a:p>
        </p:txBody>
      </p:sp>
      <p:sp>
        <p:nvSpPr>
          <p:cNvPr id="11" name="Text 9"/>
          <p:cNvSpPr/>
          <p:nvPr/>
        </p:nvSpPr>
        <p:spPr>
          <a:xfrm>
            <a:off x="274320" y="2414016"/>
            <a:ext cx="2606040" cy="438912"/>
          </a:xfrm>
          <a:prstGeom prst="rect">
            <a:avLst/>
          </a:prstGeom>
          <a:noFill/>
          <a:ln/>
        </p:spPr>
        <p:txBody>
          <a:bodyPr wrap="square" lIns="0" tIns="0" rIns="0" bIns="0" rtlCol="0" anchor="ctr"/>
          <a:lstStyle/>
          <a:p>
            <a:pPr marL="0" indent="0">
              <a:buNone/>
            </a:pPr>
            <a:r>
              <a:rPr lang="en-US" sz="900" b="1" dirty="0">
                <a:solidFill>
                  <a:srgbClr val="0D9448"/>
                </a:solidFill>
                <a:latin typeface="Calibri" pitchFamily="34" charset="0"/>
                <a:ea typeface="Calibri" pitchFamily="34" charset="-122"/>
                <a:cs typeface="Calibri" pitchFamily="34" charset="-120"/>
              </a:rPr>
              <a:t>2. </a:t>
            </a:r>
            <a:r>
              <a:rPr lang="en-US" sz="900" dirty="0">
                <a:solidFill>
                  <a:srgbClr val="1A2E44"/>
                </a:solidFill>
                <a:latin typeface="Calibri" pitchFamily="34" charset="0"/>
                <a:ea typeface="Calibri" pitchFamily="34" charset="-122"/>
                <a:cs typeface="Calibri" pitchFamily="34" charset="-120"/>
              </a:rPr>
              <a:t>IGA reads HR attributes: job code, dept, location, type</a:t>
            </a:r>
            <a:endParaRPr lang="en-US" sz="900" dirty="0"/>
          </a:p>
        </p:txBody>
      </p:sp>
      <p:sp>
        <p:nvSpPr>
          <p:cNvPr id="12" name="Text 10"/>
          <p:cNvSpPr/>
          <p:nvPr/>
        </p:nvSpPr>
        <p:spPr>
          <a:xfrm>
            <a:off x="274320" y="2889504"/>
            <a:ext cx="2606040" cy="438912"/>
          </a:xfrm>
          <a:prstGeom prst="rect">
            <a:avLst/>
          </a:prstGeom>
          <a:noFill/>
          <a:ln/>
        </p:spPr>
        <p:txBody>
          <a:bodyPr wrap="square" lIns="0" tIns="0" rIns="0" bIns="0" rtlCol="0" anchor="ctr"/>
          <a:lstStyle/>
          <a:p>
            <a:pPr marL="0" indent="0">
              <a:buNone/>
            </a:pPr>
            <a:r>
              <a:rPr lang="en-US" sz="900" b="1" dirty="0">
                <a:solidFill>
                  <a:srgbClr val="0D9448"/>
                </a:solidFill>
                <a:latin typeface="Calibri" pitchFamily="34" charset="0"/>
                <a:ea typeface="Calibri" pitchFamily="34" charset="-122"/>
                <a:cs typeface="Calibri" pitchFamily="34" charset="-120"/>
              </a:rPr>
              <a:t>3. </a:t>
            </a:r>
            <a:r>
              <a:rPr lang="en-US" sz="900" dirty="0">
                <a:solidFill>
                  <a:srgbClr val="1A2E44"/>
                </a:solidFill>
                <a:latin typeface="Calibri" pitchFamily="34" charset="0"/>
                <a:ea typeface="Calibri" pitchFamily="34" charset="-122"/>
                <a:cs typeface="Calibri" pitchFamily="34" charset="-120"/>
              </a:rPr>
              <a:t>Birthright provisioning: accounts created in AD, cloud IdP, SaaS</a:t>
            </a:r>
            <a:endParaRPr lang="en-US" sz="900" dirty="0"/>
          </a:p>
        </p:txBody>
      </p:sp>
      <p:sp>
        <p:nvSpPr>
          <p:cNvPr id="13" name="Text 11"/>
          <p:cNvSpPr/>
          <p:nvPr/>
        </p:nvSpPr>
        <p:spPr>
          <a:xfrm>
            <a:off x="274320" y="3364992"/>
            <a:ext cx="2606040" cy="438912"/>
          </a:xfrm>
          <a:prstGeom prst="rect">
            <a:avLst/>
          </a:prstGeom>
          <a:noFill/>
          <a:ln/>
        </p:spPr>
        <p:txBody>
          <a:bodyPr wrap="square" lIns="0" tIns="0" rIns="0" bIns="0" rtlCol="0" anchor="ctr"/>
          <a:lstStyle/>
          <a:p>
            <a:pPr marL="0" indent="0">
              <a:buNone/>
            </a:pPr>
            <a:r>
              <a:rPr lang="en-US" sz="900" b="1" dirty="0">
                <a:solidFill>
                  <a:srgbClr val="0D9448"/>
                </a:solidFill>
                <a:latin typeface="Calibri" pitchFamily="34" charset="0"/>
                <a:ea typeface="Calibri" pitchFamily="34" charset="-122"/>
                <a:cs typeface="Calibri" pitchFamily="34" charset="-120"/>
              </a:rPr>
              <a:t>4. </a:t>
            </a:r>
            <a:r>
              <a:rPr lang="en-US" sz="900" dirty="0">
                <a:solidFill>
                  <a:srgbClr val="1A2E44"/>
                </a:solidFill>
                <a:latin typeface="Calibri" pitchFamily="34" charset="0"/>
                <a:ea typeface="Calibri" pitchFamily="34" charset="-122"/>
                <a:cs typeface="Calibri" pitchFamily="34" charset="-120"/>
              </a:rPr>
              <a:t>Manager notified; additional access request portal opened</a:t>
            </a:r>
            <a:endParaRPr lang="en-US" sz="900" dirty="0"/>
          </a:p>
        </p:txBody>
      </p:sp>
      <p:sp>
        <p:nvSpPr>
          <p:cNvPr id="14" name="Text 12"/>
          <p:cNvSpPr/>
          <p:nvPr/>
        </p:nvSpPr>
        <p:spPr>
          <a:xfrm>
            <a:off x="274320" y="3840480"/>
            <a:ext cx="2606040" cy="438912"/>
          </a:xfrm>
          <a:prstGeom prst="rect">
            <a:avLst/>
          </a:prstGeom>
          <a:noFill/>
          <a:ln/>
        </p:spPr>
        <p:txBody>
          <a:bodyPr wrap="square" lIns="0" tIns="0" rIns="0" bIns="0" rtlCol="0" anchor="ctr"/>
          <a:lstStyle/>
          <a:p>
            <a:pPr marL="0" indent="0">
              <a:buNone/>
            </a:pPr>
            <a:r>
              <a:rPr lang="en-US" sz="900" b="1" dirty="0">
                <a:solidFill>
                  <a:srgbClr val="0D9448"/>
                </a:solidFill>
                <a:latin typeface="Calibri" pitchFamily="34" charset="0"/>
                <a:ea typeface="Calibri" pitchFamily="34" charset="-122"/>
                <a:cs typeface="Calibri" pitchFamily="34" charset="-120"/>
              </a:rPr>
              <a:t>5. </a:t>
            </a:r>
            <a:r>
              <a:rPr lang="en-US" sz="900" dirty="0">
                <a:solidFill>
                  <a:srgbClr val="1A2E44"/>
                </a:solidFill>
                <a:latin typeface="Calibri" pitchFamily="34" charset="0"/>
                <a:ea typeface="Calibri" pitchFamily="34" charset="-122"/>
                <a:cs typeface="Calibri" pitchFamily="34" charset="-120"/>
              </a:rPr>
              <a:t>MFA enrollment triggered; security training assigned</a:t>
            </a:r>
            <a:endParaRPr lang="en-US" sz="900" dirty="0"/>
          </a:p>
        </p:txBody>
      </p:sp>
      <p:sp>
        <p:nvSpPr>
          <p:cNvPr id="15" name="Shape 13"/>
          <p:cNvSpPr/>
          <p:nvPr/>
        </p:nvSpPr>
        <p:spPr>
          <a:xfrm>
            <a:off x="3136392" y="804672"/>
            <a:ext cx="2788920" cy="4160520"/>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16" name="Shape 14"/>
          <p:cNvSpPr/>
          <p:nvPr/>
        </p:nvSpPr>
        <p:spPr>
          <a:xfrm>
            <a:off x="3136392" y="804672"/>
            <a:ext cx="2788920" cy="621792"/>
          </a:xfrm>
          <a:prstGeom prst="rect">
            <a:avLst/>
          </a:prstGeom>
          <a:solidFill>
            <a:srgbClr val="D97706"/>
          </a:solidFill>
          <a:ln w="12700">
            <a:solidFill>
              <a:srgbClr val="D97706"/>
            </a:solidFill>
            <a:prstDash val="solid"/>
          </a:ln>
        </p:spPr>
        <p:txBody>
          <a:bodyPr/>
          <a:lstStyle/>
          <a:p>
            <a:endParaRPr lang="en-US"/>
          </a:p>
        </p:txBody>
      </p:sp>
      <p:sp>
        <p:nvSpPr>
          <p:cNvPr id="17" name="Text 15"/>
          <p:cNvSpPr/>
          <p:nvPr/>
        </p:nvSpPr>
        <p:spPr>
          <a:xfrm>
            <a:off x="3209544" y="822960"/>
            <a:ext cx="41148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8" name="Text 16"/>
          <p:cNvSpPr/>
          <p:nvPr/>
        </p:nvSpPr>
        <p:spPr>
          <a:xfrm>
            <a:off x="3639312" y="822960"/>
            <a:ext cx="219456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MOVER</a:t>
            </a:r>
            <a:endParaRPr lang="en-US" sz="1400" dirty="0"/>
          </a:p>
        </p:txBody>
      </p:sp>
      <p:sp>
        <p:nvSpPr>
          <p:cNvPr id="19" name="Text 17"/>
          <p:cNvSpPr/>
          <p:nvPr/>
        </p:nvSpPr>
        <p:spPr>
          <a:xfrm>
            <a:off x="3227832" y="1463040"/>
            <a:ext cx="2606040" cy="384048"/>
          </a:xfrm>
          <a:prstGeom prst="rect">
            <a:avLst/>
          </a:prstGeom>
          <a:noFill/>
          <a:ln/>
        </p:spPr>
        <p:txBody>
          <a:bodyPr wrap="square" lIns="0" tIns="0" rIns="0" bIns="0" rtlCol="0" anchor="ctr"/>
          <a:lstStyle/>
          <a:p>
            <a:pPr marL="0" indent="0">
              <a:buNone/>
            </a:pPr>
            <a:r>
              <a:rPr lang="en-US" sz="950" i="1" dirty="0">
                <a:solidFill>
                  <a:srgbClr val="4B6076"/>
                </a:solidFill>
                <a:latin typeface="Calibri" pitchFamily="34" charset="0"/>
                <a:ea typeface="Calibri" pitchFamily="34" charset="-122"/>
                <a:cs typeface="Calibri" pitchFamily="34" charset="-120"/>
              </a:rPr>
              <a:t>Role change, department transfer, or location move</a:t>
            </a:r>
            <a:endParaRPr lang="en-US" sz="950" dirty="0"/>
          </a:p>
        </p:txBody>
      </p:sp>
      <p:sp>
        <p:nvSpPr>
          <p:cNvPr id="20" name="Shape 18"/>
          <p:cNvSpPr/>
          <p:nvPr/>
        </p:nvSpPr>
        <p:spPr>
          <a:xfrm>
            <a:off x="3227832" y="1883664"/>
            <a:ext cx="2606040" cy="0"/>
          </a:xfrm>
          <a:prstGeom prst="line">
            <a:avLst/>
          </a:prstGeom>
          <a:noFill/>
          <a:ln w="6350">
            <a:solidFill>
              <a:srgbClr val="C9DDE8"/>
            </a:solidFill>
            <a:prstDash val="solid"/>
          </a:ln>
        </p:spPr>
        <p:txBody>
          <a:bodyPr/>
          <a:lstStyle/>
          <a:p>
            <a:endParaRPr lang="en-US"/>
          </a:p>
        </p:txBody>
      </p:sp>
      <p:sp>
        <p:nvSpPr>
          <p:cNvPr id="21" name="Text 19"/>
          <p:cNvSpPr/>
          <p:nvPr/>
        </p:nvSpPr>
        <p:spPr>
          <a:xfrm>
            <a:off x="3227832" y="1938528"/>
            <a:ext cx="2606040" cy="438912"/>
          </a:xfrm>
          <a:prstGeom prst="rect">
            <a:avLst/>
          </a:prstGeom>
          <a:noFill/>
          <a:ln/>
        </p:spPr>
        <p:txBody>
          <a:bodyPr wrap="square" lIns="0" tIns="0" rIns="0" bIns="0" rtlCol="0" anchor="ctr"/>
          <a:lstStyle/>
          <a:p>
            <a:pPr marL="0" indent="0">
              <a:buNone/>
            </a:pPr>
            <a:r>
              <a:rPr lang="en-US" sz="900" b="1" dirty="0">
                <a:solidFill>
                  <a:srgbClr val="D97706"/>
                </a:solidFill>
                <a:latin typeface="Calibri" pitchFamily="34" charset="0"/>
                <a:ea typeface="Calibri" pitchFamily="34" charset="-122"/>
                <a:cs typeface="Calibri" pitchFamily="34" charset="-120"/>
              </a:rPr>
              <a:t>1. </a:t>
            </a:r>
            <a:r>
              <a:rPr lang="en-US" sz="900" dirty="0">
                <a:solidFill>
                  <a:srgbClr val="1A2E44"/>
                </a:solidFill>
                <a:latin typeface="Calibri" pitchFamily="34" charset="0"/>
                <a:ea typeface="Calibri" pitchFamily="34" charset="-122"/>
                <a:cs typeface="Calibri" pitchFamily="34" charset="-120"/>
              </a:rPr>
              <a:t>HRMS fires Mover event (position/org unit change)</a:t>
            </a:r>
            <a:endParaRPr lang="en-US" sz="900" dirty="0"/>
          </a:p>
        </p:txBody>
      </p:sp>
      <p:sp>
        <p:nvSpPr>
          <p:cNvPr id="22" name="Text 20"/>
          <p:cNvSpPr/>
          <p:nvPr/>
        </p:nvSpPr>
        <p:spPr>
          <a:xfrm>
            <a:off x="3227832" y="2414016"/>
            <a:ext cx="2606040" cy="438912"/>
          </a:xfrm>
          <a:prstGeom prst="rect">
            <a:avLst/>
          </a:prstGeom>
          <a:noFill/>
          <a:ln/>
        </p:spPr>
        <p:txBody>
          <a:bodyPr wrap="square" lIns="0" tIns="0" rIns="0" bIns="0" rtlCol="0" anchor="ctr"/>
          <a:lstStyle/>
          <a:p>
            <a:pPr marL="0" indent="0">
              <a:buNone/>
            </a:pPr>
            <a:r>
              <a:rPr lang="en-US" sz="900" b="1" dirty="0">
                <a:solidFill>
                  <a:srgbClr val="D97706"/>
                </a:solidFill>
                <a:latin typeface="Calibri" pitchFamily="34" charset="0"/>
                <a:ea typeface="Calibri" pitchFamily="34" charset="-122"/>
                <a:cs typeface="Calibri" pitchFamily="34" charset="-120"/>
              </a:rPr>
              <a:t>2. </a:t>
            </a:r>
            <a:r>
              <a:rPr lang="en-US" sz="900" dirty="0">
                <a:solidFill>
                  <a:srgbClr val="1A2E44"/>
                </a:solidFill>
                <a:latin typeface="Calibri" pitchFamily="34" charset="0"/>
                <a:ea typeface="Calibri" pitchFamily="34" charset="-122"/>
                <a:cs typeface="Calibri" pitchFamily="34" charset="-120"/>
              </a:rPr>
              <a:t>IGA identifies prior role entitlements for removal</a:t>
            </a:r>
            <a:endParaRPr lang="en-US" sz="900" dirty="0"/>
          </a:p>
        </p:txBody>
      </p:sp>
      <p:sp>
        <p:nvSpPr>
          <p:cNvPr id="23" name="Text 21"/>
          <p:cNvSpPr/>
          <p:nvPr/>
        </p:nvSpPr>
        <p:spPr>
          <a:xfrm>
            <a:off x="3227832" y="2889504"/>
            <a:ext cx="2606040" cy="438912"/>
          </a:xfrm>
          <a:prstGeom prst="rect">
            <a:avLst/>
          </a:prstGeom>
          <a:noFill/>
          <a:ln/>
        </p:spPr>
        <p:txBody>
          <a:bodyPr wrap="square" lIns="0" tIns="0" rIns="0" bIns="0" rtlCol="0" anchor="ctr"/>
          <a:lstStyle/>
          <a:p>
            <a:pPr marL="0" indent="0">
              <a:buNone/>
            </a:pPr>
            <a:r>
              <a:rPr lang="en-US" sz="900" b="1" dirty="0">
                <a:solidFill>
                  <a:srgbClr val="D97706"/>
                </a:solidFill>
                <a:latin typeface="Calibri" pitchFamily="34" charset="0"/>
                <a:ea typeface="Calibri" pitchFamily="34" charset="-122"/>
                <a:cs typeface="Calibri" pitchFamily="34" charset="-120"/>
              </a:rPr>
              <a:t>3. </a:t>
            </a:r>
            <a:r>
              <a:rPr lang="en-US" sz="900" dirty="0">
                <a:solidFill>
                  <a:srgbClr val="1A2E44"/>
                </a:solidFill>
                <a:latin typeface="Calibri" pitchFamily="34" charset="0"/>
                <a:ea typeface="Calibri" pitchFamily="34" charset="-122"/>
                <a:cs typeface="Calibri" pitchFamily="34" charset="-120"/>
              </a:rPr>
              <a:t>IGA provisions new role entitlements per new job code</a:t>
            </a:r>
            <a:endParaRPr lang="en-US" sz="900" dirty="0"/>
          </a:p>
        </p:txBody>
      </p:sp>
      <p:sp>
        <p:nvSpPr>
          <p:cNvPr id="24" name="Text 22"/>
          <p:cNvSpPr/>
          <p:nvPr/>
        </p:nvSpPr>
        <p:spPr>
          <a:xfrm>
            <a:off x="3227832" y="3364992"/>
            <a:ext cx="2606040" cy="438912"/>
          </a:xfrm>
          <a:prstGeom prst="rect">
            <a:avLst/>
          </a:prstGeom>
          <a:noFill/>
          <a:ln/>
        </p:spPr>
        <p:txBody>
          <a:bodyPr wrap="square" lIns="0" tIns="0" rIns="0" bIns="0" rtlCol="0" anchor="ctr"/>
          <a:lstStyle/>
          <a:p>
            <a:pPr marL="0" indent="0">
              <a:buNone/>
            </a:pPr>
            <a:r>
              <a:rPr lang="en-US" sz="900" b="1" dirty="0">
                <a:solidFill>
                  <a:srgbClr val="D97706"/>
                </a:solidFill>
                <a:latin typeface="Calibri" pitchFamily="34" charset="0"/>
                <a:ea typeface="Calibri" pitchFamily="34" charset="-122"/>
                <a:cs typeface="Calibri" pitchFamily="34" charset="-120"/>
              </a:rPr>
              <a:t>4. </a:t>
            </a:r>
            <a:r>
              <a:rPr lang="en-US" sz="900" dirty="0">
                <a:solidFill>
                  <a:srgbClr val="1A2E44"/>
                </a:solidFill>
                <a:latin typeface="Calibri" pitchFamily="34" charset="0"/>
                <a:ea typeface="Calibri" pitchFamily="34" charset="-122"/>
                <a:cs typeface="Calibri" pitchFamily="34" charset="-120"/>
              </a:rPr>
              <a:t>Access creep prevention: prior entitlements removed automatically</a:t>
            </a:r>
            <a:endParaRPr lang="en-US" sz="900" dirty="0"/>
          </a:p>
        </p:txBody>
      </p:sp>
      <p:sp>
        <p:nvSpPr>
          <p:cNvPr id="25" name="Text 23"/>
          <p:cNvSpPr/>
          <p:nvPr/>
        </p:nvSpPr>
        <p:spPr>
          <a:xfrm>
            <a:off x="3227832" y="3840480"/>
            <a:ext cx="2606040" cy="438912"/>
          </a:xfrm>
          <a:prstGeom prst="rect">
            <a:avLst/>
          </a:prstGeom>
          <a:noFill/>
          <a:ln/>
        </p:spPr>
        <p:txBody>
          <a:bodyPr wrap="square" lIns="0" tIns="0" rIns="0" bIns="0" rtlCol="0" anchor="ctr"/>
          <a:lstStyle/>
          <a:p>
            <a:pPr marL="0" indent="0">
              <a:buNone/>
            </a:pPr>
            <a:r>
              <a:rPr lang="en-US" sz="900" b="1" dirty="0">
                <a:solidFill>
                  <a:srgbClr val="D97706"/>
                </a:solidFill>
                <a:latin typeface="Calibri" pitchFamily="34" charset="0"/>
                <a:ea typeface="Calibri" pitchFamily="34" charset="-122"/>
                <a:cs typeface="Calibri" pitchFamily="34" charset="-120"/>
              </a:rPr>
              <a:t>5. </a:t>
            </a:r>
            <a:r>
              <a:rPr lang="en-US" sz="900" dirty="0">
                <a:solidFill>
                  <a:srgbClr val="1A2E44"/>
                </a:solidFill>
                <a:latin typeface="Calibri" pitchFamily="34" charset="0"/>
                <a:ea typeface="Calibri" pitchFamily="34" charset="-122"/>
                <a:cs typeface="Calibri" pitchFamily="34" charset="-120"/>
              </a:rPr>
              <a:t>Manager and application owners notified of changes</a:t>
            </a:r>
            <a:endParaRPr lang="en-US" sz="900" dirty="0"/>
          </a:p>
        </p:txBody>
      </p:sp>
      <p:sp>
        <p:nvSpPr>
          <p:cNvPr id="26" name="Shape 24"/>
          <p:cNvSpPr/>
          <p:nvPr/>
        </p:nvSpPr>
        <p:spPr>
          <a:xfrm>
            <a:off x="6089904" y="804672"/>
            <a:ext cx="2788920" cy="4160520"/>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27" name="Shape 25"/>
          <p:cNvSpPr/>
          <p:nvPr/>
        </p:nvSpPr>
        <p:spPr>
          <a:xfrm>
            <a:off x="6089904" y="804672"/>
            <a:ext cx="2788920" cy="621792"/>
          </a:xfrm>
          <a:prstGeom prst="rect">
            <a:avLst/>
          </a:prstGeom>
          <a:solidFill>
            <a:srgbClr val="C0392B"/>
          </a:solidFill>
          <a:ln w="12700">
            <a:solidFill>
              <a:srgbClr val="C0392B"/>
            </a:solidFill>
            <a:prstDash val="solid"/>
          </a:ln>
        </p:spPr>
        <p:txBody>
          <a:bodyPr/>
          <a:lstStyle/>
          <a:p>
            <a:endParaRPr lang="en-US"/>
          </a:p>
        </p:txBody>
      </p:sp>
      <p:sp>
        <p:nvSpPr>
          <p:cNvPr id="28" name="Text 26"/>
          <p:cNvSpPr/>
          <p:nvPr/>
        </p:nvSpPr>
        <p:spPr>
          <a:xfrm>
            <a:off x="6163056" y="822960"/>
            <a:ext cx="411480"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9" name="Text 27"/>
          <p:cNvSpPr/>
          <p:nvPr/>
        </p:nvSpPr>
        <p:spPr>
          <a:xfrm>
            <a:off x="6592824" y="822960"/>
            <a:ext cx="219456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LEAVER</a:t>
            </a:r>
            <a:endParaRPr lang="en-US" sz="1400" dirty="0"/>
          </a:p>
        </p:txBody>
      </p:sp>
      <p:sp>
        <p:nvSpPr>
          <p:cNvPr id="30" name="Text 28"/>
          <p:cNvSpPr/>
          <p:nvPr/>
        </p:nvSpPr>
        <p:spPr>
          <a:xfrm>
            <a:off x="6181344" y="1463040"/>
            <a:ext cx="2606040" cy="384048"/>
          </a:xfrm>
          <a:prstGeom prst="rect">
            <a:avLst/>
          </a:prstGeom>
          <a:noFill/>
          <a:ln/>
        </p:spPr>
        <p:txBody>
          <a:bodyPr wrap="square" lIns="0" tIns="0" rIns="0" bIns="0" rtlCol="0" anchor="ctr"/>
          <a:lstStyle/>
          <a:p>
            <a:pPr marL="0" indent="0">
              <a:buNone/>
            </a:pPr>
            <a:r>
              <a:rPr lang="en-US" sz="950" i="1" dirty="0">
                <a:solidFill>
                  <a:srgbClr val="4B6076"/>
                </a:solidFill>
                <a:latin typeface="Calibri" pitchFamily="34" charset="0"/>
                <a:ea typeface="Calibri" pitchFamily="34" charset="-122"/>
                <a:cs typeface="Calibri" pitchFamily="34" charset="-120"/>
              </a:rPr>
              <a:t>Termination (voluntary or involuntary) or contract end</a:t>
            </a:r>
            <a:endParaRPr lang="en-US" sz="950" dirty="0"/>
          </a:p>
        </p:txBody>
      </p:sp>
      <p:sp>
        <p:nvSpPr>
          <p:cNvPr id="31" name="Shape 29"/>
          <p:cNvSpPr/>
          <p:nvPr/>
        </p:nvSpPr>
        <p:spPr>
          <a:xfrm>
            <a:off x="6181344" y="1883664"/>
            <a:ext cx="2606040" cy="0"/>
          </a:xfrm>
          <a:prstGeom prst="line">
            <a:avLst/>
          </a:prstGeom>
          <a:noFill/>
          <a:ln w="6350">
            <a:solidFill>
              <a:srgbClr val="C9DDE8"/>
            </a:solidFill>
            <a:prstDash val="solid"/>
          </a:ln>
        </p:spPr>
        <p:txBody>
          <a:bodyPr/>
          <a:lstStyle/>
          <a:p>
            <a:endParaRPr lang="en-US"/>
          </a:p>
        </p:txBody>
      </p:sp>
      <p:sp>
        <p:nvSpPr>
          <p:cNvPr id="32" name="Text 30"/>
          <p:cNvSpPr/>
          <p:nvPr/>
        </p:nvSpPr>
        <p:spPr>
          <a:xfrm>
            <a:off x="6181344" y="1938528"/>
            <a:ext cx="2606040" cy="438912"/>
          </a:xfrm>
          <a:prstGeom prst="rect">
            <a:avLst/>
          </a:prstGeom>
          <a:noFill/>
          <a:ln/>
        </p:spPr>
        <p:txBody>
          <a:bodyPr wrap="square" lIns="0" tIns="0" rIns="0" bIns="0"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1. </a:t>
            </a:r>
            <a:r>
              <a:rPr lang="en-US" sz="900" dirty="0">
                <a:solidFill>
                  <a:srgbClr val="1A2E44"/>
                </a:solidFill>
                <a:latin typeface="Calibri" pitchFamily="34" charset="0"/>
                <a:ea typeface="Calibri" pitchFamily="34" charset="-122"/>
                <a:cs typeface="Calibri" pitchFamily="34" charset="-120"/>
              </a:rPr>
              <a:t>HRMS fires Leaver event (termination record committed)</a:t>
            </a:r>
            <a:endParaRPr lang="en-US" sz="900" dirty="0"/>
          </a:p>
        </p:txBody>
      </p:sp>
      <p:sp>
        <p:nvSpPr>
          <p:cNvPr id="33" name="Text 31"/>
          <p:cNvSpPr/>
          <p:nvPr/>
        </p:nvSpPr>
        <p:spPr>
          <a:xfrm>
            <a:off x="6181344" y="2414016"/>
            <a:ext cx="2606040" cy="438912"/>
          </a:xfrm>
          <a:prstGeom prst="rect">
            <a:avLst/>
          </a:prstGeom>
          <a:noFill/>
          <a:ln/>
        </p:spPr>
        <p:txBody>
          <a:bodyPr wrap="square" lIns="0" tIns="0" rIns="0" bIns="0"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2. </a:t>
            </a:r>
            <a:r>
              <a:rPr lang="en-US" sz="900" dirty="0">
                <a:solidFill>
                  <a:srgbClr val="1A2E44"/>
                </a:solidFill>
                <a:latin typeface="Calibri" pitchFamily="34" charset="0"/>
                <a:ea typeface="Calibri" pitchFamily="34" charset="-122"/>
                <a:cs typeface="Calibri" pitchFamily="34" charset="-120"/>
              </a:rPr>
              <a:t>IGA initiates deprovisioning workflows; actual disablement occurs via connectors and target system APIs (not all systems support instant disablement)</a:t>
            </a:r>
            <a:endParaRPr lang="en-US" sz="900" dirty="0"/>
          </a:p>
        </p:txBody>
      </p:sp>
      <p:sp>
        <p:nvSpPr>
          <p:cNvPr id="34" name="Text 32"/>
          <p:cNvSpPr/>
          <p:nvPr/>
        </p:nvSpPr>
        <p:spPr>
          <a:xfrm>
            <a:off x="6181344" y="2889504"/>
            <a:ext cx="2606040" cy="438912"/>
          </a:xfrm>
          <a:prstGeom prst="rect">
            <a:avLst/>
          </a:prstGeom>
          <a:noFill/>
          <a:ln/>
        </p:spPr>
        <p:txBody>
          <a:bodyPr wrap="square" lIns="0" tIns="0" rIns="0" bIns="0"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3. </a:t>
            </a:r>
            <a:r>
              <a:rPr lang="en-US" sz="900" dirty="0">
                <a:solidFill>
                  <a:srgbClr val="1A2E44"/>
                </a:solidFill>
                <a:latin typeface="Calibri" pitchFamily="34" charset="0"/>
                <a:ea typeface="Calibri" pitchFamily="34" charset="-122"/>
                <a:cs typeface="Calibri" pitchFamily="34" charset="-120"/>
              </a:rPr>
              <a:t>Active sessions may be revoked through the enterprise IdP where supported; not all applications support real-time session termination</a:t>
            </a:r>
            <a:endParaRPr lang="en-US" sz="900" dirty="0"/>
          </a:p>
        </p:txBody>
      </p:sp>
      <p:sp>
        <p:nvSpPr>
          <p:cNvPr id="35" name="Text 33"/>
          <p:cNvSpPr/>
          <p:nvPr/>
        </p:nvSpPr>
        <p:spPr>
          <a:xfrm>
            <a:off x="6181344" y="3364992"/>
            <a:ext cx="2606040" cy="438912"/>
          </a:xfrm>
          <a:prstGeom prst="rect">
            <a:avLst/>
          </a:prstGeom>
          <a:noFill/>
          <a:ln/>
        </p:spPr>
        <p:txBody>
          <a:bodyPr wrap="square" lIns="0" tIns="0" rIns="0" bIns="0"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4. </a:t>
            </a:r>
            <a:r>
              <a:rPr lang="en-US" sz="900" dirty="0">
                <a:solidFill>
                  <a:srgbClr val="1A2E44"/>
                </a:solidFill>
                <a:latin typeface="Calibri" pitchFamily="34" charset="0"/>
                <a:ea typeface="Calibri" pitchFamily="34" charset="-122"/>
                <a:cs typeface="Calibri" pitchFamily="34" charset="-120"/>
              </a:rPr>
              <a:t>Entitlements revoked per deprovisioning SLA (same-day target)</a:t>
            </a:r>
            <a:endParaRPr lang="en-US" sz="900" dirty="0"/>
          </a:p>
        </p:txBody>
      </p:sp>
      <p:sp>
        <p:nvSpPr>
          <p:cNvPr id="36" name="Text 34"/>
          <p:cNvSpPr/>
          <p:nvPr/>
        </p:nvSpPr>
        <p:spPr>
          <a:xfrm>
            <a:off x="6181344" y="3840480"/>
            <a:ext cx="2606040" cy="438912"/>
          </a:xfrm>
          <a:prstGeom prst="rect">
            <a:avLst/>
          </a:prstGeom>
          <a:noFill/>
          <a:ln/>
        </p:spPr>
        <p:txBody>
          <a:bodyPr wrap="square" lIns="0" tIns="0" rIns="0" bIns="0"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5. </a:t>
            </a:r>
            <a:r>
              <a:rPr lang="en-US" sz="900" dirty="0">
                <a:solidFill>
                  <a:srgbClr val="1A2E44"/>
                </a:solidFill>
                <a:latin typeface="Calibri" pitchFamily="34" charset="0"/>
                <a:ea typeface="Calibri" pitchFamily="34" charset="-122"/>
                <a:cs typeface="Calibri" pitchFamily="34" charset="-120"/>
              </a:rPr>
              <a:t>Account archived per data retention policy; audit log generated</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3C5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D7D46"/>
          </a:solidFill>
          <a:ln w="12700">
            <a:solidFill>
              <a:srgbClr val="2D7D46"/>
            </a:solidFill>
            <a:prstDash val="solid"/>
          </a:ln>
        </p:spPr>
        <p:txBody>
          <a:bodyPr/>
          <a:lstStyle/>
          <a:p>
            <a:endParaRPr lang="en-US"/>
          </a:p>
        </p:txBody>
      </p:sp>
      <p:sp>
        <p:nvSpPr>
          <p:cNvPr id="3" name="Text 1"/>
          <p:cNvSpPr/>
          <p:nvPr/>
        </p:nvSpPr>
        <p:spPr>
          <a:xfrm>
            <a:off x="6858000" y="731520"/>
            <a:ext cx="2103120" cy="2560320"/>
          </a:xfrm>
          <a:prstGeom prst="rect">
            <a:avLst/>
          </a:prstGeom>
          <a:noFill/>
          <a:ln/>
        </p:spPr>
        <p:txBody>
          <a:bodyPr wrap="square" lIns="0" tIns="0" rIns="0" bIns="0" rtlCol="0" anchor="ctr"/>
          <a:lstStyle/>
          <a:p>
            <a:pPr marL="0" indent="0" algn="r">
              <a:buNone/>
            </a:pPr>
            <a:r>
              <a:rPr lang="en-US" sz="14000" b="1" dirty="0">
                <a:solidFill>
                  <a:srgbClr val="1A4A30"/>
                </a:solidFill>
                <a:latin typeface="Calibri" pitchFamily="34" charset="0"/>
                <a:ea typeface="Calibri" pitchFamily="34" charset="-122"/>
                <a:cs typeface="Calibri" pitchFamily="34" charset="-120"/>
              </a:rPr>
              <a:t>03</a:t>
            </a:r>
            <a:endParaRPr lang="en-US" sz="14000" dirty="0"/>
          </a:p>
        </p:txBody>
      </p:sp>
      <p:sp>
        <p:nvSpPr>
          <p:cNvPr id="4" name="Text 2"/>
          <p:cNvSpPr/>
          <p:nvPr/>
        </p:nvSpPr>
        <p:spPr>
          <a:xfrm>
            <a:off x="320040" y="1600200"/>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Access Certification</a:t>
            </a:r>
            <a:endParaRPr lang="en-US" sz="3000" dirty="0"/>
          </a:p>
        </p:txBody>
      </p:sp>
      <p:sp>
        <p:nvSpPr>
          <p:cNvPr id="5" name="Shape 3"/>
          <p:cNvSpPr/>
          <p:nvPr/>
        </p:nvSpPr>
        <p:spPr>
          <a:xfrm>
            <a:off x="320040" y="2468880"/>
            <a:ext cx="6217920" cy="0"/>
          </a:xfrm>
          <a:prstGeom prst="line">
            <a:avLst/>
          </a:prstGeom>
          <a:noFill/>
          <a:ln w="6350">
            <a:solidFill>
              <a:srgbClr val="8BAAC2"/>
            </a:solidFill>
            <a:prstDash val="solid"/>
          </a:ln>
        </p:spPr>
        <p:txBody>
          <a:bodyPr/>
          <a:lstStyle/>
          <a:p>
            <a:endParaRPr lang="en-US"/>
          </a:p>
        </p:txBody>
      </p:sp>
      <p:sp>
        <p:nvSpPr>
          <p:cNvPr id="6" name="Text 4"/>
          <p:cNvSpPr/>
          <p:nvPr/>
        </p:nvSpPr>
        <p:spPr>
          <a:xfrm>
            <a:off x="320040" y="2542032"/>
            <a:ext cx="6400800" cy="457200"/>
          </a:xfrm>
          <a:prstGeom prst="rect">
            <a:avLst/>
          </a:prstGeom>
          <a:noFill/>
          <a:ln/>
        </p:spPr>
        <p:txBody>
          <a:bodyPr wrap="square" lIns="0" tIns="0" rIns="0" bIns="0" rtlCol="0" anchor="ctr"/>
          <a:lstStyle/>
          <a:p>
            <a:pPr marL="0" indent="0">
              <a:buNone/>
            </a:pPr>
            <a:r>
              <a:rPr lang="en-US" sz="1400" i="1" dirty="0">
                <a:solidFill>
                  <a:srgbClr val="C9DDE8"/>
                </a:solidFill>
                <a:latin typeface="Calibri" pitchFamily="34" charset="0"/>
                <a:ea typeface="Calibri" pitchFamily="34" charset="-122"/>
                <a:cs typeface="Calibri" pitchFamily="34" charset="-120"/>
              </a:rPr>
              <a:t>Campaign types, workflow design, and auto-revocation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C5E"/>
          </a:solidFill>
          <a:ln w="12700">
            <a:solidFill>
              <a:srgbClr val="1A3C5E"/>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Access Certification Architecture</a:t>
            </a:r>
            <a:endParaRPr lang="en-US" sz="2000" dirty="0"/>
          </a:p>
        </p:txBody>
      </p:sp>
      <p:sp>
        <p:nvSpPr>
          <p:cNvPr id="4" name="Text 2"/>
          <p:cNvSpPr/>
          <p:nvPr/>
        </p:nvSpPr>
        <p:spPr>
          <a:xfrm>
            <a:off x="228600" y="804672"/>
            <a:ext cx="3840480" cy="274320"/>
          </a:xfrm>
          <a:prstGeom prst="rect">
            <a:avLst/>
          </a:prstGeom>
          <a:noFill/>
          <a:ln/>
        </p:spPr>
        <p:txBody>
          <a:bodyPr wrap="square" lIns="0" tIns="0" rIns="0" bIns="0" rtlCol="0" anchor="ctr"/>
          <a:lstStyle/>
          <a:p>
            <a:pPr marL="0" indent="0">
              <a:buNone/>
            </a:pPr>
            <a:r>
              <a:rPr lang="en-US" sz="1300" b="1" dirty="0">
                <a:solidFill>
                  <a:srgbClr val="1A3C5E"/>
                </a:solidFill>
                <a:latin typeface="Calibri" pitchFamily="34" charset="0"/>
                <a:ea typeface="Calibri" pitchFamily="34" charset="-122"/>
                <a:cs typeface="Calibri" pitchFamily="34" charset="-120"/>
              </a:rPr>
              <a:t>Campaign Types</a:t>
            </a:r>
            <a:endParaRPr lang="en-US" sz="1300" dirty="0"/>
          </a:p>
        </p:txBody>
      </p:sp>
      <p:sp>
        <p:nvSpPr>
          <p:cNvPr id="5" name="Shape 3"/>
          <p:cNvSpPr/>
          <p:nvPr/>
        </p:nvSpPr>
        <p:spPr>
          <a:xfrm>
            <a:off x="228600" y="1143000"/>
            <a:ext cx="3840480" cy="603504"/>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6" name="Shape 4"/>
          <p:cNvSpPr/>
          <p:nvPr/>
        </p:nvSpPr>
        <p:spPr>
          <a:xfrm>
            <a:off x="228600" y="1143000"/>
            <a:ext cx="73152" cy="603504"/>
          </a:xfrm>
          <a:prstGeom prst="rect">
            <a:avLst/>
          </a:prstGeom>
          <a:solidFill>
            <a:srgbClr val="1A3C5E"/>
          </a:solidFill>
          <a:ln w="12700">
            <a:solidFill>
              <a:srgbClr val="1A3C5E"/>
            </a:solidFill>
            <a:prstDash val="solid"/>
          </a:ln>
        </p:spPr>
        <p:txBody>
          <a:bodyPr/>
          <a:lstStyle/>
          <a:p>
            <a:endParaRPr lang="en-US"/>
          </a:p>
        </p:txBody>
      </p:sp>
      <p:sp>
        <p:nvSpPr>
          <p:cNvPr id="7" name="Text 5"/>
          <p:cNvSpPr/>
          <p:nvPr/>
        </p:nvSpPr>
        <p:spPr>
          <a:xfrm>
            <a:off x="365760" y="1179576"/>
            <a:ext cx="2011680" cy="256032"/>
          </a:xfrm>
          <a:prstGeom prst="rect">
            <a:avLst/>
          </a:prstGeom>
          <a:noFill/>
          <a:ln/>
        </p:spPr>
        <p:txBody>
          <a:bodyPr wrap="square" lIns="0" tIns="0" rIns="0" bIns="0" rtlCol="0" anchor="ctr"/>
          <a:lstStyle/>
          <a:p>
            <a:pPr marL="0" indent="0">
              <a:buNone/>
            </a:pPr>
            <a:r>
              <a:rPr lang="en-US" sz="1100" b="1" dirty="0">
                <a:solidFill>
                  <a:srgbClr val="1A2E44"/>
                </a:solidFill>
                <a:latin typeface="Calibri" pitchFamily="34" charset="0"/>
                <a:ea typeface="Calibri" pitchFamily="34" charset="-122"/>
                <a:cs typeface="Calibri" pitchFamily="34" charset="-120"/>
              </a:rPr>
              <a:t>User Access</a:t>
            </a:r>
            <a:endParaRPr lang="en-US" sz="1100" dirty="0"/>
          </a:p>
        </p:txBody>
      </p:sp>
      <p:sp>
        <p:nvSpPr>
          <p:cNvPr id="8" name="Text 6"/>
          <p:cNvSpPr/>
          <p:nvPr/>
        </p:nvSpPr>
        <p:spPr>
          <a:xfrm>
            <a:off x="365760" y="1453896"/>
            <a:ext cx="2011680" cy="201168"/>
          </a:xfrm>
          <a:prstGeom prst="rect">
            <a:avLst/>
          </a:prstGeom>
          <a:noFill/>
          <a:ln/>
        </p:spPr>
        <p:txBody>
          <a:bodyPr wrap="square" lIns="0" tIns="0" rIns="0" bIns="0" rtlCol="0" anchor="ctr"/>
          <a:lstStyle/>
          <a:p>
            <a:pPr marL="0" indent="0">
              <a:buNone/>
            </a:pPr>
            <a:r>
              <a:rPr lang="en-US" sz="900" dirty="0">
                <a:solidFill>
                  <a:srgbClr val="4B6076"/>
                </a:solidFill>
                <a:latin typeface="Calibri" pitchFamily="34" charset="0"/>
                <a:ea typeface="Calibri" pitchFamily="34" charset="-122"/>
                <a:cs typeface="Calibri" pitchFamily="34" charset="-120"/>
              </a:rPr>
              <a:t>All users</a:t>
            </a:r>
            <a:endParaRPr lang="en-US" sz="900" dirty="0"/>
          </a:p>
        </p:txBody>
      </p:sp>
      <p:sp>
        <p:nvSpPr>
          <p:cNvPr id="9" name="Shape 7"/>
          <p:cNvSpPr/>
          <p:nvPr/>
        </p:nvSpPr>
        <p:spPr>
          <a:xfrm>
            <a:off x="2651760" y="1261872"/>
            <a:ext cx="1280160" cy="256032"/>
          </a:xfrm>
          <a:prstGeom prst="rect">
            <a:avLst/>
          </a:prstGeom>
          <a:solidFill>
            <a:srgbClr val="1A3C5E"/>
          </a:solidFill>
          <a:ln w="12700">
            <a:solidFill>
              <a:srgbClr val="1A3C5E"/>
            </a:solidFill>
            <a:prstDash val="solid"/>
          </a:ln>
        </p:spPr>
        <p:txBody>
          <a:bodyPr/>
          <a:lstStyle/>
          <a:p>
            <a:endParaRPr lang="en-US"/>
          </a:p>
        </p:txBody>
      </p:sp>
      <p:sp>
        <p:nvSpPr>
          <p:cNvPr id="10" name="Text 8"/>
          <p:cNvSpPr/>
          <p:nvPr/>
        </p:nvSpPr>
        <p:spPr>
          <a:xfrm>
            <a:off x="2651760" y="1261872"/>
            <a:ext cx="12801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Annual</a:t>
            </a:r>
            <a:endParaRPr lang="en-US" sz="1000" dirty="0"/>
          </a:p>
        </p:txBody>
      </p:sp>
      <p:sp>
        <p:nvSpPr>
          <p:cNvPr id="11" name="Shape 9"/>
          <p:cNvSpPr/>
          <p:nvPr/>
        </p:nvSpPr>
        <p:spPr>
          <a:xfrm>
            <a:off x="228600" y="1828800"/>
            <a:ext cx="3840480" cy="603504"/>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12" name="Shape 10"/>
          <p:cNvSpPr/>
          <p:nvPr/>
        </p:nvSpPr>
        <p:spPr>
          <a:xfrm>
            <a:off x="228600" y="1828800"/>
            <a:ext cx="73152" cy="603504"/>
          </a:xfrm>
          <a:prstGeom prst="rect">
            <a:avLst/>
          </a:prstGeom>
          <a:solidFill>
            <a:srgbClr val="2D7D46"/>
          </a:solidFill>
          <a:ln w="12700">
            <a:solidFill>
              <a:srgbClr val="2D7D46"/>
            </a:solidFill>
            <a:prstDash val="solid"/>
          </a:ln>
        </p:spPr>
        <p:txBody>
          <a:bodyPr/>
          <a:lstStyle/>
          <a:p>
            <a:endParaRPr lang="en-US"/>
          </a:p>
        </p:txBody>
      </p:sp>
      <p:sp>
        <p:nvSpPr>
          <p:cNvPr id="13" name="Text 11"/>
          <p:cNvSpPr/>
          <p:nvPr/>
        </p:nvSpPr>
        <p:spPr>
          <a:xfrm>
            <a:off x="365760" y="1865376"/>
            <a:ext cx="2011680" cy="256032"/>
          </a:xfrm>
          <a:prstGeom prst="rect">
            <a:avLst/>
          </a:prstGeom>
          <a:noFill/>
          <a:ln/>
        </p:spPr>
        <p:txBody>
          <a:bodyPr wrap="square" lIns="0" tIns="0" rIns="0" bIns="0" rtlCol="0" anchor="ctr"/>
          <a:lstStyle/>
          <a:p>
            <a:pPr marL="0" indent="0">
              <a:buNone/>
            </a:pPr>
            <a:r>
              <a:rPr lang="en-US" sz="1100" b="1" dirty="0">
                <a:solidFill>
                  <a:srgbClr val="1A2E44"/>
                </a:solidFill>
                <a:latin typeface="Calibri" pitchFamily="34" charset="0"/>
                <a:ea typeface="Calibri" pitchFamily="34" charset="-122"/>
                <a:cs typeface="Calibri" pitchFamily="34" charset="-120"/>
              </a:rPr>
              <a:t>Role Certification</a:t>
            </a:r>
            <a:endParaRPr lang="en-US" sz="1100" dirty="0"/>
          </a:p>
        </p:txBody>
      </p:sp>
      <p:sp>
        <p:nvSpPr>
          <p:cNvPr id="14" name="Text 12"/>
          <p:cNvSpPr/>
          <p:nvPr/>
        </p:nvSpPr>
        <p:spPr>
          <a:xfrm>
            <a:off x="365760" y="2139696"/>
            <a:ext cx="2011680" cy="201168"/>
          </a:xfrm>
          <a:prstGeom prst="rect">
            <a:avLst/>
          </a:prstGeom>
          <a:noFill/>
          <a:ln/>
        </p:spPr>
        <p:txBody>
          <a:bodyPr wrap="square" lIns="0" tIns="0" rIns="0" bIns="0" rtlCol="0" anchor="ctr"/>
          <a:lstStyle/>
          <a:p>
            <a:pPr marL="0" indent="0">
              <a:buNone/>
            </a:pPr>
            <a:r>
              <a:rPr lang="en-US" sz="900" dirty="0">
                <a:solidFill>
                  <a:srgbClr val="4B6076"/>
                </a:solidFill>
                <a:latin typeface="Calibri" pitchFamily="34" charset="0"/>
                <a:ea typeface="Calibri" pitchFamily="34" charset="-122"/>
                <a:cs typeface="Calibri" pitchFamily="34" charset="-120"/>
              </a:rPr>
              <a:t>Role owners</a:t>
            </a:r>
            <a:endParaRPr lang="en-US" sz="900" dirty="0"/>
          </a:p>
        </p:txBody>
      </p:sp>
      <p:sp>
        <p:nvSpPr>
          <p:cNvPr id="15" name="Shape 13"/>
          <p:cNvSpPr/>
          <p:nvPr/>
        </p:nvSpPr>
        <p:spPr>
          <a:xfrm>
            <a:off x="2651760" y="1947672"/>
            <a:ext cx="1280160" cy="256032"/>
          </a:xfrm>
          <a:prstGeom prst="rect">
            <a:avLst/>
          </a:prstGeom>
          <a:solidFill>
            <a:srgbClr val="2D7D46"/>
          </a:solidFill>
          <a:ln w="12700">
            <a:solidFill>
              <a:srgbClr val="2D7D46"/>
            </a:solidFill>
            <a:prstDash val="solid"/>
          </a:ln>
        </p:spPr>
        <p:txBody>
          <a:bodyPr/>
          <a:lstStyle/>
          <a:p>
            <a:endParaRPr lang="en-US"/>
          </a:p>
        </p:txBody>
      </p:sp>
      <p:sp>
        <p:nvSpPr>
          <p:cNvPr id="16" name="Text 14"/>
          <p:cNvSpPr/>
          <p:nvPr/>
        </p:nvSpPr>
        <p:spPr>
          <a:xfrm>
            <a:off x="2651760" y="1947672"/>
            <a:ext cx="12801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Annual</a:t>
            </a:r>
            <a:endParaRPr lang="en-US" sz="1000" dirty="0"/>
          </a:p>
        </p:txBody>
      </p:sp>
      <p:sp>
        <p:nvSpPr>
          <p:cNvPr id="17" name="Shape 15"/>
          <p:cNvSpPr/>
          <p:nvPr/>
        </p:nvSpPr>
        <p:spPr>
          <a:xfrm>
            <a:off x="228600" y="2514600"/>
            <a:ext cx="3840480" cy="603504"/>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18" name="Shape 16"/>
          <p:cNvSpPr/>
          <p:nvPr/>
        </p:nvSpPr>
        <p:spPr>
          <a:xfrm>
            <a:off x="228600" y="2514600"/>
            <a:ext cx="73152" cy="603504"/>
          </a:xfrm>
          <a:prstGeom prst="rect">
            <a:avLst/>
          </a:prstGeom>
          <a:solidFill>
            <a:srgbClr val="D97706"/>
          </a:solidFill>
          <a:ln w="12700">
            <a:solidFill>
              <a:srgbClr val="D97706"/>
            </a:solidFill>
            <a:prstDash val="solid"/>
          </a:ln>
        </p:spPr>
        <p:txBody>
          <a:bodyPr/>
          <a:lstStyle/>
          <a:p>
            <a:endParaRPr lang="en-US"/>
          </a:p>
        </p:txBody>
      </p:sp>
      <p:sp>
        <p:nvSpPr>
          <p:cNvPr id="19" name="Text 17"/>
          <p:cNvSpPr/>
          <p:nvPr/>
        </p:nvSpPr>
        <p:spPr>
          <a:xfrm>
            <a:off x="365760" y="2551176"/>
            <a:ext cx="2011680" cy="256032"/>
          </a:xfrm>
          <a:prstGeom prst="rect">
            <a:avLst/>
          </a:prstGeom>
          <a:noFill/>
          <a:ln/>
        </p:spPr>
        <p:txBody>
          <a:bodyPr wrap="square" lIns="0" tIns="0" rIns="0" bIns="0" rtlCol="0" anchor="ctr"/>
          <a:lstStyle/>
          <a:p>
            <a:pPr marL="0" indent="0">
              <a:buNone/>
            </a:pPr>
            <a:r>
              <a:rPr lang="en-US" sz="1100" b="1" dirty="0">
                <a:solidFill>
                  <a:srgbClr val="1A2E44"/>
                </a:solidFill>
                <a:latin typeface="Calibri" pitchFamily="34" charset="0"/>
                <a:ea typeface="Calibri" pitchFamily="34" charset="-122"/>
                <a:cs typeface="Calibri" pitchFamily="34" charset="-120"/>
              </a:rPr>
              <a:t>Entitlement Cert.</a:t>
            </a:r>
            <a:endParaRPr lang="en-US" sz="1100" dirty="0"/>
          </a:p>
        </p:txBody>
      </p:sp>
      <p:sp>
        <p:nvSpPr>
          <p:cNvPr id="20" name="Text 18"/>
          <p:cNvSpPr/>
          <p:nvPr/>
        </p:nvSpPr>
        <p:spPr>
          <a:xfrm>
            <a:off x="365760" y="2825496"/>
            <a:ext cx="2011680" cy="201168"/>
          </a:xfrm>
          <a:prstGeom prst="rect">
            <a:avLst/>
          </a:prstGeom>
          <a:noFill/>
          <a:ln/>
        </p:spPr>
        <p:txBody>
          <a:bodyPr wrap="square" lIns="0" tIns="0" rIns="0" bIns="0" rtlCol="0" anchor="ctr"/>
          <a:lstStyle/>
          <a:p>
            <a:pPr marL="0" indent="0">
              <a:buNone/>
            </a:pPr>
            <a:r>
              <a:rPr lang="en-US" sz="900" dirty="0">
                <a:solidFill>
                  <a:srgbClr val="4B6076"/>
                </a:solidFill>
                <a:latin typeface="Calibri" pitchFamily="34" charset="0"/>
                <a:ea typeface="Calibri" pitchFamily="34" charset="-122"/>
                <a:cs typeface="Calibri" pitchFamily="34" charset="-120"/>
              </a:rPr>
              <a:t>High-risk access</a:t>
            </a:r>
            <a:endParaRPr lang="en-US" sz="900" dirty="0"/>
          </a:p>
        </p:txBody>
      </p:sp>
      <p:sp>
        <p:nvSpPr>
          <p:cNvPr id="21" name="Shape 19"/>
          <p:cNvSpPr/>
          <p:nvPr/>
        </p:nvSpPr>
        <p:spPr>
          <a:xfrm>
            <a:off x="2651760" y="2633472"/>
            <a:ext cx="1280160" cy="256032"/>
          </a:xfrm>
          <a:prstGeom prst="rect">
            <a:avLst/>
          </a:prstGeom>
          <a:solidFill>
            <a:srgbClr val="D97706"/>
          </a:solidFill>
          <a:ln w="12700">
            <a:solidFill>
              <a:srgbClr val="D97706"/>
            </a:solidFill>
            <a:prstDash val="solid"/>
          </a:ln>
        </p:spPr>
        <p:txBody>
          <a:bodyPr/>
          <a:lstStyle/>
          <a:p>
            <a:endParaRPr lang="en-US"/>
          </a:p>
        </p:txBody>
      </p:sp>
      <p:sp>
        <p:nvSpPr>
          <p:cNvPr id="22" name="Text 20"/>
          <p:cNvSpPr/>
          <p:nvPr/>
        </p:nvSpPr>
        <p:spPr>
          <a:xfrm>
            <a:off x="2651760" y="2633472"/>
            <a:ext cx="12801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Quarterly</a:t>
            </a:r>
            <a:endParaRPr lang="en-US" sz="1000" dirty="0"/>
          </a:p>
        </p:txBody>
      </p:sp>
      <p:sp>
        <p:nvSpPr>
          <p:cNvPr id="23" name="Shape 21"/>
          <p:cNvSpPr/>
          <p:nvPr/>
        </p:nvSpPr>
        <p:spPr>
          <a:xfrm>
            <a:off x="228600" y="3200400"/>
            <a:ext cx="3840480" cy="603504"/>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24" name="Shape 22"/>
          <p:cNvSpPr/>
          <p:nvPr/>
        </p:nvSpPr>
        <p:spPr>
          <a:xfrm>
            <a:off x="228600" y="3200400"/>
            <a:ext cx="73152" cy="603504"/>
          </a:xfrm>
          <a:prstGeom prst="rect">
            <a:avLst/>
          </a:prstGeom>
          <a:solidFill>
            <a:srgbClr val="6B21A8"/>
          </a:solidFill>
          <a:ln w="12700">
            <a:solidFill>
              <a:srgbClr val="6B21A8"/>
            </a:solidFill>
            <a:prstDash val="solid"/>
          </a:ln>
        </p:spPr>
        <p:txBody>
          <a:bodyPr/>
          <a:lstStyle/>
          <a:p>
            <a:endParaRPr lang="en-US"/>
          </a:p>
        </p:txBody>
      </p:sp>
      <p:sp>
        <p:nvSpPr>
          <p:cNvPr id="25" name="Text 23"/>
          <p:cNvSpPr/>
          <p:nvPr/>
        </p:nvSpPr>
        <p:spPr>
          <a:xfrm>
            <a:off x="365760" y="3236976"/>
            <a:ext cx="2011680" cy="256032"/>
          </a:xfrm>
          <a:prstGeom prst="rect">
            <a:avLst/>
          </a:prstGeom>
          <a:noFill/>
          <a:ln/>
        </p:spPr>
        <p:txBody>
          <a:bodyPr wrap="square" lIns="0" tIns="0" rIns="0" bIns="0" rtlCol="0" anchor="ctr"/>
          <a:lstStyle/>
          <a:p>
            <a:pPr marL="0" indent="0">
              <a:buNone/>
            </a:pPr>
            <a:r>
              <a:rPr lang="en-US" sz="1100" b="1" dirty="0">
                <a:solidFill>
                  <a:srgbClr val="1A2E44"/>
                </a:solidFill>
                <a:latin typeface="Calibri" pitchFamily="34" charset="0"/>
                <a:ea typeface="Calibri" pitchFamily="34" charset="-122"/>
                <a:cs typeface="Calibri" pitchFamily="34" charset="-120"/>
              </a:rPr>
              <a:t>Application Cert.</a:t>
            </a:r>
            <a:endParaRPr lang="en-US" sz="1100" dirty="0"/>
          </a:p>
        </p:txBody>
      </p:sp>
      <p:sp>
        <p:nvSpPr>
          <p:cNvPr id="26" name="Text 24"/>
          <p:cNvSpPr/>
          <p:nvPr/>
        </p:nvSpPr>
        <p:spPr>
          <a:xfrm>
            <a:off x="365760" y="3511296"/>
            <a:ext cx="2011680" cy="201168"/>
          </a:xfrm>
          <a:prstGeom prst="rect">
            <a:avLst/>
          </a:prstGeom>
          <a:noFill/>
          <a:ln/>
        </p:spPr>
        <p:txBody>
          <a:bodyPr wrap="square" lIns="0" tIns="0" rIns="0" bIns="0" rtlCol="0" anchor="ctr"/>
          <a:lstStyle/>
          <a:p>
            <a:pPr marL="0" indent="0">
              <a:buNone/>
            </a:pPr>
            <a:r>
              <a:rPr lang="en-US" sz="900" dirty="0">
                <a:solidFill>
                  <a:srgbClr val="4B6076"/>
                </a:solidFill>
                <a:latin typeface="Calibri" pitchFamily="34" charset="0"/>
                <a:ea typeface="Calibri" pitchFamily="34" charset="-122"/>
                <a:cs typeface="Calibri" pitchFamily="34" charset="-120"/>
              </a:rPr>
              <a:t>App owners</a:t>
            </a:r>
            <a:endParaRPr lang="en-US" sz="900" dirty="0"/>
          </a:p>
        </p:txBody>
      </p:sp>
      <p:sp>
        <p:nvSpPr>
          <p:cNvPr id="27" name="Shape 25"/>
          <p:cNvSpPr/>
          <p:nvPr/>
        </p:nvSpPr>
        <p:spPr>
          <a:xfrm>
            <a:off x="2651760" y="3319272"/>
            <a:ext cx="1280160" cy="256032"/>
          </a:xfrm>
          <a:prstGeom prst="rect">
            <a:avLst/>
          </a:prstGeom>
          <a:solidFill>
            <a:srgbClr val="6B21A8"/>
          </a:solidFill>
          <a:ln w="12700">
            <a:solidFill>
              <a:srgbClr val="6B21A8"/>
            </a:solidFill>
            <a:prstDash val="solid"/>
          </a:ln>
        </p:spPr>
        <p:txBody>
          <a:bodyPr/>
          <a:lstStyle/>
          <a:p>
            <a:endParaRPr lang="en-US"/>
          </a:p>
        </p:txBody>
      </p:sp>
      <p:sp>
        <p:nvSpPr>
          <p:cNvPr id="28" name="Text 26"/>
          <p:cNvSpPr/>
          <p:nvPr/>
        </p:nvSpPr>
        <p:spPr>
          <a:xfrm>
            <a:off x="2651760" y="3319272"/>
            <a:ext cx="12801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Per App</a:t>
            </a:r>
            <a:endParaRPr lang="en-US" sz="1000" dirty="0"/>
          </a:p>
        </p:txBody>
      </p:sp>
      <p:sp>
        <p:nvSpPr>
          <p:cNvPr id="29" name="Shape 27"/>
          <p:cNvSpPr/>
          <p:nvPr/>
        </p:nvSpPr>
        <p:spPr>
          <a:xfrm>
            <a:off x="228600" y="3886200"/>
            <a:ext cx="3840480" cy="603504"/>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30" name="Shape 28"/>
          <p:cNvSpPr/>
          <p:nvPr/>
        </p:nvSpPr>
        <p:spPr>
          <a:xfrm>
            <a:off x="228600" y="3886200"/>
            <a:ext cx="73152" cy="603504"/>
          </a:xfrm>
          <a:prstGeom prst="rect">
            <a:avLst/>
          </a:prstGeom>
          <a:solidFill>
            <a:srgbClr val="C0392B"/>
          </a:solidFill>
          <a:ln w="12700">
            <a:solidFill>
              <a:srgbClr val="C0392B"/>
            </a:solidFill>
            <a:prstDash val="solid"/>
          </a:ln>
        </p:spPr>
        <p:txBody>
          <a:bodyPr/>
          <a:lstStyle/>
          <a:p>
            <a:endParaRPr lang="en-US"/>
          </a:p>
        </p:txBody>
      </p:sp>
      <p:sp>
        <p:nvSpPr>
          <p:cNvPr id="31" name="Text 29"/>
          <p:cNvSpPr/>
          <p:nvPr/>
        </p:nvSpPr>
        <p:spPr>
          <a:xfrm>
            <a:off x="365760" y="3922776"/>
            <a:ext cx="2011680" cy="256032"/>
          </a:xfrm>
          <a:prstGeom prst="rect">
            <a:avLst/>
          </a:prstGeom>
          <a:noFill/>
          <a:ln/>
        </p:spPr>
        <p:txBody>
          <a:bodyPr wrap="square" lIns="0" tIns="0" rIns="0" bIns="0" rtlCol="0" anchor="ctr"/>
          <a:lstStyle/>
          <a:p>
            <a:pPr marL="0" indent="0">
              <a:buNone/>
            </a:pPr>
            <a:r>
              <a:rPr lang="en-US" sz="1100" b="1" dirty="0">
                <a:solidFill>
                  <a:srgbClr val="1A2E44"/>
                </a:solidFill>
                <a:latin typeface="Calibri" pitchFamily="34" charset="0"/>
                <a:ea typeface="Calibri" pitchFamily="34" charset="-122"/>
                <a:cs typeface="Calibri" pitchFamily="34" charset="-120"/>
              </a:rPr>
              <a:t>Privileged Access</a:t>
            </a:r>
            <a:endParaRPr lang="en-US" sz="1100" dirty="0"/>
          </a:p>
        </p:txBody>
      </p:sp>
      <p:sp>
        <p:nvSpPr>
          <p:cNvPr id="32" name="Text 30"/>
          <p:cNvSpPr/>
          <p:nvPr/>
        </p:nvSpPr>
        <p:spPr>
          <a:xfrm>
            <a:off x="365760" y="4197096"/>
            <a:ext cx="2011680" cy="201168"/>
          </a:xfrm>
          <a:prstGeom prst="rect">
            <a:avLst/>
          </a:prstGeom>
          <a:noFill/>
          <a:ln/>
        </p:spPr>
        <p:txBody>
          <a:bodyPr wrap="square" lIns="0" tIns="0" rIns="0" bIns="0" rtlCol="0" anchor="ctr"/>
          <a:lstStyle/>
          <a:p>
            <a:pPr marL="0" indent="0">
              <a:buNone/>
            </a:pPr>
            <a:r>
              <a:rPr lang="en-US" sz="900" dirty="0">
                <a:solidFill>
                  <a:srgbClr val="4B6076"/>
                </a:solidFill>
                <a:latin typeface="Calibri" pitchFamily="34" charset="0"/>
                <a:ea typeface="Calibri" pitchFamily="34" charset="-122"/>
                <a:cs typeface="Calibri" pitchFamily="34" charset="-120"/>
              </a:rPr>
              <a:t>Admins only</a:t>
            </a:r>
            <a:endParaRPr lang="en-US" sz="900" dirty="0"/>
          </a:p>
        </p:txBody>
      </p:sp>
      <p:sp>
        <p:nvSpPr>
          <p:cNvPr id="33" name="Shape 31"/>
          <p:cNvSpPr/>
          <p:nvPr/>
        </p:nvSpPr>
        <p:spPr>
          <a:xfrm>
            <a:off x="2651760" y="4005072"/>
            <a:ext cx="1280160" cy="256032"/>
          </a:xfrm>
          <a:prstGeom prst="rect">
            <a:avLst/>
          </a:prstGeom>
          <a:solidFill>
            <a:srgbClr val="C0392B"/>
          </a:solidFill>
          <a:ln w="12700">
            <a:solidFill>
              <a:srgbClr val="C0392B"/>
            </a:solidFill>
            <a:prstDash val="solid"/>
          </a:ln>
        </p:spPr>
        <p:txBody>
          <a:bodyPr/>
          <a:lstStyle/>
          <a:p>
            <a:endParaRPr lang="en-US"/>
          </a:p>
        </p:txBody>
      </p:sp>
      <p:sp>
        <p:nvSpPr>
          <p:cNvPr id="34" name="Text 32"/>
          <p:cNvSpPr/>
          <p:nvPr/>
        </p:nvSpPr>
        <p:spPr>
          <a:xfrm>
            <a:off x="2651760" y="4005072"/>
            <a:ext cx="12801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Quarterly</a:t>
            </a:r>
            <a:endParaRPr lang="en-US" sz="1000" dirty="0"/>
          </a:p>
        </p:txBody>
      </p:sp>
      <p:sp>
        <p:nvSpPr>
          <p:cNvPr id="35" name="Text 33"/>
          <p:cNvSpPr/>
          <p:nvPr/>
        </p:nvSpPr>
        <p:spPr>
          <a:xfrm>
            <a:off x="4572000" y="804672"/>
            <a:ext cx="4297680" cy="274320"/>
          </a:xfrm>
          <a:prstGeom prst="rect">
            <a:avLst/>
          </a:prstGeom>
          <a:noFill/>
          <a:ln/>
        </p:spPr>
        <p:txBody>
          <a:bodyPr wrap="square" lIns="0" tIns="0" rIns="0" bIns="0" rtlCol="0" anchor="ctr"/>
          <a:lstStyle/>
          <a:p>
            <a:pPr marL="0" indent="0">
              <a:buNone/>
            </a:pPr>
            <a:r>
              <a:rPr lang="en-US" sz="1300" b="1" dirty="0">
                <a:solidFill>
                  <a:srgbClr val="1A3C5E"/>
                </a:solidFill>
                <a:latin typeface="Calibri" pitchFamily="34" charset="0"/>
                <a:ea typeface="Calibri" pitchFamily="34" charset="-122"/>
                <a:cs typeface="Calibri" pitchFamily="34" charset="-120"/>
              </a:rPr>
              <a:t>Certification Workflow</a:t>
            </a:r>
            <a:endParaRPr lang="en-US" sz="1300" dirty="0"/>
          </a:p>
        </p:txBody>
      </p:sp>
      <p:sp>
        <p:nvSpPr>
          <p:cNvPr id="36" name="Shape 34"/>
          <p:cNvSpPr/>
          <p:nvPr/>
        </p:nvSpPr>
        <p:spPr>
          <a:xfrm>
            <a:off x="4572000" y="1143000"/>
            <a:ext cx="4297680" cy="667512"/>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37" name="Shape 35"/>
          <p:cNvSpPr/>
          <p:nvPr/>
        </p:nvSpPr>
        <p:spPr>
          <a:xfrm>
            <a:off x="4572000" y="1143000"/>
            <a:ext cx="365760" cy="667512"/>
          </a:xfrm>
          <a:prstGeom prst="rect">
            <a:avLst/>
          </a:prstGeom>
          <a:solidFill>
            <a:srgbClr val="2D7D46"/>
          </a:solidFill>
          <a:ln w="12700">
            <a:solidFill>
              <a:srgbClr val="2D7D46"/>
            </a:solidFill>
            <a:prstDash val="solid"/>
          </a:ln>
        </p:spPr>
        <p:txBody>
          <a:bodyPr/>
          <a:lstStyle/>
          <a:p>
            <a:endParaRPr lang="en-US"/>
          </a:p>
        </p:txBody>
      </p:sp>
      <p:sp>
        <p:nvSpPr>
          <p:cNvPr id="38" name="Text 36"/>
          <p:cNvSpPr/>
          <p:nvPr/>
        </p:nvSpPr>
        <p:spPr>
          <a:xfrm>
            <a:off x="4572000" y="1143000"/>
            <a:ext cx="365760" cy="6675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9" name="Text 37"/>
          <p:cNvSpPr/>
          <p:nvPr/>
        </p:nvSpPr>
        <p:spPr>
          <a:xfrm>
            <a:off x="5010912" y="1179576"/>
            <a:ext cx="3785616" cy="219456"/>
          </a:xfrm>
          <a:prstGeom prst="rect">
            <a:avLst/>
          </a:prstGeom>
          <a:noFill/>
          <a:ln/>
        </p:spPr>
        <p:txBody>
          <a:bodyPr wrap="square" lIns="0" tIns="0" rIns="0" bIns="0" rtlCol="0" anchor="ctr"/>
          <a:lstStyle/>
          <a:p>
            <a:pPr marL="0" indent="0">
              <a:buNone/>
            </a:pPr>
            <a:r>
              <a:rPr lang="en-US" sz="1000" b="1" dirty="0">
                <a:solidFill>
                  <a:srgbClr val="1A2E44"/>
                </a:solidFill>
                <a:latin typeface="Calibri" pitchFamily="34" charset="0"/>
                <a:ea typeface="Calibri" pitchFamily="34" charset="-122"/>
                <a:cs typeface="Calibri" pitchFamily="34" charset="-120"/>
              </a:rPr>
              <a:t>Campaign Launch</a:t>
            </a:r>
            <a:endParaRPr lang="en-US" sz="1000" dirty="0"/>
          </a:p>
        </p:txBody>
      </p:sp>
      <p:sp>
        <p:nvSpPr>
          <p:cNvPr id="40" name="Text 38"/>
          <p:cNvSpPr/>
          <p:nvPr/>
        </p:nvSpPr>
        <p:spPr>
          <a:xfrm>
            <a:off x="5010912" y="1399032"/>
            <a:ext cx="3785616" cy="384048"/>
          </a:xfrm>
          <a:prstGeom prst="rect">
            <a:avLst/>
          </a:prstGeom>
          <a:noFill/>
          <a:ln/>
        </p:spPr>
        <p:txBody>
          <a:bodyPr wrap="square" lIns="0" tIns="0" rIns="0" bIns="0" rtlCol="0" anchor="ctr"/>
          <a:lstStyle/>
          <a:p>
            <a:pPr marL="0" indent="0">
              <a:buNone/>
            </a:pPr>
            <a:r>
              <a:rPr lang="en-US" sz="850" dirty="0">
                <a:solidFill>
                  <a:srgbClr val="4B6076"/>
                </a:solidFill>
                <a:latin typeface="Calibri" pitchFamily="34" charset="0"/>
                <a:ea typeface="Calibri" pitchFamily="34" charset="-122"/>
                <a:cs typeface="Calibri" pitchFamily="34" charset="-120"/>
              </a:rPr>
              <a:t>IGA generates reviewer tasks scoped to campaign type; entitlement risk scores and AI recommendations attached to each review item</a:t>
            </a:r>
            <a:endParaRPr lang="en-US" sz="850" dirty="0"/>
          </a:p>
        </p:txBody>
      </p:sp>
      <p:sp>
        <p:nvSpPr>
          <p:cNvPr id="41" name="Shape 39"/>
          <p:cNvSpPr/>
          <p:nvPr/>
        </p:nvSpPr>
        <p:spPr>
          <a:xfrm>
            <a:off x="4572000" y="1892808"/>
            <a:ext cx="4297680" cy="667512"/>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42" name="Shape 40"/>
          <p:cNvSpPr/>
          <p:nvPr/>
        </p:nvSpPr>
        <p:spPr>
          <a:xfrm>
            <a:off x="4572000" y="1892808"/>
            <a:ext cx="365760" cy="667512"/>
          </a:xfrm>
          <a:prstGeom prst="rect">
            <a:avLst/>
          </a:prstGeom>
          <a:solidFill>
            <a:srgbClr val="2D7D46"/>
          </a:solidFill>
          <a:ln w="12700">
            <a:solidFill>
              <a:srgbClr val="2D7D46"/>
            </a:solidFill>
            <a:prstDash val="solid"/>
          </a:ln>
        </p:spPr>
        <p:txBody>
          <a:bodyPr/>
          <a:lstStyle/>
          <a:p>
            <a:endParaRPr lang="en-US"/>
          </a:p>
        </p:txBody>
      </p:sp>
      <p:sp>
        <p:nvSpPr>
          <p:cNvPr id="43" name="Text 41"/>
          <p:cNvSpPr/>
          <p:nvPr/>
        </p:nvSpPr>
        <p:spPr>
          <a:xfrm>
            <a:off x="4572000" y="1892808"/>
            <a:ext cx="365760" cy="6675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4" name="Text 42"/>
          <p:cNvSpPr/>
          <p:nvPr/>
        </p:nvSpPr>
        <p:spPr>
          <a:xfrm>
            <a:off x="5010912" y="1929384"/>
            <a:ext cx="3785616" cy="219456"/>
          </a:xfrm>
          <a:prstGeom prst="rect">
            <a:avLst/>
          </a:prstGeom>
          <a:noFill/>
          <a:ln/>
        </p:spPr>
        <p:txBody>
          <a:bodyPr wrap="square" lIns="0" tIns="0" rIns="0" bIns="0" rtlCol="0" anchor="ctr"/>
          <a:lstStyle/>
          <a:p>
            <a:pPr marL="0" indent="0">
              <a:buNone/>
            </a:pPr>
            <a:r>
              <a:rPr lang="en-US" sz="1000" b="1" dirty="0">
                <a:solidFill>
                  <a:srgbClr val="1A2E44"/>
                </a:solidFill>
                <a:latin typeface="Calibri" pitchFamily="34" charset="0"/>
                <a:ea typeface="Calibri" pitchFamily="34" charset="-122"/>
                <a:cs typeface="Calibri" pitchFamily="34" charset="-120"/>
              </a:rPr>
              <a:t>Review Window (7 days)</a:t>
            </a:r>
            <a:endParaRPr lang="en-US" sz="1000" dirty="0"/>
          </a:p>
        </p:txBody>
      </p:sp>
      <p:sp>
        <p:nvSpPr>
          <p:cNvPr id="45" name="Text 43"/>
          <p:cNvSpPr/>
          <p:nvPr/>
        </p:nvSpPr>
        <p:spPr>
          <a:xfrm>
            <a:off x="5010912" y="2148840"/>
            <a:ext cx="3785616" cy="384048"/>
          </a:xfrm>
          <a:prstGeom prst="rect">
            <a:avLst/>
          </a:prstGeom>
          <a:noFill/>
          <a:ln/>
        </p:spPr>
        <p:txBody>
          <a:bodyPr wrap="square" lIns="0" tIns="0" rIns="0" bIns="0" rtlCol="0" anchor="ctr"/>
          <a:lstStyle/>
          <a:p>
            <a:pPr marL="0" indent="0">
              <a:buNone/>
            </a:pPr>
            <a:r>
              <a:rPr lang="en-US" sz="850" dirty="0">
                <a:solidFill>
                  <a:srgbClr val="4B6076"/>
                </a:solidFill>
                <a:latin typeface="Calibri" pitchFamily="34" charset="0"/>
                <a:ea typeface="Calibri" pitchFamily="34" charset="-122"/>
                <a:cs typeface="Calibri" pitchFamily="34" charset="-120"/>
              </a:rPr>
              <a:t>Reviewers certify (keep) or revoke each entitlement. AI recommendations with peer group and last-used evidence accelerate review</a:t>
            </a:r>
            <a:endParaRPr lang="en-US" sz="850" dirty="0"/>
          </a:p>
        </p:txBody>
      </p:sp>
      <p:sp>
        <p:nvSpPr>
          <p:cNvPr id="46" name="Shape 44"/>
          <p:cNvSpPr/>
          <p:nvPr/>
        </p:nvSpPr>
        <p:spPr>
          <a:xfrm>
            <a:off x="4572000" y="2642616"/>
            <a:ext cx="4297680" cy="667512"/>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47" name="Shape 45"/>
          <p:cNvSpPr/>
          <p:nvPr/>
        </p:nvSpPr>
        <p:spPr>
          <a:xfrm>
            <a:off x="4572000" y="2642616"/>
            <a:ext cx="365760" cy="667512"/>
          </a:xfrm>
          <a:prstGeom prst="rect">
            <a:avLst/>
          </a:prstGeom>
          <a:solidFill>
            <a:srgbClr val="2D7D46"/>
          </a:solidFill>
          <a:ln w="12700">
            <a:solidFill>
              <a:srgbClr val="2D7D46"/>
            </a:solidFill>
            <a:prstDash val="solid"/>
          </a:ln>
        </p:spPr>
        <p:txBody>
          <a:bodyPr/>
          <a:lstStyle/>
          <a:p>
            <a:endParaRPr lang="en-US"/>
          </a:p>
        </p:txBody>
      </p:sp>
      <p:sp>
        <p:nvSpPr>
          <p:cNvPr id="48" name="Text 46"/>
          <p:cNvSpPr/>
          <p:nvPr/>
        </p:nvSpPr>
        <p:spPr>
          <a:xfrm>
            <a:off x="4572000" y="2642616"/>
            <a:ext cx="365760" cy="6675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9" name="Text 47"/>
          <p:cNvSpPr/>
          <p:nvPr/>
        </p:nvSpPr>
        <p:spPr>
          <a:xfrm>
            <a:off x="5010912" y="2679192"/>
            <a:ext cx="3785616" cy="219456"/>
          </a:xfrm>
          <a:prstGeom prst="rect">
            <a:avLst/>
          </a:prstGeom>
          <a:noFill/>
          <a:ln/>
        </p:spPr>
        <p:txBody>
          <a:bodyPr wrap="square" lIns="0" tIns="0" rIns="0" bIns="0" rtlCol="0" anchor="ctr"/>
          <a:lstStyle/>
          <a:p>
            <a:pPr marL="0" indent="0">
              <a:buNone/>
            </a:pPr>
            <a:r>
              <a:rPr lang="en-US" sz="1000" b="1" dirty="0">
                <a:solidFill>
                  <a:srgbClr val="1A2E44"/>
                </a:solidFill>
                <a:latin typeface="Calibri" pitchFamily="34" charset="0"/>
                <a:ea typeface="Calibri" pitchFamily="34" charset="-122"/>
                <a:cs typeface="Calibri" pitchFamily="34" charset="-120"/>
              </a:rPr>
              <a:t>Escalation (Day 7)</a:t>
            </a:r>
            <a:endParaRPr lang="en-US" sz="1000" dirty="0"/>
          </a:p>
        </p:txBody>
      </p:sp>
      <p:sp>
        <p:nvSpPr>
          <p:cNvPr id="50" name="Text 48"/>
          <p:cNvSpPr/>
          <p:nvPr/>
        </p:nvSpPr>
        <p:spPr>
          <a:xfrm>
            <a:off x="5010912" y="2898648"/>
            <a:ext cx="3785616" cy="384048"/>
          </a:xfrm>
          <a:prstGeom prst="rect">
            <a:avLst/>
          </a:prstGeom>
          <a:noFill/>
          <a:ln/>
        </p:spPr>
        <p:txBody>
          <a:bodyPr wrap="square" lIns="0" tIns="0" rIns="0" bIns="0" rtlCol="0" anchor="ctr"/>
          <a:lstStyle/>
          <a:p>
            <a:pPr marL="0" indent="0">
              <a:buNone/>
            </a:pPr>
            <a:r>
              <a:rPr lang="en-US" sz="850" dirty="0">
                <a:solidFill>
                  <a:srgbClr val="4B6076"/>
                </a:solidFill>
                <a:latin typeface="Calibri" pitchFamily="34" charset="0"/>
                <a:ea typeface="Calibri" pitchFamily="34" charset="-122"/>
                <a:cs typeface="Calibri" pitchFamily="34" charset="-120"/>
              </a:rPr>
              <a:t>Non-responses escalated to reviewer manager. Escalated items tracked separately in campaign completion dashboard</a:t>
            </a:r>
            <a:endParaRPr lang="en-US" sz="850" dirty="0"/>
          </a:p>
        </p:txBody>
      </p:sp>
      <p:sp>
        <p:nvSpPr>
          <p:cNvPr id="51" name="Shape 49"/>
          <p:cNvSpPr/>
          <p:nvPr/>
        </p:nvSpPr>
        <p:spPr>
          <a:xfrm>
            <a:off x="4572000" y="3392424"/>
            <a:ext cx="4297680" cy="667512"/>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52" name="Shape 50"/>
          <p:cNvSpPr/>
          <p:nvPr/>
        </p:nvSpPr>
        <p:spPr>
          <a:xfrm>
            <a:off x="4572000" y="3392424"/>
            <a:ext cx="365760" cy="667512"/>
          </a:xfrm>
          <a:prstGeom prst="rect">
            <a:avLst/>
          </a:prstGeom>
          <a:solidFill>
            <a:srgbClr val="2D7D46"/>
          </a:solidFill>
          <a:ln w="12700">
            <a:solidFill>
              <a:srgbClr val="2D7D46"/>
            </a:solidFill>
            <a:prstDash val="solid"/>
          </a:ln>
        </p:spPr>
        <p:txBody>
          <a:bodyPr/>
          <a:lstStyle/>
          <a:p>
            <a:endParaRPr lang="en-US"/>
          </a:p>
        </p:txBody>
      </p:sp>
      <p:sp>
        <p:nvSpPr>
          <p:cNvPr id="53" name="Text 51"/>
          <p:cNvSpPr/>
          <p:nvPr/>
        </p:nvSpPr>
        <p:spPr>
          <a:xfrm>
            <a:off x="4572000" y="3392424"/>
            <a:ext cx="365760" cy="6675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54" name="Text 52"/>
          <p:cNvSpPr/>
          <p:nvPr/>
        </p:nvSpPr>
        <p:spPr>
          <a:xfrm>
            <a:off x="5010912" y="3429000"/>
            <a:ext cx="3785616" cy="219456"/>
          </a:xfrm>
          <a:prstGeom prst="rect">
            <a:avLst/>
          </a:prstGeom>
          <a:noFill/>
          <a:ln/>
        </p:spPr>
        <p:txBody>
          <a:bodyPr wrap="square" lIns="0" tIns="0" rIns="0" bIns="0" rtlCol="0" anchor="ctr"/>
          <a:lstStyle/>
          <a:p>
            <a:pPr marL="0" indent="0">
              <a:buNone/>
            </a:pPr>
            <a:r>
              <a:rPr lang="en-US" sz="1000" b="1" dirty="0">
                <a:solidFill>
                  <a:srgbClr val="1A2E44"/>
                </a:solidFill>
                <a:latin typeface="Calibri" pitchFamily="34" charset="0"/>
                <a:ea typeface="Calibri" pitchFamily="34" charset="-122"/>
                <a:cs typeface="Calibri" pitchFamily="34" charset="-120"/>
              </a:rPr>
              <a:t>Escalation &amp; Policy Action (Day 14)</a:t>
            </a:r>
            <a:endParaRPr lang="en-US" sz="1000" dirty="0"/>
          </a:p>
        </p:txBody>
      </p:sp>
      <p:sp>
        <p:nvSpPr>
          <p:cNvPr id="55" name="Text 53"/>
          <p:cNvSpPr/>
          <p:nvPr/>
        </p:nvSpPr>
        <p:spPr>
          <a:xfrm>
            <a:off x="5010912" y="3648456"/>
            <a:ext cx="3785616" cy="384048"/>
          </a:xfrm>
          <a:prstGeom prst="rect">
            <a:avLst/>
          </a:prstGeom>
          <a:noFill/>
          <a:ln/>
        </p:spPr>
        <p:txBody>
          <a:bodyPr wrap="square" lIns="0" tIns="0" rIns="0" bIns="0" rtlCol="0" anchor="ctr"/>
          <a:lstStyle/>
          <a:p>
            <a:pPr marL="0" indent="0">
              <a:buNone/>
            </a:pPr>
            <a:r>
              <a:rPr lang="en-US" sz="850" dirty="0">
                <a:solidFill>
                  <a:srgbClr val="4B6076"/>
                </a:solidFill>
                <a:latin typeface="Calibri" pitchFamily="34" charset="0"/>
                <a:ea typeface="Calibri" pitchFamily="34" charset="-122"/>
                <a:cs typeface="Calibri" pitchFamily="34" charset="-120"/>
              </a:rPr>
              <a:t>Unreviewed access escalates to manager, then app owner. Policy may enforce auto-revocation after escalation period. Risk-based enforcement determines action.</a:t>
            </a:r>
            <a:endParaRPr lang="en-US" sz="850" dirty="0"/>
          </a:p>
        </p:txBody>
      </p:sp>
      <p:sp>
        <p:nvSpPr>
          <p:cNvPr id="56" name="Shape 54"/>
          <p:cNvSpPr/>
          <p:nvPr/>
        </p:nvSpPr>
        <p:spPr>
          <a:xfrm>
            <a:off x="4572000" y="4142232"/>
            <a:ext cx="4297680" cy="667512"/>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57" name="Shape 55"/>
          <p:cNvSpPr/>
          <p:nvPr/>
        </p:nvSpPr>
        <p:spPr>
          <a:xfrm>
            <a:off x="4572000" y="4142232"/>
            <a:ext cx="365760" cy="667512"/>
          </a:xfrm>
          <a:prstGeom prst="rect">
            <a:avLst/>
          </a:prstGeom>
          <a:solidFill>
            <a:srgbClr val="2D7D46"/>
          </a:solidFill>
          <a:ln w="12700">
            <a:solidFill>
              <a:srgbClr val="2D7D46"/>
            </a:solidFill>
            <a:prstDash val="solid"/>
          </a:ln>
        </p:spPr>
        <p:txBody>
          <a:bodyPr/>
          <a:lstStyle/>
          <a:p>
            <a:endParaRPr lang="en-US"/>
          </a:p>
        </p:txBody>
      </p:sp>
      <p:sp>
        <p:nvSpPr>
          <p:cNvPr id="58" name="Text 56"/>
          <p:cNvSpPr/>
          <p:nvPr/>
        </p:nvSpPr>
        <p:spPr>
          <a:xfrm>
            <a:off x="4572000" y="4142232"/>
            <a:ext cx="365760" cy="6675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59" name="Text 57"/>
          <p:cNvSpPr/>
          <p:nvPr/>
        </p:nvSpPr>
        <p:spPr>
          <a:xfrm>
            <a:off x="5010912" y="4178808"/>
            <a:ext cx="3785616" cy="219456"/>
          </a:xfrm>
          <a:prstGeom prst="rect">
            <a:avLst/>
          </a:prstGeom>
          <a:noFill/>
          <a:ln/>
        </p:spPr>
        <p:txBody>
          <a:bodyPr wrap="square" lIns="0" tIns="0" rIns="0" bIns="0" rtlCol="0" anchor="ctr"/>
          <a:lstStyle/>
          <a:p>
            <a:pPr marL="0" indent="0">
              <a:buNone/>
            </a:pPr>
            <a:r>
              <a:rPr lang="en-US" sz="1000" b="1" dirty="0">
                <a:solidFill>
                  <a:srgbClr val="1A2E44"/>
                </a:solidFill>
                <a:latin typeface="Calibri" pitchFamily="34" charset="0"/>
                <a:ea typeface="Calibri" pitchFamily="34" charset="-122"/>
                <a:cs typeface="Calibri" pitchFamily="34" charset="-120"/>
              </a:rPr>
              <a:t>Audit Log Generated</a:t>
            </a:r>
            <a:endParaRPr lang="en-US" sz="1000" dirty="0"/>
          </a:p>
        </p:txBody>
      </p:sp>
      <p:sp>
        <p:nvSpPr>
          <p:cNvPr id="60" name="Text 58"/>
          <p:cNvSpPr/>
          <p:nvPr/>
        </p:nvSpPr>
        <p:spPr>
          <a:xfrm>
            <a:off x="5010912" y="4398264"/>
            <a:ext cx="3785616" cy="384048"/>
          </a:xfrm>
          <a:prstGeom prst="rect">
            <a:avLst/>
          </a:prstGeom>
          <a:noFill/>
          <a:ln/>
        </p:spPr>
        <p:txBody>
          <a:bodyPr wrap="square" lIns="0" tIns="0" rIns="0" bIns="0" rtlCol="0" anchor="ctr"/>
          <a:lstStyle/>
          <a:p>
            <a:pPr marL="0" indent="0">
              <a:buNone/>
            </a:pPr>
            <a:r>
              <a:rPr lang="en-US" sz="850" dirty="0">
                <a:solidFill>
                  <a:srgbClr val="4B6076"/>
                </a:solidFill>
                <a:latin typeface="Calibri" pitchFamily="34" charset="0"/>
                <a:ea typeface="Calibri" pitchFamily="34" charset="-122"/>
                <a:cs typeface="Calibri" pitchFamily="34" charset="-120"/>
              </a:rPr>
              <a:t>All decisions (certify, revoke, exception) logged with reviewer, timestamp, rationale. Constitutes SOX/PCI/HIPAA audit evidence.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3C5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D7D46"/>
          </a:solidFill>
          <a:ln w="12700">
            <a:solidFill>
              <a:srgbClr val="2D7D46"/>
            </a:solidFill>
            <a:prstDash val="solid"/>
          </a:ln>
        </p:spPr>
        <p:txBody>
          <a:bodyPr/>
          <a:lstStyle/>
          <a:p>
            <a:endParaRPr lang="en-US"/>
          </a:p>
        </p:txBody>
      </p:sp>
      <p:sp>
        <p:nvSpPr>
          <p:cNvPr id="3" name="Text 1"/>
          <p:cNvSpPr/>
          <p:nvPr/>
        </p:nvSpPr>
        <p:spPr>
          <a:xfrm>
            <a:off x="6858000" y="731520"/>
            <a:ext cx="2103120" cy="2560320"/>
          </a:xfrm>
          <a:prstGeom prst="rect">
            <a:avLst/>
          </a:prstGeom>
          <a:noFill/>
          <a:ln/>
        </p:spPr>
        <p:txBody>
          <a:bodyPr wrap="square" lIns="0" tIns="0" rIns="0" bIns="0" rtlCol="0" anchor="ctr"/>
          <a:lstStyle/>
          <a:p>
            <a:pPr marL="0" indent="0" algn="r">
              <a:buNone/>
            </a:pPr>
            <a:r>
              <a:rPr lang="en-US" sz="14000" b="1" dirty="0">
                <a:solidFill>
                  <a:srgbClr val="1A4A30"/>
                </a:solidFill>
                <a:latin typeface="Calibri" pitchFamily="34" charset="0"/>
                <a:ea typeface="Calibri" pitchFamily="34" charset="-122"/>
                <a:cs typeface="Calibri" pitchFamily="34" charset="-120"/>
              </a:rPr>
              <a:t>04</a:t>
            </a:r>
            <a:endParaRPr lang="en-US" sz="14000" dirty="0"/>
          </a:p>
        </p:txBody>
      </p:sp>
      <p:sp>
        <p:nvSpPr>
          <p:cNvPr id="4" name="Text 2"/>
          <p:cNvSpPr/>
          <p:nvPr/>
        </p:nvSpPr>
        <p:spPr>
          <a:xfrm>
            <a:off x="320040" y="1600200"/>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Separation of Duties</a:t>
            </a:r>
            <a:endParaRPr lang="en-US" sz="3000" dirty="0"/>
          </a:p>
        </p:txBody>
      </p:sp>
      <p:sp>
        <p:nvSpPr>
          <p:cNvPr id="5" name="Shape 3"/>
          <p:cNvSpPr/>
          <p:nvPr/>
        </p:nvSpPr>
        <p:spPr>
          <a:xfrm>
            <a:off x="320040" y="2468880"/>
            <a:ext cx="6217920" cy="0"/>
          </a:xfrm>
          <a:prstGeom prst="line">
            <a:avLst/>
          </a:prstGeom>
          <a:noFill/>
          <a:ln w="6350">
            <a:solidFill>
              <a:srgbClr val="8BAAC2"/>
            </a:solidFill>
            <a:prstDash val="solid"/>
          </a:ln>
        </p:spPr>
        <p:txBody>
          <a:bodyPr/>
          <a:lstStyle/>
          <a:p>
            <a:endParaRPr lang="en-US"/>
          </a:p>
        </p:txBody>
      </p:sp>
      <p:sp>
        <p:nvSpPr>
          <p:cNvPr id="6" name="Text 4"/>
          <p:cNvSpPr/>
          <p:nvPr/>
        </p:nvSpPr>
        <p:spPr>
          <a:xfrm>
            <a:off x="320040" y="2542032"/>
            <a:ext cx="6400800" cy="457200"/>
          </a:xfrm>
          <a:prstGeom prst="rect">
            <a:avLst/>
          </a:prstGeom>
          <a:noFill/>
          <a:ln/>
        </p:spPr>
        <p:txBody>
          <a:bodyPr wrap="square" lIns="0" tIns="0" rIns="0" bIns="0" rtlCol="0" anchor="ctr"/>
          <a:lstStyle/>
          <a:p>
            <a:pPr marL="0" indent="0">
              <a:buNone/>
            </a:pPr>
            <a:r>
              <a:rPr lang="en-US" sz="1400" i="1" dirty="0">
                <a:solidFill>
                  <a:srgbClr val="C9DDE8"/>
                </a:solidFill>
                <a:latin typeface="Calibri" pitchFamily="34" charset="0"/>
                <a:ea typeface="Calibri" pitchFamily="34" charset="-122"/>
                <a:cs typeface="Calibri" pitchFamily="34" charset="-120"/>
              </a:rPr>
              <a:t>Toxic combinations, SoD rules, and remediation workflow</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C5E"/>
          </a:solidFill>
          <a:ln w="12700">
            <a:solidFill>
              <a:srgbClr val="1A3C5E"/>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Separation of Duties (SoD) Architecture</a:t>
            </a:r>
            <a:endParaRPr lang="en-US" sz="2000" dirty="0"/>
          </a:p>
        </p:txBody>
      </p:sp>
      <p:sp>
        <p:nvSpPr>
          <p:cNvPr id="4" name="Shape 2"/>
          <p:cNvSpPr/>
          <p:nvPr/>
        </p:nvSpPr>
        <p:spPr>
          <a:xfrm>
            <a:off x="228600" y="804672"/>
            <a:ext cx="2743200" cy="1051560"/>
          </a:xfrm>
          <a:prstGeom prst="rect">
            <a:avLst/>
          </a:prstGeom>
          <a:solidFill>
            <a:srgbClr val="FFFFFF"/>
          </a:solidFill>
          <a:ln w="25400">
            <a:solidFill>
              <a:srgbClr val="C0392B"/>
            </a:solidFill>
            <a:prstDash val="solid"/>
          </a:ln>
          <a:effectLst>
            <a:outerShdw blurRad="63500" dist="25400" dir="8100000" algn="bl" rotWithShape="0">
              <a:srgbClr val="000000">
                <a:alpha val="12000"/>
              </a:srgbClr>
            </a:outerShdw>
          </a:effectLst>
        </p:spPr>
        <p:txBody>
          <a:bodyPr/>
          <a:lstStyle/>
          <a:p>
            <a:endParaRPr lang="en-US"/>
          </a:p>
        </p:txBody>
      </p:sp>
      <p:sp>
        <p:nvSpPr>
          <p:cNvPr id="5" name="Shape 3"/>
          <p:cNvSpPr/>
          <p:nvPr/>
        </p:nvSpPr>
        <p:spPr>
          <a:xfrm>
            <a:off x="228600" y="804672"/>
            <a:ext cx="2743200" cy="347472"/>
          </a:xfrm>
          <a:prstGeom prst="rect">
            <a:avLst/>
          </a:prstGeom>
          <a:solidFill>
            <a:srgbClr val="C0392B"/>
          </a:solidFill>
          <a:ln w="12700">
            <a:solidFill>
              <a:srgbClr val="C0392B"/>
            </a:solidFill>
            <a:prstDash val="solid"/>
          </a:ln>
        </p:spPr>
        <p:txBody>
          <a:bodyPr/>
          <a:lstStyle/>
          <a:p>
            <a:endParaRPr lang="en-US"/>
          </a:p>
        </p:txBody>
      </p:sp>
      <p:sp>
        <p:nvSpPr>
          <p:cNvPr id="6" name="Text 4"/>
          <p:cNvSpPr/>
          <p:nvPr/>
        </p:nvSpPr>
        <p:spPr>
          <a:xfrm>
            <a:off x="320040" y="804672"/>
            <a:ext cx="256032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Toxic Combination</a:t>
            </a:r>
            <a:endParaRPr lang="en-US" sz="1100" dirty="0"/>
          </a:p>
        </p:txBody>
      </p:sp>
      <p:sp>
        <p:nvSpPr>
          <p:cNvPr id="7" name="Text 5"/>
          <p:cNvSpPr/>
          <p:nvPr/>
        </p:nvSpPr>
        <p:spPr>
          <a:xfrm>
            <a:off x="320040" y="1188720"/>
            <a:ext cx="2560320" cy="621792"/>
          </a:xfrm>
          <a:prstGeom prst="rect">
            <a:avLst/>
          </a:prstGeom>
          <a:noFill/>
          <a:ln/>
        </p:spPr>
        <p:txBody>
          <a:bodyPr wrap="square" lIns="0" tIns="0" rIns="0" bIns="0" rtlCol="0" anchor="ctr"/>
          <a:lstStyle/>
          <a:p>
            <a:pPr marL="0" indent="0">
              <a:buNone/>
            </a:pPr>
            <a:r>
              <a:rPr lang="en-US" sz="950" dirty="0">
                <a:solidFill>
                  <a:srgbClr val="4B6076"/>
                </a:solidFill>
                <a:latin typeface="Calibri" pitchFamily="34" charset="0"/>
                <a:ea typeface="Calibri" pitchFamily="34" charset="-122"/>
                <a:cs typeface="Calibri" pitchFamily="34" charset="-120"/>
              </a:rPr>
              <a:t>Two+ entitlements that together violate SoD. Example: Create Vendor + Approve Payment in ERP enables fraud without a second reviewer.</a:t>
            </a:r>
            <a:endParaRPr lang="en-US" sz="950" dirty="0"/>
          </a:p>
        </p:txBody>
      </p:sp>
      <p:sp>
        <p:nvSpPr>
          <p:cNvPr id="8" name="Shape 6"/>
          <p:cNvSpPr/>
          <p:nvPr/>
        </p:nvSpPr>
        <p:spPr>
          <a:xfrm>
            <a:off x="3154680" y="804672"/>
            <a:ext cx="2743200" cy="1051560"/>
          </a:xfrm>
          <a:prstGeom prst="rect">
            <a:avLst/>
          </a:prstGeom>
          <a:solidFill>
            <a:srgbClr val="FFFFFF"/>
          </a:solidFill>
          <a:ln w="25400">
            <a:solidFill>
              <a:srgbClr val="2D7D46"/>
            </a:solidFill>
            <a:prstDash val="solid"/>
          </a:ln>
          <a:effectLst>
            <a:outerShdw blurRad="63500" dist="25400" dir="8100000" algn="bl" rotWithShape="0">
              <a:srgbClr val="000000">
                <a:alpha val="12000"/>
              </a:srgbClr>
            </a:outerShdw>
          </a:effectLst>
        </p:spPr>
        <p:txBody>
          <a:bodyPr/>
          <a:lstStyle/>
          <a:p>
            <a:endParaRPr lang="en-US"/>
          </a:p>
        </p:txBody>
      </p:sp>
      <p:sp>
        <p:nvSpPr>
          <p:cNvPr id="9" name="Shape 7"/>
          <p:cNvSpPr/>
          <p:nvPr/>
        </p:nvSpPr>
        <p:spPr>
          <a:xfrm>
            <a:off x="3154680" y="804672"/>
            <a:ext cx="2743200" cy="347472"/>
          </a:xfrm>
          <a:prstGeom prst="rect">
            <a:avLst/>
          </a:prstGeom>
          <a:solidFill>
            <a:srgbClr val="2D7D46"/>
          </a:solidFill>
          <a:ln w="12700">
            <a:solidFill>
              <a:srgbClr val="2D7D46"/>
            </a:solidFill>
            <a:prstDash val="solid"/>
          </a:ln>
        </p:spPr>
        <p:txBody>
          <a:bodyPr/>
          <a:lstStyle/>
          <a:p>
            <a:endParaRPr lang="en-US"/>
          </a:p>
        </p:txBody>
      </p:sp>
      <p:sp>
        <p:nvSpPr>
          <p:cNvPr id="10" name="Text 8"/>
          <p:cNvSpPr/>
          <p:nvPr/>
        </p:nvSpPr>
        <p:spPr>
          <a:xfrm>
            <a:off x="3246120" y="804672"/>
            <a:ext cx="256032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Preventive Control</a:t>
            </a:r>
            <a:endParaRPr lang="en-US" sz="1100" dirty="0"/>
          </a:p>
        </p:txBody>
      </p:sp>
      <p:sp>
        <p:nvSpPr>
          <p:cNvPr id="11" name="Text 9"/>
          <p:cNvSpPr/>
          <p:nvPr/>
        </p:nvSpPr>
        <p:spPr>
          <a:xfrm>
            <a:off x="3246120" y="1188720"/>
            <a:ext cx="2560320" cy="621792"/>
          </a:xfrm>
          <a:prstGeom prst="rect">
            <a:avLst/>
          </a:prstGeom>
          <a:noFill/>
          <a:ln/>
        </p:spPr>
        <p:txBody>
          <a:bodyPr wrap="square" lIns="0" tIns="0" rIns="0" bIns="0" rtlCol="0" anchor="ctr"/>
          <a:lstStyle/>
          <a:p>
            <a:pPr marL="0" indent="0">
              <a:buNone/>
            </a:pPr>
            <a:r>
              <a:rPr lang="en-US" sz="950" dirty="0">
                <a:solidFill>
                  <a:srgbClr val="4B6076"/>
                </a:solidFill>
                <a:latin typeface="Calibri" pitchFamily="34" charset="0"/>
                <a:ea typeface="Calibri" pitchFamily="34" charset="-122"/>
                <a:cs typeface="Calibri" pitchFamily="34" charset="-120"/>
              </a:rPr>
              <a:t>Access request blocked at the point of request if it would create a SoD conflict. User cannot acquire the conflicting entitlement.</a:t>
            </a:r>
            <a:endParaRPr lang="en-US" sz="950" dirty="0"/>
          </a:p>
        </p:txBody>
      </p:sp>
      <p:sp>
        <p:nvSpPr>
          <p:cNvPr id="12" name="Shape 10"/>
          <p:cNvSpPr/>
          <p:nvPr/>
        </p:nvSpPr>
        <p:spPr>
          <a:xfrm>
            <a:off x="6080760" y="804672"/>
            <a:ext cx="2743200" cy="1051560"/>
          </a:xfrm>
          <a:prstGeom prst="rect">
            <a:avLst/>
          </a:prstGeom>
          <a:solidFill>
            <a:srgbClr val="FFFFFF"/>
          </a:solidFill>
          <a:ln w="25400">
            <a:solidFill>
              <a:srgbClr val="D97706"/>
            </a:solidFill>
            <a:prstDash val="solid"/>
          </a:ln>
          <a:effectLst>
            <a:outerShdw blurRad="63500" dist="25400" dir="8100000" algn="bl" rotWithShape="0">
              <a:srgbClr val="000000">
                <a:alpha val="12000"/>
              </a:srgbClr>
            </a:outerShdw>
          </a:effectLst>
        </p:spPr>
        <p:txBody>
          <a:bodyPr/>
          <a:lstStyle/>
          <a:p>
            <a:endParaRPr lang="en-US"/>
          </a:p>
        </p:txBody>
      </p:sp>
      <p:sp>
        <p:nvSpPr>
          <p:cNvPr id="13" name="Shape 11"/>
          <p:cNvSpPr/>
          <p:nvPr/>
        </p:nvSpPr>
        <p:spPr>
          <a:xfrm>
            <a:off x="6080760" y="804672"/>
            <a:ext cx="2743200" cy="347472"/>
          </a:xfrm>
          <a:prstGeom prst="rect">
            <a:avLst/>
          </a:prstGeom>
          <a:solidFill>
            <a:srgbClr val="D97706"/>
          </a:solidFill>
          <a:ln w="12700">
            <a:solidFill>
              <a:srgbClr val="D97706"/>
            </a:solidFill>
            <a:prstDash val="solid"/>
          </a:ln>
        </p:spPr>
        <p:txBody>
          <a:bodyPr/>
          <a:lstStyle/>
          <a:p>
            <a:endParaRPr lang="en-US"/>
          </a:p>
        </p:txBody>
      </p:sp>
      <p:sp>
        <p:nvSpPr>
          <p:cNvPr id="14" name="Text 12"/>
          <p:cNvSpPr/>
          <p:nvPr/>
        </p:nvSpPr>
        <p:spPr>
          <a:xfrm>
            <a:off x="6172200" y="804672"/>
            <a:ext cx="256032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Detective Control</a:t>
            </a:r>
            <a:endParaRPr lang="en-US" sz="1100" dirty="0"/>
          </a:p>
        </p:txBody>
      </p:sp>
      <p:sp>
        <p:nvSpPr>
          <p:cNvPr id="15" name="Text 13"/>
          <p:cNvSpPr/>
          <p:nvPr/>
        </p:nvSpPr>
        <p:spPr>
          <a:xfrm>
            <a:off x="6172200" y="1188720"/>
            <a:ext cx="2560320" cy="621792"/>
          </a:xfrm>
          <a:prstGeom prst="rect">
            <a:avLst/>
          </a:prstGeom>
          <a:noFill/>
          <a:ln/>
        </p:spPr>
        <p:txBody>
          <a:bodyPr wrap="square" lIns="0" tIns="0" rIns="0" bIns="0" rtlCol="0" anchor="ctr"/>
          <a:lstStyle/>
          <a:p>
            <a:pPr marL="0" indent="0">
              <a:buNone/>
            </a:pPr>
            <a:r>
              <a:rPr lang="en-US" sz="950" dirty="0">
                <a:solidFill>
                  <a:srgbClr val="4B6076"/>
                </a:solidFill>
                <a:latin typeface="Calibri" pitchFamily="34" charset="0"/>
                <a:ea typeface="Calibri" pitchFamily="34" charset="-122"/>
                <a:cs typeface="Calibri" pitchFamily="34" charset="-120"/>
              </a:rPr>
              <a:t>Continuous monitoring of current assignments for existing SoD violations. Violations routed for remediation or exception documentation.</a:t>
            </a:r>
            <a:endParaRPr lang="en-US" sz="950" dirty="0"/>
          </a:p>
        </p:txBody>
      </p:sp>
      <p:sp>
        <p:nvSpPr>
          <p:cNvPr id="16" name="Text 14"/>
          <p:cNvSpPr/>
          <p:nvPr/>
        </p:nvSpPr>
        <p:spPr>
          <a:xfrm>
            <a:off x="228600" y="1965960"/>
            <a:ext cx="8686800" cy="274320"/>
          </a:xfrm>
          <a:prstGeom prst="rect">
            <a:avLst/>
          </a:prstGeom>
          <a:noFill/>
          <a:ln/>
        </p:spPr>
        <p:txBody>
          <a:bodyPr wrap="square" lIns="0" tIns="0" rIns="0" bIns="0" rtlCol="0" anchor="ctr"/>
          <a:lstStyle/>
          <a:p>
            <a:pPr marL="0" indent="0">
              <a:buNone/>
            </a:pPr>
            <a:r>
              <a:rPr lang="en-US" sz="1300" b="1" dirty="0">
                <a:solidFill>
                  <a:srgbClr val="1A3C5E"/>
                </a:solidFill>
                <a:latin typeface="Calibri" pitchFamily="34" charset="0"/>
                <a:ea typeface="Calibri" pitchFamily="34" charset="-122"/>
                <a:cs typeface="Calibri" pitchFamily="34" charset="-120"/>
              </a:rPr>
              <a:t>SoD Enforcement Flow</a:t>
            </a:r>
            <a:endParaRPr lang="en-US" sz="1300" dirty="0"/>
          </a:p>
        </p:txBody>
      </p:sp>
      <p:sp>
        <p:nvSpPr>
          <p:cNvPr id="17" name="Shape 15"/>
          <p:cNvSpPr/>
          <p:nvPr/>
        </p:nvSpPr>
        <p:spPr>
          <a:xfrm>
            <a:off x="228600" y="2331720"/>
            <a:ext cx="1554480" cy="640080"/>
          </a:xfrm>
          <a:prstGeom prst="rect">
            <a:avLst/>
          </a:prstGeom>
          <a:solidFill>
            <a:srgbClr val="1A3C5E"/>
          </a:solidFill>
          <a:ln w="12700">
            <a:solidFill>
              <a:srgbClr val="1A3C5E"/>
            </a:solidFill>
            <a:prstDash val="solid"/>
          </a:ln>
          <a:effectLst>
            <a:outerShdw blurRad="63500" dist="25400" dir="8100000" algn="bl" rotWithShape="0">
              <a:srgbClr val="000000">
                <a:alpha val="12000"/>
              </a:srgbClr>
            </a:outerShdw>
          </a:effectLst>
        </p:spPr>
        <p:txBody>
          <a:bodyPr/>
          <a:lstStyle/>
          <a:p>
            <a:endParaRPr lang="en-US"/>
          </a:p>
        </p:txBody>
      </p:sp>
      <p:sp>
        <p:nvSpPr>
          <p:cNvPr id="18" name="Text 16"/>
          <p:cNvSpPr/>
          <p:nvPr/>
        </p:nvSpPr>
        <p:spPr>
          <a:xfrm>
            <a:off x="228600" y="2331720"/>
            <a:ext cx="155448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Access</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Request</a:t>
            </a:r>
            <a:endParaRPr lang="en-US" sz="1000" dirty="0"/>
          </a:p>
        </p:txBody>
      </p:sp>
      <p:sp>
        <p:nvSpPr>
          <p:cNvPr id="19" name="Shape 17"/>
          <p:cNvSpPr/>
          <p:nvPr/>
        </p:nvSpPr>
        <p:spPr>
          <a:xfrm>
            <a:off x="1783080" y="2651760"/>
            <a:ext cx="274320" cy="0"/>
          </a:xfrm>
          <a:prstGeom prst="line">
            <a:avLst/>
          </a:prstGeom>
          <a:noFill/>
          <a:ln w="25400">
            <a:solidFill>
              <a:srgbClr val="8BAAC2"/>
            </a:solidFill>
            <a:prstDash val="solid"/>
          </a:ln>
        </p:spPr>
        <p:txBody>
          <a:bodyPr/>
          <a:lstStyle/>
          <a:p>
            <a:endParaRPr lang="en-US"/>
          </a:p>
        </p:txBody>
      </p:sp>
      <p:sp>
        <p:nvSpPr>
          <p:cNvPr id="20" name="Shape 18"/>
          <p:cNvSpPr/>
          <p:nvPr/>
        </p:nvSpPr>
        <p:spPr>
          <a:xfrm>
            <a:off x="2057400" y="2331720"/>
            <a:ext cx="1554480" cy="640080"/>
          </a:xfrm>
          <a:prstGeom prst="rect">
            <a:avLst/>
          </a:prstGeom>
          <a:solidFill>
            <a:srgbClr val="6B21A8"/>
          </a:solidFill>
          <a:ln w="12700">
            <a:solidFill>
              <a:srgbClr val="6B21A8"/>
            </a:solidFill>
            <a:prstDash val="solid"/>
          </a:ln>
          <a:effectLst>
            <a:outerShdw blurRad="63500" dist="25400" dir="8100000" algn="bl" rotWithShape="0">
              <a:srgbClr val="000000">
                <a:alpha val="12000"/>
              </a:srgbClr>
            </a:outerShdw>
          </a:effectLst>
        </p:spPr>
        <p:txBody>
          <a:bodyPr/>
          <a:lstStyle/>
          <a:p>
            <a:endParaRPr lang="en-US"/>
          </a:p>
        </p:txBody>
      </p:sp>
      <p:sp>
        <p:nvSpPr>
          <p:cNvPr id="21" name="Text 19"/>
          <p:cNvSpPr/>
          <p:nvPr/>
        </p:nvSpPr>
        <p:spPr>
          <a:xfrm>
            <a:off x="2057400" y="2331720"/>
            <a:ext cx="155448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SoD Rule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Engine</a:t>
            </a:r>
            <a:endParaRPr lang="en-US" sz="1000" dirty="0"/>
          </a:p>
        </p:txBody>
      </p:sp>
      <p:sp>
        <p:nvSpPr>
          <p:cNvPr id="22" name="Shape 20"/>
          <p:cNvSpPr/>
          <p:nvPr/>
        </p:nvSpPr>
        <p:spPr>
          <a:xfrm>
            <a:off x="3611880" y="2651760"/>
            <a:ext cx="274320" cy="0"/>
          </a:xfrm>
          <a:prstGeom prst="line">
            <a:avLst/>
          </a:prstGeom>
          <a:noFill/>
          <a:ln w="25400">
            <a:solidFill>
              <a:srgbClr val="8BAAC2"/>
            </a:solidFill>
            <a:prstDash val="solid"/>
          </a:ln>
        </p:spPr>
        <p:txBody>
          <a:bodyPr/>
          <a:lstStyle/>
          <a:p>
            <a:endParaRPr lang="en-US"/>
          </a:p>
        </p:txBody>
      </p:sp>
      <p:sp>
        <p:nvSpPr>
          <p:cNvPr id="23" name="Shape 21"/>
          <p:cNvSpPr/>
          <p:nvPr/>
        </p:nvSpPr>
        <p:spPr>
          <a:xfrm>
            <a:off x="3886200" y="2331720"/>
            <a:ext cx="1554480" cy="640080"/>
          </a:xfrm>
          <a:prstGeom prst="rect">
            <a:avLst/>
          </a:prstGeom>
          <a:solidFill>
            <a:srgbClr val="C0392B"/>
          </a:solidFill>
          <a:ln w="12700">
            <a:solidFill>
              <a:srgbClr val="C0392B"/>
            </a:solidFill>
            <a:prstDash val="solid"/>
          </a:ln>
          <a:effectLst>
            <a:outerShdw blurRad="63500" dist="25400" dir="8100000" algn="bl" rotWithShape="0">
              <a:srgbClr val="000000">
                <a:alpha val="12000"/>
              </a:srgbClr>
            </a:outerShdw>
          </a:effectLst>
        </p:spPr>
        <p:txBody>
          <a:bodyPr/>
          <a:lstStyle/>
          <a:p>
            <a:endParaRPr lang="en-US"/>
          </a:p>
        </p:txBody>
      </p:sp>
      <p:sp>
        <p:nvSpPr>
          <p:cNvPr id="24" name="Text 22"/>
          <p:cNvSpPr/>
          <p:nvPr/>
        </p:nvSpPr>
        <p:spPr>
          <a:xfrm>
            <a:off x="3886200" y="2331720"/>
            <a:ext cx="155448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Violation</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Detected?</a:t>
            </a:r>
            <a:endParaRPr lang="en-US" sz="1000" dirty="0"/>
          </a:p>
        </p:txBody>
      </p:sp>
      <p:sp>
        <p:nvSpPr>
          <p:cNvPr id="25" name="Shape 23"/>
          <p:cNvSpPr/>
          <p:nvPr/>
        </p:nvSpPr>
        <p:spPr>
          <a:xfrm>
            <a:off x="6858000" y="2331720"/>
            <a:ext cx="1554480" cy="640080"/>
          </a:xfrm>
          <a:prstGeom prst="rect">
            <a:avLst/>
          </a:prstGeom>
          <a:solidFill>
            <a:srgbClr val="0D9448"/>
          </a:solidFill>
          <a:ln w="12700">
            <a:solidFill>
              <a:srgbClr val="0D9448"/>
            </a:solidFill>
            <a:prstDash val="solid"/>
          </a:ln>
          <a:effectLst>
            <a:outerShdw blurRad="63500" dist="25400" dir="8100000" algn="bl" rotWithShape="0">
              <a:srgbClr val="000000">
                <a:alpha val="12000"/>
              </a:srgbClr>
            </a:outerShdw>
          </a:effectLst>
        </p:spPr>
        <p:txBody>
          <a:bodyPr/>
          <a:lstStyle/>
          <a:p>
            <a:endParaRPr lang="en-US"/>
          </a:p>
        </p:txBody>
      </p:sp>
      <p:sp>
        <p:nvSpPr>
          <p:cNvPr id="26" name="Text 24"/>
          <p:cNvSpPr/>
          <p:nvPr/>
        </p:nvSpPr>
        <p:spPr>
          <a:xfrm>
            <a:off x="6858000" y="2331720"/>
            <a:ext cx="155448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Access</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Granted</a:t>
            </a:r>
            <a:endParaRPr lang="en-US" sz="1000" dirty="0"/>
          </a:p>
        </p:txBody>
      </p:sp>
      <p:sp>
        <p:nvSpPr>
          <p:cNvPr id="27" name="Shape 25"/>
          <p:cNvSpPr/>
          <p:nvPr/>
        </p:nvSpPr>
        <p:spPr>
          <a:xfrm>
            <a:off x="5440680" y="2651760"/>
            <a:ext cx="1417320" cy="0"/>
          </a:xfrm>
          <a:prstGeom prst="line">
            <a:avLst/>
          </a:prstGeom>
          <a:noFill/>
          <a:ln w="25400">
            <a:solidFill>
              <a:srgbClr val="0D9448"/>
            </a:solidFill>
            <a:prstDash val="solid"/>
          </a:ln>
        </p:spPr>
        <p:txBody>
          <a:bodyPr/>
          <a:lstStyle/>
          <a:p>
            <a:endParaRPr lang="en-US"/>
          </a:p>
        </p:txBody>
      </p:sp>
      <p:sp>
        <p:nvSpPr>
          <p:cNvPr id="28" name="Text 26"/>
          <p:cNvSpPr/>
          <p:nvPr/>
        </p:nvSpPr>
        <p:spPr>
          <a:xfrm>
            <a:off x="5577840" y="2386584"/>
            <a:ext cx="1143000" cy="256032"/>
          </a:xfrm>
          <a:prstGeom prst="rect">
            <a:avLst/>
          </a:prstGeom>
          <a:noFill/>
          <a:ln/>
        </p:spPr>
        <p:txBody>
          <a:bodyPr wrap="square" lIns="0" tIns="0" rIns="0" bIns="0" rtlCol="0" anchor="ctr"/>
          <a:lstStyle/>
          <a:p>
            <a:pPr marL="0" indent="0" algn="ctr">
              <a:buNone/>
            </a:pPr>
            <a:r>
              <a:rPr lang="en-US" sz="900" b="1" dirty="0">
                <a:solidFill>
                  <a:srgbClr val="0D9448"/>
                </a:solidFill>
                <a:latin typeface="Calibri" pitchFamily="34" charset="0"/>
                <a:ea typeface="Calibri" pitchFamily="34" charset="-122"/>
                <a:cs typeface="Calibri" pitchFamily="34" charset="-120"/>
              </a:rPr>
              <a:t>No</a:t>
            </a:r>
            <a:endParaRPr lang="en-US" sz="900" dirty="0"/>
          </a:p>
        </p:txBody>
      </p:sp>
      <p:sp>
        <p:nvSpPr>
          <p:cNvPr id="29" name="Shape 27"/>
          <p:cNvSpPr/>
          <p:nvPr/>
        </p:nvSpPr>
        <p:spPr>
          <a:xfrm>
            <a:off x="4663440" y="2971800"/>
            <a:ext cx="0" cy="201168"/>
          </a:xfrm>
          <a:prstGeom prst="line">
            <a:avLst/>
          </a:prstGeom>
          <a:noFill/>
          <a:ln w="25400">
            <a:solidFill>
              <a:srgbClr val="C0392B"/>
            </a:solidFill>
            <a:prstDash val="solid"/>
          </a:ln>
        </p:spPr>
        <p:txBody>
          <a:bodyPr/>
          <a:lstStyle/>
          <a:p>
            <a:endParaRPr lang="en-US"/>
          </a:p>
        </p:txBody>
      </p:sp>
      <p:sp>
        <p:nvSpPr>
          <p:cNvPr id="30" name="Text 28"/>
          <p:cNvSpPr/>
          <p:nvPr/>
        </p:nvSpPr>
        <p:spPr>
          <a:xfrm>
            <a:off x="4718304" y="2990088"/>
            <a:ext cx="411480" cy="182880"/>
          </a:xfrm>
          <a:prstGeom prst="rect">
            <a:avLst/>
          </a:prstGeom>
          <a:noFill/>
          <a:ln/>
        </p:spPr>
        <p:txBody>
          <a:bodyPr wrap="square" lIns="0" tIns="0" rIns="0" bIns="0"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Yes</a:t>
            </a:r>
            <a:endParaRPr lang="en-US" sz="900" dirty="0"/>
          </a:p>
        </p:txBody>
      </p:sp>
      <p:sp>
        <p:nvSpPr>
          <p:cNvPr id="31" name="Shape 29"/>
          <p:cNvSpPr/>
          <p:nvPr/>
        </p:nvSpPr>
        <p:spPr>
          <a:xfrm>
            <a:off x="3886200" y="3127248"/>
            <a:ext cx="1554480" cy="658368"/>
          </a:xfrm>
          <a:prstGeom prst="rect">
            <a:avLst/>
          </a:prstGeom>
          <a:solidFill>
            <a:srgbClr val="D97706"/>
          </a:solidFill>
          <a:ln w="12700">
            <a:solidFill>
              <a:srgbClr val="D97706"/>
            </a:solidFill>
            <a:prstDash val="solid"/>
          </a:ln>
          <a:effectLst>
            <a:outerShdw blurRad="63500" dist="25400" dir="8100000" algn="bl" rotWithShape="0">
              <a:srgbClr val="000000">
                <a:alpha val="12000"/>
              </a:srgbClr>
            </a:outerShdw>
          </a:effectLst>
        </p:spPr>
        <p:txBody>
          <a:bodyPr/>
          <a:lstStyle/>
          <a:p>
            <a:endParaRPr lang="en-US"/>
          </a:p>
        </p:txBody>
      </p:sp>
      <p:sp>
        <p:nvSpPr>
          <p:cNvPr id="32" name="Text 30"/>
          <p:cNvSpPr/>
          <p:nvPr/>
        </p:nvSpPr>
        <p:spPr>
          <a:xfrm>
            <a:off x="3886200" y="3127248"/>
            <a:ext cx="1554480" cy="65836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Block or</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Request Exception?</a:t>
            </a:r>
            <a:endParaRPr lang="en-US" sz="950" dirty="0"/>
          </a:p>
        </p:txBody>
      </p:sp>
      <p:sp>
        <p:nvSpPr>
          <p:cNvPr id="33" name="Shape 31"/>
          <p:cNvSpPr/>
          <p:nvPr/>
        </p:nvSpPr>
        <p:spPr>
          <a:xfrm>
            <a:off x="5440680" y="3456432"/>
            <a:ext cx="502920" cy="0"/>
          </a:xfrm>
          <a:prstGeom prst="line">
            <a:avLst/>
          </a:prstGeom>
          <a:noFill/>
          <a:ln w="25400">
            <a:solidFill>
              <a:srgbClr val="D97706"/>
            </a:solidFill>
            <a:prstDash val="solid"/>
          </a:ln>
        </p:spPr>
        <p:txBody>
          <a:bodyPr/>
          <a:lstStyle/>
          <a:p>
            <a:endParaRPr lang="en-US"/>
          </a:p>
        </p:txBody>
      </p:sp>
      <p:sp>
        <p:nvSpPr>
          <p:cNvPr id="34" name="Shape 32"/>
          <p:cNvSpPr/>
          <p:nvPr/>
        </p:nvSpPr>
        <p:spPr>
          <a:xfrm>
            <a:off x="5943600" y="2999232"/>
            <a:ext cx="2834640" cy="868680"/>
          </a:xfrm>
          <a:prstGeom prst="rect">
            <a:avLst/>
          </a:prstGeom>
          <a:solidFill>
            <a:srgbClr val="2D7D46"/>
          </a:solidFill>
          <a:ln w="12700">
            <a:solidFill>
              <a:srgbClr val="2D7D46"/>
            </a:solidFill>
            <a:prstDash val="solid"/>
          </a:ln>
          <a:effectLst>
            <a:outerShdw blurRad="63500" dist="25400" dir="8100000" algn="bl" rotWithShape="0">
              <a:srgbClr val="000000">
                <a:alpha val="12000"/>
              </a:srgbClr>
            </a:outerShdw>
          </a:effectLst>
        </p:spPr>
        <p:txBody>
          <a:bodyPr/>
          <a:lstStyle/>
          <a:p>
            <a:endParaRPr lang="en-US"/>
          </a:p>
        </p:txBody>
      </p:sp>
      <p:sp>
        <p:nvSpPr>
          <p:cNvPr id="35" name="Text 33"/>
          <p:cNvSpPr/>
          <p:nvPr/>
        </p:nvSpPr>
        <p:spPr>
          <a:xfrm>
            <a:off x="5943600" y="2999232"/>
            <a:ext cx="2834640" cy="868680"/>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Exception: Business Justification</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 Manager Approval</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 Compensating Control</a:t>
            </a:r>
            <a:endParaRPr lang="en-US" sz="850" dirty="0"/>
          </a:p>
        </p:txBody>
      </p:sp>
      <p:sp>
        <p:nvSpPr>
          <p:cNvPr id="36" name="Shape 34"/>
          <p:cNvSpPr/>
          <p:nvPr/>
        </p:nvSpPr>
        <p:spPr>
          <a:xfrm>
            <a:off x="228600" y="4023360"/>
            <a:ext cx="1371600" cy="219456"/>
          </a:xfrm>
          <a:prstGeom prst="rect">
            <a:avLst/>
          </a:prstGeom>
          <a:solidFill>
            <a:srgbClr val="1A3C5E"/>
          </a:solidFill>
          <a:ln w="6350">
            <a:solidFill>
              <a:srgbClr val="8BAAC2"/>
            </a:solidFill>
            <a:prstDash val="solid"/>
          </a:ln>
        </p:spPr>
        <p:txBody>
          <a:bodyPr/>
          <a:lstStyle/>
          <a:p>
            <a:endParaRPr lang="en-US"/>
          </a:p>
        </p:txBody>
      </p:sp>
      <p:sp>
        <p:nvSpPr>
          <p:cNvPr id="37" name="Text 35"/>
          <p:cNvSpPr/>
          <p:nvPr/>
        </p:nvSpPr>
        <p:spPr>
          <a:xfrm>
            <a:off x="265176" y="4023360"/>
            <a:ext cx="1298448" cy="219456"/>
          </a:xfrm>
          <a:prstGeom prst="rect">
            <a:avLst/>
          </a:prstGeom>
          <a:noFill/>
          <a:ln/>
        </p:spPr>
        <p:txBody>
          <a:bodyPr wrap="square" lIns="0" tIns="0" rIns="0" bIns="0" rtlCol="0" anchor="ctr"/>
          <a:lstStyle/>
          <a:p>
            <a:pPr marL="0" indent="0">
              <a:buNone/>
            </a:pPr>
            <a:r>
              <a:rPr lang="en-US" sz="850" b="1" dirty="0">
                <a:solidFill>
                  <a:srgbClr val="2D7D46"/>
                </a:solidFill>
                <a:latin typeface="Calibri" pitchFamily="34" charset="0"/>
                <a:ea typeface="Calibri" pitchFamily="34" charset="-122"/>
                <a:cs typeface="Calibri" pitchFamily="34" charset="-120"/>
              </a:rPr>
              <a:t>Application</a:t>
            </a:r>
            <a:endParaRPr lang="en-US" sz="850" dirty="0"/>
          </a:p>
        </p:txBody>
      </p:sp>
      <p:sp>
        <p:nvSpPr>
          <p:cNvPr id="38" name="Shape 36"/>
          <p:cNvSpPr/>
          <p:nvPr/>
        </p:nvSpPr>
        <p:spPr>
          <a:xfrm>
            <a:off x="1618488" y="4023360"/>
            <a:ext cx="2286000" cy="219456"/>
          </a:xfrm>
          <a:prstGeom prst="rect">
            <a:avLst/>
          </a:prstGeom>
          <a:solidFill>
            <a:srgbClr val="1A3C5E"/>
          </a:solidFill>
          <a:ln w="6350">
            <a:solidFill>
              <a:srgbClr val="8BAAC2"/>
            </a:solidFill>
            <a:prstDash val="solid"/>
          </a:ln>
        </p:spPr>
        <p:txBody>
          <a:bodyPr/>
          <a:lstStyle/>
          <a:p>
            <a:endParaRPr lang="en-US"/>
          </a:p>
        </p:txBody>
      </p:sp>
      <p:sp>
        <p:nvSpPr>
          <p:cNvPr id="39" name="Text 37"/>
          <p:cNvSpPr/>
          <p:nvPr/>
        </p:nvSpPr>
        <p:spPr>
          <a:xfrm>
            <a:off x="1655064" y="4023360"/>
            <a:ext cx="2212848" cy="219456"/>
          </a:xfrm>
          <a:prstGeom prst="rect">
            <a:avLst/>
          </a:prstGeom>
          <a:noFill/>
          <a:ln/>
        </p:spPr>
        <p:txBody>
          <a:bodyPr wrap="square" lIns="0" tIns="0" rIns="0" bIns="0" rtlCol="0" anchor="ctr"/>
          <a:lstStyle/>
          <a:p>
            <a:pPr marL="0" indent="0">
              <a:buNone/>
            </a:pPr>
            <a:r>
              <a:rPr lang="en-US" sz="850" b="1" dirty="0">
                <a:solidFill>
                  <a:srgbClr val="2D7D46"/>
                </a:solidFill>
                <a:latin typeface="Calibri" pitchFamily="34" charset="0"/>
                <a:ea typeface="Calibri" pitchFamily="34" charset="-122"/>
                <a:cs typeface="Calibri" pitchFamily="34" charset="-120"/>
              </a:rPr>
              <a:t>Toxic Combination</a:t>
            </a:r>
            <a:endParaRPr lang="en-US" sz="850" dirty="0"/>
          </a:p>
        </p:txBody>
      </p:sp>
      <p:sp>
        <p:nvSpPr>
          <p:cNvPr id="40" name="Shape 38"/>
          <p:cNvSpPr/>
          <p:nvPr/>
        </p:nvSpPr>
        <p:spPr>
          <a:xfrm>
            <a:off x="3922776" y="4023360"/>
            <a:ext cx="822960" cy="219456"/>
          </a:xfrm>
          <a:prstGeom prst="rect">
            <a:avLst/>
          </a:prstGeom>
          <a:solidFill>
            <a:srgbClr val="1A3C5E"/>
          </a:solidFill>
          <a:ln w="6350">
            <a:solidFill>
              <a:srgbClr val="8BAAC2"/>
            </a:solidFill>
            <a:prstDash val="solid"/>
          </a:ln>
        </p:spPr>
        <p:txBody>
          <a:bodyPr/>
          <a:lstStyle/>
          <a:p>
            <a:endParaRPr lang="en-US"/>
          </a:p>
        </p:txBody>
      </p:sp>
      <p:sp>
        <p:nvSpPr>
          <p:cNvPr id="41" name="Text 39"/>
          <p:cNvSpPr/>
          <p:nvPr/>
        </p:nvSpPr>
        <p:spPr>
          <a:xfrm>
            <a:off x="3959352" y="4023360"/>
            <a:ext cx="749808" cy="219456"/>
          </a:xfrm>
          <a:prstGeom prst="rect">
            <a:avLst/>
          </a:prstGeom>
          <a:noFill/>
          <a:ln/>
        </p:spPr>
        <p:txBody>
          <a:bodyPr wrap="square" lIns="0" tIns="0" rIns="0" bIns="0" rtlCol="0" anchor="ctr"/>
          <a:lstStyle/>
          <a:p>
            <a:pPr marL="0" indent="0">
              <a:buNone/>
            </a:pPr>
            <a:r>
              <a:rPr lang="en-US" sz="850" b="1" dirty="0">
                <a:solidFill>
                  <a:srgbClr val="2D7D46"/>
                </a:solidFill>
                <a:latin typeface="Calibri" pitchFamily="34" charset="0"/>
                <a:ea typeface="Calibri" pitchFamily="34" charset="-122"/>
                <a:cs typeface="Calibri" pitchFamily="34" charset="-120"/>
              </a:rPr>
              <a:t>Risk</a:t>
            </a:r>
            <a:endParaRPr lang="en-US" sz="850" dirty="0"/>
          </a:p>
        </p:txBody>
      </p:sp>
      <p:sp>
        <p:nvSpPr>
          <p:cNvPr id="42" name="Shape 40"/>
          <p:cNvSpPr/>
          <p:nvPr/>
        </p:nvSpPr>
        <p:spPr>
          <a:xfrm>
            <a:off x="4764024" y="4023360"/>
            <a:ext cx="4114800" cy="219456"/>
          </a:xfrm>
          <a:prstGeom prst="rect">
            <a:avLst/>
          </a:prstGeom>
          <a:solidFill>
            <a:srgbClr val="1A3C5E"/>
          </a:solidFill>
          <a:ln w="6350">
            <a:solidFill>
              <a:srgbClr val="8BAAC2"/>
            </a:solidFill>
            <a:prstDash val="solid"/>
          </a:ln>
        </p:spPr>
        <p:txBody>
          <a:bodyPr/>
          <a:lstStyle/>
          <a:p>
            <a:endParaRPr lang="en-US"/>
          </a:p>
        </p:txBody>
      </p:sp>
      <p:sp>
        <p:nvSpPr>
          <p:cNvPr id="43" name="Text 41"/>
          <p:cNvSpPr/>
          <p:nvPr/>
        </p:nvSpPr>
        <p:spPr>
          <a:xfrm>
            <a:off x="4800600" y="4023360"/>
            <a:ext cx="4041648" cy="219456"/>
          </a:xfrm>
          <a:prstGeom prst="rect">
            <a:avLst/>
          </a:prstGeom>
          <a:noFill/>
          <a:ln/>
        </p:spPr>
        <p:txBody>
          <a:bodyPr wrap="square" lIns="0" tIns="0" rIns="0" bIns="0" rtlCol="0" anchor="ctr"/>
          <a:lstStyle/>
          <a:p>
            <a:pPr marL="0" indent="0">
              <a:buNone/>
            </a:pPr>
            <a:r>
              <a:rPr lang="en-US" sz="850" b="1" dirty="0">
                <a:solidFill>
                  <a:srgbClr val="2D7D46"/>
                </a:solidFill>
                <a:latin typeface="Calibri" pitchFamily="34" charset="0"/>
                <a:ea typeface="Calibri" pitchFamily="34" charset="-122"/>
                <a:cs typeface="Calibri" pitchFamily="34" charset="-120"/>
              </a:rPr>
              <a:t>Enforcement</a:t>
            </a:r>
            <a:endParaRPr lang="en-US" sz="850" dirty="0"/>
          </a:p>
        </p:txBody>
      </p:sp>
      <p:sp>
        <p:nvSpPr>
          <p:cNvPr id="44" name="Shape 42"/>
          <p:cNvSpPr/>
          <p:nvPr/>
        </p:nvSpPr>
        <p:spPr>
          <a:xfrm>
            <a:off x="228600" y="4242816"/>
            <a:ext cx="1371600" cy="219456"/>
          </a:xfrm>
          <a:prstGeom prst="rect">
            <a:avLst/>
          </a:prstGeom>
          <a:solidFill>
            <a:srgbClr val="FFFFFF"/>
          </a:solidFill>
          <a:ln w="6350">
            <a:solidFill>
              <a:srgbClr val="C8D8E0"/>
            </a:solidFill>
            <a:prstDash val="solid"/>
          </a:ln>
        </p:spPr>
        <p:txBody>
          <a:bodyPr/>
          <a:lstStyle/>
          <a:p>
            <a:endParaRPr lang="en-US"/>
          </a:p>
        </p:txBody>
      </p:sp>
      <p:sp>
        <p:nvSpPr>
          <p:cNvPr id="45" name="Text 43"/>
          <p:cNvSpPr/>
          <p:nvPr/>
        </p:nvSpPr>
        <p:spPr>
          <a:xfrm>
            <a:off x="265176" y="4242816"/>
            <a:ext cx="1298448" cy="21945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Financial ERP</a:t>
            </a:r>
            <a:endParaRPr lang="en-US" sz="750" dirty="0"/>
          </a:p>
        </p:txBody>
      </p:sp>
      <p:sp>
        <p:nvSpPr>
          <p:cNvPr id="46" name="Shape 44"/>
          <p:cNvSpPr/>
          <p:nvPr/>
        </p:nvSpPr>
        <p:spPr>
          <a:xfrm>
            <a:off x="1618488" y="4242816"/>
            <a:ext cx="2286000" cy="219456"/>
          </a:xfrm>
          <a:prstGeom prst="rect">
            <a:avLst/>
          </a:prstGeom>
          <a:solidFill>
            <a:srgbClr val="FFFFFF"/>
          </a:solidFill>
          <a:ln w="6350">
            <a:solidFill>
              <a:srgbClr val="C8D8E0"/>
            </a:solidFill>
            <a:prstDash val="solid"/>
          </a:ln>
        </p:spPr>
        <p:txBody>
          <a:bodyPr/>
          <a:lstStyle/>
          <a:p>
            <a:endParaRPr lang="en-US"/>
          </a:p>
        </p:txBody>
      </p:sp>
      <p:sp>
        <p:nvSpPr>
          <p:cNvPr id="47" name="Text 45"/>
          <p:cNvSpPr/>
          <p:nvPr/>
        </p:nvSpPr>
        <p:spPr>
          <a:xfrm>
            <a:off x="1655064" y="4242816"/>
            <a:ext cx="2212848" cy="21945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Create Vendor + Approve Payment</a:t>
            </a:r>
            <a:endParaRPr lang="en-US" sz="750" dirty="0"/>
          </a:p>
        </p:txBody>
      </p:sp>
      <p:sp>
        <p:nvSpPr>
          <p:cNvPr id="48" name="Shape 46"/>
          <p:cNvSpPr/>
          <p:nvPr/>
        </p:nvSpPr>
        <p:spPr>
          <a:xfrm>
            <a:off x="3922776" y="4242816"/>
            <a:ext cx="822960" cy="219456"/>
          </a:xfrm>
          <a:prstGeom prst="rect">
            <a:avLst/>
          </a:prstGeom>
          <a:solidFill>
            <a:srgbClr val="FFFFFF"/>
          </a:solidFill>
          <a:ln w="6350">
            <a:solidFill>
              <a:srgbClr val="C8D8E0"/>
            </a:solidFill>
            <a:prstDash val="solid"/>
          </a:ln>
        </p:spPr>
        <p:txBody>
          <a:bodyPr/>
          <a:lstStyle/>
          <a:p>
            <a:endParaRPr lang="en-US"/>
          </a:p>
        </p:txBody>
      </p:sp>
      <p:sp>
        <p:nvSpPr>
          <p:cNvPr id="49" name="Text 47"/>
          <p:cNvSpPr/>
          <p:nvPr/>
        </p:nvSpPr>
        <p:spPr>
          <a:xfrm>
            <a:off x="3959352" y="4242816"/>
            <a:ext cx="749808" cy="219456"/>
          </a:xfrm>
          <a:prstGeom prst="rect">
            <a:avLst/>
          </a:prstGeom>
          <a:noFill/>
          <a:ln/>
        </p:spPr>
        <p:txBody>
          <a:bodyPr wrap="square" lIns="0" tIns="0" rIns="0" bIns="0" rtlCol="0" anchor="ctr"/>
          <a:lstStyle/>
          <a:p>
            <a:pPr marL="0" indent="0">
              <a:buNone/>
            </a:pPr>
            <a:r>
              <a:rPr lang="en-US" sz="750" b="1" dirty="0">
                <a:solidFill>
                  <a:srgbClr val="C0392B"/>
                </a:solidFill>
                <a:latin typeface="Calibri" pitchFamily="34" charset="0"/>
                <a:ea typeface="Calibri" pitchFamily="34" charset="-122"/>
                <a:cs typeface="Calibri" pitchFamily="34" charset="-120"/>
              </a:rPr>
              <a:t>CRITICAL</a:t>
            </a:r>
            <a:endParaRPr lang="en-US" sz="750" dirty="0"/>
          </a:p>
        </p:txBody>
      </p:sp>
      <p:sp>
        <p:nvSpPr>
          <p:cNvPr id="50" name="Shape 48"/>
          <p:cNvSpPr/>
          <p:nvPr/>
        </p:nvSpPr>
        <p:spPr>
          <a:xfrm>
            <a:off x="4764024" y="4242816"/>
            <a:ext cx="4114800" cy="219456"/>
          </a:xfrm>
          <a:prstGeom prst="rect">
            <a:avLst/>
          </a:prstGeom>
          <a:solidFill>
            <a:srgbClr val="FFFFFF"/>
          </a:solidFill>
          <a:ln w="6350">
            <a:solidFill>
              <a:srgbClr val="C8D8E0"/>
            </a:solidFill>
            <a:prstDash val="solid"/>
          </a:ln>
        </p:spPr>
        <p:txBody>
          <a:bodyPr/>
          <a:lstStyle/>
          <a:p>
            <a:endParaRPr lang="en-US"/>
          </a:p>
        </p:txBody>
      </p:sp>
      <p:sp>
        <p:nvSpPr>
          <p:cNvPr id="51" name="Text 49"/>
          <p:cNvSpPr/>
          <p:nvPr/>
        </p:nvSpPr>
        <p:spPr>
          <a:xfrm>
            <a:off x="4800600" y="4242816"/>
            <a:ext cx="4041648" cy="21945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Block. Exception requires CFO approval + AP audit monitoring</a:t>
            </a:r>
            <a:endParaRPr lang="en-US" sz="750" dirty="0"/>
          </a:p>
        </p:txBody>
      </p:sp>
      <p:sp>
        <p:nvSpPr>
          <p:cNvPr id="52" name="Shape 50"/>
          <p:cNvSpPr/>
          <p:nvPr/>
        </p:nvSpPr>
        <p:spPr>
          <a:xfrm>
            <a:off x="228600" y="4462272"/>
            <a:ext cx="1371600" cy="219456"/>
          </a:xfrm>
          <a:prstGeom prst="rect">
            <a:avLst/>
          </a:prstGeom>
          <a:solidFill>
            <a:srgbClr val="EEF8F0"/>
          </a:solidFill>
          <a:ln w="6350">
            <a:solidFill>
              <a:srgbClr val="C8D8E0"/>
            </a:solidFill>
            <a:prstDash val="solid"/>
          </a:ln>
        </p:spPr>
        <p:txBody>
          <a:bodyPr/>
          <a:lstStyle/>
          <a:p>
            <a:endParaRPr lang="en-US"/>
          </a:p>
        </p:txBody>
      </p:sp>
      <p:sp>
        <p:nvSpPr>
          <p:cNvPr id="53" name="Text 51"/>
          <p:cNvSpPr/>
          <p:nvPr/>
        </p:nvSpPr>
        <p:spPr>
          <a:xfrm>
            <a:off x="265176" y="4462272"/>
            <a:ext cx="1298448" cy="21945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Cloud IAM</a:t>
            </a:r>
            <a:endParaRPr lang="en-US" sz="750" dirty="0"/>
          </a:p>
        </p:txBody>
      </p:sp>
      <p:sp>
        <p:nvSpPr>
          <p:cNvPr id="54" name="Shape 52"/>
          <p:cNvSpPr/>
          <p:nvPr/>
        </p:nvSpPr>
        <p:spPr>
          <a:xfrm>
            <a:off x="1618488" y="4462272"/>
            <a:ext cx="2286000" cy="219456"/>
          </a:xfrm>
          <a:prstGeom prst="rect">
            <a:avLst/>
          </a:prstGeom>
          <a:solidFill>
            <a:srgbClr val="EEF8F0"/>
          </a:solidFill>
          <a:ln w="6350">
            <a:solidFill>
              <a:srgbClr val="C8D8E0"/>
            </a:solidFill>
            <a:prstDash val="solid"/>
          </a:ln>
        </p:spPr>
        <p:txBody>
          <a:bodyPr/>
          <a:lstStyle/>
          <a:p>
            <a:endParaRPr lang="en-US"/>
          </a:p>
        </p:txBody>
      </p:sp>
      <p:sp>
        <p:nvSpPr>
          <p:cNvPr id="55" name="Text 53"/>
          <p:cNvSpPr/>
          <p:nvPr/>
        </p:nvSpPr>
        <p:spPr>
          <a:xfrm>
            <a:off x="1655064" y="4462272"/>
            <a:ext cx="2212848" cy="21945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IAM Policy Creation + Role Attachment</a:t>
            </a:r>
            <a:endParaRPr lang="en-US" sz="750" dirty="0"/>
          </a:p>
        </p:txBody>
      </p:sp>
      <p:sp>
        <p:nvSpPr>
          <p:cNvPr id="56" name="Shape 54"/>
          <p:cNvSpPr/>
          <p:nvPr/>
        </p:nvSpPr>
        <p:spPr>
          <a:xfrm>
            <a:off x="3922776" y="4462272"/>
            <a:ext cx="822960" cy="219456"/>
          </a:xfrm>
          <a:prstGeom prst="rect">
            <a:avLst/>
          </a:prstGeom>
          <a:solidFill>
            <a:srgbClr val="EEF8F0"/>
          </a:solidFill>
          <a:ln w="6350">
            <a:solidFill>
              <a:srgbClr val="C8D8E0"/>
            </a:solidFill>
            <a:prstDash val="solid"/>
          </a:ln>
        </p:spPr>
        <p:txBody>
          <a:bodyPr/>
          <a:lstStyle/>
          <a:p>
            <a:endParaRPr lang="en-US"/>
          </a:p>
        </p:txBody>
      </p:sp>
      <p:sp>
        <p:nvSpPr>
          <p:cNvPr id="57" name="Text 55"/>
          <p:cNvSpPr/>
          <p:nvPr/>
        </p:nvSpPr>
        <p:spPr>
          <a:xfrm>
            <a:off x="3959352" y="4462272"/>
            <a:ext cx="749808" cy="219456"/>
          </a:xfrm>
          <a:prstGeom prst="rect">
            <a:avLst/>
          </a:prstGeom>
          <a:noFill/>
          <a:ln/>
        </p:spPr>
        <p:txBody>
          <a:bodyPr wrap="square" lIns="0" tIns="0" rIns="0" bIns="0" rtlCol="0" anchor="ctr"/>
          <a:lstStyle/>
          <a:p>
            <a:pPr marL="0" indent="0">
              <a:buNone/>
            </a:pPr>
            <a:r>
              <a:rPr lang="en-US" sz="750" b="1" dirty="0">
                <a:solidFill>
                  <a:srgbClr val="D97706"/>
                </a:solidFill>
                <a:latin typeface="Calibri" pitchFamily="34" charset="0"/>
                <a:ea typeface="Calibri" pitchFamily="34" charset="-122"/>
                <a:cs typeface="Calibri" pitchFamily="34" charset="-120"/>
              </a:rPr>
              <a:t>HIGH</a:t>
            </a:r>
            <a:endParaRPr lang="en-US" sz="750" dirty="0"/>
          </a:p>
        </p:txBody>
      </p:sp>
      <p:sp>
        <p:nvSpPr>
          <p:cNvPr id="58" name="Shape 56"/>
          <p:cNvSpPr/>
          <p:nvPr/>
        </p:nvSpPr>
        <p:spPr>
          <a:xfrm>
            <a:off x="4764024" y="4462272"/>
            <a:ext cx="4114800" cy="219456"/>
          </a:xfrm>
          <a:prstGeom prst="rect">
            <a:avLst/>
          </a:prstGeom>
          <a:solidFill>
            <a:srgbClr val="EEF8F0"/>
          </a:solidFill>
          <a:ln w="6350">
            <a:solidFill>
              <a:srgbClr val="C8D8E0"/>
            </a:solidFill>
            <a:prstDash val="solid"/>
          </a:ln>
        </p:spPr>
        <p:txBody>
          <a:bodyPr/>
          <a:lstStyle/>
          <a:p>
            <a:endParaRPr lang="en-US"/>
          </a:p>
        </p:txBody>
      </p:sp>
      <p:sp>
        <p:nvSpPr>
          <p:cNvPr id="59" name="Text 57"/>
          <p:cNvSpPr/>
          <p:nvPr/>
        </p:nvSpPr>
        <p:spPr>
          <a:xfrm>
            <a:off x="4800600" y="4462272"/>
            <a:ext cx="4041648" cy="21945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Block. Enables privilege escalation via policy attachment; JIT access with PAM approval for exceptions</a:t>
            </a:r>
            <a:endParaRPr lang="en-US" sz="750" dirty="0"/>
          </a:p>
        </p:txBody>
      </p:sp>
      <p:sp>
        <p:nvSpPr>
          <p:cNvPr id="60" name="Shape 58"/>
          <p:cNvSpPr/>
          <p:nvPr/>
        </p:nvSpPr>
        <p:spPr>
          <a:xfrm>
            <a:off x="228600" y="4681728"/>
            <a:ext cx="1371600" cy="219456"/>
          </a:xfrm>
          <a:prstGeom prst="rect">
            <a:avLst/>
          </a:prstGeom>
          <a:solidFill>
            <a:srgbClr val="FFFFFF"/>
          </a:solidFill>
          <a:ln w="6350">
            <a:solidFill>
              <a:srgbClr val="C8D8E0"/>
            </a:solidFill>
            <a:prstDash val="solid"/>
          </a:ln>
        </p:spPr>
        <p:txBody>
          <a:bodyPr/>
          <a:lstStyle/>
          <a:p>
            <a:endParaRPr lang="en-US"/>
          </a:p>
        </p:txBody>
      </p:sp>
      <p:sp>
        <p:nvSpPr>
          <p:cNvPr id="61" name="Text 59"/>
          <p:cNvSpPr/>
          <p:nvPr/>
        </p:nvSpPr>
        <p:spPr>
          <a:xfrm>
            <a:off x="265176" y="4681728"/>
            <a:ext cx="1298448" cy="21945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HR System</a:t>
            </a:r>
            <a:endParaRPr lang="en-US" sz="750" dirty="0"/>
          </a:p>
        </p:txBody>
      </p:sp>
      <p:sp>
        <p:nvSpPr>
          <p:cNvPr id="62" name="Shape 60"/>
          <p:cNvSpPr/>
          <p:nvPr/>
        </p:nvSpPr>
        <p:spPr>
          <a:xfrm>
            <a:off x="1618488" y="4681728"/>
            <a:ext cx="2286000" cy="219456"/>
          </a:xfrm>
          <a:prstGeom prst="rect">
            <a:avLst/>
          </a:prstGeom>
          <a:solidFill>
            <a:srgbClr val="FFFFFF"/>
          </a:solidFill>
          <a:ln w="6350">
            <a:solidFill>
              <a:srgbClr val="C8D8E0"/>
            </a:solidFill>
            <a:prstDash val="solid"/>
          </a:ln>
        </p:spPr>
        <p:txBody>
          <a:bodyPr/>
          <a:lstStyle/>
          <a:p>
            <a:endParaRPr lang="en-US"/>
          </a:p>
        </p:txBody>
      </p:sp>
      <p:sp>
        <p:nvSpPr>
          <p:cNvPr id="63" name="Text 61"/>
          <p:cNvSpPr/>
          <p:nvPr/>
        </p:nvSpPr>
        <p:spPr>
          <a:xfrm>
            <a:off x="1655064" y="4681728"/>
            <a:ext cx="2212848" cy="21945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Create Employee + Modify Salary</a:t>
            </a:r>
            <a:endParaRPr lang="en-US" sz="750" dirty="0"/>
          </a:p>
        </p:txBody>
      </p:sp>
      <p:sp>
        <p:nvSpPr>
          <p:cNvPr id="64" name="Shape 62"/>
          <p:cNvSpPr/>
          <p:nvPr/>
        </p:nvSpPr>
        <p:spPr>
          <a:xfrm>
            <a:off x="3922776" y="4681728"/>
            <a:ext cx="822960" cy="219456"/>
          </a:xfrm>
          <a:prstGeom prst="rect">
            <a:avLst/>
          </a:prstGeom>
          <a:solidFill>
            <a:srgbClr val="FFFFFF"/>
          </a:solidFill>
          <a:ln w="6350">
            <a:solidFill>
              <a:srgbClr val="C8D8E0"/>
            </a:solidFill>
            <a:prstDash val="solid"/>
          </a:ln>
        </p:spPr>
        <p:txBody>
          <a:bodyPr/>
          <a:lstStyle/>
          <a:p>
            <a:endParaRPr lang="en-US"/>
          </a:p>
        </p:txBody>
      </p:sp>
      <p:sp>
        <p:nvSpPr>
          <p:cNvPr id="65" name="Text 63"/>
          <p:cNvSpPr/>
          <p:nvPr/>
        </p:nvSpPr>
        <p:spPr>
          <a:xfrm>
            <a:off x="3959352" y="4681728"/>
            <a:ext cx="749808" cy="219456"/>
          </a:xfrm>
          <a:prstGeom prst="rect">
            <a:avLst/>
          </a:prstGeom>
          <a:noFill/>
          <a:ln/>
        </p:spPr>
        <p:txBody>
          <a:bodyPr wrap="square" lIns="0" tIns="0" rIns="0" bIns="0" rtlCol="0" anchor="ctr"/>
          <a:lstStyle/>
          <a:p>
            <a:pPr marL="0" indent="0">
              <a:buNone/>
            </a:pPr>
            <a:r>
              <a:rPr lang="en-US" sz="750" b="1" dirty="0">
                <a:solidFill>
                  <a:srgbClr val="C0392B"/>
                </a:solidFill>
                <a:latin typeface="Calibri" pitchFamily="34" charset="0"/>
                <a:ea typeface="Calibri" pitchFamily="34" charset="-122"/>
                <a:cs typeface="Calibri" pitchFamily="34" charset="-120"/>
              </a:rPr>
              <a:t>CRITICAL</a:t>
            </a:r>
            <a:endParaRPr lang="en-US" sz="750" dirty="0"/>
          </a:p>
        </p:txBody>
      </p:sp>
      <p:sp>
        <p:nvSpPr>
          <p:cNvPr id="66" name="Shape 64"/>
          <p:cNvSpPr/>
          <p:nvPr/>
        </p:nvSpPr>
        <p:spPr>
          <a:xfrm>
            <a:off x="4764024" y="4681728"/>
            <a:ext cx="4114800" cy="219456"/>
          </a:xfrm>
          <a:prstGeom prst="rect">
            <a:avLst/>
          </a:prstGeom>
          <a:solidFill>
            <a:srgbClr val="FFFFFF"/>
          </a:solidFill>
          <a:ln w="6350">
            <a:solidFill>
              <a:srgbClr val="C8D8E0"/>
            </a:solidFill>
            <a:prstDash val="solid"/>
          </a:ln>
        </p:spPr>
        <p:txBody>
          <a:bodyPr/>
          <a:lstStyle/>
          <a:p>
            <a:endParaRPr lang="en-US"/>
          </a:p>
        </p:txBody>
      </p:sp>
      <p:sp>
        <p:nvSpPr>
          <p:cNvPr id="67" name="Text 65"/>
          <p:cNvSpPr/>
          <p:nvPr/>
        </p:nvSpPr>
        <p:spPr>
          <a:xfrm>
            <a:off x="4800600" y="4681728"/>
            <a:ext cx="4041648" cy="21945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Block. No exception; dual approval required in HRMS workflow</a:t>
            </a:r>
            <a:endParaRPr lang="en-US" sz="750" dirty="0"/>
          </a:p>
        </p:txBody>
      </p:sp>
      <p:sp>
        <p:nvSpPr>
          <p:cNvPr id="68" name="Shape 66"/>
          <p:cNvSpPr/>
          <p:nvPr/>
        </p:nvSpPr>
        <p:spPr>
          <a:xfrm>
            <a:off x="228600" y="4901184"/>
            <a:ext cx="1371600" cy="219456"/>
          </a:xfrm>
          <a:prstGeom prst="rect">
            <a:avLst/>
          </a:prstGeom>
          <a:solidFill>
            <a:srgbClr val="EEF8F0"/>
          </a:solidFill>
          <a:ln w="6350">
            <a:solidFill>
              <a:srgbClr val="C8D8E0"/>
            </a:solidFill>
            <a:prstDash val="solid"/>
          </a:ln>
        </p:spPr>
        <p:txBody>
          <a:bodyPr/>
          <a:lstStyle/>
          <a:p>
            <a:endParaRPr lang="en-US"/>
          </a:p>
        </p:txBody>
      </p:sp>
      <p:sp>
        <p:nvSpPr>
          <p:cNvPr id="69" name="Text 67"/>
          <p:cNvSpPr/>
          <p:nvPr/>
        </p:nvSpPr>
        <p:spPr>
          <a:xfrm>
            <a:off x="265176" y="4901184"/>
            <a:ext cx="1298448" cy="21945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Source Control</a:t>
            </a:r>
            <a:endParaRPr lang="en-US" sz="750" dirty="0"/>
          </a:p>
        </p:txBody>
      </p:sp>
      <p:sp>
        <p:nvSpPr>
          <p:cNvPr id="70" name="Shape 68"/>
          <p:cNvSpPr/>
          <p:nvPr/>
        </p:nvSpPr>
        <p:spPr>
          <a:xfrm>
            <a:off x="1618488" y="4901184"/>
            <a:ext cx="2286000" cy="219456"/>
          </a:xfrm>
          <a:prstGeom prst="rect">
            <a:avLst/>
          </a:prstGeom>
          <a:solidFill>
            <a:srgbClr val="EEF8F0"/>
          </a:solidFill>
          <a:ln w="6350">
            <a:solidFill>
              <a:srgbClr val="C8D8E0"/>
            </a:solidFill>
            <a:prstDash val="solid"/>
          </a:ln>
        </p:spPr>
        <p:txBody>
          <a:bodyPr/>
          <a:lstStyle/>
          <a:p>
            <a:endParaRPr lang="en-US"/>
          </a:p>
        </p:txBody>
      </p:sp>
      <p:sp>
        <p:nvSpPr>
          <p:cNvPr id="71" name="Text 69"/>
          <p:cNvSpPr/>
          <p:nvPr/>
        </p:nvSpPr>
        <p:spPr>
          <a:xfrm>
            <a:off x="1655064" y="4901184"/>
            <a:ext cx="2212848" cy="21945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Merge to Main + Bypass CI/CD Checks</a:t>
            </a:r>
            <a:endParaRPr lang="en-US" sz="750" dirty="0"/>
          </a:p>
        </p:txBody>
      </p:sp>
      <p:sp>
        <p:nvSpPr>
          <p:cNvPr id="72" name="Shape 70"/>
          <p:cNvSpPr/>
          <p:nvPr/>
        </p:nvSpPr>
        <p:spPr>
          <a:xfrm>
            <a:off x="3922776" y="4901184"/>
            <a:ext cx="822960" cy="219456"/>
          </a:xfrm>
          <a:prstGeom prst="rect">
            <a:avLst/>
          </a:prstGeom>
          <a:solidFill>
            <a:srgbClr val="EEF8F0"/>
          </a:solidFill>
          <a:ln w="6350">
            <a:solidFill>
              <a:srgbClr val="C8D8E0"/>
            </a:solidFill>
            <a:prstDash val="solid"/>
          </a:ln>
        </p:spPr>
        <p:txBody>
          <a:bodyPr/>
          <a:lstStyle/>
          <a:p>
            <a:endParaRPr lang="en-US"/>
          </a:p>
        </p:txBody>
      </p:sp>
      <p:sp>
        <p:nvSpPr>
          <p:cNvPr id="73" name="Text 71"/>
          <p:cNvSpPr/>
          <p:nvPr/>
        </p:nvSpPr>
        <p:spPr>
          <a:xfrm>
            <a:off x="3959352" y="4901184"/>
            <a:ext cx="749808" cy="219456"/>
          </a:xfrm>
          <a:prstGeom prst="rect">
            <a:avLst/>
          </a:prstGeom>
          <a:noFill/>
          <a:ln/>
        </p:spPr>
        <p:txBody>
          <a:bodyPr wrap="square" lIns="0" tIns="0" rIns="0" bIns="0" rtlCol="0" anchor="ctr"/>
          <a:lstStyle/>
          <a:p>
            <a:pPr marL="0" indent="0">
              <a:buNone/>
            </a:pPr>
            <a:r>
              <a:rPr lang="en-US" sz="750" b="1" dirty="0">
                <a:solidFill>
                  <a:srgbClr val="D97706"/>
                </a:solidFill>
                <a:latin typeface="Calibri" pitchFamily="34" charset="0"/>
                <a:ea typeface="Calibri" pitchFamily="34" charset="-122"/>
                <a:cs typeface="Calibri" pitchFamily="34" charset="-120"/>
              </a:rPr>
              <a:t>HIGH</a:t>
            </a:r>
            <a:endParaRPr lang="en-US" sz="750" dirty="0"/>
          </a:p>
        </p:txBody>
      </p:sp>
      <p:sp>
        <p:nvSpPr>
          <p:cNvPr id="74" name="Shape 72"/>
          <p:cNvSpPr/>
          <p:nvPr/>
        </p:nvSpPr>
        <p:spPr>
          <a:xfrm>
            <a:off x="4764024" y="4901184"/>
            <a:ext cx="4114800" cy="219456"/>
          </a:xfrm>
          <a:prstGeom prst="rect">
            <a:avLst/>
          </a:prstGeom>
          <a:solidFill>
            <a:srgbClr val="EEF8F0"/>
          </a:solidFill>
          <a:ln w="6350">
            <a:solidFill>
              <a:srgbClr val="C8D8E0"/>
            </a:solidFill>
            <a:prstDash val="solid"/>
          </a:ln>
        </p:spPr>
        <p:txBody>
          <a:bodyPr/>
          <a:lstStyle/>
          <a:p>
            <a:endParaRPr lang="en-US"/>
          </a:p>
        </p:txBody>
      </p:sp>
      <p:sp>
        <p:nvSpPr>
          <p:cNvPr id="75" name="Text 73"/>
          <p:cNvSpPr/>
          <p:nvPr/>
        </p:nvSpPr>
        <p:spPr>
          <a:xfrm>
            <a:off x="4800600" y="4901184"/>
            <a:ext cx="4041648" cy="21945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Block. Code review required; no bypass entitlement granted to committers</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3C5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D7D46"/>
          </a:solidFill>
          <a:ln w="12700">
            <a:solidFill>
              <a:srgbClr val="2D7D46"/>
            </a:solidFill>
            <a:prstDash val="solid"/>
          </a:ln>
        </p:spPr>
        <p:txBody>
          <a:bodyPr/>
          <a:lstStyle/>
          <a:p>
            <a:endParaRPr lang="en-US"/>
          </a:p>
        </p:txBody>
      </p:sp>
      <p:sp>
        <p:nvSpPr>
          <p:cNvPr id="3" name="Text 1"/>
          <p:cNvSpPr/>
          <p:nvPr/>
        </p:nvSpPr>
        <p:spPr>
          <a:xfrm>
            <a:off x="6858000" y="731520"/>
            <a:ext cx="2103120" cy="2560320"/>
          </a:xfrm>
          <a:prstGeom prst="rect">
            <a:avLst/>
          </a:prstGeom>
          <a:noFill/>
          <a:ln/>
        </p:spPr>
        <p:txBody>
          <a:bodyPr wrap="square" lIns="0" tIns="0" rIns="0" bIns="0" rtlCol="0" anchor="ctr"/>
          <a:lstStyle/>
          <a:p>
            <a:pPr marL="0" indent="0" algn="r">
              <a:buNone/>
            </a:pPr>
            <a:r>
              <a:rPr lang="en-US" sz="14000" b="1" dirty="0">
                <a:solidFill>
                  <a:srgbClr val="1A4A30"/>
                </a:solidFill>
                <a:latin typeface="Calibri" pitchFamily="34" charset="0"/>
                <a:ea typeface="Calibri" pitchFamily="34" charset="-122"/>
                <a:cs typeface="Calibri" pitchFamily="34" charset="-120"/>
              </a:rPr>
              <a:t>05</a:t>
            </a:r>
            <a:endParaRPr lang="en-US" sz="14000" dirty="0"/>
          </a:p>
        </p:txBody>
      </p:sp>
      <p:sp>
        <p:nvSpPr>
          <p:cNvPr id="4" name="Text 2"/>
          <p:cNvSpPr/>
          <p:nvPr/>
        </p:nvSpPr>
        <p:spPr>
          <a:xfrm>
            <a:off x="320040" y="1600200"/>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SCIM 2.0 &amp; Provisioning</a:t>
            </a:r>
            <a:endParaRPr lang="en-US" sz="3000" dirty="0"/>
          </a:p>
        </p:txBody>
      </p:sp>
      <p:sp>
        <p:nvSpPr>
          <p:cNvPr id="5" name="Shape 3"/>
          <p:cNvSpPr/>
          <p:nvPr/>
        </p:nvSpPr>
        <p:spPr>
          <a:xfrm>
            <a:off x="320040" y="2468880"/>
            <a:ext cx="6217920" cy="0"/>
          </a:xfrm>
          <a:prstGeom prst="line">
            <a:avLst/>
          </a:prstGeom>
          <a:noFill/>
          <a:ln w="6350">
            <a:solidFill>
              <a:srgbClr val="8BAAC2"/>
            </a:solidFill>
            <a:prstDash val="solid"/>
          </a:ln>
        </p:spPr>
        <p:txBody>
          <a:bodyPr/>
          <a:lstStyle/>
          <a:p>
            <a:endParaRPr lang="en-US"/>
          </a:p>
        </p:txBody>
      </p:sp>
      <p:sp>
        <p:nvSpPr>
          <p:cNvPr id="6" name="Text 4"/>
          <p:cNvSpPr/>
          <p:nvPr/>
        </p:nvSpPr>
        <p:spPr>
          <a:xfrm>
            <a:off x="320040" y="2542032"/>
            <a:ext cx="6400800" cy="457200"/>
          </a:xfrm>
          <a:prstGeom prst="rect">
            <a:avLst/>
          </a:prstGeom>
          <a:noFill/>
          <a:ln/>
        </p:spPr>
        <p:txBody>
          <a:bodyPr wrap="square" lIns="0" tIns="0" rIns="0" bIns="0" rtlCol="0" anchor="ctr"/>
          <a:lstStyle/>
          <a:p>
            <a:pPr marL="0" indent="0">
              <a:buNone/>
            </a:pPr>
            <a:r>
              <a:rPr lang="en-US" sz="1400" i="1" dirty="0">
                <a:solidFill>
                  <a:srgbClr val="C9DDE8"/>
                </a:solidFill>
                <a:latin typeface="Calibri" pitchFamily="34" charset="0"/>
                <a:ea typeface="Calibri" pitchFamily="34" charset="-122"/>
                <a:cs typeface="Calibri" pitchFamily="34" charset="-120"/>
              </a:rPr>
              <a:t>Protocol overview, HRMS integration, reconciliation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C5E"/>
          </a:solidFill>
          <a:ln w="12700">
            <a:solidFill>
              <a:srgbClr val="1A3C5E"/>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SCIM 2.0 and Provisioning Architecture</a:t>
            </a:r>
            <a:endParaRPr lang="en-US" sz="2000" dirty="0"/>
          </a:p>
        </p:txBody>
      </p:sp>
      <p:sp>
        <p:nvSpPr>
          <p:cNvPr id="4" name="Text 2"/>
          <p:cNvSpPr/>
          <p:nvPr/>
        </p:nvSpPr>
        <p:spPr>
          <a:xfrm>
            <a:off x="228600" y="804672"/>
            <a:ext cx="4114800" cy="274320"/>
          </a:xfrm>
          <a:prstGeom prst="rect">
            <a:avLst/>
          </a:prstGeom>
          <a:noFill/>
          <a:ln/>
        </p:spPr>
        <p:txBody>
          <a:bodyPr wrap="square" lIns="0" tIns="0" rIns="0" bIns="0" rtlCol="0" anchor="ctr"/>
          <a:lstStyle/>
          <a:p>
            <a:pPr marL="0" indent="0">
              <a:buNone/>
            </a:pPr>
            <a:r>
              <a:rPr lang="en-US" sz="1200" b="1" dirty="0">
                <a:solidFill>
                  <a:srgbClr val="1A3C5E"/>
                </a:solidFill>
                <a:latin typeface="Calibri" pitchFamily="34" charset="0"/>
                <a:ea typeface="Calibri" pitchFamily="34" charset="-122"/>
                <a:cs typeface="Calibri" pitchFamily="34" charset="-120"/>
              </a:rPr>
              <a:t>SCIM 2.0 Core Operations (RFC 7644)</a:t>
            </a:r>
            <a:endParaRPr lang="en-US" sz="1200" dirty="0"/>
          </a:p>
        </p:txBody>
      </p:sp>
      <p:grpSp>
        <p:nvGrpSpPr>
          <p:cNvPr id="79" name="Group 78">
            <a:extLst>
              <a:ext uri="{FF2B5EF4-FFF2-40B4-BE49-F238E27FC236}">
                <a16:creationId xmlns:a16="http://schemas.microsoft.com/office/drawing/2014/main" id="{B53C9F8A-B6ED-BE29-1092-3649B1D38F69}"/>
              </a:ext>
            </a:extLst>
          </p:cNvPr>
          <p:cNvGrpSpPr/>
          <p:nvPr/>
        </p:nvGrpSpPr>
        <p:grpSpPr>
          <a:xfrm>
            <a:off x="228600" y="1133856"/>
            <a:ext cx="4471416" cy="2551176"/>
            <a:chOff x="228600" y="1133856"/>
            <a:chExt cx="4471416" cy="1856232"/>
          </a:xfrm>
        </p:grpSpPr>
        <p:sp>
          <p:nvSpPr>
            <p:cNvPr id="5" name="Shape 3"/>
            <p:cNvSpPr/>
            <p:nvPr/>
          </p:nvSpPr>
          <p:spPr>
            <a:xfrm>
              <a:off x="228600" y="1133856"/>
              <a:ext cx="1325880" cy="265176"/>
            </a:xfrm>
            <a:prstGeom prst="rect">
              <a:avLst/>
            </a:prstGeom>
            <a:solidFill>
              <a:srgbClr val="1A3C5E"/>
            </a:solidFill>
            <a:ln w="6350">
              <a:solidFill>
                <a:srgbClr val="C9DDE8"/>
              </a:solidFill>
              <a:prstDash val="solid"/>
            </a:ln>
          </p:spPr>
          <p:txBody>
            <a:bodyPr/>
            <a:lstStyle/>
            <a:p>
              <a:endParaRPr lang="en-US"/>
            </a:p>
          </p:txBody>
        </p:sp>
        <p:sp>
          <p:nvSpPr>
            <p:cNvPr id="6" name="Text 4"/>
            <p:cNvSpPr/>
            <p:nvPr/>
          </p:nvSpPr>
          <p:spPr>
            <a:xfrm>
              <a:off x="265176" y="1133856"/>
              <a:ext cx="1252728" cy="265176"/>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SCIM Operation</a:t>
              </a:r>
              <a:endParaRPr lang="en-US" sz="900" dirty="0"/>
            </a:p>
          </p:txBody>
        </p:sp>
        <p:sp>
          <p:nvSpPr>
            <p:cNvPr id="7" name="Shape 5"/>
            <p:cNvSpPr/>
            <p:nvPr/>
          </p:nvSpPr>
          <p:spPr>
            <a:xfrm>
              <a:off x="1572768" y="1133856"/>
              <a:ext cx="822960" cy="265176"/>
            </a:xfrm>
            <a:prstGeom prst="rect">
              <a:avLst/>
            </a:prstGeom>
            <a:solidFill>
              <a:srgbClr val="1A3C5E"/>
            </a:solidFill>
            <a:ln w="6350">
              <a:solidFill>
                <a:srgbClr val="C9DDE8"/>
              </a:solidFill>
              <a:prstDash val="solid"/>
            </a:ln>
          </p:spPr>
          <p:txBody>
            <a:bodyPr/>
            <a:lstStyle/>
            <a:p>
              <a:endParaRPr lang="en-US"/>
            </a:p>
          </p:txBody>
        </p:sp>
        <p:sp>
          <p:nvSpPr>
            <p:cNvPr id="8" name="Text 6"/>
            <p:cNvSpPr/>
            <p:nvPr/>
          </p:nvSpPr>
          <p:spPr>
            <a:xfrm>
              <a:off x="1609344" y="1133856"/>
              <a:ext cx="749808" cy="265176"/>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JML Event</a:t>
              </a:r>
              <a:endParaRPr lang="en-US" sz="900" dirty="0"/>
            </a:p>
          </p:txBody>
        </p:sp>
        <p:sp>
          <p:nvSpPr>
            <p:cNvPr id="9" name="Shape 7"/>
            <p:cNvSpPr/>
            <p:nvPr/>
          </p:nvSpPr>
          <p:spPr>
            <a:xfrm>
              <a:off x="2414016" y="1133856"/>
              <a:ext cx="2286000" cy="265176"/>
            </a:xfrm>
            <a:prstGeom prst="rect">
              <a:avLst/>
            </a:prstGeom>
            <a:solidFill>
              <a:srgbClr val="1A3C5E"/>
            </a:solidFill>
            <a:ln w="6350">
              <a:solidFill>
                <a:srgbClr val="C9DDE8"/>
              </a:solidFill>
              <a:prstDash val="solid"/>
            </a:ln>
          </p:spPr>
          <p:txBody>
            <a:bodyPr/>
            <a:lstStyle/>
            <a:p>
              <a:endParaRPr lang="en-US"/>
            </a:p>
          </p:txBody>
        </p:sp>
        <p:sp>
          <p:nvSpPr>
            <p:cNvPr id="10" name="Text 8"/>
            <p:cNvSpPr/>
            <p:nvPr/>
          </p:nvSpPr>
          <p:spPr>
            <a:xfrm>
              <a:off x="2450592" y="1133856"/>
              <a:ext cx="2212848" cy="265176"/>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Description</a:t>
              </a:r>
              <a:endParaRPr lang="en-US" sz="900" dirty="0"/>
            </a:p>
          </p:txBody>
        </p:sp>
        <p:sp>
          <p:nvSpPr>
            <p:cNvPr id="11" name="Shape 9"/>
            <p:cNvSpPr/>
            <p:nvPr/>
          </p:nvSpPr>
          <p:spPr>
            <a:xfrm>
              <a:off x="228600" y="1399032"/>
              <a:ext cx="1325880" cy="265176"/>
            </a:xfrm>
            <a:prstGeom prst="rect">
              <a:avLst/>
            </a:prstGeom>
            <a:solidFill>
              <a:srgbClr val="FFFFFF"/>
            </a:solidFill>
            <a:ln w="6350">
              <a:solidFill>
                <a:srgbClr val="C8D8E0"/>
              </a:solidFill>
              <a:prstDash val="solid"/>
            </a:ln>
          </p:spPr>
          <p:txBody>
            <a:bodyPr/>
            <a:lstStyle/>
            <a:p>
              <a:endParaRPr lang="en-US"/>
            </a:p>
          </p:txBody>
        </p:sp>
        <p:sp>
          <p:nvSpPr>
            <p:cNvPr id="12" name="Text 10"/>
            <p:cNvSpPr/>
            <p:nvPr/>
          </p:nvSpPr>
          <p:spPr>
            <a:xfrm>
              <a:off x="265176" y="1399032"/>
              <a:ext cx="1252728" cy="26517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POST /Users</a:t>
              </a:r>
              <a:endParaRPr lang="en-US" sz="750" dirty="0"/>
            </a:p>
          </p:txBody>
        </p:sp>
        <p:sp>
          <p:nvSpPr>
            <p:cNvPr id="13" name="Shape 11"/>
            <p:cNvSpPr/>
            <p:nvPr/>
          </p:nvSpPr>
          <p:spPr>
            <a:xfrm>
              <a:off x="1572768" y="1399032"/>
              <a:ext cx="822960" cy="265176"/>
            </a:xfrm>
            <a:prstGeom prst="rect">
              <a:avLst/>
            </a:prstGeom>
            <a:solidFill>
              <a:srgbClr val="FFFFFF"/>
            </a:solidFill>
            <a:ln w="6350">
              <a:solidFill>
                <a:srgbClr val="C8D8E0"/>
              </a:solidFill>
              <a:prstDash val="solid"/>
            </a:ln>
          </p:spPr>
          <p:txBody>
            <a:bodyPr/>
            <a:lstStyle/>
            <a:p>
              <a:endParaRPr lang="en-US"/>
            </a:p>
          </p:txBody>
        </p:sp>
        <p:sp>
          <p:nvSpPr>
            <p:cNvPr id="14" name="Text 12"/>
            <p:cNvSpPr/>
            <p:nvPr/>
          </p:nvSpPr>
          <p:spPr>
            <a:xfrm>
              <a:off x="1609344" y="1399032"/>
              <a:ext cx="749808" cy="26517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Joiner</a:t>
              </a:r>
              <a:endParaRPr lang="en-US" sz="750" dirty="0"/>
            </a:p>
          </p:txBody>
        </p:sp>
        <p:sp>
          <p:nvSpPr>
            <p:cNvPr id="15" name="Shape 13"/>
            <p:cNvSpPr/>
            <p:nvPr/>
          </p:nvSpPr>
          <p:spPr>
            <a:xfrm>
              <a:off x="2414016" y="1399032"/>
              <a:ext cx="2286000" cy="265176"/>
            </a:xfrm>
            <a:prstGeom prst="rect">
              <a:avLst/>
            </a:prstGeom>
            <a:solidFill>
              <a:srgbClr val="FFFFFF"/>
            </a:solidFill>
            <a:ln w="6350">
              <a:solidFill>
                <a:srgbClr val="C8D8E0"/>
              </a:solidFill>
              <a:prstDash val="solid"/>
            </a:ln>
          </p:spPr>
          <p:txBody>
            <a:bodyPr/>
            <a:lstStyle/>
            <a:p>
              <a:endParaRPr lang="en-US"/>
            </a:p>
          </p:txBody>
        </p:sp>
        <p:sp>
          <p:nvSpPr>
            <p:cNvPr id="16" name="Text 14"/>
            <p:cNvSpPr/>
            <p:nvPr/>
          </p:nvSpPr>
          <p:spPr>
            <a:xfrm>
              <a:off x="2450592" y="1399032"/>
              <a:ext cx="2212848" cy="26517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Create new user account in target system. IGA sends user object; system returns created resource with stable SCIM ID.</a:t>
              </a:r>
              <a:endParaRPr lang="en-US" sz="750" dirty="0"/>
            </a:p>
          </p:txBody>
        </p:sp>
        <p:sp>
          <p:nvSpPr>
            <p:cNvPr id="17" name="Shape 15"/>
            <p:cNvSpPr/>
            <p:nvPr/>
          </p:nvSpPr>
          <p:spPr>
            <a:xfrm>
              <a:off x="228600" y="1664208"/>
              <a:ext cx="1325880" cy="265176"/>
            </a:xfrm>
            <a:prstGeom prst="rect">
              <a:avLst/>
            </a:prstGeom>
            <a:solidFill>
              <a:srgbClr val="EEF8F0"/>
            </a:solidFill>
            <a:ln w="6350">
              <a:solidFill>
                <a:srgbClr val="C8D8E0"/>
              </a:solidFill>
              <a:prstDash val="solid"/>
            </a:ln>
          </p:spPr>
          <p:txBody>
            <a:bodyPr/>
            <a:lstStyle/>
            <a:p>
              <a:endParaRPr lang="en-US"/>
            </a:p>
          </p:txBody>
        </p:sp>
        <p:sp>
          <p:nvSpPr>
            <p:cNvPr id="18" name="Text 16"/>
            <p:cNvSpPr/>
            <p:nvPr/>
          </p:nvSpPr>
          <p:spPr>
            <a:xfrm>
              <a:off x="265176" y="1664208"/>
              <a:ext cx="1252728" cy="26517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PATCH /Users/{id}</a:t>
              </a:r>
              <a:endParaRPr lang="en-US" sz="750" dirty="0"/>
            </a:p>
          </p:txBody>
        </p:sp>
        <p:sp>
          <p:nvSpPr>
            <p:cNvPr id="19" name="Shape 17"/>
            <p:cNvSpPr/>
            <p:nvPr/>
          </p:nvSpPr>
          <p:spPr>
            <a:xfrm>
              <a:off x="1572768" y="1664208"/>
              <a:ext cx="822960" cy="265176"/>
            </a:xfrm>
            <a:prstGeom prst="rect">
              <a:avLst/>
            </a:prstGeom>
            <a:solidFill>
              <a:srgbClr val="EEF8F0"/>
            </a:solidFill>
            <a:ln w="6350">
              <a:solidFill>
                <a:srgbClr val="C8D8E0"/>
              </a:solidFill>
              <a:prstDash val="solid"/>
            </a:ln>
          </p:spPr>
          <p:txBody>
            <a:bodyPr/>
            <a:lstStyle/>
            <a:p>
              <a:endParaRPr lang="en-US"/>
            </a:p>
          </p:txBody>
        </p:sp>
        <p:sp>
          <p:nvSpPr>
            <p:cNvPr id="20" name="Text 18"/>
            <p:cNvSpPr/>
            <p:nvPr/>
          </p:nvSpPr>
          <p:spPr>
            <a:xfrm>
              <a:off x="1609344" y="1664208"/>
              <a:ext cx="749808" cy="26517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Mover</a:t>
              </a:r>
              <a:endParaRPr lang="en-US" sz="750" dirty="0"/>
            </a:p>
          </p:txBody>
        </p:sp>
        <p:sp>
          <p:nvSpPr>
            <p:cNvPr id="21" name="Shape 19"/>
            <p:cNvSpPr/>
            <p:nvPr/>
          </p:nvSpPr>
          <p:spPr>
            <a:xfrm>
              <a:off x="2414016" y="1664208"/>
              <a:ext cx="2286000" cy="265176"/>
            </a:xfrm>
            <a:prstGeom prst="rect">
              <a:avLst/>
            </a:prstGeom>
            <a:solidFill>
              <a:srgbClr val="EEF8F0"/>
            </a:solidFill>
            <a:ln w="6350">
              <a:solidFill>
                <a:srgbClr val="C8D8E0"/>
              </a:solidFill>
              <a:prstDash val="solid"/>
            </a:ln>
          </p:spPr>
          <p:txBody>
            <a:bodyPr/>
            <a:lstStyle/>
            <a:p>
              <a:endParaRPr lang="en-US"/>
            </a:p>
          </p:txBody>
        </p:sp>
        <p:sp>
          <p:nvSpPr>
            <p:cNvPr id="22" name="Text 20"/>
            <p:cNvSpPr/>
            <p:nvPr/>
          </p:nvSpPr>
          <p:spPr>
            <a:xfrm>
              <a:off x="2450592" y="1664208"/>
              <a:ext cx="2212848" cy="26517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Partial update: changed attributes only (department, manager, title). More efficient than full PUT; preserves unchanged data.</a:t>
              </a:r>
              <a:endParaRPr lang="en-US" sz="750" dirty="0"/>
            </a:p>
          </p:txBody>
        </p:sp>
        <p:sp>
          <p:nvSpPr>
            <p:cNvPr id="23" name="Shape 21"/>
            <p:cNvSpPr/>
            <p:nvPr/>
          </p:nvSpPr>
          <p:spPr>
            <a:xfrm>
              <a:off x="228600" y="1929384"/>
              <a:ext cx="1325880" cy="265176"/>
            </a:xfrm>
            <a:prstGeom prst="rect">
              <a:avLst/>
            </a:prstGeom>
            <a:solidFill>
              <a:srgbClr val="FFFFFF"/>
            </a:solidFill>
            <a:ln w="6350">
              <a:solidFill>
                <a:srgbClr val="C8D8E0"/>
              </a:solidFill>
              <a:prstDash val="solid"/>
            </a:ln>
          </p:spPr>
          <p:txBody>
            <a:bodyPr/>
            <a:lstStyle/>
            <a:p>
              <a:endParaRPr lang="en-US"/>
            </a:p>
          </p:txBody>
        </p:sp>
        <p:sp>
          <p:nvSpPr>
            <p:cNvPr id="24" name="Text 22"/>
            <p:cNvSpPr/>
            <p:nvPr/>
          </p:nvSpPr>
          <p:spPr>
            <a:xfrm>
              <a:off x="265176" y="1929384"/>
              <a:ext cx="1252728" cy="26517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PATCH active=false</a:t>
              </a:r>
              <a:endParaRPr lang="en-US" sz="750" dirty="0"/>
            </a:p>
          </p:txBody>
        </p:sp>
        <p:sp>
          <p:nvSpPr>
            <p:cNvPr id="25" name="Shape 23"/>
            <p:cNvSpPr/>
            <p:nvPr/>
          </p:nvSpPr>
          <p:spPr>
            <a:xfrm>
              <a:off x="1572768" y="1929384"/>
              <a:ext cx="822960" cy="265176"/>
            </a:xfrm>
            <a:prstGeom prst="rect">
              <a:avLst/>
            </a:prstGeom>
            <a:solidFill>
              <a:srgbClr val="FFFFFF"/>
            </a:solidFill>
            <a:ln w="6350">
              <a:solidFill>
                <a:srgbClr val="C8D8E0"/>
              </a:solidFill>
              <a:prstDash val="solid"/>
            </a:ln>
          </p:spPr>
          <p:txBody>
            <a:bodyPr/>
            <a:lstStyle/>
            <a:p>
              <a:endParaRPr lang="en-US"/>
            </a:p>
          </p:txBody>
        </p:sp>
        <p:sp>
          <p:nvSpPr>
            <p:cNvPr id="26" name="Text 24"/>
            <p:cNvSpPr/>
            <p:nvPr/>
          </p:nvSpPr>
          <p:spPr>
            <a:xfrm>
              <a:off x="1609344" y="1929384"/>
              <a:ext cx="749808" cy="26517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Leaver (Soft)</a:t>
              </a:r>
              <a:endParaRPr lang="en-US" sz="750" dirty="0"/>
            </a:p>
          </p:txBody>
        </p:sp>
        <p:sp>
          <p:nvSpPr>
            <p:cNvPr id="27" name="Shape 25"/>
            <p:cNvSpPr/>
            <p:nvPr/>
          </p:nvSpPr>
          <p:spPr>
            <a:xfrm>
              <a:off x="2414016" y="1929384"/>
              <a:ext cx="2286000" cy="265176"/>
            </a:xfrm>
            <a:prstGeom prst="rect">
              <a:avLst/>
            </a:prstGeom>
            <a:solidFill>
              <a:srgbClr val="FFFFFF"/>
            </a:solidFill>
            <a:ln w="6350">
              <a:solidFill>
                <a:srgbClr val="C8D8E0"/>
              </a:solidFill>
              <a:prstDash val="solid"/>
            </a:ln>
          </p:spPr>
          <p:txBody>
            <a:bodyPr/>
            <a:lstStyle/>
            <a:p>
              <a:endParaRPr lang="en-US"/>
            </a:p>
          </p:txBody>
        </p:sp>
        <p:sp>
          <p:nvSpPr>
            <p:cNvPr id="28" name="Text 26"/>
            <p:cNvSpPr/>
            <p:nvPr/>
          </p:nvSpPr>
          <p:spPr>
            <a:xfrm>
              <a:off x="2450592" y="1929384"/>
              <a:ext cx="2212848" cy="26517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Deactivate account preserving record for audit trail. Preferred over DELETE for deprovisioning.</a:t>
              </a:r>
              <a:endParaRPr lang="en-US" sz="750" dirty="0"/>
            </a:p>
          </p:txBody>
        </p:sp>
        <p:sp>
          <p:nvSpPr>
            <p:cNvPr id="29" name="Shape 27"/>
            <p:cNvSpPr/>
            <p:nvPr/>
          </p:nvSpPr>
          <p:spPr>
            <a:xfrm>
              <a:off x="228600" y="2194560"/>
              <a:ext cx="1325880" cy="265176"/>
            </a:xfrm>
            <a:prstGeom prst="rect">
              <a:avLst/>
            </a:prstGeom>
            <a:solidFill>
              <a:srgbClr val="EEF8F0"/>
            </a:solidFill>
            <a:ln w="6350">
              <a:solidFill>
                <a:srgbClr val="C8D8E0"/>
              </a:solidFill>
              <a:prstDash val="solid"/>
            </a:ln>
          </p:spPr>
          <p:txBody>
            <a:bodyPr/>
            <a:lstStyle/>
            <a:p>
              <a:endParaRPr lang="en-US"/>
            </a:p>
          </p:txBody>
        </p:sp>
        <p:sp>
          <p:nvSpPr>
            <p:cNvPr id="30" name="Text 28"/>
            <p:cNvSpPr/>
            <p:nvPr/>
          </p:nvSpPr>
          <p:spPr>
            <a:xfrm>
              <a:off x="265176" y="2194560"/>
              <a:ext cx="1252728" cy="26517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DELETE /Users/{id}</a:t>
              </a:r>
              <a:endParaRPr lang="en-US" sz="750" dirty="0"/>
            </a:p>
          </p:txBody>
        </p:sp>
        <p:sp>
          <p:nvSpPr>
            <p:cNvPr id="31" name="Shape 29"/>
            <p:cNvSpPr/>
            <p:nvPr/>
          </p:nvSpPr>
          <p:spPr>
            <a:xfrm>
              <a:off x="1572768" y="2194560"/>
              <a:ext cx="822960" cy="265176"/>
            </a:xfrm>
            <a:prstGeom prst="rect">
              <a:avLst/>
            </a:prstGeom>
            <a:solidFill>
              <a:srgbClr val="EEF8F0"/>
            </a:solidFill>
            <a:ln w="6350">
              <a:solidFill>
                <a:srgbClr val="C8D8E0"/>
              </a:solidFill>
              <a:prstDash val="solid"/>
            </a:ln>
          </p:spPr>
          <p:txBody>
            <a:bodyPr/>
            <a:lstStyle/>
            <a:p>
              <a:endParaRPr lang="en-US"/>
            </a:p>
          </p:txBody>
        </p:sp>
        <p:sp>
          <p:nvSpPr>
            <p:cNvPr id="32" name="Text 30"/>
            <p:cNvSpPr/>
            <p:nvPr/>
          </p:nvSpPr>
          <p:spPr>
            <a:xfrm>
              <a:off x="1609344" y="2194560"/>
              <a:ext cx="749808" cy="26517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Leaver (Hard)</a:t>
              </a:r>
              <a:endParaRPr lang="en-US" sz="750" dirty="0"/>
            </a:p>
          </p:txBody>
        </p:sp>
        <p:sp>
          <p:nvSpPr>
            <p:cNvPr id="33" name="Shape 31"/>
            <p:cNvSpPr/>
            <p:nvPr/>
          </p:nvSpPr>
          <p:spPr>
            <a:xfrm>
              <a:off x="2414016" y="2194560"/>
              <a:ext cx="2286000" cy="265176"/>
            </a:xfrm>
            <a:prstGeom prst="rect">
              <a:avLst/>
            </a:prstGeom>
            <a:solidFill>
              <a:srgbClr val="EEF8F0"/>
            </a:solidFill>
            <a:ln w="6350">
              <a:solidFill>
                <a:srgbClr val="C8D8E0"/>
              </a:solidFill>
              <a:prstDash val="solid"/>
            </a:ln>
          </p:spPr>
          <p:txBody>
            <a:bodyPr/>
            <a:lstStyle/>
            <a:p>
              <a:endParaRPr lang="en-US"/>
            </a:p>
          </p:txBody>
        </p:sp>
        <p:sp>
          <p:nvSpPr>
            <p:cNvPr id="34" name="Text 32"/>
            <p:cNvSpPr/>
            <p:nvPr/>
          </p:nvSpPr>
          <p:spPr>
            <a:xfrm>
              <a:off x="2450592" y="2194560"/>
              <a:ext cx="2212848" cy="26517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Permanent removal. Only after data retention policy expiry. Use PATCH active=false for initial deprovisioning.</a:t>
              </a:r>
              <a:endParaRPr lang="en-US" sz="750" dirty="0"/>
            </a:p>
          </p:txBody>
        </p:sp>
        <p:sp>
          <p:nvSpPr>
            <p:cNvPr id="35" name="Shape 33"/>
            <p:cNvSpPr/>
            <p:nvPr/>
          </p:nvSpPr>
          <p:spPr>
            <a:xfrm>
              <a:off x="228600" y="2459736"/>
              <a:ext cx="1325880" cy="265176"/>
            </a:xfrm>
            <a:prstGeom prst="rect">
              <a:avLst/>
            </a:prstGeom>
            <a:solidFill>
              <a:srgbClr val="FFFFFF"/>
            </a:solidFill>
            <a:ln w="6350">
              <a:solidFill>
                <a:srgbClr val="C8D8E0"/>
              </a:solidFill>
              <a:prstDash val="solid"/>
            </a:ln>
          </p:spPr>
          <p:txBody>
            <a:bodyPr/>
            <a:lstStyle/>
            <a:p>
              <a:endParaRPr lang="en-US"/>
            </a:p>
          </p:txBody>
        </p:sp>
        <p:sp>
          <p:nvSpPr>
            <p:cNvPr id="36" name="Text 34"/>
            <p:cNvSpPr/>
            <p:nvPr/>
          </p:nvSpPr>
          <p:spPr>
            <a:xfrm>
              <a:off x="265176" y="2459736"/>
              <a:ext cx="1252728" cy="26517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GET /Users (bulk)</a:t>
              </a:r>
              <a:endParaRPr lang="en-US" sz="750" dirty="0"/>
            </a:p>
          </p:txBody>
        </p:sp>
        <p:sp>
          <p:nvSpPr>
            <p:cNvPr id="37" name="Shape 35"/>
            <p:cNvSpPr/>
            <p:nvPr/>
          </p:nvSpPr>
          <p:spPr>
            <a:xfrm>
              <a:off x="1572768" y="2459736"/>
              <a:ext cx="822960" cy="265176"/>
            </a:xfrm>
            <a:prstGeom prst="rect">
              <a:avLst/>
            </a:prstGeom>
            <a:solidFill>
              <a:srgbClr val="FFFFFF"/>
            </a:solidFill>
            <a:ln w="6350">
              <a:solidFill>
                <a:srgbClr val="C8D8E0"/>
              </a:solidFill>
              <a:prstDash val="solid"/>
            </a:ln>
          </p:spPr>
          <p:txBody>
            <a:bodyPr/>
            <a:lstStyle/>
            <a:p>
              <a:endParaRPr lang="en-US"/>
            </a:p>
          </p:txBody>
        </p:sp>
        <p:sp>
          <p:nvSpPr>
            <p:cNvPr id="38" name="Text 36"/>
            <p:cNvSpPr/>
            <p:nvPr/>
          </p:nvSpPr>
          <p:spPr>
            <a:xfrm>
              <a:off x="1609344" y="2459736"/>
              <a:ext cx="749808" cy="26517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Reconciliation</a:t>
              </a:r>
              <a:endParaRPr lang="en-US" sz="750" dirty="0"/>
            </a:p>
          </p:txBody>
        </p:sp>
        <p:sp>
          <p:nvSpPr>
            <p:cNvPr id="39" name="Shape 37"/>
            <p:cNvSpPr/>
            <p:nvPr/>
          </p:nvSpPr>
          <p:spPr>
            <a:xfrm>
              <a:off x="2414016" y="2459736"/>
              <a:ext cx="2286000" cy="265176"/>
            </a:xfrm>
            <a:prstGeom prst="rect">
              <a:avLst/>
            </a:prstGeom>
            <a:solidFill>
              <a:srgbClr val="FFFFFF"/>
            </a:solidFill>
            <a:ln w="6350">
              <a:solidFill>
                <a:srgbClr val="C8D8E0"/>
              </a:solidFill>
              <a:prstDash val="solid"/>
            </a:ln>
          </p:spPr>
          <p:txBody>
            <a:bodyPr/>
            <a:lstStyle/>
            <a:p>
              <a:endParaRPr lang="en-US"/>
            </a:p>
          </p:txBody>
        </p:sp>
        <p:sp>
          <p:nvSpPr>
            <p:cNvPr id="40" name="Text 38"/>
            <p:cNvSpPr/>
            <p:nvPr/>
          </p:nvSpPr>
          <p:spPr>
            <a:xfrm>
              <a:off x="2450592" y="2459736"/>
              <a:ext cx="2212848" cy="26517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IGA compares identity warehouse against target system user base. Out-of-band provisioned accounts detected as drift.</a:t>
              </a:r>
              <a:endParaRPr lang="en-US" sz="750" dirty="0"/>
            </a:p>
          </p:txBody>
        </p:sp>
        <p:sp>
          <p:nvSpPr>
            <p:cNvPr id="41" name="Shape 39"/>
            <p:cNvSpPr/>
            <p:nvPr/>
          </p:nvSpPr>
          <p:spPr>
            <a:xfrm>
              <a:off x="228600" y="2724912"/>
              <a:ext cx="1325880" cy="265176"/>
            </a:xfrm>
            <a:prstGeom prst="rect">
              <a:avLst/>
            </a:prstGeom>
            <a:solidFill>
              <a:srgbClr val="EEF8F0"/>
            </a:solidFill>
            <a:ln w="6350">
              <a:solidFill>
                <a:srgbClr val="C8D8E0"/>
              </a:solidFill>
              <a:prstDash val="solid"/>
            </a:ln>
          </p:spPr>
          <p:txBody>
            <a:bodyPr/>
            <a:lstStyle/>
            <a:p>
              <a:endParaRPr lang="en-US"/>
            </a:p>
          </p:txBody>
        </p:sp>
        <p:sp>
          <p:nvSpPr>
            <p:cNvPr id="42" name="Text 40"/>
            <p:cNvSpPr/>
            <p:nvPr/>
          </p:nvSpPr>
          <p:spPr>
            <a:xfrm>
              <a:off x="265176" y="2724912"/>
              <a:ext cx="1252728" cy="26517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Groups + Members</a:t>
              </a:r>
              <a:endParaRPr lang="en-US" sz="750" dirty="0"/>
            </a:p>
          </p:txBody>
        </p:sp>
        <p:sp>
          <p:nvSpPr>
            <p:cNvPr id="43" name="Shape 41"/>
            <p:cNvSpPr/>
            <p:nvPr/>
          </p:nvSpPr>
          <p:spPr>
            <a:xfrm>
              <a:off x="1572768" y="2724912"/>
              <a:ext cx="822960" cy="265176"/>
            </a:xfrm>
            <a:prstGeom prst="rect">
              <a:avLst/>
            </a:prstGeom>
            <a:solidFill>
              <a:srgbClr val="EEF8F0"/>
            </a:solidFill>
            <a:ln w="6350">
              <a:solidFill>
                <a:srgbClr val="C8D8E0"/>
              </a:solidFill>
              <a:prstDash val="solid"/>
            </a:ln>
          </p:spPr>
          <p:txBody>
            <a:bodyPr/>
            <a:lstStyle/>
            <a:p>
              <a:endParaRPr lang="en-US"/>
            </a:p>
          </p:txBody>
        </p:sp>
        <p:sp>
          <p:nvSpPr>
            <p:cNvPr id="44" name="Text 42"/>
            <p:cNvSpPr/>
            <p:nvPr/>
          </p:nvSpPr>
          <p:spPr>
            <a:xfrm>
              <a:off x="1609344" y="2724912"/>
              <a:ext cx="749808" cy="26517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Entitlements</a:t>
              </a:r>
              <a:endParaRPr lang="en-US" sz="750" dirty="0"/>
            </a:p>
          </p:txBody>
        </p:sp>
        <p:sp>
          <p:nvSpPr>
            <p:cNvPr id="45" name="Shape 43"/>
            <p:cNvSpPr/>
            <p:nvPr/>
          </p:nvSpPr>
          <p:spPr>
            <a:xfrm>
              <a:off x="2414016" y="2724912"/>
              <a:ext cx="2286000" cy="265176"/>
            </a:xfrm>
            <a:prstGeom prst="rect">
              <a:avLst/>
            </a:prstGeom>
            <a:solidFill>
              <a:srgbClr val="EEF8F0"/>
            </a:solidFill>
            <a:ln w="6350">
              <a:solidFill>
                <a:srgbClr val="C8D8E0"/>
              </a:solidFill>
              <a:prstDash val="solid"/>
            </a:ln>
          </p:spPr>
          <p:txBody>
            <a:bodyPr/>
            <a:lstStyle/>
            <a:p>
              <a:endParaRPr lang="en-US"/>
            </a:p>
          </p:txBody>
        </p:sp>
        <p:sp>
          <p:nvSpPr>
            <p:cNvPr id="46" name="Text 44"/>
            <p:cNvSpPr/>
            <p:nvPr/>
          </p:nvSpPr>
          <p:spPr>
            <a:xfrm>
              <a:off x="2450592" y="2724912"/>
              <a:ext cx="2212848" cy="265176"/>
            </a:xfrm>
            <a:prstGeom prst="rect">
              <a:avLst/>
            </a:prstGeom>
            <a:noFill/>
            <a:ln/>
          </p:spPr>
          <p:txBody>
            <a:bodyPr wrap="square" lIns="0" tIns="0" rIns="0" bIns="0" rtlCol="0" anchor="ctr"/>
            <a:lstStyle/>
            <a:p>
              <a:pPr marL="0" indent="0">
                <a:buNone/>
              </a:pPr>
              <a:r>
                <a:rPr lang="en-US" sz="750" dirty="0">
                  <a:solidFill>
                    <a:srgbClr val="1A2E44"/>
                  </a:solidFill>
                  <a:latin typeface="Calibri" pitchFamily="34" charset="0"/>
                  <a:ea typeface="Calibri" pitchFamily="34" charset="-122"/>
                  <a:cs typeface="Calibri" pitchFamily="34" charset="-120"/>
                </a:rPr>
                <a:t>IGA manages group membership via SCIM Groups. Target app maps groups to internal permissions. Cleanest entitlement model.</a:t>
              </a:r>
              <a:endParaRPr lang="en-US" sz="750" dirty="0"/>
            </a:p>
          </p:txBody>
        </p:sp>
      </p:grpSp>
      <p:sp>
        <p:nvSpPr>
          <p:cNvPr id="47" name="Text 45"/>
          <p:cNvSpPr/>
          <p:nvPr/>
        </p:nvSpPr>
        <p:spPr>
          <a:xfrm>
            <a:off x="4846320" y="804672"/>
            <a:ext cx="4023360" cy="274320"/>
          </a:xfrm>
          <a:prstGeom prst="rect">
            <a:avLst/>
          </a:prstGeom>
          <a:noFill/>
          <a:ln/>
        </p:spPr>
        <p:txBody>
          <a:bodyPr wrap="square" lIns="0" tIns="0" rIns="0" bIns="0" rtlCol="0" anchor="ctr"/>
          <a:lstStyle/>
          <a:p>
            <a:pPr marL="0" indent="0">
              <a:buNone/>
            </a:pPr>
            <a:r>
              <a:rPr lang="en-US" sz="1200" b="1" dirty="0">
                <a:solidFill>
                  <a:srgbClr val="1A3C5E"/>
                </a:solidFill>
                <a:latin typeface="Calibri" pitchFamily="34" charset="0"/>
                <a:ea typeface="Calibri" pitchFamily="34" charset="-122"/>
                <a:cs typeface="Calibri" pitchFamily="34" charset="-120"/>
              </a:rPr>
              <a:t>Provisioning Architecture</a:t>
            </a:r>
            <a:endParaRPr lang="en-US" sz="1200" dirty="0"/>
          </a:p>
        </p:txBody>
      </p:sp>
      <p:sp>
        <p:nvSpPr>
          <p:cNvPr id="48" name="Shape 46"/>
          <p:cNvSpPr/>
          <p:nvPr/>
        </p:nvSpPr>
        <p:spPr>
          <a:xfrm>
            <a:off x="4846320" y="1133856"/>
            <a:ext cx="4023360" cy="594360"/>
          </a:xfrm>
          <a:prstGeom prst="rect">
            <a:avLst/>
          </a:prstGeom>
          <a:solidFill>
            <a:srgbClr val="2D7D46"/>
          </a:solidFill>
          <a:ln w="12700">
            <a:solidFill>
              <a:srgbClr val="2D7D46"/>
            </a:solidFill>
            <a:prstDash val="solid"/>
          </a:ln>
          <a:effectLst>
            <a:outerShdw blurRad="63500" dist="25400" dir="8100000" algn="bl" rotWithShape="0">
              <a:srgbClr val="000000">
                <a:alpha val="12000"/>
              </a:srgbClr>
            </a:outerShdw>
          </a:effectLst>
        </p:spPr>
        <p:txBody>
          <a:bodyPr/>
          <a:lstStyle/>
          <a:p>
            <a:endParaRPr lang="en-US"/>
          </a:p>
        </p:txBody>
      </p:sp>
      <p:sp>
        <p:nvSpPr>
          <p:cNvPr id="49" name="Text 47"/>
          <p:cNvSpPr/>
          <p:nvPr/>
        </p:nvSpPr>
        <p:spPr>
          <a:xfrm>
            <a:off x="4846320" y="1133856"/>
            <a:ext cx="402336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HRMS (Authoritative Source)</a:t>
            </a:r>
            <a:endParaRPr lang="en-US" sz="1100" dirty="0"/>
          </a:p>
        </p:txBody>
      </p:sp>
      <p:sp>
        <p:nvSpPr>
          <p:cNvPr id="50" name="Text 48"/>
          <p:cNvSpPr/>
          <p:nvPr/>
        </p:nvSpPr>
        <p:spPr>
          <a:xfrm>
            <a:off x="4846320" y="1408176"/>
            <a:ext cx="4023360" cy="274320"/>
          </a:xfrm>
          <a:prstGeom prst="rect">
            <a:avLst/>
          </a:prstGeom>
          <a:noFill/>
          <a:ln/>
        </p:spPr>
        <p:txBody>
          <a:bodyPr wrap="square" lIns="0" tIns="0" rIns="0" bIns="0" rtlCol="0" anchor="ctr"/>
          <a:lstStyle/>
          <a:p>
            <a:pPr marL="0" indent="0" algn="ctr">
              <a:buNone/>
            </a:pPr>
            <a:r>
              <a:rPr lang="en-US" sz="900" dirty="0">
                <a:solidFill>
                  <a:srgbClr val="D4EDDA"/>
                </a:solidFill>
                <a:latin typeface="Calibri" pitchFamily="34" charset="0"/>
                <a:ea typeface="Calibri" pitchFamily="34" charset="-122"/>
                <a:cs typeface="Calibri" pitchFamily="34" charset="-120"/>
              </a:rPr>
              <a:t>Workday  |  SAP SuccessFactors  |  Oracle HCM</a:t>
            </a:r>
            <a:endParaRPr lang="en-US" sz="900" dirty="0"/>
          </a:p>
        </p:txBody>
      </p:sp>
      <p:sp>
        <p:nvSpPr>
          <p:cNvPr id="51" name="Shape 49"/>
          <p:cNvSpPr/>
          <p:nvPr/>
        </p:nvSpPr>
        <p:spPr>
          <a:xfrm>
            <a:off x="6858000" y="1728216"/>
            <a:ext cx="0" cy="228600"/>
          </a:xfrm>
          <a:prstGeom prst="line">
            <a:avLst/>
          </a:prstGeom>
          <a:noFill/>
          <a:ln w="25400">
            <a:solidFill>
              <a:srgbClr val="E8A838"/>
            </a:solidFill>
            <a:prstDash val="solid"/>
          </a:ln>
        </p:spPr>
        <p:txBody>
          <a:bodyPr/>
          <a:lstStyle/>
          <a:p>
            <a:endParaRPr lang="en-US"/>
          </a:p>
        </p:txBody>
      </p:sp>
      <p:sp>
        <p:nvSpPr>
          <p:cNvPr id="52" name="Text 50"/>
          <p:cNvSpPr/>
          <p:nvPr/>
        </p:nvSpPr>
        <p:spPr>
          <a:xfrm>
            <a:off x="5029200" y="1737360"/>
            <a:ext cx="3657600" cy="182880"/>
          </a:xfrm>
          <a:prstGeom prst="rect">
            <a:avLst/>
          </a:prstGeom>
          <a:noFill/>
          <a:ln/>
        </p:spPr>
        <p:txBody>
          <a:bodyPr wrap="square" lIns="0" tIns="0" rIns="0" bIns="0" rtlCol="0" anchor="ctr"/>
          <a:lstStyle/>
          <a:p>
            <a:pPr marL="0" indent="0" algn="ctr">
              <a:buNone/>
            </a:pPr>
            <a:r>
              <a:rPr lang="en-US" sz="800" i="1" dirty="0">
                <a:solidFill>
                  <a:srgbClr val="E8A838"/>
                </a:solidFill>
                <a:latin typeface="Calibri" pitchFamily="34" charset="0"/>
                <a:ea typeface="Calibri" pitchFamily="34" charset="-122"/>
                <a:cs typeface="Calibri" pitchFamily="34" charset="-120"/>
              </a:rPr>
              <a:t>JML Events (near-real-time)</a:t>
            </a:r>
            <a:endParaRPr lang="en-US" sz="800" dirty="0"/>
          </a:p>
        </p:txBody>
      </p:sp>
      <p:sp>
        <p:nvSpPr>
          <p:cNvPr id="53" name="Shape 51"/>
          <p:cNvSpPr/>
          <p:nvPr/>
        </p:nvSpPr>
        <p:spPr>
          <a:xfrm>
            <a:off x="4846320" y="1956816"/>
            <a:ext cx="4023360" cy="594360"/>
          </a:xfrm>
          <a:prstGeom prst="rect">
            <a:avLst/>
          </a:prstGeom>
          <a:solidFill>
            <a:srgbClr val="1A3C5E"/>
          </a:solidFill>
          <a:ln w="25400">
            <a:solidFill>
              <a:srgbClr val="2D7D46"/>
            </a:solidFill>
            <a:prstDash val="solid"/>
          </a:ln>
          <a:effectLst>
            <a:outerShdw blurRad="63500" dist="25400" dir="8100000" algn="bl" rotWithShape="0">
              <a:srgbClr val="000000">
                <a:alpha val="12000"/>
              </a:srgbClr>
            </a:outerShdw>
          </a:effectLst>
        </p:spPr>
        <p:txBody>
          <a:bodyPr/>
          <a:lstStyle/>
          <a:p>
            <a:endParaRPr lang="en-US"/>
          </a:p>
        </p:txBody>
      </p:sp>
      <p:sp>
        <p:nvSpPr>
          <p:cNvPr id="54" name="Text 52"/>
          <p:cNvSpPr/>
          <p:nvPr/>
        </p:nvSpPr>
        <p:spPr>
          <a:xfrm>
            <a:off x="4846320" y="1956816"/>
            <a:ext cx="4023360" cy="256032"/>
          </a:xfrm>
          <a:prstGeom prst="rect">
            <a:avLst/>
          </a:prstGeom>
          <a:noFill/>
          <a:ln/>
        </p:spPr>
        <p:txBody>
          <a:bodyPr wrap="square" lIns="0" tIns="0" rIns="0" bIns="0" rtlCol="0" anchor="ctr"/>
          <a:lstStyle/>
          <a:p>
            <a:pPr marL="0" indent="0" algn="ctr">
              <a:buNone/>
            </a:pPr>
            <a:r>
              <a:rPr lang="en-US" sz="1100" b="1" dirty="0">
                <a:solidFill>
                  <a:srgbClr val="2D7D46"/>
                </a:solidFill>
                <a:latin typeface="Calibri" pitchFamily="34" charset="0"/>
                <a:ea typeface="Calibri" pitchFamily="34" charset="-122"/>
                <a:cs typeface="Calibri" pitchFamily="34" charset="-120"/>
              </a:rPr>
              <a:t>IGA Platform</a:t>
            </a:r>
            <a:endParaRPr lang="en-US" sz="1100" dirty="0"/>
          </a:p>
        </p:txBody>
      </p:sp>
      <p:sp>
        <p:nvSpPr>
          <p:cNvPr id="55" name="Shape 53"/>
          <p:cNvSpPr/>
          <p:nvPr/>
        </p:nvSpPr>
        <p:spPr>
          <a:xfrm>
            <a:off x="4937760" y="2249424"/>
            <a:ext cx="877824" cy="237744"/>
          </a:xfrm>
          <a:prstGeom prst="rect">
            <a:avLst/>
          </a:prstGeom>
          <a:solidFill>
            <a:srgbClr val="0A2840"/>
          </a:solidFill>
          <a:ln w="6350">
            <a:solidFill>
              <a:srgbClr val="8BAAC2"/>
            </a:solidFill>
            <a:prstDash val="solid"/>
          </a:ln>
        </p:spPr>
        <p:txBody>
          <a:bodyPr/>
          <a:lstStyle/>
          <a:p>
            <a:endParaRPr lang="en-US"/>
          </a:p>
        </p:txBody>
      </p:sp>
      <p:sp>
        <p:nvSpPr>
          <p:cNvPr id="56" name="Text 54"/>
          <p:cNvSpPr/>
          <p:nvPr/>
        </p:nvSpPr>
        <p:spPr>
          <a:xfrm>
            <a:off x="4937760" y="2249424"/>
            <a:ext cx="877824" cy="237744"/>
          </a:xfrm>
          <a:prstGeom prst="rect">
            <a:avLst/>
          </a:prstGeom>
          <a:noFill/>
          <a:ln/>
        </p:spPr>
        <p:txBody>
          <a:bodyPr wrap="square" lIns="0" tIns="0" rIns="0" bIns="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Policy Engine</a:t>
            </a:r>
            <a:endParaRPr lang="en-US" sz="750" dirty="0"/>
          </a:p>
        </p:txBody>
      </p:sp>
      <p:sp>
        <p:nvSpPr>
          <p:cNvPr id="57" name="Shape 55"/>
          <p:cNvSpPr/>
          <p:nvPr/>
        </p:nvSpPr>
        <p:spPr>
          <a:xfrm>
            <a:off x="5897880" y="2249424"/>
            <a:ext cx="877824" cy="237744"/>
          </a:xfrm>
          <a:prstGeom prst="rect">
            <a:avLst/>
          </a:prstGeom>
          <a:solidFill>
            <a:srgbClr val="0A2840"/>
          </a:solidFill>
          <a:ln w="6350">
            <a:solidFill>
              <a:srgbClr val="8BAAC2"/>
            </a:solidFill>
            <a:prstDash val="solid"/>
          </a:ln>
        </p:spPr>
        <p:txBody>
          <a:bodyPr/>
          <a:lstStyle/>
          <a:p>
            <a:endParaRPr lang="en-US"/>
          </a:p>
        </p:txBody>
      </p:sp>
      <p:sp>
        <p:nvSpPr>
          <p:cNvPr id="58" name="Text 56"/>
          <p:cNvSpPr/>
          <p:nvPr/>
        </p:nvSpPr>
        <p:spPr>
          <a:xfrm>
            <a:off x="5897880" y="2249424"/>
            <a:ext cx="877824" cy="237744"/>
          </a:xfrm>
          <a:prstGeom prst="rect">
            <a:avLst/>
          </a:prstGeom>
          <a:noFill/>
          <a:ln/>
        </p:spPr>
        <p:txBody>
          <a:bodyPr wrap="square" lIns="0" tIns="0" rIns="0" bIns="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SoD Engine</a:t>
            </a:r>
            <a:endParaRPr lang="en-US" sz="750" dirty="0"/>
          </a:p>
        </p:txBody>
      </p:sp>
      <p:sp>
        <p:nvSpPr>
          <p:cNvPr id="59" name="Shape 57"/>
          <p:cNvSpPr/>
          <p:nvPr/>
        </p:nvSpPr>
        <p:spPr>
          <a:xfrm>
            <a:off x="6858000" y="2249424"/>
            <a:ext cx="877824" cy="237744"/>
          </a:xfrm>
          <a:prstGeom prst="rect">
            <a:avLst/>
          </a:prstGeom>
          <a:solidFill>
            <a:srgbClr val="0A2840"/>
          </a:solidFill>
          <a:ln w="6350">
            <a:solidFill>
              <a:srgbClr val="8BAAC2"/>
            </a:solidFill>
            <a:prstDash val="solid"/>
          </a:ln>
        </p:spPr>
        <p:txBody>
          <a:bodyPr/>
          <a:lstStyle/>
          <a:p>
            <a:endParaRPr lang="en-US"/>
          </a:p>
        </p:txBody>
      </p:sp>
      <p:sp>
        <p:nvSpPr>
          <p:cNvPr id="60" name="Text 58"/>
          <p:cNvSpPr/>
          <p:nvPr/>
        </p:nvSpPr>
        <p:spPr>
          <a:xfrm>
            <a:off x="6858000" y="2249424"/>
            <a:ext cx="877824" cy="237744"/>
          </a:xfrm>
          <a:prstGeom prst="rect">
            <a:avLst/>
          </a:prstGeom>
          <a:noFill/>
          <a:ln/>
        </p:spPr>
        <p:txBody>
          <a:bodyPr wrap="square" lIns="0" tIns="0" rIns="0" bIns="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Workflow</a:t>
            </a:r>
            <a:endParaRPr lang="en-US" sz="750" dirty="0"/>
          </a:p>
        </p:txBody>
      </p:sp>
      <p:sp>
        <p:nvSpPr>
          <p:cNvPr id="61" name="Shape 59"/>
          <p:cNvSpPr/>
          <p:nvPr/>
        </p:nvSpPr>
        <p:spPr>
          <a:xfrm>
            <a:off x="7818120" y="2249424"/>
            <a:ext cx="877824" cy="237744"/>
          </a:xfrm>
          <a:prstGeom prst="rect">
            <a:avLst/>
          </a:prstGeom>
          <a:solidFill>
            <a:srgbClr val="0A2840"/>
          </a:solidFill>
          <a:ln w="6350">
            <a:solidFill>
              <a:srgbClr val="8BAAC2"/>
            </a:solidFill>
            <a:prstDash val="solid"/>
          </a:ln>
        </p:spPr>
        <p:txBody>
          <a:bodyPr/>
          <a:lstStyle/>
          <a:p>
            <a:endParaRPr lang="en-US"/>
          </a:p>
        </p:txBody>
      </p:sp>
      <p:sp>
        <p:nvSpPr>
          <p:cNvPr id="62" name="Text 60"/>
          <p:cNvSpPr/>
          <p:nvPr/>
        </p:nvSpPr>
        <p:spPr>
          <a:xfrm>
            <a:off x="7818120" y="2249424"/>
            <a:ext cx="877824" cy="237744"/>
          </a:xfrm>
          <a:prstGeom prst="rect">
            <a:avLst/>
          </a:prstGeom>
          <a:noFill/>
          <a:ln/>
        </p:spPr>
        <p:txBody>
          <a:bodyPr wrap="square" lIns="0" tIns="0" rIns="0" bIns="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Cert. Engine</a:t>
            </a:r>
            <a:endParaRPr lang="en-US" sz="750" dirty="0"/>
          </a:p>
        </p:txBody>
      </p:sp>
      <p:sp>
        <p:nvSpPr>
          <p:cNvPr id="63" name="Shape 61"/>
          <p:cNvSpPr/>
          <p:nvPr/>
        </p:nvSpPr>
        <p:spPr>
          <a:xfrm>
            <a:off x="6858000" y="2551176"/>
            <a:ext cx="0" cy="228600"/>
          </a:xfrm>
          <a:prstGeom prst="line">
            <a:avLst/>
          </a:prstGeom>
          <a:noFill/>
          <a:ln w="25400">
            <a:solidFill>
              <a:srgbClr val="2D7D46"/>
            </a:solidFill>
            <a:prstDash val="solid"/>
          </a:ln>
        </p:spPr>
        <p:txBody>
          <a:bodyPr/>
          <a:lstStyle/>
          <a:p>
            <a:endParaRPr lang="en-US"/>
          </a:p>
        </p:txBody>
      </p:sp>
      <p:sp>
        <p:nvSpPr>
          <p:cNvPr id="64" name="Text 62"/>
          <p:cNvSpPr/>
          <p:nvPr/>
        </p:nvSpPr>
        <p:spPr>
          <a:xfrm>
            <a:off x="5029200" y="2560320"/>
            <a:ext cx="3657600" cy="182880"/>
          </a:xfrm>
          <a:prstGeom prst="rect">
            <a:avLst/>
          </a:prstGeom>
          <a:noFill/>
          <a:ln/>
        </p:spPr>
        <p:txBody>
          <a:bodyPr wrap="square" lIns="0" tIns="0" rIns="0" bIns="0" rtlCol="0" anchor="ctr"/>
          <a:lstStyle/>
          <a:p>
            <a:pPr marL="0" indent="0" algn="ctr">
              <a:buNone/>
            </a:pPr>
            <a:r>
              <a:rPr lang="en-US" sz="800" i="1" dirty="0">
                <a:solidFill>
                  <a:srgbClr val="2D7D46"/>
                </a:solidFill>
                <a:latin typeface="Calibri" pitchFamily="34" charset="0"/>
                <a:ea typeface="Calibri" pitchFamily="34" charset="-122"/>
                <a:cs typeface="Calibri" pitchFamily="34" charset="-120"/>
              </a:rPr>
              <a:t>Active Directory: LDAP/AD API connector  |  SaaS &amp; Cloud IdPs: SCIM 2.0</a:t>
            </a:r>
            <a:endParaRPr lang="en-US" sz="800" dirty="0"/>
          </a:p>
        </p:txBody>
      </p:sp>
      <p:sp>
        <p:nvSpPr>
          <p:cNvPr id="65" name="Shape 63"/>
          <p:cNvSpPr/>
          <p:nvPr/>
        </p:nvSpPr>
        <p:spPr>
          <a:xfrm>
            <a:off x="4846320" y="2779776"/>
            <a:ext cx="4023360" cy="320040"/>
          </a:xfrm>
          <a:prstGeom prst="rect">
            <a:avLst/>
          </a:prstGeom>
          <a:solidFill>
            <a:srgbClr val="E0EEF5"/>
          </a:solidFill>
          <a:ln w="12700">
            <a:solidFill>
              <a:srgbClr val="C9DDE8"/>
            </a:solidFill>
            <a:prstDash val="solid"/>
          </a:ln>
        </p:spPr>
        <p:txBody>
          <a:bodyPr/>
          <a:lstStyle/>
          <a:p>
            <a:endParaRPr lang="en-US"/>
          </a:p>
        </p:txBody>
      </p:sp>
      <p:sp>
        <p:nvSpPr>
          <p:cNvPr id="66" name="Text 64"/>
          <p:cNvSpPr/>
          <p:nvPr/>
        </p:nvSpPr>
        <p:spPr>
          <a:xfrm>
            <a:off x="4846320" y="2779776"/>
            <a:ext cx="4023360" cy="320040"/>
          </a:xfrm>
          <a:prstGeom prst="rect">
            <a:avLst/>
          </a:prstGeom>
          <a:noFill/>
          <a:ln/>
        </p:spPr>
        <p:txBody>
          <a:bodyPr wrap="square" lIns="0" tIns="0" rIns="0" bIns="0" rtlCol="0" anchor="ctr"/>
          <a:lstStyle/>
          <a:p>
            <a:pPr marL="0" indent="0" algn="ctr">
              <a:buNone/>
            </a:pPr>
            <a:r>
              <a:rPr lang="en-US" sz="1000" b="1" dirty="0">
                <a:solidFill>
                  <a:srgbClr val="1A3C5E"/>
                </a:solidFill>
                <a:latin typeface="Calibri" pitchFamily="34" charset="0"/>
                <a:ea typeface="Calibri" pitchFamily="34" charset="-122"/>
                <a:cs typeface="Calibri" pitchFamily="34" charset="-120"/>
              </a:rPr>
              <a:t>Target Systems (Service Providers)</a:t>
            </a:r>
            <a:endParaRPr lang="en-US" sz="1000" dirty="0"/>
          </a:p>
        </p:txBody>
      </p:sp>
      <p:sp>
        <p:nvSpPr>
          <p:cNvPr id="67" name="Shape 65"/>
          <p:cNvSpPr/>
          <p:nvPr/>
        </p:nvSpPr>
        <p:spPr>
          <a:xfrm>
            <a:off x="4892040" y="3182112"/>
            <a:ext cx="713232" cy="502920"/>
          </a:xfrm>
          <a:prstGeom prst="rect">
            <a:avLst/>
          </a:prstGeom>
          <a:solidFill>
            <a:srgbClr val="FFFFFF"/>
          </a:solidFill>
          <a:ln w="12700">
            <a:solidFill>
              <a:srgbClr val="8BAAC2"/>
            </a:solidFill>
            <a:prstDash val="solid"/>
          </a:ln>
          <a:effectLst>
            <a:outerShdw blurRad="63500" dist="25400" dir="8100000" algn="bl" rotWithShape="0">
              <a:srgbClr val="000000">
                <a:alpha val="12000"/>
              </a:srgbClr>
            </a:outerShdw>
          </a:effectLst>
        </p:spPr>
        <p:txBody>
          <a:bodyPr/>
          <a:lstStyle/>
          <a:p>
            <a:endParaRPr lang="en-US"/>
          </a:p>
        </p:txBody>
      </p:sp>
      <p:sp>
        <p:nvSpPr>
          <p:cNvPr id="68" name="Text 66"/>
          <p:cNvSpPr/>
          <p:nvPr/>
        </p:nvSpPr>
        <p:spPr>
          <a:xfrm>
            <a:off x="4892040" y="3182112"/>
            <a:ext cx="713232" cy="502920"/>
          </a:xfrm>
          <a:prstGeom prst="rect">
            <a:avLst/>
          </a:prstGeom>
          <a:noFill/>
          <a:ln/>
        </p:spPr>
        <p:txBody>
          <a:bodyPr wrap="square" lIns="0" tIns="0" rIns="0" bIns="0" rtlCol="0" anchor="ctr"/>
          <a:lstStyle/>
          <a:p>
            <a:pPr marL="0" indent="0" algn="ctr">
              <a:buNone/>
            </a:pPr>
            <a:r>
              <a:rPr lang="en-US" sz="800" dirty="0">
                <a:solidFill>
                  <a:srgbClr val="1A3C5E"/>
                </a:solidFill>
                <a:latin typeface="Calibri" pitchFamily="34" charset="0"/>
                <a:ea typeface="Calibri" pitchFamily="34" charset="-122"/>
                <a:cs typeface="Calibri" pitchFamily="34" charset="-120"/>
              </a:rPr>
              <a:t>Active</a:t>
            </a:r>
            <a:endParaRPr lang="en-US" sz="800" dirty="0"/>
          </a:p>
          <a:p>
            <a:pPr marL="0" indent="0" algn="ctr">
              <a:buNone/>
            </a:pPr>
            <a:r>
              <a:rPr lang="en-US" sz="800" dirty="0">
                <a:solidFill>
                  <a:srgbClr val="1A3C5E"/>
                </a:solidFill>
                <a:latin typeface="Calibri" pitchFamily="34" charset="0"/>
                <a:ea typeface="Calibri" pitchFamily="34" charset="-122"/>
                <a:cs typeface="Calibri" pitchFamily="34" charset="-120"/>
              </a:rPr>
              <a:t>Directory</a:t>
            </a:r>
            <a:endParaRPr lang="en-US" sz="800" dirty="0"/>
          </a:p>
        </p:txBody>
      </p:sp>
      <p:sp>
        <p:nvSpPr>
          <p:cNvPr id="69" name="Shape 67"/>
          <p:cNvSpPr/>
          <p:nvPr/>
        </p:nvSpPr>
        <p:spPr>
          <a:xfrm>
            <a:off x="5669280" y="3182112"/>
            <a:ext cx="713232" cy="502920"/>
          </a:xfrm>
          <a:prstGeom prst="rect">
            <a:avLst/>
          </a:prstGeom>
          <a:solidFill>
            <a:srgbClr val="FFFFFF"/>
          </a:solidFill>
          <a:ln w="12700">
            <a:solidFill>
              <a:srgbClr val="8BAAC2"/>
            </a:solidFill>
            <a:prstDash val="solid"/>
          </a:ln>
          <a:effectLst>
            <a:outerShdw blurRad="63500" dist="25400" dir="8100000" algn="bl" rotWithShape="0">
              <a:srgbClr val="000000">
                <a:alpha val="12000"/>
              </a:srgbClr>
            </a:outerShdw>
          </a:effectLst>
        </p:spPr>
        <p:txBody>
          <a:bodyPr/>
          <a:lstStyle/>
          <a:p>
            <a:endParaRPr lang="en-US"/>
          </a:p>
        </p:txBody>
      </p:sp>
      <p:sp>
        <p:nvSpPr>
          <p:cNvPr id="70" name="Text 68"/>
          <p:cNvSpPr/>
          <p:nvPr/>
        </p:nvSpPr>
        <p:spPr>
          <a:xfrm>
            <a:off x="5669280" y="3182112"/>
            <a:ext cx="713232" cy="502920"/>
          </a:xfrm>
          <a:prstGeom prst="rect">
            <a:avLst/>
          </a:prstGeom>
          <a:noFill/>
          <a:ln/>
        </p:spPr>
        <p:txBody>
          <a:bodyPr wrap="square" lIns="0" tIns="0" rIns="0" bIns="0" rtlCol="0" anchor="ctr"/>
          <a:lstStyle/>
          <a:p>
            <a:pPr marL="0" indent="0" algn="ctr">
              <a:buNone/>
            </a:pPr>
            <a:r>
              <a:rPr lang="en-US" sz="800" dirty="0">
                <a:solidFill>
                  <a:srgbClr val="1A3C5E"/>
                </a:solidFill>
                <a:latin typeface="Calibri" pitchFamily="34" charset="0"/>
                <a:ea typeface="Calibri" pitchFamily="34" charset="-122"/>
                <a:cs typeface="Calibri" pitchFamily="34" charset="-120"/>
              </a:rPr>
              <a:t>Entra ID</a:t>
            </a:r>
            <a:endParaRPr lang="en-US" sz="800" dirty="0"/>
          </a:p>
          <a:p>
            <a:pPr marL="0" indent="0" algn="ctr">
              <a:buNone/>
            </a:pPr>
            <a:r>
              <a:rPr lang="en-US" sz="800" dirty="0">
                <a:solidFill>
                  <a:srgbClr val="1A3C5E"/>
                </a:solidFill>
                <a:latin typeface="Calibri" pitchFamily="34" charset="0"/>
                <a:ea typeface="Calibri" pitchFamily="34" charset="-122"/>
                <a:cs typeface="Calibri" pitchFamily="34" charset="-120"/>
              </a:rPr>
              <a:t>/ Okta</a:t>
            </a:r>
            <a:endParaRPr lang="en-US" sz="800" dirty="0"/>
          </a:p>
        </p:txBody>
      </p:sp>
      <p:sp>
        <p:nvSpPr>
          <p:cNvPr id="71" name="Shape 69"/>
          <p:cNvSpPr/>
          <p:nvPr/>
        </p:nvSpPr>
        <p:spPr>
          <a:xfrm>
            <a:off x="6446520" y="3182112"/>
            <a:ext cx="713232" cy="502920"/>
          </a:xfrm>
          <a:prstGeom prst="rect">
            <a:avLst/>
          </a:prstGeom>
          <a:solidFill>
            <a:srgbClr val="FFFFFF"/>
          </a:solidFill>
          <a:ln w="12700">
            <a:solidFill>
              <a:srgbClr val="8BAAC2"/>
            </a:solidFill>
            <a:prstDash val="solid"/>
          </a:ln>
          <a:effectLst>
            <a:outerShdw blurRad="63500" dist="25400" dir="8100000" algn="bl" rotWithShape="0">
              <a:srgbClr val="000000">
                <a:alpha val="12000"/>
              </a:srgbClr>
            </a:outerShdw>
          </a:effectLst>
        </p:spPr>
        <p:txBody>
          <a:bodyPr/>
          <a:lstStyle/>
          <a:p>
            <a:endParaRPr lang="en-US"/>
          </a:p>
        </p:txBody>
      </p:sp>
      <p:sp>
        <p:nvSpPr>
          <p:cNvPr id="72" name="Text 70"/>
          <p:cNvSpPr/>
          <p:nvPr/>
        </p:nvSpPr>
        <p:spPr>
          <a:xfrm>
            <a:off x="6446520" y="3182112"/>
            <a:ext cx="713232" cy="502920"/>
          </a:xfrm>
          <a:prstGeom prst="rect">
            <a:avLst/>
          </a:prstGeom>
          <a:noFill/>
          <a:ln/>
        </p:spPr>
        <p:txBody>
          <a:bodyPr wrap="square" lIns="0" tIns="0" rIns="0" bIns="0" rtlCol="0" anchor="ctr"/>
          <a:lstStyle/>
          <a:p>
            <a:pPr marL="0" indent="0" algn="ctr">
              <a:buNone/>
            </a:pPr>
            <a:r>
              <a:rPr lang="en-US" sz="800" dirty="0">
                <a:solidFill>
                  <a:srgbClr val="1A3C5E"/>
                </a:solidFill>
                <a:latin typeface="Calibri" pitchFamily="34" charset="0"/>
                <a:ea typeface="Calibri" pitchFamily="34" charset="-122"/>
                <a:cs typeface="Calibri" pitchFamily="34" charset="-120"/>
              </a:rPr>
              <a:t>AWS</a:t>
            </a:r>
            <a:endParaRPr lang="en-US" sz="800" dirty="0"/>
          </a:p>
          <a:p>
            <a:pPr marL="0" indent="0" algn="ctr">
              <a:buNone/>
            </a:pPr>
            <a:r>
              <a:rPr lang="en-US" sz="800" dirty="0">
                <a:solidFill>
                  <a:srgbClr val="1A3C5E"/>
                </a:solidFill>
                <a:latin typeface="Calibri" pitchFamily="34" charset="0"/>
                <a:ea typeface="Calibri" pitchFamily="34" charset="-122"/>
                <a:cs typeface="Calibri" pitchFamily="34" charset="-120"/>
              </a:rPr>
              <a:t>IAM</a:t>
            </a:r>
            <a:endParaRPr lang="en-US" sz="800" dirty="0"/>
          </a:p>
        </p:txBody>
      </p:sp>
      <p:sp>
        <p:nvSpPr>
          <p:cNvPr id="73" name="Shape 71"/>
          <p:cNvSpPr/>
          <p:nvPr/>
        </p:nvSpPr>
        <p:spPr>
          <a:xfrm>
            <a:off x="7223760" y="3182112"/>
            <a:ext cx="713232" cy="502920"/>
          </a:xfrm>
          <a:prstGeom prst="rect">
            <a:avLst/>
          </a:prstGeom>
          <a:solidFill>
            <a:srgbClr val="FFFFFF"/>
          </a:solidFill>
          <a:ln w="12700">
            <a:solidFill>
              <a:srgbClr val="8BAAC2"/>
            </a:solidFill>
            <a:prstDash val="solid"/>
          </a:ln>
          <a:effectLst>
            <a:outerShdw blurRad="63500" dist="25400" dir="8100000" algn="bl" rotWithShape="0">
              <a:srgbClr val="000000">
                <a:alpha val="12000"/>
              </a:srgbClr>
            </a:outerShdw>
          </a:effectLst>
        </p:spPr>
        <p:txBody>
          <a:bodyPr/>
          <a:lstStyle/>
          <a:p>
            <a:endParaRPr lang="en-US"/>
          </a:p>
        </p:txBody>
      </p:sp>
      <p:sp>
        <p:nvSpPr>
          <p:cNvPr id="74" name="Text 72"/>
          <p:cNvSpPr/>
          <p:nvPr/>
        </p:nvSpPr>
        <p:spPr>
          <a:xfrm>
            <a:off x="7223760" y="3182112"/>
            <a:ext cx="713232" cy="502920"/>
          </a:xfrm>
          <a:prstGeom prst="rect">
            <a:avLst/>
          </a:prstGeom>
          <a:noFill/>
          <a:ln/>
        </p:spPr>
        <p:txBody>
          <a:bodyPr wrap="square" lIns="0" tIns="0" rIns="0" bIns="0" rtlCol="0" anchor="ctr"/>
          <a:lstStyle/>
          <a:p>
            <a:pPr marL="0" indent="0" algn="ctr">
              <a:buNone/>
            </a:pPr>
            <a:r>
              <a:rPr lang="en-US" sz="800" dirty="0">
                <a:solidFill>
                  <a:srgbClr val="1A3C5E"/>
                </a:solidFill>
                <a:latin typeface="Calibri" pitchFamily="34" charset="0"/>
                <a:ea typeface="Calibri" pitchFamily="34" charset="-122"/>
                <a:cs typeface="Calibri" pitchFamily="34" charset="-120"/>
              </a:rPr>
              <a:t>SaaS</a:t>
            </a:r>
            <a:endParaRPr lang="en-US" sz="800" dirty="0"/>
          </a:p>
          <a:p>
            <a:pPr marL="0" indent="0" algn="ctr">
              <a:buNone/>
            </a:pPr>
            <a:r>
              <a:rPr lang="en-US" sz="800" dirty="0">
                <a:solidFill>
                  <a:srgbClr val="1A3C5E"/>
                </a:solidFill>
                <a:latin typeface="Calibri" pitchFamily="34" charset="0"/>
                <a:ea typeface="Calibri" pitchFamily="34" charset="-122"/>
                <a:cs typeface="Calibri" pitchFamily="34" charset="-120"/>
              </a:rPr>
              <a:t>Apps</a:t>
            </a:r>
            <a:endParaRPr lang="en-US" sz="800" dirty="0"/>
          </a:p>
        </p:txBody>
      </p:sp>
      <p:sp>
        <p:nvSpPr>
          <p:cNvPr id="75" name="Shape 73"/>
          <p:cNvSpPr/>
          <p:nvPr/>
        </p:nvSpPr>
        <p:spPr>
          <a:xfrm>
            <a:off x="8001000" y="3182112"/>
            <a:ext cx="713232" cy="502920"/>
          </a:xfrm>
          <a:prstGeom prst="rect">
            <a:avLst/>
          </a:prstGeom>
          <a:solidFill>
            <a:srgbClr val="FFFFFF"/>
          </a:solidFill>
          <a:ln w="12700">
            <a:solidFill>
              <a:srgbClr val="8BAAC2"/>
            </a:solidFill>
            <a:prstDash val="solid"/>
          </a:ln>
          <a:effectLst>
            <a:outerShdw blurRad="63500" dist="25400" dir="8100000" algn="bl" rotWithShape="0">
              <a:srgbClr val="000000">
                <a:alpha val="12000"/>
              </a:srgbClr>
            </a:outerShdw>
          </a:effectLst>
        </p:spPr>
        <p:txBody>
          <a:bodyPr/>
          <a:lstStyle/>
          <a:p>
            <a:endParaRPr lang="en-US"/>
          </a:p>
        </p:txBody>
      </p:sp>
      <p:sp>
        <p:nvSpPr>
          <p:cNvPr id="76" name="Text 74"/>
          <p:cNvSpPr/>
          <p:nvPr/>
        </p:nvSpPr>
        <p:spPr>
          <a:xfrm>
            <a:off x="8001000" y="3182112"/>
            <a:ext cx="713232" cy="502920"/>
          </a:xfrm>
          <a:prstGeom prst="rect">
            <a:avLst/>
          </a:prstGeom>
          <a:noFill/>
          <a:ln/>
        </p:spPr>
        <p:txBody>
          <a:bodyPr wrap="square" lIns="0" tIns="0" rIns="0" bIns="0" rtlCol="0" anchor="ctr"/>
          <a:lstStyle/>
          <a:p>
            <a:pPr marL="0" indent="0" algn="ctr">
              <a:buNone/>
            </a:pPr>
            <a:r>
              <a:rPr lang="en-US" sz="800" dirty="0">
                <a:solidFill>
                  <a:srgbClr val="1A3C5E"/>
                </a:solidFill>
                <a:latin typeface="Calibri" pitchFamily="34" charset="0"/>
                <a:ea typeface="Calibri" pitchFamily="34" charset="-122"/>
                <a:cs typeface="Calibri" pitchFamily="34" charset="-120"/>
              </a:rPr>
              <a:t>SAP</a:t>
            </a:r>
            <a:endParaRPr lang="en-US" sz="800" dirty="0"/>
          </a:p>
          <a:p>
            <a:pPr marL="0" indent="0" algn="ctr">
              <a:buNone/>
            </a:pPr>
            <a:r>
              <a:rPr lang="en-US" sz="800" dirty="0">
                <a:solidFill>
                  <a:srgbClr val="1A3C5E"/>
                </a:solidFill>
                <a:latin typeface="Calibri" pitchFamily="34" charset="0"/>
                <a:ea typeface="Calibri" pitchFamily="34" charset="-122"/>
                <a:cs typeface="Calibri" pitchFamily="34" charset="-120"/>
              </a:rPr>
              <a:t>/ Oracle</a:t>
            </a:r>
            <a:endParaRPr lang="en-US" sz="800" dirty="0"/>
          </a:p>
        </p:txBody>
      </p:sp>
      <p:sp>
        <p:nvSpPr>
          <p:cNvPr id="77" name="Shape 75"/>
          <p:cNvSpPr/>
          <p:nvPr/>
        </p:nvSpPr>
        <p:spPr>
          <a:xfrm>
            <a:off x="4846320" y="3767328"/>
            <a:ext cx="4023360" cy="594360"/>
          </a:xfrm>
          <a:prstGeom prst="rect">
            <a:avLst/>
          </a:prstGeom>
          <a:solidFill>
            <a:srgbClr val="FFFFFF"/>
          </a:solidFill>
          <a:ln w="25400">
            <a:solidFill>
              <a:srgbClr val="D97706"/>
            </a:solidFill>
            <a:prstDash val="solid"/>
          </a:ln>
        </p:spPr>
        <p:txBody>
          <a:bodyPr/>
          <a:lstStyle/>
          <a:p>
            <a:endParaRPr lang="en-US"/>
          </a:p>
        </p:txBody>
      </p:sp>
      <p:sp>
        <p:nvSpPr>
          <p:cNvPr id="78" name="Text 76"/>
          <p:cNvSpPr/>
          <p:nvPr/>
        </p:nvSpPr>
        <p:spPr>
          <a:xfrm>
            <a:off x="4937760" y="3794760"/>
            <a:ext cx="3840480" cy="548640"/>
          </a:xfrm>
          <a:prstGeom prst="rect">
            <a:avLst/>
          </a:prstGeom>
          <a:noFill/>
          <a:ln/>
        </p:spPr>
        <p:txBody>
          <a:bodyPr wrap="square" lIns="0" tIns="0" rIns="0" bIns="0" rtlCol="0" anchor="ctr"/>
          <a:lstStyle/>
          <a:p>
            <a:pPr marL="0" indent="0">
              <a:buNone/>
            </a:pPr>
            <a:r>
              <a:rPr lang="en-US" sz="900" b="1" dirty="0">
                <a:solidFill>
                  <a:srgbClr val="D97706"/>
                </a:solidFill>
                <a:latin typeface="Calibri" pitchFamily="34" charset="0"/>
                <a:ea typeface="Calibri" pitchFamily="34" charset="-122"/>
                <a:cs typeface="Calibri" pitchFamily="34" charset="-120"/>
              </a:rPr>
              <a:t>Reconciliation: </a:t>
            </a:r>
            <a:r>
              <a:rPr lang="en-US" sz="900" dirty="0">
                <a:solidFill>
                  <a:srgbClr val="1A2E44"/>
                </a:solidFill>
                <a:latin typeface="Calibri" pitchFamily="34" charset="0"/>
                <a:ea typeface="Calibri" pitchFamily="34" charset="-122"/>
                <a:cs typeface="Calibri" pitchFamily="34" charset="-120"/>
              </a:rPr>
              <a:t>IGA periodically compares identity warehouse state against actual target system state. Out-of-band provisioned accounts = DRIFT. Drift alerts route to security operations.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3C5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D7D46"/>
          </a:solidFill>
          <a:ln w="12700">
            <a:solidFill>
              <a:srgbClr val="2D7D46"/>
            </a:solidFill>
            <a:prstDash val="solid"/>
          </a:ln>
        </p:spPr>
        <p:txBody>
          <a:bodyPr/>
          <a:lstStyle/>
          <a:p>
            <a:endParaRPr lang="en-US"/>
          </a:p>
        </p:txBody>
      </p:sp>
      <p:sp>
        <p:nvSpPr>
          <p:cNvPr id="3" name="Text 1"/>
          <p:cNvSpPr/>
          <p:nvPr/>
        </p:nvSpPr>
        <p:spPr>
          <a:xfrm>
            <a:off x="6858000" y="731520"/>
            <a:ext cx="2103120" cy="2560320"/>
          </a:xfrm>
          <a:prstGeom prst="rect">
            <a:avLst/>
          </a:prstGeom>
          <a:noFill/>
          <a:ln/>
        </p:spPr>
        <p:txBody>
          <a:bodyPr wrap="square" lIns="0" tIns="0" rIns="0" bIns="0" rtlCol="0" anchor="ctr"/>
          <a:lstStyle/>
          <a:p>
            <a:pPr marL="0" indent="0" algn="r">
              <a:buNone/>
            </a:pPr>
            <a:r>
              <a:rPr lang="en-US" sz="14000" b="1" dirty="0">
                <a:solidFill>
                  <a:srgbClr val="1A4A30"/>
                </a:solidFill>
                <a:latin typeface="Calibri" pitchFamily="34" charset="0"/>
                <a:ea typeface="Calibri" pitchFamily="34" charset="-122"/>
                <a:cs typeface="Calibri" pitchFamily="34" charset="-120"/>
              </a:rPr>
              <a:t>06</a:t>
            </a:r>
            <a:endParaRPr lang="en-US" sz="14000" dirty="0"/>
          </a:p>
        </p:txBody>
      </p:sp>
      <p:sp>
        <p:nvSpPr>
          <p:cNvPr id="4" name="Text 2"/>
          <p:cNvSpPr/>
          <p:nvPr/>
        </p:nvSpPr>
        <p:spPr>
          <a:xfrm>
            <a:off x="320040" y="1600200"/>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Privileged &amp; Service Account Governance</a:t>
            </a:r>
            <a:endParaRPr lang="en-US" sz="3000" dirty="0"/>
          </a:p>
        </p:txBody>
      </p:sp>
      <p:sp>
        <p:nvSpPr>
          <p:cNvPr id="5" name="Shape 3"/>
          <p:cNvSpPr/>
          <p:nvPr/>
        </p:nvSpPr>
        <p:spPr>
          <a:xfrm>
            <a:off x="320040" y="2468880"/>
            <a:ext cx="6217920" cy="0"/>
          </a:xfrm>
          <a:prstGeom prst="line">
            <a:avLst/>
          </a:prstGeom>
          <a:noFill/>
          <a:ln w="6350">
            <a:solidFill>
              <a:srgbClr val="8BAAC2"/>
            </a:solidFill>
            <a:prstDash val="solid"/>
          </a:ln>
        </p:spPr>
        <p:txBody>
          <a:bodyPr/>
          <a:lstStyle/>
          <a:p>
            <a:endParaRPr lang="en-US"/>
          </a:p>
        </p:txBody>
      </p:sp>
      <p:sp>
        <p:nvSpPr>
          <p:cNvPr id="6" name="Text 4"/>
          <p:cNvSpPr/>
          <p:nvPr/>
        </p:nvSpPr>
        <p:spPr>
          <a:xfrm>
            <a:off x="320040" y="2542032"/>
            <a:ext cx="6400800" cy="457200"/>
          </a:xfrm>
          <a:prstGeom prst="rect">
            <a:avLst/>
          </a:prstGeom>
          <a:noFill/>
          <a:ln/>
        </p:spPr>
        <p:txBody>
          <a:bodyPr wrap="square" lIns="0" tIns="0" rIns="0" bIns="0" rtlCol="0" anchor="ctr"/>
          <a:lstStyle/>
          <a:p>
            <a:pPr marL="0" indent="0">
              <a:buNone/>
            </a:pPr>
            <a:r>
              <a:rPr lang="en-US" sz="1400" i="1" dirty="0">
                <a:solidFill>
                  <a:srgbClr val="C9DDE8"/>
                </a:solidFill>
                <a:latin typeface="Calibri" pitchFamily="34" charset="0"/>
                <a:ea typeface="Calibri" pitchFamily="34" charset="-122"/>
                <a:cs typeface="Calibri" pitchFamily="34" charset="-120"/>
              </a:rPr>
              <a:t>IGA-PAM integration, standing privilege elimination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C5E"/>
          </a:solidFill>
          <a:ln w="12700">
            <a:solidFill>
              <a:srgbClr val="1A3C5E"/>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Privileged Access &amp; Service Account Governance</a:t>
            </a:r>
            <a:endParaRPr lang="en-US" sz="1900" dirty="0"/>
          </a:p>
        </p:txBody>
      </p:sp>
      <p:sp>
        <p:nvSpPr>
          <p:cNvPr id="4" name="Text 2"/>
          <p:cNvSpPr/>
          <p:nvPr/>
        </p:nvSpPr>
        <p:spPr>
          <a:xfrm>
            <a:off x="274320" y="804672"/>
            <a:ext cx="4114800" cy="256032"/>
          </a:xfrm>
          <a:prstGeom prst="rect">
            <a:avLst/>
          </a:prstGeom>
          <a:noFill/>
          <a:ln/>
        </p:spPr>
        <p:txBody>
          <a:bodyPr wrap="square" lIns="0" tIns="0" rIns="0" bIns="0" rtlCol="0" anchor="ctr"/>
          <a:lstStyle/>
          <a:p>
            <a:pPr marL="0" indent="0">
              <a:buNone/>
            </a:pPr>
            <a:r>
              <a:rPr lang="en-US" sz="1200" b="1" dirty="0">
                <a:solidFill>
                  <a:srgbClr val="1A3C5E"/>
                </a:solidFill>
                <a:latin typeface="Calibri" pitchFamily="34" charset="0"/>
                <a:ea typeface="Calibri" pitchFamily="34" charset="-122"/>
                <a:cs typeface="Calibri" pitchFamily="34" charset="-120"/>
              </a:rPr>
              <a:t>IGA + PAM Integration</a:t>
            </a:r>
            <a:endParaRPr lang="en-US" sz="1200" dirty="0"/>
          </a:p>
        </p:txBody>
      </p:sp>
      <p:sp>
        <p:nvSpPr>
          <p:cNvPr id="5" name="Shape 3"/>
          <p:cNvSpPr/>
          <p:nvPr/>
        </p:nvSpPr>
        <p:spPr>
          <a:xfrm>
            <a:off x="274320" y="1115568"/>
            <a:ext cx="4023360" cy="1554480"/>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6" name="Shape 4"/>
          <p:cNvSpPr/>
          <p:nvPr/>
        </p:nvSpPr>
        <p:spPr>
          <a:xfrm>
            <a:off x="274320" y="1115568"/>
            <a:ext cx="4023360" cy="320040"/>
          </a:xfrm>
          <a:prstGeom prst="rect">
            <a:avLst/>
          </a:prstGeom>
          <a:solidFill>
            <a:srgbClr val="2D7D46"/>
          </a:solidFill>
          <a:ln w="12700">
            <a:solidFill>
              <a:srgbClr val="2D7D46"/>
            </a:solidFill>
            <a:prstDash val="solid"/>
          </a:ln>
        </p:spPr>
        <p:txBody>
          <a:bodyPr/>
          <a:lstStyle/>
          <a:p>
            <a:endParaRPr lang="en-US"/>
          </a:p>
        </p:txBody>
      </p:sp>
      <p:sp>
        <p:nvSpPr>
          <p:cNvPr id="7" name="Text 5"/>
          <p:cNvSpPr/>
          <p:nvPr/>
        </p:nvSpPr>
        <p:spPr>
          <a:xfrm>
            <a:off x="365760" y="1115568"/>
            <a:ext cx="384048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IGA Layer (Governance)</a:t>
            </a:r>
            <a:endParaRPr lang="en-US" sz="1100" dirty="0"/>
          </a:p>
        </p:txBody>
      </p:sp>
      <p:sp>
        <p:nvSpPr>
          <p:cNvPr id="8" name="Text 6"/>
          <p:cNvSpPr/>
          <p:nvPr/>
        </p:nvSpPr>
        <p:spPr>
          <a:xfrm>
            <a:off x="365760" y="1481328"/>
            <a:ext cx="3840480" cy="22860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Access request and multi-level approval workflow</a:t>
            </a:r>
            <a:endParaRPr lang="en-US" sz="900" dirty="0"/>
          </a:p>
        </p:txBody>
      </p:sp>
      <p:sp>
        <p:nvSpPr>
          <p:cNvPr id="9" name="Text 7"/>
          <p:cNvSpPr/>
          <p:nvPr/>
        </p:nvSpPr>
        <p:spPr>
          <a:xfrm>
            <a:off x="365760" y="1728216"/>
            <a:ext cx="3840480" cy="22860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Time-bound access grant (role expires after N hours)</a:t>
            </a:r>
            <a:endParaRPr lang="en-US" sz="900" dirty="0"/>
          </a:p>
        </p:txBody>
      </p:sp>
      <p:sp>
        <p:nvSpPr>
          <p:cNvPr id="10" name="Text 8"/>
          <p:cNvSpPr/>
          <p:nvPr/>
        </p:nvSpPr>
        <p:spPr>
          <a:xfrm>
            <a:off x="365760" y="1975104"/>
            <a:ext cx="3840480" cy="22860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Privileged role certification (quarterly for Tier 1-2; monthly for Tier 0)</a:t>
            </a:r>
            <a:endParaRPr lang="en-US" sz="900" dirty="0"/>
          </a:p>
        </p:txBody>
      </p:sp>
      <p:sp>
        <p:nvSpPr>
          <p:cNvPr id="11" name="Text 9"/>
          <p:cNvSpPr/>
          <p:nvPr/>
        </p:nvSpPr>
        <p:spPr>
          <a:xfrm>
            <a:off x="365760" y="2221992"/>
            <a:ext cx="3840480" cy="22860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Orphan and standing privilege reporting</a:t>
            </a:r>
            <a:endParaRPr lang="en-US" sz="900" dirty="0"/>
          </a:p>
        </p:txBody>
      </p:sp>
      <p:sp>
        <p:nvSpPr>
          <p:cNvPr id="12" name="Text 10"/>
          <p:cNvSpPr/>
          <p:nvPr/>
        </p:nvSpPr>
        <p:spPr>
          <a:xfrm>
            <a:off x="365760" y="2468880"/>
            <a:ext cx="3840480" cy="22860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Standing privilege elimination program management</a:t>
            </a:r>
            <a:endParaRPr lang="en-US" sz="900" dirty="0"/>
          </a:p>
        </p:txBody>
      </p:sp>
      <p:sp>
        <p:nvSpPr>
          <p:cNvPr id="13" name="Shape 11"/>
          <p:cNvSpPr/>
          <p:nvPr/>
        </p:nvSpPr>
        <p:spPr>
          <a:xfrm>
            <a:off x="274320" y="2807208"/>
            <a:ext cx="4023360" cy="1554480"/>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14" name="Shape 12"/>
          <p:cNvSpPr/>
          <p:nvPr/>
        </p:nvSpPr>
        <p:spPr>
          <a:xfrm>
            <a:off x="274320" y="2807208"/>
            <a:ext cx="4023360" cy="320040"/>
          </a:xfrm>
          <a:prstGeom prst="rect">
            <a:avLst/>
          </a:prstGeom>
          <a:solidFill>
            <a:srgbClr val="1A3C5E"/>
          </a:solidFill>
          <a:ln w="12700">
            <a:solidFill>
              <a:srgbClr val="1A3C5E"/>
            </a:solidFill>
            <a:prstDash val="solid"/>
          </a:ln>
        </p:spPr>
        <p:txBody>
          <a:bodyPr/>
          <a:lstStyle/>
          <a:p>
            <a:endParaRPr lang="en-US"/>
          </a:p>
        </p:txBody>
      </p:sp>
      <p:sp>
        <p:nvSpPr>
          <p:cNvPr id="15" name="Text 13"/>
          <p:cNvSpPr/>
          <p:nvPr/>
        </p:nvSpPr>
        <p:spPr>
          <a:xfrm>
            <a:off x="365760" y="2807208"/>
            <a:ext cx="384048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PAM Layer (Operations)</a:t>
            </a:r>
            <a:endParaRPr lang="en-US" sz="1100" dirty="0"/>
          </a:p>
        </p:txBody>
      </p:sp>
      <p:sp>
        <p:nvSpPr>
          <p:cNvPr id="16" name="Text 14"/>
          <p:cNvSpPr/>
          <p:nvPr/>
        </p:nvSpPr>
        <p:spPr>
          <a:xfrm>
            <a:off x="365760" y="3172968"/>
            <a:ext cx="3840480" cy="228600"/>
          </a:xfrm>
          <a:prstGeom prst="rect">
            <a:avLst/>
          </a:prstGeom>
          <a:noFill/>
          <a:ln/>
        </p:spPr>
        <p:txBody>
          <a:bodyPr wrap="square" lIns="0" tIns="0" rIns="0" bIns="0" rtlCol="0" anchor="ctr"/>
          <a:lstStyle/>
          <a:p>
            <a:pPr marL="0" indent="0">
              <a:buNone/>
            </a:pPr>
            <a:r>
              <a:rPr lang="en-US" sz="900" b="1" dirty="0">
                <a:solidFill>
                  <a:srgbClr val="1A3C5E"/>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Credential vaulting and rotation (CyberArk, BeyondTrust)</a:t>
            </a:r>
            <a:endParaRPr lang="en-US" sz="900" dirty="0"/>
          </a:p>
        </p:txBody>
      </p:sp>
      <p:sp>
        <p:nvSpPr>
          <p:cNvPr id="17" name="Text 15"/>
          <p:cNvSpPr/>
          <p:nvPr/>
        </p:nvSpPr>
        <p:spPr>
          <a:xfrm>
            <a:off x="365760" y="3419856"/>
            <a:ext cx="3840480" cy="228600"/>
          </a:xfrm>
          <a:prstGeom prst="rect">
            <a:avLst/>
          </a:prstGeom>
          <a:noFill/>
          <a:ln/>
        </p:spPr>
        <p:txBody>
          <a:bodyPr wrap="square" lIns="0" tIns="0" rIns="0" bIns="0" rtlCol="0" anchor="ctr"/>
          <a:lstStyle/>
          <a:p>
            <a:pPr marL="0" indent="0">
              <a:buNone/>
            </a:pPr>
            <a:r>
              <a:rPr lang="en-US" sz="900" b="1" dirty="0">
                <a:solidFill>
                  <a:srgbClr val="1A3C5E"/>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Session recording and command auditing</a:t>
            </a:r>
            <a:endParaRPr lang="en-US" sz="900" dirty="0"/>
          </a:p>
        </p:txBody>
      </p:sp>
      <p:sp>
        <p:nvSpPr>
          <p:cNvPr id="18" name="Text 16"/>
          <p:cNvSpPr/>
          <p:nvPr/>
        </p:nvSpPr>
        <p:spPr>
          <a:xfrm>
            <a:off x="365760" y="3666744"/>
            <a:ext cx="3840480" cy="228600"/>
          </a:xfrm>
          <a:prstGeom prst="rect">
            <a:avLst/>
          </a:prstGeom>
          <a:noFill/>
          <a:ln/>
        </p:spPr>
        <p:txBody>
          <a:bodyPr wrap="square" lIns="0" tIns="0" rIns="0" bIns="0" rtlCol="0" anchor="ctr"/>
          <a:lstStyle/>
          <a:p>
            <a:pPr marL="0" indent="0">
              <a:buNone/>
            </a:pPr>
            <a:r>
              <a:rPr lang="en-US" sz="900" b="1" dirty="0">
                <a:solidFill>
                  <a:srgbClr val="1A3C5E"/>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Just-In-Time credential check-out and check-in</a:t>
            </a:r>
            <a:endParaRPr lang="en-US" sz="900" dirty="0"/>
          </a:p>
        </p:txBody>
      </p:sp>
      <p:sp>
        <p:nvSpPr>
          <p:cNvPr id="19" name="Text 17"/>
          <p:cNvSpPr/>
          <p:nvPr/>
        </p:nvSpPr>
        <p:spPr>
          <a:xfrm>
            <a:off x="365760" y="3913632"/>
            <a:ext cx="3840480" cy="228600"/>
          </a:xfrm>
          <a:prstGeom prst="rect">
            <a:avLst/>
          </a:prstGeom>
          <a:noFill/>
          <a:ln/>
        </p:spPr>
        <p:txBody>
          <a:bodyPr wrap="square" lIns="0" tIns="0" rIns="0" bIns="0" rtlCol="0" anchor="ctr"/>
          <a:lstStyle/>
          <a:p>
            <a:pPr marL="0" indent="0">
              <a:buNone/>
            </a:pPr>
            <a:r>
              <a:rPr lang="en-US" sz="900" b="1" dirty="0">
                <a:solidFill>
                  <a:srgbClr val="1A3C5E"/>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Break-glass procedure for emergency access</a:t>
            </a:r>
            <a:endParaRPr lang="en-US" sz="900" dirty="0"/>
          </a:p>
        </p:txBody>
      </p:sp>
      <p:sp>
        <p:nvSpPr>
          <p:cNvPr id="20" name="Text 18"/>
          <p:cNvSpPr/>
          <p:nvPr/>
        </p:nvSpPr>
        <p:spPr>
          <a:xfrm>
            <a:off x="365760" y="4160520"/>
            <a:ext cx="3840480" cy="228600"/>
          </a:xfrm>
          <a:prstGeom prst="rect">
            <a:avLst/>
          </a:prstGeom>
          <a:noFill/>
          <a:ln/>
        </p:spPr>
        <p:txBody>
          <a:bodyPr wrap="square" lIns="0" tIns="0" rIns="0" bIns="0" rtlCol="0" anchor="ctr"/>
          <a:lstStyle/>
          <a:p>
            <a:pPr marL="0" indent="0">
              <a:buNone/>
            </a:pPr>
            <a:r>
              <a:rPr lang="en-US" sz="900" b="1" dirty="0">
                <a:solidFill>
                  <a:srgbClr val="1A3C5E"/>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PAM terminates privileged sessions when access windows expire</a:t>
            </a:r>
            <a:endParaRPr lang="en-US" sz="900" dirty="0"/>
          </a:p>
        </p:txBody>
      </p:sp>
      <p:sp>
        <p:nvSpPr>
          <p:cNvPr id="21" name="Text 19"/>
          <p:cNvSpPr/>
          <p:nvPr/>
        </p:nvSpPr>
        <p:spPr>
          <a:xfrm>
            <a:off x="4846320" y="804672"/>
            <a:ext cx="4023360" cy="256032"/>
          </a:xfrm>
          <a:prstGeom prst="rect">
            <a:avLst/>
          </a:prstGeom>
          <a:noFill/>
          <a:ln/>
        </p:spPr>
        <p:txBody>
          <a:bodyPr wrap="square" lIns="0" tIns="0" rIns="0" bIns="0" rtlCol="0" anchor="ctr"/>
          <a:lstStyle/>
          <a:p>
            <a:pPr marL="0" indent="0">
              <a:buNone/>
            </a:pPr>
            <a:r>
              <a:rPr lang="en-US" sz="1200" b="1" dirty="0">
                <a:solidFill>
                  <a:srgbClr val="1A3C5E"/>
                </a:solidFill>
                <a:latin typeface="Calibri" pitchFamily="34" charset="0"/>
                <a:ea typeface="Calibri" pitchFamily="34" charset="-122"/>
                <a:cs typeface="Calibri" pitchFamily="34" charset="-120"/>
              </a:rPr>
              <a:t>Service Account Governance</a:t>
            </a:r>
            <a:endParaRPr lang="en-US" sz="1200" dirty="0"/>
          </a:p>
        </p:txBody>
      </p:sp>
      <p:sp>
        <p:nvSpPr>
          <p:cNvPr id="22" name="Shape 20"/>
          <p:cNvSpPr/>
          <p:nvPr/>
        </p:nvSpPr>
        <p:spPr>
          <a:xfrm>
            <a:off x="4846320" y="1115568"/>
            <a:ext cx="4023360" cy="804672"/>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23" name="Shape 21"/>
          <p:cNvSpPr/>
          <p:nvPr/>
        </p:nvSpPr>
        <p:spPr>
          <a:xfrm>
            <a:off x="4846320" y="1115568"/>
            <a:ext cx="73152" cy="804672"/>
          </a:xfrm>
          <a:prstGeom prst="rect">
            <a:avLst/>
          </a:prstGeom>
          <a:solidFill>
            <a:srgbClr val="C0392B"/>
          </a:solidFill>
          <a:ln w="12700">
            <a:solidFill>
              <a:srgbClr val="C0392B"/>
            </a:solidFill>
            <a:prstDash val="solid"/>
          </a:ln>
        </p:spPr>
        <p:txBody>
          <a:bodyPr/>
          <a:lstStyle/>
          <a:p>
            <a:endParaRPr lang="en-US"/>
          </a:p>
        </p:txBody>
      </p:sp>
      <p:sp>
        <p:nvSpPr>
          <p:cNvPr id="24" name="Text 22"/>
          <p:cNvSpPr/>
          <p:nvPr/>
        </p:nvSpPr>
        <p:spPr>
          <a:xfrm>
            <a:off x="4983480" y="1152144"/>
            <a:ext cx="3813048" cy="201168"/>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Unowned accounts</a:t>
            </a:r>
            <a:endParaRPr lang="en-US" sz="1000" dirty="0"/>
          </a:p>
        </p:txBody>
      </p:sp>
      <p:sp>
        <p:nvSpPr>
          <p:cNvPr id="25" name="Text 23"/>
          <p:cNvSpPr/>
          <p:nvPr/>
        </p:nvSpPr>
        <p:spPr>
          <a:xfrm>
            <a:off x="4983480" y="1362456"/>
            <a:ext cx="3813048" cy="201168"/>
          </a:xfrm>
          <a:prstGeom prst="rect">
            <a:avLst/>
          </a:prstGeom>
          <a:noFill/>
          <a:ln/>
        </p:spPr>
        <p:txBody>
          <a:bodyPr wrap="square" lIns="0" tIns="0" rIns="0" bIns="0" rtlCol="0" anchor="ctr"/>
          <a:lstStyle/>
          <a:p>
            <a:pPr marL="0" indent="0">
              <a:buNone/>
            </a:pPr>
            <a:r>
              <a:rPr lang="en-US" sz="850" i="1" dirty="0">
                <a:solidFill>
                  <a:srgbClr val="4B6076"/>
                </a:solidFill>
                <a:latin typeface="Calibri" pitchFamily="34" charset="0"/>
                <a:ea typeface="Calibri" pitchFamily="34" charset="-122"/>
                <a:cs typeface="Calibri" pitchFamily="34" charset="-120"/>
              </a:rPr>
              <a:t>No assigned owner; no one to certify or decommission. Attacker targets these first.</a:t>
            </a:r>
            <a:endParaRPr lang="en-US" sz="850" dirty="0"/>
          </a:p>
        </p:txBody>
      </p:sp>
      <p:sp>
        <p:nvSpPr>
          <p:cNvPr id="26" name="Text 24"/>
          <p:cNvSpPr/>
          <p:nvPr/>
        </p:nvSpPr>
        <p:spPr>
          <a:xfrm>
            <a:off x="4983480" y="1572768"/>
            <a:ext cx="3813048" cy="301752"/>
          </a:xfrm>
          <a:prstGeom prst="rect">
            <a:avLst/>
          </a:prstGeom>
          <a:noFill/>
          <a:ln/>
        </p:spPr>
        <p:txBody>
          <a:bodyPr wrap="square" lIns="0" tIns="0" rIns="0" bIns="0" rtlCol="0" anchor="ctr"/>
          <a:lstStyle/>
          <a:p>
            <a:pPr marL="0" indent="0">
              <a:buNone/>
            </a:pPr>
            <a:r>
              <a:rPr lang="en-US" sz="850" b="1" dirty="0">
                <a:solidFill>
                  <a:srgbClr val="2D7D46"/>
                </a:solidFill>
                <a:latin typeface="Calibri" pitchFamily="34" charset="0"/>
                <a:ea typeface="Calibri" pitchFamily="34" charset="-122"/>
                <a:cs typeface="Calibri" pitchFamily="34" charset="-120"/>
              </a:rPr>
              <a:t>IGA Control: </a:t>
            </a:r>
            <a:r>
              <a:rPr lang="en-US" sz="850" dirty="0">
                <a:solidFill>
                  <a:srgbClr val="1A2E44"/>
                </a:solidFill>
                <a:latin typeface="Calibri" pitchFamily="34" charset="0"/>
                <a:ea typeface="Calibri" pitchFamily="34" charset="-122"/>
                <a:cs typeface="Calibri" pitchFamily="34" charset="-120"/>
              </a:rPr>
              <a:t>IGA flags unowned accounts as critical findings; 30-day remediation SLA enforced</a:t>
            </a:r>
            <a:endParaRPr lang="en-US" sz="850" dirty="0"/>
          </a:p>
        </p:txBody>
      </p:sp>
      <p:sp>
        <p:nvSpPr>
          <p:cNvPr id="27" name="Shape 25"/>
          <p:cNvSpPr/>
          <p:nvPr/>
        </p:nvSpPr>
        <p:spPr>
          <a:xfrm>
            <a:off x="4846320" y="2029968"/>
            <a:ext cx="4023360" cy="804672"/>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28" name="Shape 26"/>
          <p:cNvSpPr/>
          <p:nvPr/>
        </p:nvSpPr>
        <p:spPr>
          <a:xfrm>
            <a:off x="4846320" y="2029968"/>
            <a:ext cx="73152" cy="804672"/>
          </a:xfrm>
          <a:prstGeom prst="rect">
            <a:avLst/>
          </a:prstGeom>
          <a:solidFill>
            <a:srgbClr val="C0392B"/>
          </a:solidFill>
          <a:ln w="12700">
            <a:solidFill>
              <a:srgbClr val="C0392B"/>
            </a:solidFill>
            <a:prstDash val="solid"/>
          </a:ln>
        </p:spPr>
        <p:txBody>
          <a:bodyPr/>
          <a:lstStyle/>
          <a:p>
            <a:endParaRPr lang="en-US"/>
          </a:p>
        </p:txBody>
      </p:sp>
      <p:sp>
        <p:nvSpPr>
          <p:cNvPr id="29" name="Text 27"/>
          <p:cNvSpPr/>
          <p:nvPr/>
        </p:nvSpPr>
        <p:spPr>
          <a:xfrm>
            <a:off x="4983480" y="2066544"/>
            <a:ext cx="3813048" cy="201168"/>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Hardcoded credentials</a:t>
            </a:r>
            <a:endParaRPr lang="en-US" sz="1000" dirty="0"/>
          </a:p>
        </p:txBody>
      </p:sp>
      <p:sp>
        <p:nvSpPr>
          <p:cNvPr id="30" name="Text 28"/>
          <p:cNvSpPr/>
          <p:nvPr/>
        </p:nvSpPr>
        <p:spPr>
          <a:xfrm>
            <a:off x="4983480" y="2276856"/>
            <a:ext cx="3813048" cy="201168"/>
          </a:xfrm>
          <a:prstGeom prst="rect">
            <a:avLst/>
          </a:prstGeom>
          <a:noFill/>
          <a:ln/>
        </p:spPr>
        <p:txBody>
          <a:bodyPr wrap="square" lIns="0" tIns="0" rIns="0" bIns="0" rtlCol="0" anchor="ctr"/>
          <a:lstStyle/>
          <a:p>
            <a:pPr marL="0" indent="0">
              <a:buNone/>
            </a:pPr>
            <a:r>
              <a:rPr lang="en-US" sz="850" i="1" dirty="0">
                <a:solidFill>
                  <a:srgbClr val="4B6076"/>
                </a:solidFill>
                <a:latin typeface="Calibri" pitchFamily="34" charset="0"/>
                <a:ea typeface="Calibri" pitchFamily="34" charset="-122"/>
                <a:cs typeface="Calibri" pitchFamily="34" charset="-120"/>
              </a:rPr>
              <a:t>Passwords in config files, repos, or scripts. Single breach exposes persistent privileged access.</a:t>
            </a:r>
            <a:endParaRPr lang="en-US" sz="850" dirty="0"/>
          </a:p>
        </p:txBody>
      </p:sp>
      <p:sp>
        <p:nvSpPr>
          <p:cNvPr id="31" name="Text 29"/>
          <p:cNvSpPr/>
          <p:nvPr/>
        </p:nvSpPr>
        <p:spPr>
          <a:xfrm>
            <a:off x="4983480" y="2487168"/>
            <a:ext cx="3813048" cy="301752"/>
          </a:xfrm>
          <a:prstGeom prst="rect">
            <a:avLst/>
          </a:prstGeom>
          <a:noFill/>
          <a:ln/>
        </p:spPr>
        <p:txBody>
          <a:bodyPr wrap="square" lIns="0" tIns="0" rIns="0" bIns="0" rtlCol="0" anchor="ctr"/>
          <a:lstStyle/>
          <a:p>
            <a:pPr marL="0" indent="0">
              <a:buNone/>
            </a:pPr>
            <a:r>
              <a:rPr lang="en-US" sz="850" b="1" dirty="0">
                <a:solidFill>
                  <a:srgbClr val="2D7D46"/>
                </a:solidFill>
                <a:latin typeface="Calibri" pitchFamily="34" charset="0"/>
                <a:ea typeface="Calibri" pitchFamily="34" charset="-122"/>
                <a:cs typeface="Calibri" pitchFamily="34" charset="-120"/>
              </a:rPr>
              <a:t>IGA Control: </a:t>
            </a:r>
            <a:r>
              <a:rPr lang="en-US" sz="850" dirty="0">
                <a:solidFill>
                  <a:srgbClr val="1A2E44"/>
                </a:solidFill>
                <a:latin typeface="Calibri" pitchFamily="34" charset="0"/>
                <a:ea typeface="Calibri" pitchFamily="34" charset="-122"/>
                <a:cs typeface="Calibri" pitchFamily="34" charset="-120"/>
              </a:rPr>
              <a:t>Secrets manager enrollment (Vault, CyberArk) required for all service accounts; IGA tracks enrollment status as compliance attribute</a:t>
            </a:r>
            <a:endParaRPr lang="en-US" sz="850" dirty="0"/>
          </a:p>
        </p:txBody>
      </p:sp>
      <p:sp>
        <p:nvSpPr>
          <p:cNvPr id="32" name="Shape 30"/>
          <p:cNvSpPr/>
          <p:nvPr/>
        </p:nvSpPr>
        <p:spPr>
          <a:xfrm>
            <a:off x="4846320" y="2944368"/>
            <a:ext cx="4023360" cy="804672"/>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33" name="Shape 31"/>
          <p:cNvSpPr/>
          <p:nvPr/>
        </p:nvSpPr>
        <p:spPr>
          <a:xfrm>
            <a:off x="4846320" y="2944368"/>
            <a:ext cx="73152" cy="804672"/>
          </a:xfrm>
          <a:prstGeom prst="rect">
            <a:avLst/>
          </a:prstGeom>
          <a:solidFill>
            <a:srgbClr val="C0392B"/>
          </a:solidFill>
          <a:ln w="12700">
            <a:solidFill>
              <a:srgbClr val="C0392B"/>
            </a:solidFill>
            <a:prstDash val="solid"/>
          </a:ln>
        </p:spPr>
        <p:txBody>
          <a:bodyPr/>
          <a:lstStyle/>
          <a:p>
            <a:endParaRPr lang="en-US"/>
          </a:p>
        </p:txBody>
      </p:sp>
      <p:sp>
        <p:nvSpPr>
          <p:cNvPr id="34" name="Text 32"/>
          <p:cNvSpPr/>
          <p:nvPr/>
        </p:nvSpPr>
        <p:spPr>
          <a:xfrm>
            <a:off x="4983480" y="2980944"/>
            <a:ext cx="3813048" cy="201168"/>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Excessive privilege</a:t>
            </a:r>
            <a:endParaRPr lang="en-US" sz="1000" dirty="0"/>
          </a:p>
        </p:txBody>
      </p:sp>
      <p:sp>
        <p:nvSpPr>
          <p:cNvPr id="35" name="Text 33"/>
          <p:cNvSpPr/>
          <p:nvPr/>
        </p:nvSpPr>
        <p:spPr>
          <a:xfrm>
            <a:off x="4983480" y="3191256"/>
            <a:ext cx="3813048" cy="201168"/>
          </a:xfrm>
          <a:prstGeom prst="rect">
            <a:avLst/>
          </a:prstGeom>
          <a:noFill/>
          <a:ln/>
        </p:spPr>
        <p:txBody>
          <a:bodyPr wrap="square" lIns="0" tIns="0" rIns="0" bIns="0" rtlCol="0" anchor="ctr"/>
          <a:lstStyle/>
          <a:p>
            <a:pPr marL="0" indent="0">
              <a:buNone/>
            </a:pPr>
            <a:r>
              <a:rPr lang="en-US" sz="850" i="1" dirty="0">
                <a:solidFill>
                  <a:srgbClr val="4B6076"/>
                </a:solidFill>
                <a:latin typeface="Calibri" pitchFamily="34" charset="0"/>
                <a:ea typeface="Calibri" pitchFamily="34" charset="-122"/>
                <a:cs typeface="Calibri" pitchFamily="34" charset="-120"/>
              </a:rPr>
              <a:t>Service accounts granted admin rights for convenience. Principle of least privilege ignored.</a:t>
            </a:r>
            <a:endParaRPr lang="en-US" sz="850" dirty="0"/>
          </a:p>
        </p:txBody>
      </p:sp>
      <p:sp>
        <p:nvSpPr>
          <p:cNvPr id="36" name="Text 34"/>
          <p:cNvSpPr/>
          <p:nvPr/>
        </p:nvSpPr>
        <p:spPr>
          <a:xfrm>
            <a:off x="4983480" y="3401568"/>
            <a:ext cx="3813048" cy="301752"/>
          </a:xfrm>
          <a:prstGeom prst="rect">
            <a:avLst/>
          </a:prstGeom>
          <a:noFill/>
          <a:ln/>
        </p:spPr>
        <p:txBody>
          <a:bodyPr wrap="square" lIns="0" tIns="0" rIns="0" bIns="0" rtlCol="0" anchor="ctr"/>
          <a:lstStyle/>
          <a:p>
            <a:pPr marL="0" indent="0">
              <a:buNone/>
            </a:pPr>
            <a:r>
              <a:rPr lang="en-US" sz="850" b="1" dirty="0">
                <a:solidFill>
                  <a:srgbClr val="2D7D46"/>
                </a:solidFill>
                <a:latin typeface="Calibri" pitchFamily="34" charset="0"/>
                <a:ea typeface="Calibri" pitchFamily="34" charset="-122"/>
                <a:cs typeface="Calibri" pitchFamily="34" charset="-120"/>
              </a:rPr>
              <a:t>IGA Control: </a:t>
            </a:r>
            <a:r>
              <a:rPr lang="en-US" sz="850" dirty="0">
                <a:solidFill>
                  <a:srgbClr val="1A2E44"/>
                </a:solidFill>
                <a:latin typeface="Calibri" pitchFamily="34" charset="0"/>
                <a:ea typeface="Calibri" pitchFamily="34" charset="-122"/>
                <a:cs typeface="Calibri" pitchFamily="34" charset="-120"/>
              </a:rPr>
              <a:t>Service account entitlement review; CIEM analysis for cloud service principals; right-size to minimum required permissions</a:t>
            </a:r>
            <a:endParaRPr lang="en-US" sz="850" dirty="0"/>
          </a:p>
        </p:txBody>
      </p:sp>
      <p:sp>
        <p:nvSpPr>
          <p:cNvPr id="37" name="Shape 35"/>
          <p:cNvSpPr/>
          <p:nvPr/>
        </p:nvSpPr>
        <p:spPr>
          <a:xfrm>
            <a:off x="4846320" y="3858768"/>
            <a:ext cx="4023360" cy="804672"/>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38" name="Shape 36"/>
          <p:cNvSpPr/>
          <p:nvPr/>
        </p:nvSpPr>
        <p:spPr>
          <a:xfrm>
            <a:off x="4846320" y="3858768"/>
            <a:ext cx="73152" cy="804672"/>
          </a:xfrm>
          <a:prstGeom prst="rect">
            <a:avLst/>
          </a:prstGeom>
          <a:solidFill>
            <a:srgbClr val="C0392B"/>
          </a:solidFill>
          <a:ln w="12700">
            <a:solidFill>
              <a:srgbClr val="C0392B"/>
            </a:solidFill>
            <a:prstDash val="solid"/>
          </a:ln>
        </p:spPr>
        <p:txBody>
          <a:bodyPr/>
          <a:lstStyle/>
          <a:p>
            <a:endParaRPr lang="en-US"/>
          </a:p>
        </p:txBody>
      </p:sp>
      <p:sp>
        <p:nvSpPr>
          <p:cNvPr id="39" name="Text 37"/>
          <p:cNvSpPr/>
          <p:nvPr/>
        </p:nvSpPr>
        <p:spPr>
          <a:xfrm>
            <a:off x="4983480" y="3895344"/>
            <a:ext cx="3813048" cy="201168"/>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No expiry date</a:t>
            </a:r>
            <a:endParaRPr lang="en-US" sz="1000" dirty="0"/>
          </a:p>
        </p:txBody>
      </p:sp>
      <p:sp>
        <p:nvSpPr>
          <p:cNvPr id="40" name="Text 38"/>
          <p:cNvSpPr/>
          <p:nvPr/>
        </p:nvSpPr>
        <p:spPr>
          <a:xfrm>
            <a:off x="4983480" y="4105656"/>
            <a:ext cx="3813048" cy="201168"/>
          </a:xfrm>
          <a:prstGeom prst="rect">
            <a:avLst/>
          </a:prstGeom>
          <a:noFill/>
          <a:ln/>
        </p:spPr>
        <p:txBody>
          <a:bodyPr wrap="square" lIns="0" tIns="0" rIns="0" bIns="0" rtlCol="0" anchor="ctr"/>
          <a:lstStyle/>
          <a:p>
            <a:pPr marL="0" indent="0">
              <a:buNone/>
            </a:pPr>
            <a:r>
              <a:rPr lang="en-US" sz="850" i="1" dirty="0">
                <a:solidFill>
                  <a:srgbClr val="4B6076"/>
                </a:solidFill>
                <a:latin typeface="Calibri" pitchFamily="34" charset="0"/>
                <a:ea typeface="Calibri" pitchFamily="34" charset="-122"/>
                <a:cs typeface="Calibri" pitchFamily="34" charset="-120"/>
              </a:rPr>
              <a:t>Contractor and project service accounts persist indefinitely without review trigger.</a:t>
            </a:r>
            <a:endParaRPr lang="en-US" sz="850" dirty="0"/>
          </a:p>
        </p:txBody>
      </p:sp>
      <p:sp>
        <p:nvSpPr>
          <p:cNvPr id="41" name="Text 39"/>
          <p:cNvSpPr/>
          <p:nvPr/>
        </p:nvSpPr>
        <p:spPr>
          <a:xfrm>
            <a:off x="4983480" y="4315968"/>
            <a:ext cx="3813048" cy="301752"/>
          </a:xfrm>
          <a:prstGeom prst="rect">
            <a:avLst/>
          </a:prstGeom>
          <a:noFill/>
          <a:ln/>
        </p:spPr>
        <p:txBody>
          <a:bodyPr wrap="square" lIns="0" tIns="0" rIns="0" bIns="0" rtlCol="0" anchor="ctr"/>
          <a:lstStyle/>
          <a:p>
            <a:pPr marL="0" indent="0">
              <a:buNone/>
            </a:pPr>
            <a:r>
              <a:rPr lang="en-US" sz="850" b="1" dirty="0">
                <a:solidFill>
                  <a:srgbClr val="2D7D46"/>
                </a:solidFill>
                <a:latin typeface="Calibri" pitchFamily="34" charset="0"/>
                <a:ea typeface="Calibri" pitchFamily="34" charset="-122"/>
                <a:cs typeface="Calibri" pitchFamily="34" charset="-120"/>
              </a:rPr>
              <a:t>IGA Control: </a:t>
            </a:r>
            <a:r>
              <a:rPr lang="en-US" sz="850" dirty="0">
                <a:solidFill>
                  <a:srgbClr val="1A2E44"/>
                </a:solidFill>
                <a:latin typeface="Calibri" pitchFamily="34" charset="0"/>
                <a:ea typeface="Calibri" pitchFamily="34" charset="-122"/>
                <a:cs typeface="Calibri" pitchFamily="34" charset="-120"/>
              </a:rPr>
              <a:t>IGA enforces mandatory expiry dates on all service accounts; annual re-certification required for renewal</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3C5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D7D46"/>
          </a:solidFill>
          <a:ln w="12700">
            <a:solidFill>
              <a:srgbClr val="2D7D46"/>
            </a:solidFill>
            <a:prstDash val="solid"/>
          </a:ln>
        </p:spPr>
        <p:txBody>
          <a:bodyPr/>
          <a:lstStyle/>
          <a:p>
            <a:endParaRPr lang="en-US"/>
          </a:p>
        </p:txBody>
      </p:sp>
      <p:sp>
        <p:nvSpPr>
          <p:cNvPr id="3" name="Text 1"/>
          <p:cNvSpPr/>
          <p:nvPr/>
        </p:nvSpPr>
        <p:spPr>
          <a:xfrm>
            <a:off x="6858000" y="731520"/>
            <a:ext cx="2103120" cy="2560320"/>
          </a:xfrm>
          <a:prstGeom prst="rect">
            <a:avLst/>
          </a:prstGeom>
          <a:noFill/>
          <a:ln/>
        </p:spPr>
        <p:txBody>
          <a:bodyPr wrap="square" lIns="0" tIns="0" rIns="0" bIns="0" rtlCol="0" anchor="ctr"/>
          <a:lstStyle/>
          <a:p>
            <a:pPr marL="0" indent="0" algn="r">
              <a:buNone/>
            </a:pPr>
            <a:r>
              <a:rPr lang="en-US" sz="14000" b="1" dirty="0">
                <a:solidFill>
                  <a:srgbClr val="1A4A30"/>
                </a:solidFill>
                <a:latin typeface="Calibri" pitchFamily="34" charset="0"/>
                <a:ea typeface="Calibri" pitchFamily="34" charset="-122"/>
                <a:cs typeface="Calibri" pitchFamily="34" charset="-120"/>
              </a:rPr>
              <a:t>07</a:t>
            </a:r>
            <a:endParaRPr lang="en-US" sz="14000" dirty="0"/>
          </a:p>
        </p:txBody>
      </p:sp>
      <p:sp>
        <p:nvSpPr>
          <p:cNvPr id="4" name="Text 2"/>
          <p:cNvSpPr/>
          <p:nvPr/>
        </p:nvSpPr>
        <p:spPr>
          <a:xfrm>
            <a:off x="320040" y="1600200"/>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Cloud Entitlements (CIEM)</a:t>
            </a:r>
            <a:endParaRPr lang="en-US" sz="3000" dirty="0"/>
          </a:p>
        </p:txBody>
      </p:sp>
      <p:sp>
        <p:nvSpPr>
          <p:cNvPr id="5" name="Shape 3"/>
          <p:cNvSpPr/>
          <p:nvPr/>
        </p:nvSpPr>
        <p:spPr>
          <a:xfrm>
            <a:off x="320040" y="2468880"/>
            <a:ext cx="6217920" cy="0"/>
          </a:xfrm>
          <a:prstGeom prst="line">
            <a:avLst/>
          </a:prstGeom>
          <a:noFill/>
          <a:ln w="6350">
            <a:solidFill>
              <a:srgbClr val="8BAAC2"/>
            </a:solidFill>
            <a:prstDash val="solid"/>
          </a:ln>
        </p:spPr>
        <p:txBody>
          <a:bodyPr/>
          <a:lstStyle/>
          <a:p>
            <a:endParaRPr lang="en-US"/>
          </a:p>
        </p:txBody>
      </p:sp>
      <p:sp>
        <p:nvSpPr>
          <p:cNvPr id="6" name="Text 4"/>
          <p:cNvSpPr/>
          <p:nvPr/>
        </p:nvSpPr>
        <p:spPr>
          <a:xfrm>
            <a:off x="320040" y="2542032"/>
            <a:ext cx="6400800" cy="457200"/>
          </a:xfrm>
          <a:prstGeom prst="rect">
            <a:avLst/>
          </a:prstGeom>
          <a:noFill/>
          <a:ln/>
        </p:spPr>
        <p:txBody>
          <a:bodyPr wrap="square" lIns="0" tIns="0" rIns="0" bIns="0" rtlCol="0" anchor="ctr"/>
          <a:lstStyle/>
          <a:p>
            <a:pPr marL="0" indent="0">
              <a:buNone/>
            </a:pPr>
            <a:r>
              <a:rPr lang="en-US" sz="1400" i="1" dirty="0">
                <a:solidFill>
                  <a:srgbClr val="C9DDE8"/>
                </a:solidFill>
                <a:latin typeface="Calibri" pitchFamily="34" charset="0"/>
                <a:ea typeface="Calibri" pitchFamily="34" charset="-122"/>
                <a:cs typeface="Calibri" pitchFamily="34" charset="-120"/>
              </a:rPr>
              <a:t>Machine identities, effective permissions, IGA-CIEM convergence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C5E"/>
          </a:solidFill>
          <a:ln w="12700">
            <a:solidFill>
              <a:srgbClr val="1A3C5E"/>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Cloud Entitlement Management (CIEM)</a:t>
            </a:r>
            <a:endParaRPr lang="en-US" sz="2000" dirty="0"/>
          </a:p>
        </p:txBody>
      </p:sp>
      <p:sp>
        <p:nvSpPr>
          <p:cNvPr id="4" name="Shape 2"/>
          <p:cNvSpPr/>
          <p:nvPr/>
        </p:nvSpPr>
        <p:spPr>
          <a:xfrm>
            <a:off x="228600" y="804672"/>
            <a:ext cx="2788920" cy="1325880"/>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5" name="Shape 3"/>
          <p:cNvSpPr/>
          <p:nvPr/>
        </p:nvSpPr>
        <p:spPr>
          <a:xfrm>
            <a:off x="228600" y="804672"/>
            <a:ext cx="2788920" cy="320040"/>
          </a:xfrm>
          <a:prstGeom prst="rect">
            <a:avLst/>
          </a:prstGeom>
          <a:solidFill>
            <a:srgbClr val="1A3C5E"/>
          </a:solidFill>
          <a:ln w="12700">
            <a:solidFill>
              <a:srgbClr val="1A3C5E"/>
            </a:solidFill>
            <a:prstDash val="solid"/>
          </a:ln>
        </p:spPr>
        <p:txBody>
          <a:bodyPr/>
          <a:lstStyle/>
          <a:p>
            <a:endParaRPr lang="en-US"/>
          </a:p>
        </p:txBody>
      </p:sp>
      <p:sp>
        <p:nvSpPr>
          <p:cNvPr id="6" name="Text 4"/>
          <p:cNvSpPr/>
          <p:nvPr/>
        </p:nvSpPr>
        <p:spPr>
          <a:xfrm>
            <a:off x="301752" y="804672"/>
            <a:ext cx="2642616" cy="320040"/>
          </a:xfrm>
          <a:prstGeom prst="rect">
            <a:avLst/>
          </a:prstGeom>
          <a:noFill/>
          <a:ln/>
        </p:spPr>
        <p:txBody>
          <a:bodyPr wrap="square" lIns="0" tIns="0" rIns="0" bIns="0" rtlCol="0" anchor="ctr"/>
          <a:lstStyle/>
          <a:p>
            <a:pPr marL="0" indent="0">
              <a:buNone/>
            </a:pPr>
            <a:r>
              <a:rPr lang="en-US" sz="1000" b="1" dirty="0">
                <a:solidFill>
                  <a:srgbClr val="2D7D46"/>
                </a:solidFill>
                <a:latin typeface="Calibri" pitchFamily="34" charset="0"/>
                <a:ea typeface="Calibri" pitchFamily="34" charset="-122"/>
                <a:cs typeface="Calibri" pitchFamily="34" charset="-120"/>
              </a:rPr>
              <a:t>Cloud Permission Complexity</a:t>
            </a:r>
            <a:endParaRPr lang="en-US" sz="1000" dirty="0"/>
          </a:p>
        </p:txBody>
      </p:sp>
      <p:sp>
        <p:nvSpPr>
          <p:cNvPr id="7" name="Text 5"/>
          <p:cNvSpPr/>
          <p:nvPr/>
        </p:nvSpPr>
        <p:spPr>
          <a:xfrm>
            <a:off x="301752" y="1161288"/>
            <a:ext cx="2642616" cy="914400"/>
          </a:xfrm>
          <a:prstGeom prst="rect">
            <a:avLst/>
          </a:prstGeom>
          <a:noFill/>
          <a:ln/>
        </p:spPr>
        <p:txBody>
          <a:bodyPr wrap="square" lIns="0" tIns="0" rIns="0" bIns="0" rtlCol="0" anchor="ctr"/>
          <a:lstStyle/>
          <a:p>
            <a:pPr marL="0" indent="0">
              <a:buNone/>
            </a:pPr>
            <a:r>
              <a:rPr lang="en-US" sz="900" dirty="0">
                <a:solidFill>
                  <a:srgbClr val="4B6076"/>
                </a:solidFill>
                <a:latin typeface="Calibri" pitchFamily="34" charset="0"/>
                <a:ea typeface="Calibri" pitchFamily="34" charset="-122"/>
                <a:cs typeface="Calibri" pitchFamily="34" charset="-120"/>
              </a:rPr>
              <a:t>AWS IAM policies contain hundreds of individual actions across dozens of services. Azure RBAC adds custom roles, scopes, and management groups. GCP uses project hierarchy + IAM conditions. Traditional IGA models struggle to represent effective permissions across complex policy graphs.</a:t>
            </a:r>
            <a:endParaRPr lang="en-US" sz="900" dirty="0"/>
          </a:p>
        </p:txBody>
      </p:sp>
      <p:sp>
        <p:nvSpPr>
          <p:cNvPr id="8" name="Shape 6"/>
          <p:cNvSpPr/>
          <p:nvPr/>
        </p:nvSpPr>
        <p:spPr>
          <a:xfrm>
            <a:off x="3154680" y="804672"/>
            <a:ext cx="2788920" cy="1325880"/>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9" name="Shape 7"/>
          <p:cNvSpPr/>
          <p:nvPr/>
        </p:nvSpPr>
        <p:spPr>
          <a:xfrm>
            <a:off x="3154680" y="804672"/>
            <a:ext cx="2788920" cy="320040"/>
          </a:xfrm>
          <a:prstGeom prst="rect">
            <a:avLst/>
          </a:prstGeom>
          <a:solidFill>
            <a:srgbClr val="1A3C5E"/>
          </a:solidFill>
          <a:ln w="12700">
            <a:solidFill>
              <a:srgbClr val="1A3C5E"/>
            </a:solidFill>
            <a:prstDash val="solid"/>
          </a:ln>
        </p:spPr>
        <p:txBody>
          <a:bodyPr/>
          <a:lstStyle/>
          <a:p>
            <a:endParaRPr lang="en-US"/>
          </a:p>
        </p:txBody>
      </p:sp>
      <p:sp>
        <p:nvSpPr>
          <p:cNvPr id="10" name="Text 8"/>
          <p:cNvSpPr/>
          <p:nvPr/>
        </p:nvSpPr>
        <p:spPr>
          <a:xfrm>
            <a:off x="3227832" y="804672"/>
            <a:ext cx="2642616" cy="320040"/>
          </a:xfrm>
          <a:prstGeom prst="rect">
            <a:avLst/>
          </a:prstGeom>
          <a:noFill/>
          <a:ln/>
        </p:spPr>
        <p:txBody>
          <a:bodyPr wrap="square" lIns="0" tIns="0" rIns="0" bIns="0" rtlCol="0" anchor="ctr"/>
          <a:lstStyle/>
          <a:p>
            <a:pPr marL="0" indent="0">
              <a:buNone/>
            </a:pPr>
            <a:r>
              <a:rPr lang="en-US" sz="1000" b="1" dirty="0">
                <a:solidFill>
                  <a:srgbClr val="2D7D46"/>
                </a:solidFill>
                <a:latin typeface="Calibri" pitchFamily="34" charset="0"/>
                <a:ea typeface="Calibri" pitchFamily="34" charset="-122"/>
                <a:cs typeface="Calibri" pitchFamily="34" charset="-120"/>
              </a:rPr>
              <a:t>Machine Identity Explosion</a:t>
            </a:r>
            <a:endParaRPr lang="en-US" sz="1000" dirty="0"/>
          </a:p>
        </p:txBody>
      </p:sp>
      <p:sp>
        <p:nvSpPr>
          <p:cNvPr id="11" name="Text 9"/>
          <p:cNvSpPr/>
          <p:nvPr/>
        </p:nvSpPr>
        <p:spPr>
          <a:xfrm>
            <a:off x="3227832" y="1161288"/>
            <a:ext cx="2642616" cy="914400"/>
          </a:xfrm>
          <a:prstGeom prst="rect">
            <a:avLst/>
          </a:prstGeom>
          <a:noFill/>
          <a:ln/>
        </p:spPr>
        <p:txBody>
          <a:bodyPr wrap="square" lIns="0" tIns="0" rIns="0" bIns="0" rtlCol="0" anchor="ctr"/>
          <a:lstStyle/>
          <a:p>
            <a:pPr marL="0" indent="0">
              <a:buNone/>
            </a:pPr>
            <a:r>
              <a:rPr lang="en-US" sz="900" dirty="0">
                <a:solidFill>
                  <a:srgbClr val="4B6076"/>
                </a:solidFill>
                <a:latin typeface="Calibri" pitchFamily="34" charset="0"/>
                <a:ea typeface="Calibri" pitchFamily="34" charset="-122"/>
                <a:cs typeface="Calibri" pitchFamily="34" charset="-120"/>
              </a:rPr>
              <a:t>Cloud environments are dominated by non-human identities: EC2 instance profiles, Lambda execution roles, Kubernetes ServiceAccounts, CI/CD pipeline credentials. These typically hold broader permissions than necessary and are excluded from human-centric IGA governance.</a:t>
            </a:r>
            <a:endParaRPr lang="en-US" sz="900" dirty="0"/>
          </a:p>
        </p:txBody>
      </p:sp>
      <p:sp>
        <p:nvSpPr>
          <p:cNvPr id="12" name="Shape 10"/>
          <p:cNvSpPr/>
          <p:nvPr/>
        </p:nvSpPr>
        <p:spPr>
          <a:xfrm>
            <a:off x="6080760" y="804672"/>
            <a:ext cx="2788920" cy="1325880"/>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13" name="Shape 11"/>
          <p:cNvSpPr/>
          <p:nvPr/>
        </p:nvSpPr>
        <p:spPr>
          <a:xfrm>
            <a:off x="6080760" y="804672"/>
            <a:ext cx="2788920" cy="320040"/>
          </a:xfrm>
          <a:prstGeom prst="rect">
            <a:avLst/>
          </a:prstGeom>
          <a:solidFill>
            <a:srgbClr val="1A3C5E"/>
          </a:solidFill>
          <a:ln w="12700">
            <a:solidFill>
              <a:srgbClr val="1A3C5E"/>
            </a:solidFill>
            <a:prstDash val="solid"/>
          </a:ln>
        </p:spPr>
        <p:txBody>
          <a:bodyPr/>
          <a:lstStyle/>
          <a:p>
            <a:endParaRPr lang="en-US"/>
          </a:p>
        </p:txBody>
      </p:sp>
      <p:sp>
        <p:nvSpPr>
          <p:cNvPr id="14" name="Text 12"/>
          <p:cNvSpPr/>
          <p:nvPr/>
        </p:nvSpPr>
        <p:spPr>
          <a:xfrm>
            <a:off x="6153912" y="804672"/>
            <a:ext cx="2642616" cy="320040"/>
          </a:xfrm>
          <a:prstGeom prst="rect">
            <a:avLst/>
          </a:prstGeom>
          <a:noFill/>
          <a:ln/>
        </p:spPr>
        <p:txBody>
          <a:bodyPr wrap="square" lIns="0" tIns="0" rIns="0" bIns="0" rtlCol="0" anchor="ctr"/>
          <a:lstStyle/>
          <a:p>
            <a:pPr marL="0" indent="0">
              <a:buNone/>
            </a:pPr>
            <a:r>
              <a:rPr lang="en-US" sz="1000" b="1" dirty="0">
                <a:solidFill>
                  <a:srgbClr val="2D7D46"/>
                </a:solidFill>
                <a:latin typeface="Calibri" pitchFamily="34" charset="0"/>
                <a:ea typeface="Calibri" pitchFamily="34" charset="-122"/>
                <a:cs typeface="Calibri" pitchFamily="34" charset="-120"/>
              </a:rPr>
              <a:t>Cross-Account Trust</a:t>
            </a:r>
            <a:endParaRPr lang="en-US" sz="1000" dirty="0"/>
          </a:p>
        </p:txBody>
      </p:sp>
      <p:sp>
        <p:nvSpPr>
          <p:cNvPr id="15" name="Text 13"/>
          <p:cNvSpPr/>
          <p:nvPr/>
        </p:nvSpPr>
        <p:spPr>
          <a:xfrm>
            <a:off x="6153912" y="1161288"/>
            <a:ext cx="2642616" cy="914400"/>
          </a:xfrm>
          <a:prstGeom prst="rect">
            <a:avLst/>
          </a:prstGeom>
          <a:noFill/>
          <a:ln/>
        </p:spPr>
        <p:txBody>
          <a:bodyPr wrap="square" lIns="0" tIns="0" rIns="0" bIns="0" rtlCol="0" anchor="ctr"/>
          <a:lstStyle/>
          <a:p>
            <a:pPr marL="0" indent="0">
              <a:buNone/>
            </a:pPr>
            <a:r>
              <a:rPr lang="en-US" sz="900" dirty="0">
                <a:solidFill>
                  <a:srgbClr val="4B6076"/>
                </a:solidFill>
                <a:latin typeface="Calibri" pitchFamily="34" charset="0"/>
                <a:ea typeface="Calibri" pitchFamily="34" charset="-122"/>
                <a:cs typeface="Calibri" pitchFamily="34" charset="-120"/>
              </a:rPr>
              <a:t>AWS cross-account role assumptions and Azure subscription cross-access create implicit entitlement paths invisible to single-account analysis. CIEM maps the full effective permission graph across all accounts.</a:t>
            </a:r>
            <a:endParaRPr lang="en-US" sz="900" dirty="0"/>
          </a:p>
        </p:txBody>
      </p:sp>
      <p:sp>
        <p:nvSpPr>
          <p:cNvPr id="16" name="Text 14"/>
          <p:cNvSpPr/>
          <p:nvPr/>
        </p:nvSpPr>
        <p:spPr>
          <a:xfrm>
            <a:off x="228600" y="2212848"/>
            <a:ext cx="8686800" cy="274320"/>
          </a:xfrm>
          <a:prstGeom prst="rect">
            <a:avLst/>
          </a:prstGeom>
          <a:noFill/>
          <a:ln/>
        </p:spPr>
        <p:txBody>
          <a:bodyPr wrap="square" lIns="0" tIns="0" rIns="0" bIns="0" rtlCol="0" anchor="ctr"/>
          <a:lstStyle/>
          <a:p>
            <a:pPr marL="0" indent="0">
              <a:buNone/>
            </a:pPr>
            <a:r>
              <a:rPr lang="en-US" sz="1200" b="1" dirty="0">
                <a:solidFill>
                  <a:srgbClr val="1A3C5E"/>
                </a:solidFill>
                <a:latin typeface="Calibri" pitchFamily="34" charset="0"/>
                <a:ea typeface="Calibri" pitchFamily="34" charset="-122"/>
                <a:cs typeface="Calibri" pitchFamily="34" charset="-120"/>
              </a:rPr>
              <a:t>CIEM Capabilities vs. Traditional IGA</a:t>
            </a:r>
            <a:endParaRPr lang="en-US" sz="1200" dirty="0"/>
          </a:p>
        </p:txBody>
      </p:sp>
      <p:sp>
        <p:nvSpPr>
          <p:cNvPr id="17" name="Shape 15"/>
          <p:cNvSpPr/>
          <p:nvPr/>
        </p:nvSpPr>
        <p:spPr>
          <a:xfrm>
            <a:off x="228600" y="2578608"/>
            <a:ext cx="1645920" cy="301752"/>
          </a:xfrm>
          <a:prstGeom prst="rect">
            <a:avLst/>
          </a:prstGeom>
          <a:solidFill>
            <a:srgbClr val="1A3C5E"/>
          </a:solidFill>
          <a:ln w="6350">
            <a:solidFill>
              <a:srgbClr val="C8D8E0"/>
            </a:solidFill>
            <a:prstDash val="solid"/>
          </a:ln>
        </p:spPr>
        <p:txBody>
          <a:bodyPr/>
          <a:lstStyle/>
          <a:p>
            <a:endParaRPr lang="en-US"/>
          </a:p>
        </p:txBody>
      </p:sp>
      <p:sp>
        <p:nvSpPr>
          <p:cNvPr id="18" name="Text 16"/>
          <p:cNvSpPr/>
          <p:nvPr/>
        </p:nvSpPr>
        <p:spPr>
          <a:xfrm>
            <a:off x="274320" y="2578608"/>
            <a:ext cx="1554480" cy="301752"/>
          </a:xfrm>
          <a:prstGeom prst="rect">
            <a:avLst/>
          </a:prstGeom>
          <a:noFill/>
          <a:ln/>
        </p:spPr>
        <p:txBody>
          <a:bodyPr wrap="square" lIns="0" tIns="0" rIns="0" bIns="0" rtlCol="0" anchor="ctr"/>
          <a:lstStyle/>
          <a:p>
            <a:pPr marL="0" indent="0">
              <a:buNone/>
            </a:pPr>
            <a:r>
              <a:rPr lang="en-US" sz="950" b="1" dirty="0">
                <a:solidFill>
                  <a:srgbClr val="2D7D46"/>
                </a:solidFill>
                <a:latin typeface="Calibri" pitchFamily="34" charset="0"/>
                <a:ea typeface="Calibri" pitchFamily="34" charset="-122"/>
                <a:cs typeface="Calibri" pitchFamily="34" charset="-120"/>
              </a:rPr>
              <a:t>Capability</a:t>
            </a:r>
            <a:endParaRPr lang="en-US" sz="950" dirty="0"/>
          </a:p>
        </p:txBody>
      </p:sp>
      <p:sp>
        <p:nvSpPr>
          <p:cNvPr id="19" name="Shape 17"/>
          <p:cNvSpPr/>
          <p:nvPr/>
        </p:nvSpPr>
        <p:spPr>
          <a:xfrm>
            <a:off x="1892808" y="2578608"/>
            <a:ext cx="3291840" cy="301752"/>
          </a:xfrm>
          <a:prstGeom prst="rect">
            <a:avLst/>
          </a:prstGeom>
          <a:solidFill>
            <a:srgbClr val="1A3C5E"/>
          </a:solidFill>
          <a:ln w="6350">
            <a:solidFill>
              <a:srgbClr val="C8D8E0"/>
            </a:solidFill>
            <a:prstDash val="solid"/>
          </a:ln>
        </p:spPr>
        <p:txBody>
          <a:bodyPr/>
          <a:lstStyle/>
          <a:p>
            <a:endParaRPr lang="en-US"/>
          </a:p>
        </p:txBody>
      </p:sp>
      <p:sp>
        <p:nvSpPr>
          <p:cNvPr id="20" name="Text 18"/>
          <p:cNvSpPr/>
          <p:nvPr/>
        </p:nvSpPr>
        <p:spPr>
          <a:xfrm>
            <a:off x="1938528" y="2578608"/>
            <a:ext cx="3200400" cy="301752"/>
          </a:xfrm>
          <a:prstGeom prst="rect">
            <a:avLst/>
          </a:prstGeom>
          <a:noFill/>
          <a:ln/>
        </p:spPr>
        <p:txBody>
          <a:bodyPr wrap="square" lIns="0" tIns="0" rIns="0" bIns="0" rtlCol="0" anchor="ctr"/>
          <a:lstStyle/>
          <a:p>
            <a:pPr marL="0" indent="0">
              <a:buNone/>
            </a:pPr>
            <a:r>
              <a:rPr lang="en-US" sz="950" b="1" dirty="0">
                <a:solidFill>
                  <a:srgbClr val="2D7D46"/>
                </a:solidFill>
                <a:latin typeface="Calibri" pitchFamily="34" charset="0"/>
                <a:ea typeface="Calibri" pitchFamily="34" charset="-122"/>
                <a:cs typeface="Calibri" pitchFamily="34" charset="-120"/>
              </a:rPr>
              <a:t>Traditional IGA</a:t>
            </a:r>
            <a:endParaRPr lang="en-US" sz="950" dirty="0"/>
          </a:p>
        </p:txBody>
      </p:sp>
      <p:sp>
        <p:nvSpPr>
          <p:cNvPr id="21" name="Shape 19"/>
          <p:cNvSpPr/>
          <p:nvPr/>
        </p:nvSpPr>
        <p:spPr>
          <a:xfrm>
            <a:off x="5202936" y="2578608"/>
            <a:ext cx="3291840" cy="301752"/>
          </a:xfrm>
          <a:prstGeom prst="rect">
            <a:avLst/>
          </a:prstGeom>
          <a:solidFill>
            <a:srgbClr val="1A3C5E"/>
          </a:solidFill>
          <a:ln w="6350">
            <a:solidFill>
              <a:srgbClr val="C8D8E0"/>
            </a:solidFill>
            <a:prstDash val="solid"/>
          </a:ln>
        </p:spPr>
        <p:txBody>
          <a:bodyPr/>
          <a:lstStyle/>
          <a:p>
            <a:endParaRPr lang="en-US"/>
          </a:p>
        </p:txBody>
      </p:sp>
      <p:sp>
        <p:nvSpPr>
          <p:cNvPr id="22" name="Text 20"/>
          <p:cNvSpPr/>
          <p:nvPr/>
        </p:nvSpPr>
        <p:spPr>
          <a:xfrm>
            <a:off x="5248656" y="2578608"/>
            <a:ext cx="3200400" cy="301752"/>
          </a:xfrm>
          <a:prstGeom prst="rect">
            <a:avLst/>
          </a:prstGeom>
          <a:noFill/>
          <a:ln/>
        </p:spPr>
        <p:txBody>
          <a:bodyPr wrap="square" lIns="0" tIns="0" rIns="0" bIns="0" rtlCol="0" anchor="ctr"/>
          <a:lstStyle/>
          <a:p>
            <a:pPr marL="0" indent="0">
              <a:buNone/>
            </a:pPr>
            <a:r>
              <a:rPr lang="en-US" sz="950" b="1" dirty="0">
                <a:solidFill>
                  <a:srgbClr val="2D7D46"/>
                </a:solidFill>
                <a:latin typeface="Calibri" pitchFamily="34" charset="0"/>
                <a:ea typeface="Calibri" pitchFamily="34" charset="-122"/>
                <a:cs typeface="Calibri" pitchFamily="34" charset="-120"/>
              </a:rPr>
              <a:t>CIEM</a:t>
            </a:r>
            <a:endParaRPr lang="en-US" sz="950" dirty="0"/>
          </a:p>
        </p:txBody>
      </p:sp>
      <p:sp>
        <p:nvSpPr>
          <p:cNvPr id="23" name="Shape 21"/>
          <p:cNvSpPr/>
          <p:nvPr/>
        </p:nvSpPr>
        <p:spPr>
          <a:xfrm>
            <a:off x="228600" y="2880360"/>
            <a:ext cx="1645920" cy="301752"/>
          </a:xfrm>
          <a:prstGeom prst="rect">
            <a:avLst/>
          </a:prstGeom>
          <a:solidFill>
            <a:srgbClr val="EEF8F0"/>
          </a:solidFill>
          <a:ln w="6350">
            <a:solidFill>
              <a:srgbClr val="C8D8E0"/>
            </a:solidFill>
            <a:prstDash val="solid"/>
          </a:ln>
        </p:spPr>
        <p:txBody>
          <a:bodyPr/>
          <a:lstStyle/>
          <a:p>
            <a:endParaRPr lang="en-US"/>
          </a:p>
        </p:txBody>
      </p:sp>
      <p:sp>
        <p:nvSpPr>
          <p:cNvPr id="24" name="Text 22"/>
          <p:cNvSpPr/>
          <p:nvPr/>
        </p:nvSpPr>
        <p:spPr>
          <a:xfrm>
            <a:off x="274320" y="2880360"/>
            <a:ext cx="1554480" cy="301752"/>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Identity Scope</a:t>
            </a:r>
            <a:endParaRPr lang="en-US" sz="850" dirty="0"/>
          </a:p>
        </p:txBody>
      </p:sp>
      <p:sp>
        <p:nvSpPr>
          <p:cNvPr id="25" name="Shape 23"/>
          <p:cNvSpPr/>
          <p:nvPr/>
        </p:nvSpPr>
        <p:spPr>
          <a:xfrm>
            <a:off x="1892808" y="2880360"/>
            <a:ext cx="3291840" cy="301752"/>
          </a:xfrm>
          <a:prstGeom prst="rect">
            <a:avLst/>
          </a:prstGeom>
          <a:solidFill>
            <a:srgbClr val="EEF8F0"/>
          </a:solidFill>
          <a:ln w="6350">
            <a:solidFill>
              <a:srgbClr val="C8D8E0"/>
            </a:solidFill>
            <a:prstDash val="solid"/>
          </a:ln>
        </p:spPr>
        <p:txBody>
          <a:bodyPr/>
          <a:lstStyle/>
          <a:p>
            <a:endParaRPr lang="en-US"/>
          </a:p>
        </p:txBody>
      </p:sp>
      <p:sp>
        <p:nvSpPr>
          <p:cNvPr id="26" name="Text 24"/>
          <p:cNvSpPr/>
          <p:nvPr/>
        </p:nvSpPr>
        <p:spPr>
          <a:xfrm>
            <a:off x="1938528" y="2880360"/>
            <a:ext cx="3200400" cy="301752"/>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Human users, AD groups, SaaS roles</a:t>
            </a:r>
            <a:endParaRPr lang="en-US" sz="850" dirty="0"/>
          </a:p>
        </p:txBody>
      </p:sp>
      <p:sp>
        <p:nvSpPr>
          <p:cNvPr id="27" name="Shape 25"/>
          <p:cNvSpPr/>
          <p:nvPr/>
        </p:nvSpPr>
        <p:spPr>
          <a:xfrm>
            <a:off x="5202936" y="2880360"/>
            <a:ext cx="3291840" cy="301752"/>
          </a:xfrm>
          <a:prstGeom prst="rect">
            <a:avLst/>
          </a:prstGeom>
          <a:solidFill>
            <a:srgbClr val="EEF8F0"/>
          </a:solidFill>
          <a:ln w="6350">
            <a:solidFill>
              <a:srgbClr val="C8D8E0"/>
            </a:solidFill>
            <a:prstDash val="solid"/>
          </a:ln>
        </p:spPr>
        <p:txBody>
          <a:bodyPr/>
          <a:lstStyle/>
          <a:p>
            <a:endParaRPr lang="en-US"/>
          </a:p>
        </p:txBody>
      </p:sp>
      <p:sp>
        <p:nvSpPr>
          <p:cNvPr id="28" name="Text 26"/>
          <p:cNvSpPr/>
          <p:nvPr/>
        </p:nvSpPr>
        <p:spPr>
          <a:xfrm>
            <a:off x="5248656" y="2880360"/>
            <a:ext cx="3200400" cy="301752"/>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Human + machine + cloud service principals</a:t>
            </a:r>
            <a:endParaRPr lang="en-US" sz="850" dirty="0"/>
          </a:p>
        </p:txBody>
      </p:sp>
      <p:sp>
        <p:nvSpPr>
          <p:cNvPr id="29" name="Shape 27"/>
          <p:cNvSpPr/>
          <p:nvPr/>
        </p:nvSpPr>
        <p:spPr>
          <a:xfrm>
            <a:off x="228600" y="3182112"/>
            <a:ext cx="1645920" cy="301752"/>
          </a:xfrm>
          <a:prstGeom prst="rect">
            <a:avLst/>
          </a:prstGeom>
          <a:solidFill>
            <a:srgbClr val="FFFFFF"/>
          </a:solidFill>
          <a:ln w="6350">
            <a:solidFill>
              <a:srgbClr val="C8D8E0"/>
            </a:solidFill>
            <a:prstDash val="solid"/>
          </a:ln>
        </p:spPr>
        <p:txBody>
          <a:bodyPr/>
          <a:lstStyle/>
          <a:p>
            <a:endParaRPr lang="en-US"/>
          </a:p>
        </p:txBody>
      </p:sp>
      <p:sp>
        <p:nvSpPr>
          <p:cNvPr id="30" name="Text 28"/>
          <p:cNvSpPr/>
          <p:nvPr/>
        </p:nvSpPr>
        <p:spPr>
          <a:xfrm>
            <a:off x="274320" y="3182112"/>
            <a:ext cx="1554480" cy="301752"/>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Permission Model</a:t>
            </a:r>
            <a:endParaRPr lang="en-US" sz="850" dirty="0"/>
          </a:p>
        </p:txBody>
      </p:sp>
      <p:sp>
        <p:nvSpPr>
          <p:cNvPr id="31" name="Shape 29"/>
          <p:cNvSpPr/>
          <p:nvPr/>
        </p:nvSpPr>
        <p:spPr>
          <a:xfrm>
            <a:off x="1892808" y="3182112"/>
            <a:ext cx="3291840" cy="301752"/>
          </a:xfrm>
          <a:prstGeom prst="rect">
            <a:avLst/>
          </a:prstGeom>
          <a:solidFill>
            <a:srgbClr val="FFFFFF"/>
          </a:solidFill>
          <a:ln w="6350">
            <a:solidFill>
              <a:srgbClr val="C8D8E0"/>
            </a:solidFill>
            <a:prstDash val="solid"/>
          </a:ln>
        </p:spPr>
        <p:txBody>
          <a:bodyPr/>
          <a:lstStyle/>
          <a:p>
            <a:endParaRPr lang="en-US"/>
          </a:p>
        </p:txBody>
      </p:sp>
      <p:sp>
        <p:nvSpPr>
          <p:cNvPr id="32" name="Text 30"/>
          <p:cNvSpPr/>
          <p:nvPr/>
        </p:nvSpPr>
        <p:spPr>
          <a:xfrm>
            <a:off x="1938528" y="3182112"/>
            <a:ext cx="3200400" cy="301752"/>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Flat RBAC groups and entitlements</a:t>
            </a:r>
            <a:endParaRPr lang="en-US" sz="850" dirty="0"/>
          </a:p>
        </p:txBody>
      </p:sp>
      <p:sp>
        <p:nvSpPr>
          <p:cNvPr id="33" name="Shape 31"/>
          <p:cNvSpPr/>
          <p:nvPr/>
        </p:nvSpPr>
        <p:spPr>
          <a:xfrm>
            <a:off x="5202936" y="3182112"/>
            <a:ext cx="3291840" cy="301752"/>
          </a:xfrm>
          <a:prstGeom prst="rect">
            <a:avLst/>
          </a:prstGeom>
          <a:solidFill>
            <a:srgbClr val="FFFFFF"/>
          </a:solidFill>
          <a:ln w="6350">
            <a:solidFill>
              <a:srgbClr val="C8D8E0"/>
            </a:solidFill>
            <a:prstDash val="solid"/>
          </a:ln>
        </p:spPr>
        <p:txBody>
          <a:bodyPr/>
          <a:lstStyle/>
          <a:p>
            <a:endParaRPr lang="en-US"/>
          </a:p>
        </p:txBody>
      </p:sp>
      <p:sp>
        <p:nvSpPr>
          <p:cNvPr id="34" name="Text 32"/>
          <p:cNvSpPr/>
          <p:nvPr/>
        </p:nvSpPr>
        <p:spPr>
          <a:xfrm>
            <a:off x="5248656" y="3182112"/>
            <a:ext cx="3200400" cy="301752"/>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Policy-based; effective permissions analysis across nested policies</a:t>
            </a:r>
            <a:endParaRPr lang="en-US" sz="850" dirty="0"/>
          </a:p>
        </p:txBody>
      </p:sp>
      <p:sp>
        <p:nvSpPr>
          <p:cNvPr id="35" name="Shape 33"/>
          <p:cNvSpPr/>
          <p:nvPr/>
        </p:nvSpPr>
        <p:spPr>
          <a:xfrm>
            <a:off x="228600" y="3483864"/>
            <a:ext cx="1645920" cy="301752"/>
          </a:xfrm>
          <a:prstGeom prst="rect">
            <a:avLst/>
          </a:prstGeom>
          <a:solidFill>
            <a:srgbClr val="EEF8F0"/>
          </a:solidFill>
          <a:ln w="6350">
            <a:solidFill>
              <a:srgbClr val="C8D8E0"/>
            </a:solidFill>
            <a:prstDash val="solid"/>
          </a:ln>
        </p:spPr>
        <p:txBody>
          <a:bodyPr/>
          <a:lstStyle/>
          <a:p>
            <a:endParaRPr lang="en-US"/>
          </a:p>
        </p:txBody>
      </p:sp>
      <p:sp>
        <p:nvSpPr>
          <p:cNvPr id="36" name="Text 34"/>
          <p:cNvSpPr/>
          <p:nvPr/>
        </p:nvSpPr>
        <p:spPr>
          <a:xfrm>
            <a:off x="274320" y="3483864"/>
            <a:ext cx="1554480" cy="301752"/>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Least Privilege</a:t>
            </a:r>
            <a:endParaRPr lang="en-US" sz="850" dirty="0"/>
          </a:p>
        </p:txBody>
      </p:sp>
      <p:sp>
        <p:nvSpPr>
          <p:cNvPr id="37" name="Shape 35"/>
          <p:cNvSpPr/>
          <p:nvPr/>
        </p:nvSpPr>
        <p:spPr>
          <a:xfrm>
            <a:off x="1892808" y="3483864"/>
            <a:ext cx="3291840" cy="301752"/>
          </a:xfrm>
          <a:prstGeom prst="rect">
            <a:avLst/>
          </a:prstGeom>
          <a:solidFill>
            <a:srgbClr val="EEF8F0"/>
          </a:solidFill>
          <a:ln w="6350">
            <a:solidFill>
              <a:srgbClr val="C8D8E0"/>
            </a:solidFill>
            <a:prstDash val="solid"/>
          </a:ln>
        </p:spPr>
        <p:txBody>
          <a:bodyPr/>
          <a:lstStyle/>
          <a:p>
            <a:endParaRPr lang="en-US"/>
          </a:p>
        </p:txBody>
      </p:sp>
      <p:sp>
        <p:nvSpPr>
          <p:cNvPr id="38" name="Text 36"/>
          <p:cNvSpPr/>
          <p:nvPr/>
        </p:nvSpPr>
        <p:spPr>
          <a:xfrm>
            <a:off x="1938528" y="3483864"/>
            <a:ext cx="3200400" cy="301752"/>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Role certification removes unused roles</a:t>
            </a:r>
            <a:endParaRPr lang="en-US" sz="850" dirty="0"/>
          </a:p>
        </p:txBody>
      </p:sp>
      <p:sp>
        <p:nvSpPr>
          <p:cNvPr id="39" name="Shape 37"/>
          <p:cNvSpPr/>
          <p:nvPr/>
        </p:nvSpPr>
        <p:spPr>
          <a:xfrm>
            <a:off x="5202936" y="3483864"/>
            <a:ext cx="3291840" cy="301752"/>
          </a:xfrm>
          <a:prstGeom prst="rect">
            <a:avLst/>
          </a:prstGeom>
          <a:solidFill>
            <a:srgbClr val="EEF8F0"/>
          </a:solidFill>
          <a:ln w="6350">
            <a:solidFill>
              <a:srgbClr val="C8D8E0"/>
            </a:solidFill>
            <a:prstDash val="solid"/>
          </a:ln>
        </p:spPr>
        <p:txBody>
          <a:bodyPr/>
          <a:lstStyle/>
          <a:p>
            <a:endParaRPr lang="en-US"/>
          </a:p>
        </p:txBody>
      </p:sp>
      <p:sp>
        <p:nvSpPr>
          <p:cNvPr id="40" name="Text 38"/>
          <p:cNvSpPr/>
          <p:nvPr/>
        </p:nvSpPr>
        <p:spPr>
          <a:xfrm>
            <a:off x="5248656" y="3483864"/>
            <a:ext cx="3200400" cy="301752"/>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Permission analytics remove individual unused actions automatically</a:t>
            </a:r>
            <a:endParaRPr lang="en-US" sz="850" dirty="0"/>
          </a:p>
        </p:txBody>
      </p:sp>
      <p:sp>
        <p:nvSpPr>
          <p:cNvPr id="41" name="Shape 39"/>
          <p:cNvSpPr/>
          <p:nvPr/>
        </p:nvSpPr>
        <p:spPr>
          <a:xfrm>
            <a:off x="228600" y="3785616"/>
            <a:ext cx="1645920" cy="301752"/>
          </a:xfrm>
          <a:prstGeom prst="rect">
            <a:avLst/>
          </a:prstGeom>
          <a:solidFill>
            <a:srgbClr val="FFFFFF"/>
          </a:solidFill>
          <a:ln w="6350">
            <a:solidFill>
              <a:srgbClr val="C8D8E0"/>
            </a:solidFill>
            <a:prstDash val="solid"/>
          </a:ln>
        </p:spPr>
        <p:txBody>
          <a:bodyPr/>
          <a:lstStyle/>
          <a:p>
            <a:endParaRPr lang="en-US"/>
          </a:p>
        </p:txBody>
      </p:sp>
      <p:sp>
        <p:nvSpPr>
          <p:cNvPr id="42" name="Text 40"/>
          <p:cNvSpPr/>
          <p:nvPr/>
        </p:nvSpPr>
        <p:spPr>
          <a:xfrm>
            <a:off x="274320" y="3785616"/>
            <a:ext cx="1554480" cy="301752"/>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Discovery</a:t>
            </a:r>
            <a:endParaRPr lang="en-US" sz="850" dirty="0"/>
          </a:p>
        </p:txBody>
      </p:sp>
      <p:sp>
        <p:nvSpPr>
          <p:cNvPr id="43" name="Shape 41"/>
          <p:cNvSpPr/>
          <p:nvPr/>
        </p:nvSpPr>
        <p:spPr>
          <a:xfrm>
            <a:off x="1892808" y="3785616"/>
            <a:ext cx="3291840" cy="301752"/>
          </a:xfrm>
          <a:prstGeom prst="rect">
            <a:avLst/>
          </a:prstGeom>
          <a:solidFill>
            <a:srgbClr val="FFFFFF"/>
          </a:solidFill>
          <a:ln w="6350">
            <a:solidFill>
              <a:srgbClr val="C8D8E0"/>
            </a:solidFill>
            <a:prstDash val="solid"/>
          </a:ln>
        </p:spPr>
        <p:txBody>
          <a:bodyPr/>
          <a:lstStyle/>
          <a:p>
            <a:endParaRPr lang="en-US"/>
          </a:p>
        </p:txBody>
      </p:sp>
      <p:sp>
        <p:nvSpPr>
          <p:cNvPr id="44" name="Text 42"/>
          <p:cNvSpPr/>
          <p:nvPr/>
        </p:nvSpPr>
        <p:spPr>
          <a:xfrm>
            <a:off x="1938528" y="3785616"/>
            <a:ext cx="3200400" cy="301752"/>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Connector-based; manual enrollment required</a:t>
            </a:r>
            <a:endParaRPr lang="en-US" sz="850" dirty="0"/>
          </a:p>
        </p:txBody>
      </p:sp>
      <p:sp>
        <p:nvSpPr>
          <p:cNvPr id="45" name="Shape 43"/>
          <p:cNvSpPr/>
          <p:nvPr/>
        </p:nvSpPr>
        <p:spPr>
          <a:xfrm>
            <a:off x="5202936" y="3785616"/>
            <a:ext cx="3291840" cy="301752"/>
          </a:xfrm>
          <a:prstGeom prst="rect">
            <a:avLst/>
          </a:prstGeom>
          <a:solidFill>
            <a:srgbClr val="FFFFFF"/>
          </a:solidFill>
          <a:ln w="6350">
            <a:solidFill>
              <a:srgbClr val="C8D8E0"/>
            </a:solidFill>
            <a:prstDash val="solid"/>
          </a:ln>
        </p:spPr>
        <p:txBody>
          <a:bodyPr/>
          <a:lstStyle/>
          <a:p>
            <a:endParaRPr lang="en-US"/>
          </a:p>
        </p:txBody>
      </p:sp>
      <p:sp>
        <p:nvSpPr>
          <p:cNvPr id="46" name="Text 44"/>
          <p:cNvSpPr/>
          <p:nvPr/>
        </p:nvSpPr>
        <p:spPr>
          <a:xfrm>
            <a:off x="5248656" y="3785616"/>
            <a:ext cx="3200400" cy="301752"/>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Continuous discovery across all accounts; no enrollment required</a:t>
            </a:r>
            <a:endParaRPr lang="en-US" sz="850" dirty="0"/>
          </a:p>
        </p:txBody>
      </p:sp>
      <p:sp>
        <p:nvSpPr>
          <p:cNvPr id="47" name="Shape 45"/>
          <p:cNvSpPr/>
          <p:nvPr/>
        </p:nvSpPr>
        <p:spPr>
          <a:xfrm>
            <a:off x="228600" y="4087368"/>
            <a:ext cx="1645920" cy="301752"/>
          </a:xfrm>
          <a:prstGeom prst="rect">
            <a:avLst/>
          </a:prstGeom>
          <a:solidFill>
            <a:srgbClr val="EEF8F0"/>
          </a:solidFill>
          <a:ln w="6350">
            <a:solidFill>
              <a:srgbClr val="C8D8E0"/>
            </a:solidFill>
            <a:prstDash val="solid"/>
          </a:ln>
        </p:spPr>
        <p:txBody>
          <a:bodyPr/>
          <a:lstStyle/>
          <a:p>
            <a:endParaRPr lang="en-US"/>
          </a:p>
        </p:txBody>
      </p:sp>
      <p:sp>
        <p:nvSpPr>
          <p:cNvPr id="48" name="Text 46"/>
          <p:cNvSpPr/>
          <p:nvPr/>
        </p:nvSpPr>
        <p:spPr>
          <a:xfrm>
            <a:off x="274320" y="4087368"/>
            <a:ext cx="1554480" cy="301752"/>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Cloud Governance</a:t>
            </a:r>
            <a:endParaRPr lang="en-US" sz="850" dirty="0"/>
          </a:p>
        </p:txBody>
      </p:sp>
      <p:sp>
        <p:nvSpPr>
          <p:cNvPr id="49" name="Shape 47"/>
          <p:cNvSpPr/>
          <p:nvPr/>
        </p:nvSpPr>
        <p:spPr>
          <a:xfrm>
            <a:off x="1892808" y="4087368"/>
            <a:ext cx="3291840" cy="301752"/>
          </a:xfrm>
          <a:prstGeom prst="rect">
            <a:avLst/>
          </a:prstGeom>
          <a:solidFill>
            <a:srgbClr val="EEF8F0"/>
          </a:solidFill>
          <a:ln w="6350">
            <a:solidFill>
              <a:srgbClr val="C8D8E0"/>
            </a:solidFill>
            <a:prstDash val="solid"/>
          </a:ln>
        </p:spPr>
        <p:txBody>
          <a:bodyPr/>
          <a:lstStyle/>
          <a:p>
            <a:endParaRPr lang="en-US"/>
          </a:p>
        </p:txBody>
      </p:sp>
      <p:sp>
        <p:nvSpPr>
          <p:cNvPr id="50" name="Text 48"/>
          <p:cNvSpPr/>
          <p:nvPr/>
        </p:nvSpPr>
        <p:spPr>
          <a:xfrm>
            <a:off x="1938528" y="4087368"/>
            <a:ext cx="3200400" cy="301752"/>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Limited; AWS/Azure connector with flat group sync</a:t>
            </a:r>
            <a:endParaRPr lang="en-US" sz="850" dirty="0"/>
          </a:p>
        </p:txBody>
      </p:sp>
      <p:sp>
        <p:nvSpPr>
          <p:cNvPr id="51" name="Shape 49"/>
          <p:cNvSpPr/>
          <p:nvPr/>
        </p:nvSpPr>
        <p:spPr>
          <a:xfrm>
            <a:off x="5202936" y="4087368"/>
            <a:ext cx="3291840" cy="301752"/>
          </a:xfrm>
          <a:prstGeom prst="rect">
            <a:avLst/>
          </a:prstGeom>
          <a:solidFill>
            <a:srgbClr val="EEF8F0"/>
          </a:solidFill>
          <a:ln w="6350">
            <a:solidFill>
              <a:srgbClr val="C8D8E0"/>
            </a:solidFill>
            <a:prstDash val="solid"/>
          </a:ln>
        </p:spPr>
        <p:txBody>
          <a:bodyPr/>
          <a:lstStyle/>
          <a:p>
            <a:endParaRPr lang="en-US"/>
          </a:p>
        </p:txBody>
      </p:sp>
      <p:sp>
        <p:nvSpPr>
          <p:cNvPr id="52" name="Text 50"/>
          <p:cNvSpPr/>
          <p:nvPr/>
        </p:nvSpPr>
        <p:spPr>
          <a:xfrm>
            <a:off x="5248656" y="4087368"/>
            <a:ext cx="3200400" cy="301752"/>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Native; resolves SCPs, trust policies, permission boundaries, conditions</a:t>
            </a:r>
            <a:endParaRPr lang="en-US" sz="850" dirty="0"/>
          </a:p>
        </p:txBody>
      </p:sp>
      <p:sp>
        <p:nvSpPr>
          <p:cNvPr id="53" name="Shape 51"/>
          <p:cNvSpPr/>
          <p:nvPr/>
        </p:nvSpPr>
        <p:spPr>
          <a:xfrm>
            <a:off x="228600" y="4389120"/>
            <a:ext cx="1645920" cy="301752"/>
          </a:xfrm>
          <a:prstGeom prst="rect">
            <a:avLst/>
          </a:prstGeom>
          <a:solidFill>
            <a:srgbClr val="FFFFFF"/>
          </a:solidFill>
          <a:ln w="6350">
            <a:solidFill>
              <a:srgbClr val="C8D8E0"/>
            </a:solidFill>
            <a:prstDash val="solid"/>
          </a:ln>
        </p:spPr>
        <p:txBody>
          <a:bodyPr/>
          <a:lstStyle/>
          <a:p>
            <a:endParaRPr lang="en-US"/>
          </a:p>
        </p:txBody>
      </p:sp>
      <p:sp>
        <p:nvSpPr>
          <p:cNvPr id="54" name="Text 52"/>
          <p:cNvSpPr/>
          <p:nvPr/>
        </p:nvSpPr>
        <p:spPr>
          <a:xfrm>
            <a:off x="274320" y="4389120"/>
            <a:ext cx="1554480" cy="301752"/>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Machine Identities</a:t>
            </a:r>
            <a:endParaRPr lang="en-US" sz="850" dirty="0"/>
          </a:p>
        </p:txBody>
      </p:sp>
      <p:sp>
        <p:nvSpPr>
          <p:cNvPr id="55" name="Shape 53"/>
          <p:cNvSpPr/>
          <p:nvPr/>
        </p:nvSpPr>
        <p:spPr>
          <a:xfrm>
            <a:off x="1892808" y="4389120"/>
            <a:ext cx="3291840" cy="301752"/>
          </a:xfrm>
          <a:prstGeom prst="rect">
            <a:avLst/>
          </a:prstGeom>
          <a:solidFill>
            <a:srgbClr val="FFFFFF"/>
          </a:solidFill>
          <a:ln w="6350">
            <a:solidFill>
              <a:srgbClr val="C8D8E0"/>
            </a:solidFill>
            <a:prstDash val="solid"/>
          </a:ln>
        </p:spPr>
        <p:txBody>
          <a:bodyPr/>
          <a:lstStyle/>
          <a:p>
            <a:endParaRPr lang="en-US"/>
          </a:p>
        </p:txBody>
      </p:sp>
      <p:sp>
        <p:nvSpPr>
          <p:cNvPr id="56" name="Text 54"/>
          <p:cNvSpPr/>
          <p:nvPr/>
        </p:nvSpPr>
        <p:spPr>
          <a:xfrm>
            <a:off x="1938528" y="4389120"/>
            <a:ext cx="3200400" cy="301752"/>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Not typically governed</a:t>
            </a:r>
            <a:endParaRPr lang="en-US" sz="850" dirty="0"/>
          </a:p>
        </p:txBody>
      </p:sp>
      <p:sp>
        <p:nvSpPr>
          <p:cNvPr id="57" name="Shape 55"/>
          <p:cNvSpPr/>
          <p:nvPr/>
        </p:nvSpPr>
        <p:spPr>
          <a:xfrm>
            <a:off x="5202936" y="4389120"/>
            <a:ext cx="3291840" cy="301752"/>
          </a:xfrm>
          <a:prstGeom prst="rect">
            <a:avLst/>
          </a:prstGeom>
          <a:solidFill>
            <a:srgbClr val="FFFFFF"/>
          </a:solidFill>
          <a:ln w="6350">
            <a:solidFill>
              <a:srgbClr val="C8D8E0"/>
            </a:solidFill>
            <a:prstDash val="solid"/>
          </a:ln>
        </p:spPr>
        <p:txBody>
          <a:bodyPr/>
          <a:lstStyle/>
          <a:p>
            <a:endParaRPr lang="en-US"/>
          </a:p>
        </p:txBody>
      </p:sp>
      <p:sp>
        <p:nvSpPr>
          <p:cNvPr id="58" name="Text 56"/>
          <p:cNvSpPr/>
          <p:nvPr/>
        </p:nvSpPr>
        <p:spPr>
          <a:xfrm>
            <a:off x="5248656" y="4389120"/>
            <a:ext cx="3200400" cy="301752"/>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Full lifecycle governance for EC2 profiles, Lambda roles, K8s SAs</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3C5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D7D46"/>
          </a:solidFill>
          <a:ln w="12700">
            <a:solidFill>
              <a:srgbClr val="2D7D46"/>
            </a:solidFill>
            <a:prstDash val="solid"/>
          </a:ln>
        </p:spPr>
        <p:txBody>
          <a:bodyPr/>
          <a:lstStyle/>
          <a:p>
            <a:endParaRPr lang="en-US"/>
          </a:p>
        </p:txBody>
      </p:sp>
      <p:sp>
        <p:nvSpPr>
          <p:cNvPr id="3" name="Text 1"/>
          <p:cNvSpPr/>
          <p:nvPr/>
        </p:nvSpPr>
        <p:spPr>
          <a:xfrm>
            <a:off x="6858000" y="731520"/>
            <a:ext cx="2103120" cy="2560320"/>
          </a:xfrm>
          <a:prstGeom prst="rect">
            <a:avLst/>
          </a:prstGeom>
          <a:noFill/>
          <a:ln/>
        </p:spPr>
        <p:txBody>
          <a:bodyPr wrap="square" lIns="0" tIns="0" rIns="0" bIns="0" rtlCol="0" anchor="ctr"/>
          <a:lstStyle/>
          <a:p>
            <a:pPr marL="0" indent="0" algn="r">
              <a:buNone/>
            </a:pPr>
            <a:r>
              <a:rPr lang="en-US" sz="14000" b="1" dirty="0">
                <a:solidFill>
                  <a:srgbClr val="1A4A30"/>
                </a:solidFill>
                <a:latin typeface="Calibri" pitchFamily="34" charset="0"/>
                <a:ea typeface="Calibri" pitchFamily="34" charset="-122"/>
                <a:cs typeface="Calibri" pitchFamily="34" charset="-120"/>
              </a:rPr>
              <a:t>08</a:t>
            </a:r>
            <a:endParaRPr lang="en-US" sz="14000" dirty="0"/>
          </a:p>
        </p:txBody>
      </p:sp>
      <p:sp>
        <p:nvSpPr>
          <p:cNvPr id="4" name="Text 2"/>
          <p:cNvSpPr/>
          <p:nvPr/>
        </p:nvSpPr>
        <p:spPr>
          <a:xfrm>
            <a:off x="320040" y="1600200"/>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Identity Analytics</a:t>
            </a:r>
            <a:endParaRPr lang="en-US" sz="3000" dirty="0"/>
          </a:p>
        </p:txBody>
      </p:sp>
      <p:sp>
        <p:nvSpPr>
          <p:cNvPr id="5" name="Shape 3"/>
          <p:cNvSpPr/>
          <p:nvPr/>
        </p:nvSpPr>
        <p:spPr>
          <a:xfrm>
            <a:off x="320040" y="2468880"/>
            <a:ext cx="6217920" cy="0"/>
          </a:xfrm>
          <a:prstGeom prst="line">
            <a:avLst/>
          </a:prstGeom>
          <a:noFill/>
          <a:ln w="6350">
            <a:solidFill>
              <a:srgbClr val="8BAAC2"/>
            </a:solidFill>
            <a:prstDash val="solid"/>
          </a:ln>
        </p:spPr>
        <p:txBody>
          <a:bodyPr/>
          <a:lstStyle/>
          <a:p>
            <a:endParaRPr lang="en-US"/>
          </a:p>
        </p:txBody>
      </p:sp>
      <p:sp>
        <p:nvSpPr>
          <p:cNvPr id="6" name="Text 4"/>
          <p:cNvSpPr/>
          <p:nvPr/>
        </p:nvSpPr>
        <p:spPr>
          <a:xfrm>
            <a:off x="320040" y="2542032"/>
            <a:ext cx="6400800" cy="457200"/>
          </a:xfrm>
          <a:prstGeom prst="rect">
            <a:avLst/>
          </a:prstGeom>
          <a:noFill/>
          <a:ln/>
        </p:spPr>
        <p:txBody>
          <a:bodyPr wrap="square" lIns="0" tIns="0" rIns="0" bIns="0" rtlCol="0" anchor="ctr"/>
          <a:lstStyle/>
          <a:p>
            <a:pPr marL="0" indent="0">
              <a:buNone/>
            </a:pPr>
            <a:r>
              <a:rPr lang="en-US" sz="1400" i="1" dirty="0">
                <a:solidFill>
                  <a:srgbClr val="C9DDE8"/>
                </a:solidFill>
                <a:latin typeface="Calibri" pitchFamily="34" charset="0"/>
                <a:ea typeface="Calibri" pitchFamily="34" charset="-122"/>
                <a:cs typeface="Calibri" pitchFamily="34" charset="-120"/>
              </a:rPr>
              <a:t>Risk scoring, peer group analysis, AI-driven certification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C5E"/>
          </a:solidFill>
          <a:ln w="12700">
            <a:solidFill>
              <a:srgbClr val="1A3C5E"/>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Identity Analytics and AI-Driven Governance</a:t>
            </a:r>
            <a:endParaRPr lang="en-US" sz="1900" dirty="0"/>
          </a:p>
        </p:txBody>
      </p:sp>
      <p:sp>
        <p:nvSpPr>
          <p:cNvPr id="4" name="Shape 2"/>
          <p:cNvSpPr/>
          <p:nvPr/>
        </p:nvSpPr>
        <p:spPr>
          <a:xfrm>
            <a:off x="228600" y="804672"/>
            <a:ext cx="4206240" cy="2011680"/>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5" name="Shape 3"/>
          <p:cNvSpPr/>
          <p:nvPr/>
        </p:nvSpPr>
        <p:spPr>
          <a:xfrm>
            <a:off x="228600" y="804672"/>
            <a:ext cx="4206240" cy="365760"/>
          </a:xfrm>
          <a:prstGeom prst="rect">
            <a:avLst/>
          </a:prstGeom>
          <a:solidFill>
            <a:srgbClr val="1A3C5E"/>
          </a:solidFill>
          <a:ln w="12700">
            <a:solidFill>
              <a:srgbClr val="1A3C5E"/>
            </a:solidFill>
            <a:prstDash val="solid"/>
          </a:ln>
        </p:spPr>
        <p:txBody>
          <a:bodyPr/>
          <a:lstStyle/>
          <a:p>
            <a:endParaRPr lang="en-US"/>
          </a:p>
        </p:txBody>
      </p:sp>
      <p:sp>
        <p:nvSpPr>
          <p:cNvPr id="6" name="Text 4"/>
          <p:cNvSpPr/>
          <p:nvPr/>
        </p:nvSpPr>
        <p:spPr>
          <a:xfrm>
            <a:off x="320040" y="804672"/>
            <a:ext cx="402336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Access Risk Scoring</a:t>
            </a:r>
            <a:endParaRPr lang="en-US" sz="1200" dirty="0"/>
          </a:p>
        </p:txBody>
      </p:sp>
      <p:sp>
        <p:nvSpPr>
          <p:cNvPr id="7" name="Text 5"/>
          <p:cNvSpPr/>
          <p:nvPr/>
        </p:nvSpPr>
        <p:spPr>
          <a:xfrm>
            <a:off x="338328" y="1243584"/>
            <a:ext cx="3986784" cy="347472"/>
          </a:xfrm>
          <a:prstGeom prst="rect">
            <a:avLst/>
          </a:prstGeom>
          <a:noFill/>
          <a:ln/>
        </p:spPr>
        <p:txBody>
          <a:bodyPr wrap="square" lIns="0" tIns="0" rIns="0" bIns="0" rtlCol="0" anchor="ctr"/>
          <a:lstStyle/>
          <a:p>
            <a:pPr marL="0" indent="0">
              <a:buNone/>
            </a:pPr>
            <a:r>
              <a:rPr lang="en-US" sz="950" b="1" dirty="0">
                <a:solidFill>
                  <a:srgbClr val="1A3C5E"/>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Each entitlement scored by system criticality and data sensitivity</a:t>
            </a:r>
            <a:endParaRPr lang="en-US" sz="950" dirty="0"/>
          </a:p>
        </p:txBody>
      </p:sp>
      <p:sp>
        <p:nvSpPr>
          <p:cNvPr id="8" name="Text 6"/>
          <p:cNvSpPr/>
          <p:nvPr/>
        </p:nvSpPr>
        <p:spPr>
          <a:xfrm>
            <a:off x="338328" y="1627632"/>
            <a:ext cx="3986784" cy="347472"/>
          </a:xfrm>
          <a:prstGeom prst="rect">
            <a:avLst/>
          </a:prstGeom>
          <a:noFill/>
          <a:ln/>
        </p:spPr>
        <p:txBody>
          <a:bodyPr wrap="square" lIns="0" tIns="0" rIns="0" bIns="0" rtlCol="0" anchor="ctr"/>
          <a:lstStyle/>
          <a:p>
            <a:pPr marL="0" indent="0">
              <a:buNone/>
            </a:pPr>
            <a:r>
              <a:rPr lang="en-US" sz="950" b="1" dirty="0">
                <a:solidFill>
                  <a:srgbClr val="1A3C5E"/>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User aggregate risk score = sum of held entitlement risks</a:t>
            </a:r>
            <a:endParaRPr lang="en-US" sz="950" dirty="0"/>
          </a:p>
        </p:txBody>
      </p:sp>
      <p:sp>
        <p:nvSpPr>
          <p:cNvPr id="9" name="Text 7"/>
          <p:cNvSpPr/>
          <p:nvPr/>
        </p:nvSpPr>
        <p:spPr>
          <a:xfrm>
            <a:off x="338328" y="2011680"/>
            <a:ext cx="3986784" cy="347472"/>
          </a:xfrm>
          <a:prstGeom prst="rect">
            <a:avLst/>
          </a:prstGeom>
          <a:noFill/>
          <a:ln/>
        </p:spPr>
        <p:txBody>
          <a:bodyPr wrap="square" lIns="0" tIns="0" rIns="0" bIns="0" rtlCol="0" anchor="ctr"/>
          <a:lstStyle/>
          <a:p>
            <a:pPr marL="0" indent="0">
              <a:buNone/>
            </a:pPr>
            <a:r>
              <a:rPr lang="en-US" sz="950" b="1" dirty="0">
                <a:solidFill>
                  <a:srgbClr val="1A3C5E"/>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Risk dashboard prioritizes remediation for highest-risk identities</a:t>
            </a:r>
            <a:endParaRPr lang="en-US" sz="950" dirty="0"/>
          </a:p>
        </p:txBody>
      </p:sp>
      <p:sp>
        <p:nvSpPr>
          <p:cNvPr id="10" name="Text 8"/>
          <p:cNvSpPr/>
          <p:nvPr/>
        </p:nvSpPr>
        <p:spPr>
          <a:xfrm>
            <a:off x="338328" y="2395728"/>
            <a:ext cx="3986784" cy="347472"/>
          </a:xfrm>
          <a:prstGeom prst="rect">
            <a:avLst/>
          </a:prstGeom>
          <a:noFill/>
          <a:ln/>
        </p:spPr>
        <p:txBody>
          <a:bodyPr wrap="square" lIns="0" tIns="0" rIns="0" bIns="0" rtlCol="0" anchor="ctr"/>
          <a:lstStyle/>
          <a:p>
            <a:pPr marL="0" indent="0">
              <a:buNone/>
            </a:pPr>
            <a:r>
              <a:rPr lang="en-US" sz="950" b="1" dirty="0">
                <a:solidFill>
                  <a:srgbClr val="1A3C5E"/>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Drives risk-tiered certification frequency: monthly / quarterly / annual</a:t>
            </a:r>
            <a:endParaRPr lang="en-US" sz="950" dirty="0"/>
          </a:p>
        </p:txBody>
      </p:sp>
      <p:sp>
        <p:nvSpPr>
          <p:cNvPr id="11" name="Shape 9"/>
          <p:cNvSpPr/>
          <p:nvPr/>
        </p:nvSpPr>
        <p:spPr>
          <a:xfrm>
            <a:off x="4617720" y="804672"/>
            <a:ext cx="4206240" cy="2011680"/>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12" name="Shape 10"/>
          <p:cNvSpPr/>
          <p:nvPr/>
        </p:nvSpPr>
        <p:spPr>
          <a:xfrm>
            <a:off x="4617720" y="804672"/>
            <a:ext cx="4206240" cy="365760"/>
          </a:xfrm>
          <a:prstGeom prst="rect">
            <a:avLst/>
          </a:prstGeom>
          <a:solidFill>
            <a:srgbClr val="2D7D46"/>
          </a:solidFill>
          <a:ln w="12700">
            <a:solidFill>
              <a:srgbClr val="2D7D46"/>
            </a:solidFill>
            <a:prstDash val="solid"/>
          </a:ln>
        </p:spPr>
        <p:txBody>
          <a:bodyPr/>
          <a:lstStyle/>
          <a:p>
            <a:endParaRPr lang="en-US"/>
          </a:p>
        </p:txBody>
      </p:sp>
      <p:sp>
        <p:nvSpPr>
          <p:cNvPr id="13" name="Text 11"/>
          <p:cNvSpPr/>
          <p:nvPr/>
        </p:nvSpPr>
        <p:spPr>
          <a:xfrm>
            <a:off x="4709160" y="804672"/>
            <a:ext cx="402336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Peer Group Analysis</a:t>
            </a:r>
            <a:endParaRPr lang="en-US" sz="1200" dirty="0"/>
          </a:p>
        </p:txBody>
      </p:sp>
      <p:sp>
        <p:nvSpPr>
          <p:cNvPr id="14" name="Text 12"/>
          <p:cNvSpPr/>
          <p:nvPr/>
        </p:nvSpPr>
        <p:spPr>
          <a:xfrm>
            <a:off x="4727448" y="1243584"/>
            <a:ext cx="3986784" cy="347472"/>
          </a:xfrm>
          <a:prstGeom prst="rect">
            <a:avLst/>
          </a:prstGeom>
          <a:noFill/>
          <a:ln/>
        </p:spPr>
        <p:txBody>
          <a:bodyPr wrap="square" lIns="0" tIns="0" rIns="0" bIns="0" rtlCol="0" anchor="ctr"/>
          <a:lstStyle/>
          <a:p>
            <a:pPr marL="0" indent="0">
              <a:buNone/>
            </a:pPr>
            <a:r>
              <a:rPr lang="en-US" sz="950" b="1" dirty="0">
                <a:solidFill>
                  <a:srgbClr val="2D7D4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Compares user access against cohort: same title, dept, location</a:t>
            </a:r>
            <a:endParaRPr lang="en-US" sz="950" dirty="0"/>
          </a:p>
        </p:txBody>
      </p:sp>
      <p:sp>
        <p:nvSpPr>
          <p:cNvPr id="15" name="Text 13"/>
          <p:cNvSpPr/>
          <p:nvPr/>
        </p:nvSpPr>
        <p:spPr>
          <a:xfrm>
            <a:off x="4727448" y="1627632"/>
            <a:ext cx="3986784" cy="347472"/>
          </a:xfrm>
          <a:prstGeom prst="rect">
            <a:avLst/>
          </a:prstGeom>
          <a:noFill/>
          <a:ln/>
        </p:spPr>
        <p:txBody>
          <a:bodyPr wrap="square" lIns="0" tIns="0" rIns="0" bIns="0" rtlCol="0" anchor="ctr"/>
          <a:lstStyle/>
          <a:p>
            <a:pPr marL="0" indent="0">
              <a:buNone/>
            </a:pPr>
            <a:r>
              <a:rPr lang="en-US" sz="950" b="1" dirty="0">
                <a:solidFill>
                  <a:srgbClr val="2D7D4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Outlier entitlements (held by &lt;5% of peers) flagged as anomalous</a:t>
            </a:r>
            <a:endParaRPr lang="en-US" sz="950" dirty="0"/>
          </a:p>
        </p:txBody>
      </p:sp>
      <p:sp>
        <p:nvSpPr>
          <p:cNvPr id="16" name="Text 14"/>
          <p:cNvSpPr/>
          <p:nvPr/>
        </p:nvSpPr>
        <p:spPr>
          <a:xfrm>
            <a:off x="4727448" y="2011680"/>
            <a:ext cx="3986784" cy="347472"/>
          </a:xfrm>
          <a:prstGeom prst="rect">
            <a:avLst/>
          </a:prstGeom>
          <a:noFill/>
          <a:ln/>
        </p:spPr>
        <p:txBody>
          <a:bodyPr wrap="square" lIns="0" tIns="0" rIns="0" bIns="0" rtlCol="0" anchor="ctr"/>
          <a:lstStyle/>
          <a:p>
            <a:pPr marL="0" indent="0">
              <a:buNone/>
            </a:pPr>
            <a:r>
              <a:rPr lang="en-US" sz="950" b="1" dirty="0">
                <a:solidFill>
                  <a:srgbClr val="2D7D4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Drives AI revoke recommendations in certification campaigns</a:t>
            </a:r>
            <a:endParaRPr lang="en-US" sz="950" dirty="0"/>
          </a:p>
        </p:txBody>
      </p:sp>
      <p:sp>
        <p:nvSpPr>
          <p:cNvPr id="17" name="Text 15"/>
          <p:cNvSpPr/>
          <p:nvPr/>
        </p:nvSpPr>
        <p:spPr>
          <a:xfrm>
            <a:off x="4727448" y="2395728"/>
            <a:ext cx="3986784" cy="347472"/>
          </a:xfrm>
          <a:prstGeom prst="rect">
            <a:avLst/>
          </a:prstGeom>
          <a:noFill/>
          <a:ln/>
        </p:spPr>
        <p:txBody>
          <a:bodyPr wrap="square" lIns="0" tIns="0" rIns="0" bIns="0" rtlCol="0" anchor="ctr"/>
          <a:lstStyle/>
          <a:p>
            <a:pPr marL="0" indent="0">
              <a:buNone/>
            </a:pPr>
            <a:r>
              <a:rPr lang="en-US" sz="950" b="1" dirty="0">
                <a:solidFill>
                  <a:srgbClr val="2D7D4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Detects access creep invisible to static SoD rule engines</a:t>
            </a:r>
            <a:endParaRPr lang="en-US" sz="950" dirty="0"/>
          </a:p>
        </p:txBody>
      </p:sp>
      <p:sp>
        <p:nvSpPr>
          <p:cNvPr id="18" name="Shape 16"/>
          <p:cNvSpPr/>
          <p:nvPr/>
        </p:nvSpPr>
        <p:spPr>
          <a:xfrm>
            <a:off x="228600" y="2953512"/>
            <a:ext cx="4206240" cy="2011680"/>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19" name="Shape 17"/>
          <p:cNvSpPr/>
          <p:nvPr/>
        </p:nvSpPr>
        <p:spPr>
          <a:xfrm>
            <a:off x="228600" y="2953512"/>
            <a:ext cx="4206240" cy="365760"/>
          </a:xfrm>
          <a:prstGeom prst="rect">
            <a:avLst/>
          </a:prstGeom>
          <a:solidFill>
            <a:srgbClr val="D97706"/>
          </a:solidFill>
          <a:ln w="12700">
            <a:solidFill>
              <a:srgbClr val="D97706"/>
            </a:solidFill>
            <a:prstDash val="solid"/>
          </a:ln>
        </p:spPr>
        <p:txBody>
          <a:bodyPr/>
          <a:lstStyle/>
          <a:p>
            <a:endParaRPr lang="en-US"/>
          </a:p>
        </p:txBody>
      </p:sp>
      <p:sp>
        <p:nvSpPr>
          <p:cNvPr id="20" name="Text 18"/>
          <p:cNvSpPr/>
          <p:nvPr/>
        </p:nvSpPr>
        <p:spPr>
          <a:xfrm>
            <a:off x="320040" y="2953512"/>
            <a:ext cx="402336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Usage Analytics</a:t>
            </a:r>
            <a:endParaRPr lang="en-US" sz="1200" dirty="0"/>
          </a:p>
        </p:txBody>
      </p:sp>
      <p:sp>
        <p:nvSpPr>
          <p:cNvPr id="21" name="Text 19"/>
          <p:cNvSpPr/>
          <p:nvPr/>
        </p:nvSpPr>
        <p:spPr>
          <a:xfrm>
            <a:off x="338328" y="3392424"/>
            <a:ext cx="3986784" cy="347472"/>
          </a:xfrm>
          <a:prstGeom prst="rect">
            <a:avLst/>
          </a:prstGeom>
          <a:noFill/>
          <a:ln/>
        </p:spPr>
        <p:txBody>
          <a:bodyPr wrap="square" lIns="0" tIns="0" rIns="0" bIns="0" rtlCol="0" anchor="ctr"/>
          <a:lstStyle/>
          <a:p>
            <a:pPr marL="0" indent="0">
              <a:buNone/>
            </a:pPr>
            <a:r>
              <a:rPr lang="en-US" sz="950" b="1" dirty="0">
                <a:solidFill>
                  <a:srgbClr val="D9770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Integrates application access logs and SIEM authentication events</a:t>
            </a:r>
            <a:endParaRPr lang="en-US" sz="950" dirty="0"/>
          </a:p>
        </p:txBody>
      </p:sp>
      <p:sp>
        <p:nvSpPr>
          <p:cNvPr id="22" name="Text 20"/>
          <p:cNvSpPr/>
          <p:nvPr/>
        </p:nvSpPr>
        <p:spPr>
          <a:xfrm>
            <a:off x="338328" y="3776472"/>
            <a:ext cx="3986784" cy="347472"/>
          </a:xfrm>
          <a:prstGeom prst="rect">
            <a:avLst/>
          </a:prstGeom>
          <a:noFill/>
          <a:ln/>
        </p:spPr>
        <p:txBody>
          <a:bodyPr wrap="square" lIns="0" tIns="0" rIns="0" bIns="0" rtlCol="0" anchor="ctr"/>
          <a:lstStyle/>
          <a:p>
            <a:pPr marL="0" indent="0">
              <a:buNone/>
            </a:pPr>
            <a:r>
              <a:rPr lang="en-US" sz="950" b="1" dirty="0">
                <a:solidFill>
                  <a:srgbClr val="D9770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90-day lookback: entitlements with zero access events flagged</a:t>
            </a:r>
            <a:endParaRPr lang="en-US" sz="950" dirty="0"/>
          </a:p>
        </p:txBody>
      </p:sp>
      <p:sp>
        <p:nvSpPr>
          <p:cNvPr id="23" name="Text 21"/>
          <p:cNvSpPr/>
          <p:nvPr/>
        </p:nvSpPr>
        <p:spPr>
          <a:xfrm>
            <a:off x="338328" y="4160520"/>
            <a:ext cx="3986784" cy="347472"/>
          </a:xfrm>
          <a:prstGeom prst="rect">
            <a:avLst/>
          </a:prstGeom>
          <a:noFill/>
          <a:ln/>
        </p:spPr>
        <p:txBody>
          <a:bodyPr wrap="square" lIns="0" tIns="0" rIns="0" bIns="0" rtlCol="0" anchor="ctr"/>
          <a:lstStyle/>
          <a:p>
            <a:pPr marL="0" indent="0">
              <a:buNone/>
            </a:pPr>
            <a:r>
              <a:rPr lang="en-US" sz="950" b="1" dirty="0">
                <a:solidFill>
                  <a:srgbClr val="D9770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Data-driven revocation evidence for reviewers</a:t>
            </a:r>
            <a:endParaRPr lang="en-US" sz="950" dirty="0"/>
          </a:p>
        </p:txBody>
      </p:sp>
      <p:sp>
        <p:nvSpPr>
          <p:cNvPr id="24" name="Text 22"/>
          <p:cNvSpPr/>
          <p:nvPr/>
        </p:nvSpPr>
        <p:spPr>
          <a:xfrm>
            <a:off x="338328" y="4544568"/>
            <a:ext cx="3986784" cy="347472"/>
          </a:xfrm>
          <a:prstGeom prst="rect">
            <a:avLst/>
          </a:prstGeom>
          <a:noFill/>
          <a:ln/>
        </p:spPr>
        <p:txBody>
          <a:bodyPr wrap="square" lIns="0" tIns="0" rIns="0" bIns="0" rtlCol="0" anchor="ctr"/>
          <a:lstStyle/>
          <a:p>
            <a:pPr marL="0" indent="0">
              <a:buNone/>
            </a:pPr>
            <a:r>
              <a:rPr lang="en-US" sz="950" b="1" dirty="0">
                <a:solidFill>
                  <a:srgbClr val="D9770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Least-privilege enforcement via remove-if-not-used policy</a:t>
            </a:r>
            <a:endParaRPr lang="en-US" sz="950" dirty="0"/>
          </a:p>
        </p:txBody>
      </p:sp>
      <p:sp>
        <p:nvSpPr>
          <p:cNvPr id="25" name="Shape 23"/>
          <p:cNvSpPr/>
          <p:nvPr/>
        </p:nvSpPr>
        <p:spPr>
          <a:xfrm>
            <a:off x="4617720" y="2953512"/>
            <a:ext cx="4206240" cy="2011680"/>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26" name="Shape 24"/>
          <p:cNvSpPr/>
          <p:nvPr/>
        </p:nvSpPr>
        <p:spPr>
          <a:xfrm>
            <a:off x="4617720" y="2953512"/>
            <a:ext cx="4206240" cy="365760"/>
          </a:xfrm>
          <a:prstGeom prst="rect">
            <a:avLst/>
          </a:prstGeom>
          <a:solidFill>
            <a:srgbClr val="6B21A8"/>
          </a:solidFill>
          <a:ln w="12700">
            <a:solidFill>
              <a:srgbClr val="6B21A8"/>
            </a:solidFill>
            <a:prstDash val="solid"/>
          </a:ln>
        </p:spPr>
        <p:txBody>
          <a:bodyPr/>
          <a:lstStyle/>
          <a:p>
            <a:endParaRPr lang="en-US"/>
          </a:p>
        </p:txBody>
      </p:sp>
      <p:sp>
        <p:nvSpPr>
          <p:cNvPr id="27" name="Text 25"/>
          <p:cNvSpPr/>
          <p:nvPr/>
        </p:nvSpPr>
        <p:spPr>
          <a:xfrm>
            <a:off x="4709160" y="2953512"/>
            <a:ext cx="402336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AI Certification Recommendations</a:t>
            </a:r>
            <a:endParaRPr lang="en-US" sz="1200" dirty="0"/>
          </a:p>
        </p:txBody>
      </p:sp>
      <p:sp>
        <p:nvSpPr>
          <p:cNvPr id="28" name="Text 26"/>
          <p:cNvSpPr/>
          <p:nvPr/>
        </p:nvSpPr>
        <p:spPr>
          <a:xfrm>
            <a:off x="4727448" y="3392424"/>
            <a:ext cx="3986784" cy="347472"/>
          </a:xfrm>
          <a:prstGeom prst="rect">
            <a:avLst/>
          </a:prstGeom>
          <a:noFill/>
          <a:ln/>
        </p:spPr>
        <p:txBody>
          <a:bodyPr wrap="square" lIns="0" tIns="0" rIns="0" bIns="0" rtlCol="0" anchor="ctr"/>
          <a:lstStyle/>
          <a:p>
            <a:pPr marL="0" indent="0">
              <a:buNone/>
            </a:pPr>
            <a:r>
              <a:rPr lang="en-US" sz="950" b="1" dirty="0">
                <a:solidFill>
                  <a:srgbClr val="6B21A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ML model trained on historical certify/revoke decisions</a:t>
            </a:r>
            <a:endParaRPr lang="en-US" sz="950" dirty="0"/>
          </a:p>
        </p:txBody>
      </p:sp>
      <p:sp>
        <p:nvSpPr>
          <p:cNvPr id="29" name="Text 27"/>
          <p:cNvSpPr/>
          <p:nvPr/>
        </p:nvSpPr>
        <p:spPr>
          <a:xfrm>
            <a:off x="4727448" y="3776472"/>
            <a:ext cx="3986784" cy="347472"/>
          </a:xfrm>
          <a:prstGeom prst="rect">
            <a:avLst/>
          </a:prstGeom>
          <a:noFill/>
          <a:ln/>
        </p:spPr>
        <p:txBody>
          <a:bodyPr wrap="square" lIns="0" tIns="0" rIns="0" bIns="0" rtlCol="0" anchor="ctr"/>
          <a:lstStyle/>
          <a:p>
            <a:pPr marL="0" indent="0">
              <a:buNone/>
            </a:pPr>
            <a:r>
              <a:rPr lang="en-US" sz="950" b="1" dirty="0">
                <a:solidFill>
                  <a:srgbClr val="6B21A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Produces recommend-certify or recommend-revoke per entitlement</a:t>
            </a:r>
            <a:endParaRPr lang="en-US" sz="950" dirty="0"/>
          </a:p>
        </p:txBody>
      </p:sp>
      <p:sp>
        <p:nvSpPr>
          <p:cNvPr id="30" name="Text 28"/>
          <p:cNvSpPr/>
          <p:nvPr/>
        </p:nvSpPr>
        <p:spPr>
          <a:xfrm>
            <a:off x="4727448" y="4160520"/>
            <a:ext cx="3986784" cy="347472"/>
          </a:xfrm>
          <a:prstGeom prst="rect">
            <a:avLst/>
          </a:prstGeom>
          <a:noFill/>
          <a:ln/>
        </p:spPr>
        <p:txBody>
          <a:bodyPr wrap="square" lIns="0" tIns="0" rIns="0" bIns="0" rtlCol="0" anchor="ctr"/>
          <a:lstStyle/>
          <a:p>
            <a:pPr marL="0" indent="0">
              <a:buNone/>
            </a:pPr>
            <a:r>
              <a:rPr lang="en-US" sz="950" b="1" dirty="0">
                <a:solidFill>
                  <a:srgbClr val="6B21A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Low-risk items may be automatically certified depending on policy and auditor acceptance (typical enterprise rate: 10–40%)</a:t>
            </a:r>
            <a:endParaRPr lang="en-US" sz="950" dirty="0"/>
          </a:p>
        </p:txBody>
      </p:sp>
      <p:sp>
        <p:nvSpPr>
          <p:cNvPr id="31" name="Text 29"/>
          <p:cNvSpPr/>
          <p:nvPr/>
        </p:nvSpPr>
        <p:spPr>
          <a:xfrm>
            <a:off x="4727448" y="4544568"/>
            <a:ext cx="3986784" cy="347472"/>
          </a:xfrm>
          <a:prstGeom prst="rect">
            <a:avLst/>
          </a:prstGeom>
          <a:noFill/>
          <a:ln/>
        </p:spPr>
        <p:txBody>
          <a:bodyPr wrap="square" lIns="0" tIns="0" rIns="0" bIns="0" rtlCol="0" anchor="ctr"/>
          <a:lstStyle/>
          <a:p>
            <a:pPr marL="0" indent="0">
              <a:buNone/>
            </a:pPr>
            <a:r>
              <a:rPr lang="en-US" sz="950" b="1" dirty="0">
                <a:solidFill>
                  <a:srgbClr val="6B21A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Reviewers focus manual effort on high-risk / low-confidence items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3C5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D7D46"/>
          </a:solidFill>
          <a:ln w="12700">
            <a:solidFill>
              <a:srgbClr val="2D7D46"/>
            </a:solidFill>
            <a:prstDash val="solid"/>
          </a:ln>
        </p:spPr>
        <p:txBody>
          <a:bodyPr/>
          <a:lstStyle/>
          <a:p>
            <a:endParaRPr lang="en-US"/>
          </a:p>
        </p:txBody>
      </p:sp>
      <p:sp>
        <p:nvSpPr>
          <p:cNvPr id="3" name="Text 1"/>
          <p:cNvSpPr/>
          <p:nvPr/>
        </p:nvSpPr>
        <p:spPr>
          <a:xfrm>
            <a:off x="6858000" y="731520"/>
            <a:ext cx="2103120" cy="2560320"/>
          </a:xfrm>
          <a:prstGeom prst="rect">
            <a:avLst/>
          </a:prstGeom>
          <a:noFill/>
          <a:ln/>
        </p:spPr>
        <p:txBody>
          <a:bodyPr wrap="square" lIns="0" tIns="0" rIns="0" bIns="0" rtlCol="0" anchor="ctr"/>
          <a:lstStyle/>
          <a:p>
            <a:pPr marL="0" indent="0" algn="r">
              <a:buNone/>
            </a:pPr>
            <a:r>
              <a:rPr lang="en-US" sz="14000" b="1" dirty="0">
                <a:solidFill>
                  <a:srgbClr val="1A4A30"/>
                </a:solidFill>
                <a:latin typeface="Calibri" pitchFamily="34" charset="0"/>
                <a:ea typeface="Calibri" pitchFamily="34" charset="-122"/>
                <a:cs typeface="Calibri" pitchFamily="34" charset="-120"/>
              </a:rPr>
              <a:t>09</a:t>
            </a:r>
            <a:endParaRPr lang="en-US" sz="14000" dirty="0"/>
          </a:p>
        </p:txBody>
      </p:sp>
      <p:sp>
        <p:nvSpPr>
          <p:cNvPr id="4" name="Text 2"/>
          <p:cNvSpPr/>
          <p:nvPr/>
        </p:nvSpPr>
        <p:spPr>
          <a:xfrm>
            <a:off x="320040" y="1600200"/>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MITRE ATT&amp;CK</a:t>
            </a:r>
            <a:endParaRPr lang="en-US" sz="3000" dirty="0"/>
          </a:p>
        </p:txBody>
      </p:sp>
      <p:sp>
        <p:nvSpPr>
          <p:cNvPr id="5" name="Shape 3"/>
          <p:cNvSpPr/>
          <p:nvPr/>
        </p:nvSpPr>
        <p:spPr>
          <a:xfrm>
            <a:off x="320040" y="2468880"/>
            <a:ext cx="6217920" cy="0"/>
          </a:xfrm>
          <a:prstGeom prst="line">
            <a:avLst/>
          </a:prstGeom>
          <a:noFill/>
          <a:ln w="6350">
            <a:solidFill>
              <a:srgbClr val="8BAAC2"/>
            </a:solidFill>
            <a:prstDash val="solid"/>
          </a:ln>
        </p:spPr>
        <p:txBody>
          <a:bodyPr/>
          <a:lstStyle/>
          <a:p>
            <a:endParaRPr lang="en-US"/>
          </a:p>
        </p:txBody>
      </p:sp>
      <p:sp>
        <p:nvSpPr>
          <p:cNvPr id="6" name="Text 4"/>
          <p:cNvSpPr/>
          <p:nvPr/>
        </p:nvSpPr>
        <p:spPr>
          <a:xfrm>
            <a:off x="320040" y="2542032"/>
            <a:ext cx="6400800" cy="457200"/>
          </a:xfrm>
          <a:prstGeom prst="rect">
            <a:avLst/>
          </a:prstGeom>
          <a:noFill/>
          <a:ln/>
        </p:spPr>
        <p:txBody>
          <a:bodyPr wrap="square" lIns="0" tIns="0" rIns="0" bIns="0" rtlCol="0" anchor="ctr"/>
          <a:lstStyle/>
          <a:p>
            <a:pPr marL="0" indent="0">
              <a:buNone/>
            </a:pPr>
            <a:r>
              <a:rPr lang="en-US" sz="1400" i="1" dirty="0">
                <a:solidFill>
                  <a:srgbClr val="C9DDE8"/>
                </a:solidFill>
                <a:latin typeface="Calibri" pitchFamily="34" charset="0"/>
                <a:ea typeface="Calibri" pitchFamily="34" charset="-122"/>
                <a:cs typeface="Calibri" pitchFamily="34" charset="-120"/>
              </a:rPr>
              <a:t>IGA control failures and identity attack mitigations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C5E"/>
          </a:solidFill>
          <a:ln w="12700">
            <a:solidFill>
              <a:srgbClr val="1A3C5E"/>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MITRE ATT&amp;CK: IGA Control Failures &amp; Mitigations</a:t>
            </a:r>
            <a:endParaRPr lang="en-US" sz="1800" dirty="0"/>
          </a:p>
        </p:txBody>
      </p:sp>
      <p:grpSp>
        <p:nvGrpSpPr>
          <p:cNvPr id="76" name="Group 75">
            <a:extLst>
              <a:ext uri="{FF2B5EF4-FFF2-40B4-BE49-F238E27FC236}">
                <a16:creationId xmlns:a16="http://schemas.microsoft.com/office/drawing/2014/main" id="{63374B7B-CB60-EDF1-09F2-10609D35D29B}"/>
              </a:ext>
            </a:extLst>
          </p:cNvPr>
          <p:cNvGrpSpPr/>
          <p:nvPr/>
        </p:nvGrpSpPr>
        <p:grpSpPr>
          <a:xfrm>
            <a:off x="182880" y="749808"/>
            <a:ext cx="8893107" cy="4160520"/>
            <a:chOff x="182880" y="749808"/>
            <a:chExt cx="9015984" cy="4160520"/>
          </a:xfrm>
        </p:grpSpPr>
        <p:sp>
          <p:nvSpPr>
            <p:cNvPr id="4" name="Shape 2"/>
            <p:cNvSpPr/>
            <p:nvPr/>
          </p:nvSpPr>
          <p:spPr>
            <a:xfrm>
              <a:off x="182880" y="749808"/>
              <a:ext cx="914400" cy="462280"/>
            </a:xfrm>
            <a:prstGeom prst="rect">
              <a:avLst/>
            </a:prstGeom>
            <a:solidFill>
              <a:srgbClr val="1A3C5E"/>
            </a:solidFill>
            <a:ln w="6350">
              <a:solidFill>
                <a:srgbClr val="D1DDE8"/>
              </a:solidFill>
              <a:prstDash val="solid"/>
            </a:ln>
          </p:spPr>
          <p:txBody>
            <a:bodyPr/>
            <a:lstStyle/>
            <a:p>
              <a:endParaRPr lang="en-US"/>
            </a:p>
          </p:txBody>
        </p:sp>
        <p:sp>
          <p:nvSpPr>
            <p:cNvPr id="5" name="Text 3"/>
            <p:cNvSpPr/>
            <p:nvPr/>
          </p:nvSpPr>
          <p:spPr>
            <a:xfrm>
              <a:off x="219456" y="768096"/>
              <a:ext cx="841248" cy="425704"/>
            </a:xfrm>
            <a:prstGeom prst="rect">
              <a:avLst/>
            </a:prstGeom>
            <a:noFill/>
            <a:ln/>
          </p:spPr>
          <p:txBody>
            <a:bodyPr wrap="square" lIns="0" tIns="0" rIns="0" bIns="0" rtlCol="0" anchor="ctr"/>
            <a:lstStyle/>
            <a:p>
              <a:pPr marL="0" indent="0">
                <a:buNone/>
              </a:pPr>
              <a:r>
                <a:rPr lang="en-US" sz="1000" b="1" dirty="0">
                  <a:solidFill>
                    <a:srgbClr val="2D7D46"/>
                  </a:solidFill>
                  <a:latin typeface="Calibri" pitchFamily="34" charset="0"/>
                  <a:ea typeface="Calibri" pitchFamily="34" charset="-122"/>
                  <a:cs typeface="Calibri" pitchFamily="34" charset="-120"/>
                </a:rPr>
                <a:t>Technique ID</a:t>
              </a:r>
              <a:endParaRPr lang="en-US" sz="1000" dirty="0"/>
            </a:p>
          </p:txBody>
        </p:sp>
        <p:sp>
          <p:nvSpPr>
            <p:cNvPr id="6" name="Shape 4"/>
            <p:cNvSpPr/>
            <p:nvPr/>
          </p:nvSpPr>
          <p:spPr>
            <a:xfrm>
              <a:off x="1115568" y="749808"/>
              <a:ext cx="1371600" cy="462280"/>
            </a:xfrm>
            <a:prstGeom prst="rect">
              <a:avLst/>
            </a:prstGeom>
            <a:solidFill>
              <a:srgbClr val="1A3C5E"/>
            </a:solidFill>
            <a:ln w="6350">
              <a:solidFill>
                <a:srgbClr val="D1DDE8"/>
              </a:solidFill>
              <a:prstDash val="solid"/>
            </a:ln>
          </p:spPr>
          <p:txBody>
            <a:bodyPr/>
            <a:lstStyle/>
            <a:p>
              <a:endParaRPr lang="en-US"/>
            </a:p>
          </p:txBody>
        </p:sp>
        <p:sp>
          <p:nvSpPr>
            <p:cNvPr id="7" name="Text 5"/>
            <p:cNvSpPr/>
            <p:nvPr/>
          </p:nvSpPr>
          <p:spPr>
            <a:xfrm>
              <a:off x="1152144" y="768096"/>
              <a:ext cx="1298448" cy="425704"/>
            </a:xfrm>
            <a:prstGeom prst="rect">
              <a:avLst/>
            </a:prstGeom>
            <a:noFill/>
            <a:ln/>
          </p:spPr>
          <p:txBody>
            <a:bodyPr wrap="square" lIns="0" tIns="0" rIns="0" bIns="0" rtlCol="0" anchor="ctr"/>
            <a:lstStyle/>
            <a:p>
              <a:pPr marL="0" indent="0">
                <a:buNone/>
              </a:pPr>
              <a:r>
                <a:rPr lang="en-US" sz="1000" b="1" dirty="0">
                  <a:solidFill>
                    <a:srgbClr val="2D7D46"/>
                  </a:solidFill>
                  <a:latin typeface="Calibri" pitchFamily="34" charset="0"/>
                  <a:ea typeface="Calibri" pitchFamily="34" charset="-122"/>
                  <a:cs typeface="Calibri" pitchFamily="34" charset="-120"/>
                </a:rPr>
                <a:t>Name</a:t>
              </a:r>
              <a:endParaRPr lang="en-US" sz="1000" dirty="0"/>
            </a:p>
          </p:txBody>
        </p:sp>
        <p:sp>
          <p:nvSpPr>
            <p:cNvPr id="8" name="Shape 6"/>
            <p:cNvSpPr/>
            <p:nvPr/>
          </p:nvSpPr>
          <p:spPr>
            <a:xfrm>
              <a:off x="2505456" y="749808"/>
              <a:ext cx="3200400" cy="462280"/>
            </a:xfrm>
            <a:prstGeom prst="rect">
              <a:avLst/>
            </a:prstGeom>
            <a:solidFill>
              <a:srgbClr val="1A3C5E"/>
            </a:solidFill>
            <a:ln w="6350">
              <a:solidFill>
                <a:srgbClr val="D1DDE8"/>
              </a:solidFill>
              <a:prstDash val="solid"/>
            </a:ln>
          </p:spPr>
          <p:txBody>
            <a:bodyPr/>
            <a:lstStyle/>
            <a:p>
              <a:endParaRPr lang="en-US"/>
            </a:p>
          </p:txBody>
        </p:sp>
        <p:sp>
          <p:nvSpPr>
            <p:cNvPr id="9" name="Text 7"/>
            <p:cNvSpPr/>
            <p:nvPr/>
          </p:nvSpPr>
          <p:spPr>
            <a:xfrm>
              <a:off x="2542032" y="768096"/>
              <a:ext cx="3127248" cy="425704"/>
            </a:xfrm>
            <a:prstGeom prst="rect">
              <a:avLst/>
            </a:prstGeom>
            <a:noFill/>
            <a:ln/>
          </p:spPr>
          <p:txBody>
            <a:bodyPr wrap="square" lIns="0" tIns="0" rIns="0" bIns="0" rtlCol="0" anchor="ctr"/>
            <a:lstStyle/>
            <a:p>
              <a:pPr marL="0" indent="0">
                <a:buNone/>
              </a:pPr>
              <a:r>
                <a:rPr lang="en-US" sz="1000" b="1" dirty="0">
                  <a:solidFill>
                    <a:srgbClr val="2D7D46"/>
                  </a:solidFill>
                  <a:latin typeface="Calibri" pitchFamily="34" charset="0"/>
                  <a:ea typeface="Calibri" pitchFamily="34" charset="-122"/>
                  <a:cs typeface="Calibri" pitchFamily="34" charset="-120"/>
                </a:rPr>
                <a:t>IGA Failure Enabling Attack</a:t>
              </a:r>
              <a:endParaRPr lang="en-US" sz="1000" dirty="0"/>
            </a:p>
          </p:txBody>
        </p:sp>
        <p:sp>
          <p:nvSpPr>
            <p:cNvPr id="10" name="Shape 8"/>
            <p:cNvSpPr/>
            <p:nvPr/>
          </p:nvSpPr>
          <p:spPr>
            <a:xfrm>
              <a:off x="5724144" y="749808"/>
              <a:ext cx="3474720" cy="462280"/>
            </a:xfrm>
            <a:prstGeom prst="rect">
              <a:avLst/>
            </a:prstGeom>
            <a:solidFill>
              <a:srgbClr val="1A3C5E"/>
            </a:solidFill>
            <a:ln w="6350">
              <a:solidFill>
                <a:srgbClr val="D1DDE8"/>
              </a:solidFill>
              <a:prstDash val="solid"/>
            </a:ln>
          </p:spPr>
          <p:txBody>
            <a:bodyPr/>
            <a:lstStyle/>
            <a:p>
              <a:endParaRPr lang="en-US"/>
            </a:p>
          </p:txBody>
        </p:sp>
        <p:sp>
          <p:nvSpPr>
            <p:cNvPr id="11" name="Text 9"/>
            <p:cNvSpPr/>
            <p:nvPr/>
          </p:nvSpPr>
          <p:spPr>
            <a:xfrm>
              <a:off x="5760720" y="768096"/>
              <a:ext cx="3401568" cy="425704"/>
            </a:xfrm>
            <a:prstGeom prst="rect">
              <a:avLst/>
            </a:prstGeom>
            <a:noFill/>
            <a:ln/>
          </p:spPr>
          <p:txBody>
            <a:bodyPr wrap="square" lIns="0" tIns="0" rIns="0" bIns="0" rtlCol="0" anchor="ctr"/>
            <a:lstStyle/>
            <a:p>
              <a:pPr marL="0" indent="0">
                <a:buNone/>
              </a:pPr>
              <a:r>
                <a:rPr lang="en-US" sz="1000" b="1" dirty="0">
                  <a:solidFill>
                    <a:srgbClr val="2D7D46"/>
                  </a:solidFill>
                  <a:latin typeface="Calibri" pitchFamily="34" charset="0"/>
                  <a:ea typeface="Calibri" pitchFamily="34" charset="-122"/>
                  <a:cs typeface="Calibri" pitchFamily="34" charset="-120"/>
                </a:rPr>
                <a:t>IGA Mitigation</a:t>
              </a:r>
              <a:endParaRPr lang="en-US" sz="1000" dirty="0"/>
            </a:p>
          </p:txBody>
        </p:sp>
        <p:sp>
          <p:nvSpPr>
            <p:cNvPr id="12" name="Shape 10"/>
            <p:cNvSpPr/>
            <p:nvPr/>
          </p:nvSpPr>
          <p:spPr>
            <a:xfrm>
              <a:off x="182880" y="1212088"/>
              <a:ext cx="914400" cy="462280"/>
            </a:xfrm>
            <a:prstGeom prst="rect">
              <a:avLst/>
            </a:prstGeom>
            <a:solidFill>
              <a:srgbClr val="FFFFFF"/>
            </a:solidFill>
            <a:ln w="6350">
              <a:solidFill>
                <a:srgbClr val="D1DDE8"/>
              </a:solidFill>
              <a:prstDash val="solid"/>
            </a:ln>
          </p:spPr>
          <p:txBody>
            <a:bodyPr/>
            <a:lstStyle/>
            <a:p>
              <a:endParaRPr lang="en-US"/>
            </a:p>
          </p:txBody>
        </p:sp>
        <p:sp>
          <p:nvSpPr>
            <p:cNvPr id="13" name="Text 11"/>
            <p:cNvSpPr/>
            <p:nvPr/>
          </p:nvSpPr>
          <p:spPr>
            <a:xfrm>
              <a:off x="219456" y="1230376"/>
              <a:ext cx="8412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T1078</a:t>
              </a:r>
              <a:endParaRPr lang="en-US" sz="850" dirty="0"/>
            </a:p>
          </p:txBody>
        </p:sp>
        <p:sp>
          <p:nvSpPr>
            <p:cNvPr id="14" name="Shape 12"/>
            <p:cNvSpPr/>
            <p:nvPr/>
          </p:nvSpPr>
          <p:spPr>
            <a:xfrm>
              <a:off x="1115568" y="1212088"/>
              <a:ext cx="1371600" cy="462280"/>
            </a:xfrm>
            <a:prstGeom prst="rect">
              <a:avLst/>
            </a:prstGeom>
            <a:solidFill>
              <a:srgbClr val="FFFFFF"/>
            </a:solidFill>
            <a:ln w="6350">
              <a:solidFill>
                <a:srgbClr val="D1DDE8"/>
              </a:solidFill>
              <a:prstDash val="solid"/>
            </a:ln>
          </p:spPr>
          <p:txBody>
            <a:bodyPr/>
            <a:lstStyle/>
            <a:p>
              <a:endParaRPr lang="en-US"/>
            </a:p>
          </p:txBody>
        </p:sp>
        <p:sp>
          <p:nvSpPr>
            <p:cNvPr id="15" name="Text 13"/>
            <p:cNvSpPr/>
            <p:nvPr/>
          </p:nvSpPr>
          <p:spPr>
            <a:xfrm>
              <a:off x="1152144" y="1230376"/>
              <a:ext cx="12984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Valid Accounts</a:t>
              </a:r>
              <a:endParaRPr lang="en-US" sz="850" dirty="0"/>
            </a:p>
          </p:txBody>
        </p:sp>
        <p:sp>
          <p:nvSpPr>
            <p:cNvPr id="16" name="Shape 14"/>
            <p:cNvSpPr/>
            <p:nvPr/>
          </p:nvSpPr>
          <p:spPr>
            <a:xfrm>
              <a:off x="2505456" y="1212088"/>
              <a:ext cx="3200400" cy="462280"/>
            </a:xfrm>
            <a:prstGeom prst="rect">
              <a:avLst/>
            </a:prstGeom>
            <a:solidFill>
              <a:srgbClr val="FFFFFF"/>
            </a:solidFill>
            <a:ln w="6350">
              <a:solidFill>
                <a:srgbClr val="D1DDE8"/>
              </a:solidFill>
              <a:prstDash val="solid"/>
            </a:ln>
          </p:spPr>
          <p:txBody>
            <a:bodyPr/>
            <a:lstStyle/>
            <a:p>
              <a:endParaRPr lang="en-US"/>
            </a:p>
          </p:txBody>
        </p:sp>
        <p:sp>
          <p:nvSpPr>
            <p:cNvPr id="17" name="Text 15"/>
            <p:cNvSpPr/>
            <p:nvPr/>
          </p:nvSpPr>
          <p:spPr>
            <a:xfrm>
              <a:off x="2542032" y="1230376"/>
              <a:ext cx="31272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Orphaned/stale accounts (failed offboarding) provide persistent access for adversaries</a:t>
              </a:r>
              <a:endParaRPr lang="en-US" sz="850" dirty="0"/>
            </a:p>
          </p:txBody>
        </p:sp>
        <p:sp>
          <p:nvSpPr>
            <p:cNvPr id="18" name="Shape 16"/>
            <p:cNvSpPr/>
            <p:nvPr/>
          </p:nvSpPr>
          <p:spPr>
            <a:xfrm>
              <a:off x="5724144" y="1212088"/>
              <a:ext cx="3474720" cy="462280"/>
            </a:xfrm>
            <a:prstGeom prst="rect">
              <a:avLst/>
            </a:prstGeom>
            <a:solidFill>
              <a:srgbClr val="FFFFFF"/>
            </a:solidFill>
            <a:ln w="6350">
              <a:solidFill>
                <a:srgbClr val="D1DDE8"/>
              </a:solidFill>
              <a:prstDash val="solid"/>
            </a:ln>
          </p:spPr>
          <p:txBody>
            <a:bodyPr/>
            <a:lstStyle/>
            <a:p>
              <a:endParaRPr lang="en-US"/>
            </a:p>
          </p:txBody>
        </p:sp>
        <p:sp>
          <p:nvSpPr>
            <p:cNvPr id="19" name="Text 17"/>
            <p:cNvSpPr/>
            <p:nvPr/>
          </p:nvSpPr>
          <p:spPr>
            <a:xfrm>
              <a:off x="5760720" y="1230376"/>
              <a:ext cx="340156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Automated Leaver deprovisioning; orphaned account detection; 90-day inactivity suspension (AC-2(3))</a:t>
              </a:r>
              <a:endParaRPr lang="en-US" sz="850" dirty="0"/>
            </a:p>
          </p:txBody>
        </p:sp>
        <p:sp>
          <p:nvSpPr>
            <p:cNvPr id="20" name="Shape 18"/>
            <p:cNvSpPr/>
            <p:nvPr/>
          </p:nvSpPr>
          <p:spPr>
            <a:xfrm>
              <a:off x="182880" y="1674368"/>
              <a:ext cx="914400" cy="462280"/>
            </a:xfrm>
            <a:prstGeom prst="rect">
              <a:avLst/>
            </a:prstGeom>
            <a:solidFill>
              <a:srgbClr val="EEF8F0"/>
            </a:solidFill>
            <a:ln w="6350">
              <a:solidFill>
                <a:srgbClr val="D1DDE8"/>
              </a:solidFill>
              <a:prstDash val="solid"/>
            </a:ln>
          </p:spPr>
          <p:txBody>
            <a:bodyPr/>
            <a:lstStyle/>
            <a:p>
              <a:endParaRPr lang="en-US"/>
            </a:p>
          </p:txBody>
        </p:sp>
        <p:sp>
          <p:nvSpPr>
            <p:cNvPr id="21" name="Text 19"/>
            <p:cNvSpPr/>
            <p:nvPr/>
          </p:nvSpPr>
          <p:spPr>
            <a:xfrm>
              <a:off x="219456" y="1692656"/>
              <a:ext cx="8412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T1078.003</a:t>
              </a:r>
              <a:endParaRPr lang="en-US" sz="850" dirty="0"/>
            </a:p>
          </p:txBody>
        </p:sp>
        <p:sp>
          <p:nvSpPr>
            <p:cNvPr id="22" name="Shape 20"/>
            <p:cNvSpPr/>
            <p:nvPr/>
          </p:nvSpPr>
          <p:spPr>
            <a:xfrm>
              <a:off x="1115568" y="1674368"/>
              <a:ext cx="1371600" cy="462280"/>
            </a:xfrm>
            <a:prstGeom prst="rect">
              <a:avLst/>
            </a:prstGeom>
            <a:solidFill>
              <a:srgbClr val="EEF8F0"/>
            </a:solidFill>
            <a:ln w="6350">
              <a:solidFill>
                <a:srgbClr val="D1DDE8"/>
              </a:solidFill>
              <a:prstDash val="solid"/>
            </a:ln>
          </p:spPr>
          <p:txBody>
            <a:bodyPr/>
            <a:lstStyle/>
            <a:p>
              <a:endParaRPr lang="en-US"/>
            </a:p>
          </p:txBody>
        </p:sp>
        <p:sp>
          <p:nvSpPr>
            <p:cNvPr id="23" name="Text 21"/>
            <p:cNvSpPr/>
            <p:nvPr/>
          </p:nvSpPr>
          <p:spPr>
            <a:xfrm>
              <a:off x="1152144" y="1692656"/>
              <a:ext cx="12984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Local Accounts</a:t>
              </a:r>
              <a:endParaRPr lang="en-US" sz="850" dirty="0"/>
            </a:p>
          </p:txBody>
        </p:sp>
        <p:sp>
          <p:nvSpPr>
            <p:cNvPr id="24" name="Shape 22"/>
            <p:cNvSpPr/>
            <p:nvPr/>
          </p:nvSpPr>
          <p:spPr>
            <a:xfrm>
              <a:off x="2505456" y="1674368"/>
              <a:ext cx="3200400" cy="462280"/>
            </a:xfrm>
            <a:prstGeom prst="rect">
              <a:avLst/>
            </a:prstGeom>
            <a:solidFill>
              <a:srgbClr val="EEF8F0"/>
            </a:solidFill>
            <a:ln w="6350">
              <a:solidFill>
                <a:srgbClr val="D1DDE8"/>
              </a:solidFill>
              <a:prstDash val="solid"/>
            </a:ln>
          </p:spPr>
          <p:txBody>
            <a:bodyPr/>
            <a:lstStyle/>
            <a:p>
              <a:endParaRPr lang="en-US"/>
            </a:p>
          </p:txBody>
        </p:sp>
        <p:sp>
          <p:nvSpPr>
            <p:cNvPr id="25" name="Text 23"/>
            <p:cNvSpPr/>
            <p:nvPr/>
          </p:nvSpPr>
          <p:spPr>
            <a:xfrm>
              <a:off x="2542032" y="1692656"/>
              <a:ext cx="31272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Unmanaged local admin accounts not enrolled in IGA or PAM; invisible to governance</a:t>
              </a:r>
              <a:endParaRPr lang="en-US" sz="850" dirty="0"/>
            </a:p>
          </p:txBody>
        </p:sp>
        <p:sp>
          <p:nvSpPr>
            <p:cNvPr id="26" name="Shape 24"/>
            <p:cNvSpPr/>
            <p:nvPr/>
          </p:nvSpPr>
          <p:spPr>
            <a:xfrm>
              <a:off x="5724144" y="1674368"/>
              <a:ext cx="3474720" cy="462280"/>
            </a:xfrm>
            <a:prstGeom prst="rect">
              <a:avLst/>
            </a:prstGeom>
            <a:solidFill>
              <a:srgbClr val="EEF8F0"/>
            </a:solidFill>
            <a:ln w="6350">
              <a:solidFill>
                <a:srgbClr val="D1DDE8"/>
              </a:solidFill>
              <a:prstDash val="solid"/>
            </a:ln>
          </p:spPr>
          <p:txBody>
            <a:bodyPr/>
            <a:lstStyle/>
            <a:p>
              <a:endParaRPr lang="en-US"/>
            </a:p>
          </p:txBody>
        </p:sp>
        <p:sp>
          <p:nvSpPr>
            <p:cNvPr id="27" name="Text 25"/>
            <p:cNvSpPr/>
            <p:nvPr/>
          </p:nvSpPr>
          <p:spPr>
            <a:xfrm>
              <a:off x="5760720" y="1692656"/>
              <a:ext cx="340156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Local account discovery; mandatory enrollment in identity warehouse; periodic certification</a:t>
              </a:r>
              <a:endParaRPr lang="en-US" sz="850" dirty="0"/>
            </a:p>
          </p:txBody>
        </p:sp>
        <p:sp>
          <p:nvSpPr>
            <p:cNvPr id="28" name="Shape 26"/>
            <p:cNvSpPr/>
            <p:nvPr/>
          </p:nvSpPr>
          <p:spPr>
            <a:xfrm>
              <a:off x="182880" y="2136648"/>
              <a:ext cx="914400" cy="462280"/>
            </a:xfrm>
            <a:prstGeom prst="rect">
              <a:avLst/>
            </a:prstGeom>
            <a:solidFill>
              <a:srgbClr val="FFFFFF"/>
            </a:solidFill>
            <a:ln w="6350">
              <a:solidFill>
                <a:srgbClr val="D1DDE8"/>
              </a:solidFill>
              <a:prstDash val="solid"/>
            </a:ln>
          </p:spPr>
          <p:txBody>
            <a:bodyPr/>
            <a:lstStyle/>
            <a:p>
              <a:endParaRPr lang="en-US"/>
            </a:p>
          </p:txBody>
        </p:sp>
        <p:sp>
          <p:nvSpPr>
            <p:cNvPr id="29" name="Text 27"/>
            <p:cNvSpPr/>
            <p:nvPr/>
          </p:nvSpPr>
          <p:spPr>
            <a:xfrm>
              <a:off x="219456" y="2154936"/>
              <a:ext cx="8412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T1078.004</a:t>
              </a:r>
              <a:endParaRPr lang="en-US" sz="850" dirty="0"/>
            </a:p>
          </p:txBody>
        </p:sp>
        <p:sp>
          <p:nvSpPr>
            <p:cNvPr id="30" name="Shape 28"/>
            <p:cNvSpPr/>
            <p:nvPr/>
          </p:nvSpPr>
          <p:spPr>
            <a:xfrm>
              <a:off x="1115568" y="2136648"/>
              <a:ext cx="1371600" cy="462280"/>
            </a:xfrm>
            <a:prstGeom prst="rect">
              <a:avLst/>
            </a:prstGeom>
            <a:solidFill>
              <a:srgbClr val="FFFFFF"/>
            </a:solidFill>
            <a:ln w="6350">
              <a:solidFill>
                <a:srgbClr val="D1DDE8"/>
              </a:solidFill>
              <a:prstDash val="solid"/>
            </a:ln>
          </p:spPr>
          <p:txBody>
            <a:bodyPr/>
            <a:lstStyle/>
            <a:p>
              <a:endParaRPr lang="en-US"/>
            </a:p>
          </p:txBody>
        </p:sp>
        <p:sp>
          <p:nvSpPr>
            <p:cNvPr id="31" name="Text 29"/>
            <p:cNvSpPr/>
            <p:nvPr/>
          </p:nvSpPr>
          <p:spPr>
            <a:xfrm>
              <a:off x="1152144" y="2154936"/>
              <a:ext cx="12984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Cloud Accounts</a:t>
              </a:r>
              <a:endParaRPr lang="en-US" sz="850" dirty="0"/>
            </a:p>
          </p:txBody>
        </p:sp>
        <p:sp>
          <p:nvSpPr>
            <p:cNvPr id="32" name="Shape 30"/>
            <p:cNvSpPr/>
            <p:nvPr/>
          </p:nvSpPr>
          <p:spPr>
            <a:xfrm>
              <a:off x="2505456" y="2136648"/>
              <a:ext cx="3200400" cy="462280"/>
            </a:xfrm>
            <a:prstGeom prst="rect">
              <a:avLst/>
            </a:prstGeom>
            <a:solidFill>
              <a:srgbClr val="FFFFFF"/>
            </a:solidFill>
            <a:ln w="6350">
              <a:solidFill>
                <a:srgbClr val="D1DDE8"/>
              </a:solidFill>
              <a:prstDash val="solid"/>
            </a:ln>
          </p:spPr>
          <p:txBody>
            <a:bodyPr/>
            <a:lstStyle/>
            <a:p>
              <a:endParaRPr lang="en-US"/>
            </a:p>
          </p:txBody>
        </p:sp>
        <p:sp>
          <p:nvSpPr>
            <p:cNvPr id="33" name="Text 31"/>
            <p:cNvSpPr/>
            <p:nvPr/>
          </p:nvSpPr>
          <p:spPr>
            <a:xfrm>
              <a:off x="2542032" y="2154936"/>
              <a:ext cx="31272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Cloud IAM accounts with excessive permissions excluded from IGA governance and CIEM monitoring</a:t>
              </a:r>
              <a:endParaRPr lang="en-US" sz="850" dirty="0"/>
            </a:p>
          </p:txBody>
        </p:sp>
        <p:sp>
          <p:nvSpPr>
            <p:cNvPr id="34" name="Shape 32"/>
            <p:cNvSpPr/>
            <p:nvPr/>
          </p:nvSpPr>
          <p:spPr>
            <a:xfrm>
              <a:off x="5724144" y="2136648"/>
              <a:ext cx="3474720" cy="462280"/>
            </a:xfrm>
            <a:prstGeom prst="rect">
              <a:avLst/>
            </a:prstGeom>
            <a:solidFill>
              <a:srgbClr val="FFFFFF"/>
            </a:solidFill>
            <a:ln w="6350">
              <a:solidFill>
                <a:srgbClr val="D1DDE8"/>
              </a:solidFill>
              <a:prstDash val="solid"/>
            </a:ln>
          </p:spPr>
          <p:txBody>
            <a:bodyPr/>
            <a:lstStyle/>
            <a:p>
              <a:endParaRPr lang="en-US"/>
            </a:p>
          </p:txBody>
        </p:sp>
        <p:sp>
          <p:nvSpPr>
            <p:cNvPr id="35" name="Text 33"/>
            <p:cNvSpPr/>
            <p:nvPr/>
          </p:nvSpPr>
          <p:spPr>
            <a:xfrm>
              <a:off x="5760720" y="2154936"/>
              <a:ext cx="340156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CIEM integration for cloud account discovery; cloud role certification; HRMS-to-cloud IAM lifecycle</a:t>
              </a:r>
              <a:endParaRPr lang="en-US" sz="850" dirty="0"/>
            </a:p>
          </p:txBody>
        </p:sp>
        <p:sp>
          <p:nvSpPr>
            <p:cNvPr id="36" name="Shape 34"/>
            <p:cNvSpPr/>
            <p:nvPr/>
          </p:nvSpPr>
          <p:spPr>
            <a:xfrm>
              <a:off x="182880" y="2598928"/>
              <a:ext cx="914400" cy="462280"/>
            </a:xfrm>
            <a:prstGeom prst="rect">
              <a:avLst/>
            </a:prstGeom>
            <a:solidFill>
              <a:srgbClr val="EEF8F0"/>
            </a:solidFill>
            <a:ln w="6350">
              <a:solidFill>
                <a:srgbClr val="D1DDE8"/>
              </a:solidFill>
              <a:prstDash val="solid"/>
            </a:ln>
          </p:spPr>
          <p:txBody>
            <a:bodyPr/>
            <a:lstStyle/>
            <a:p>
              <a:endParaRPr lang="en-US"/>
            </a:p>
          </p:txBody>
        </p:sp>
        <p:sp>
          <p:nvSpPr>
            <p:cNvPr id="37" name="Text 35"/>
            <p:cNvSpPr/>
            <p:nvPr/>
          </p:nvSpPr>
          <p:spPr>
            <a:xfrm>
              <a:off x="219456" y="2617216"/>
              <a:ext cx="8412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T1098</a:t>
              </a:r>
              <a:endParaRPr lang="en-US" sz="850" dirty="0"/>
            </a:p>
          </p:txBody>
        </p:sp>
        <p:sp>
          <p:nvSpPr>
            <p:cNvPr id="38" name="Shape 36"/>
            <p:cNvSpPr/>
            <p:nvPr/>
          </p:nvSpPr>
          <p:spPr>
            <a:xfrm>
              <a:off x="1115568" y="2598928"/>
              <a:ext cx="1371600" cy="462280"/>
            </a:xfrm>
            <a:prstGeom prst="rect">
              <a:avLst/>
            </a:prstGeom>
            <a:solidFill>
              <a:srgbClr val="EEF8F0"/>
            </a:solidFill>
            <a:ln w="6350">
              <a:solidFill>
                <a:srgbClr val="D1DDE8"/>
              </a:solidFill>
              <a:prstDash val="solid"/>
            </a:ln>
          </p:spPr>
          <p:txBody>
            <a:bodyPr/>
            <a:lstStyle/>
            <a:p>
              <a:endParaRPr lang="en-US"/>
            </a:p>
          </p:txBody>
        </p:sp>
        <p:sp>
          <p:nvSpPr>
            <p:cNvPr id="39" name="Text 37"/>
            <p:cNvSpPr/>
            <p:nvPr/>
          </p:nvSpPr>
          <p:spPr>
            <a:xfrm>
              <a:off x="1152144" y="2617216"/>
              <a:ext cx="12984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Account Manipulation</a:t>
              </a:r>
              <a:endParaRPr lang="en-US" sz="850" dirty="0"/>
            </a:p>
          </p:txBody>
        </p:sp>
        <p:sp>
          <p:nvSpPr>
            <p:cNvPr id="40" name="Shape 38"/>
            <p:cNvSpPr/>
            <p:nvPr/>
          </p:nvSpPr>
          <p:spPr>
            <a:xfrm>
              <a:off x="2505456" y="2598928"/>
              <a:ext cx="3200400" cy="462280"/>
            </a:xfrm>
            <a:prstGeom prst="rect">
              <a:avLst/>
            </a:prstGeom>
            <a:solidFill>
              <a:srgbClr val="EEF8F0"/>
            </a:solidFill>
            <a:ln w="6350">
              <a:solidFill>
                <a:srgbClr val="D1DDE8"/>
              </a:solidFill>
              <a:prstDash val="solid"/>
            </a:ln>
          </p:spPr>
          <p:txBody>
            <a:bodyPr/>
            <a:lstStyle/>
            <a:p>
              <a:endParaRPr lang="en-US"/>
            </a:p>
          </p:txBody>
        </p:sp>
        <p:sp>
          <p:nvSpPr>
            <p:cNvPr id="41" name="Text 39"/>
            <p:cNvSpPr/>
            <p:nvPr/>
          </p:nvSpPr>
          <p:spPr>
            <a:xfrm>
              <a:off x="2542032" y="2617216"/>
              <a:ext cx="31272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Out-of-band entitlement additions not reflected in IGA; attacker adds group memberships directly in AD or cloud</a:t>
              </a:r>
              <a:endParaRPr lang="en-US" sz="850" dirty="0"/>
            </a:p>
          </p:txBody>
        </p:sp>
        <p:sp>
          <p:nvSpPr>
            <p:cNvPr id="42" name="Shape 40"/>
            <p:cNvSpPr/>
            <p:nvPr/>
          </p:nvSpPr>
          <p:spPr>
            <a:xfrm>
              <a:off x="5724144" y="2598928"/>
              <a:ext cx="3474720" cy="462280"/>
            </a:xfrm>
            <a:prstGeom prst="rect">
              <a:avLst/>
            </a:prstGeom>
            <a:solidFill>
              <a:srgbClr val="EEF8F0"/>
            </a:solidFill>
            <a:ln w="6350">
              <a:solidFill>
                <a:srgbClr val="D1DDE8"/>
              </a:solidFill>
              <a:prstDash val="solid"/>
            </a:ln>
          </p:spPr>
          <p:txBody>
            <a:bodyPr/>
            <a:lstStyle/>
            <a:p>
              <a:endParaRPr lang="en-US"/>
            </a:p>
          </p:txBody>
        </p:sp>
        <p:sp>
          <p:nvSpPr>
            <p:cNvPr id="43" name="Text 41"/>
            <p:cNvSpPr/>
            <p:nvPr/>
          </p:nvSpPr>
          <p:spPr>
            <a:xfrm>
              <a:off x="5760720" y="2617216"/>
              <a:ext cx="340156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IGA reconciliation detects drift; privileged account change SIEM alerting; entitlement drift alerts</a:t>
              </a:r>
              <a:endParaRPr lang="en-US" sz="850" dirty="0"/>
            </a:p>
          </p:txBody>
        </p:sp>
        <p:sp>
          <p:nvSpPr>
            <p:cNvPr id="44" name="Shape 42"/>
            <p:cNvSpPr/>
            <p:nvPr/>
          </p:nvSpPr>
          <p:spPr>
            <a:xfrm>
              <a:off x="182880" y="3061208"/>
              <a:ext cx="914400" cy="462280"/>
            </a:xfrm>
            <a:prstGeom prst="rect">
              <a:avLst/>
            </a:prstGeom>
            <a:solidFill>
              <a:srgbClr val="FFFFFF"/>
            </a:solidFill>
            <a:ln w="6350">
              <a:solidFill>
                <a:srgbClr val="D1DDE8"/>
              </a:solidFill>
              <a:prstDash val="solid"/>
            </a:ln>
          </p:spPr>
          <p:txBody>
            <a:bodyPr/>
            <a:lstStyle/>
            <a:p>
              <a:endParaRPr lang="en-US"/>
            </a:p>
          </p:txBody>
        </p:sp>
        <p:sp>
          <p:nvSpPr>
            <p:cNvPr id="45" name="Text 43"/>
            <p:cNvSpPr/>
            <p:nvPr/>
          </p:nvSpPr>
          <p:spPr>
            <a:xfrm>
              <a:off x="219456" y="3079496"/>
              <a:ext cx="8412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T1136</a:t>
              </a:r>
              <a:endParaRPr lang="en-US" sz="850" dirty="0"/>
            </a:p>
          </p:txBody>
        </p:sp>
        <p:sp>
          <p:nvSpPr>
            <p:cNvPr id="46" name="Shape 44"/>
            <p:cNvSpPr/>
            <p:nvPr/>
          </p:nvSpPr>
          <p:spPr>
            <a:xfrm>
              <a:off x="1115568" y="3061208"/>
              <a:ext cx="1371600" cy="462280"/>
            </a:xfrm>
            <a:prstGeom prst="rect">
              <a:avLst/>
            </a:prstGeom>
            <a:solidFill>
              <a:srgbClr val="FFFFFF"/>
            </a:solidFill>
            <a:ln w="6350">
              <a:solidFill>
                <a:srgbClr val="D1DDE8"/>
              </a:solidFill>
              <a:prstDash val="solid"/>
            </a:ln>
          </p:spPr>
          <p:txBody>
            <a:bodyPr/>
            <a:lstStyle/>
            <a:p>
              <a:endParaRPr lang="en-US"/>
            </a:p>
          </p:txBody>
        </p:sp>
        <p:sp>
          <p:nvSpPr>
            <p:cNvPr id="47" name="Text 45"/>
            <p:cNvSpPr/>
            <p:nvPr/>
          </p:nvSpPr>
          <p:spPr>
            <a:xfrm>
              <a:off x="1152144" y="3079496"/>
              <a:ext cx="12984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Create Account</a:t>
              </a:r>
              <a:endParaRPr lang="en-US" sz="850" dirty="0"/>
            </a:p>
          </p:txBody>
        </p:sp>
        <p:sp>
          <p:nvSpPr>
            <p:cNvPr id="48" name="Shape 46"/>
            <p:cNvSpPr/>
            <p:nvPr/>
          </p:nvSpPr>
          <p:spPr>
            <a:xfrm>
              <a:off x="2505456" y="3061208"/>
              <a:ext cx="3200400" cy="462280"/>
            </a:xfrm>
            <a:prstGeom prst="rect">
              <a:avLst/>
            </a:prstGeom>
            <a:solidFill>
              <a:srgbClr val="FFFFFF"/>
            </a:solidFill>
            <a:ln w="6350">
              <a:solidFill>
                <a:srgbClr val="D1DDE8"/>
              </a:solidFill>
              <a:prstDash val="solid"/>
            </a:ln>
          </p:spPr>
          <p:txBody>
            <a:bodyPr/>
            <a:lstStyle/>
            <a:p>
              <a:endParaRPr lang="en-US"/>
            </a:p>
          </p:txBody>
        </p:sp>
        <p:sp>
          <p:nvSpPr>
            <p:cNvPr id="49" name="Text 47"/>
            <p:cNvSpPr/>
            <p:nvPr/>
          </p:nvSpPr>
          <p:spPr>
            <a:xfrm>
              <a:off x="2542032" y="3079496"/>
              <a:ext cx="31272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Adversary creates backdoor accounts outside IGA; orphan detection missed due to slow reconciliation</a:t>
              </a:r>
              <a:endParaRPr lang="en-US" sz="850" dirty="0"/>
            </a:p>
          </p:txBody>
        </p:sp>
        <p:sp>
          <p:nvSpPr>
            <p:cNvPr id="50" name="Shape 48"/>
            <p:cNvSpPr/>
            <p:nvPr/>
          </p:nvSpPr>
          <p:spPr>
            <a:xfrm>
              <a:off x="5724144" y="3061208"/>
              <a:ext cx="3474720" cy="462280"/>
            </a:xfrm>
            <a:prstGeom prst="rect">
              <a:avLst/>
            </a:prstGeom>
            <a:solidFill>
              <a:srgbClr val="FFFFFF"/>
            </a:solidFill>
            <a:ln w="6350">
              <a:solidFill>
                <a:srgbClr val="D1DDE8"/>
              </a:solidFill>
              <a:prstDash val="solid"/>
            </a:ln>
          </p:spPr>
          <p:txBody>
            <a:bodyPr/>
            <a:lstStyle/>
            <a:p>
              <a:endParaRPr lang="en-US"/>
            </a:p>
          </p:txBody>
        </p:sp>
        <p:sp>
          <p:nvSpPr>
            <p:cNvPr id="51" name="Text 49"/>
            <p:cNvSpPr/>
            <p:nvPr/>
          </p:nvSpPr>
          <p:spPr>
            <a:xfrm>
              <a:off x="5760720" y="3079496"/>
              <a:ext cx="340156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Orphan account detection with 24-hour SLA; SIEM alerting on account creation events outside IGA workflow</a:t>
              </a:r>
              <a:endParaRPr lang="en-US" sz="850" dirty="0"/>
            </a:p>
          </p:txBody>
        </p:sp>
        <p:sp>
          <p:nvSpPr>
            <p:cNvPr id="52" name="Shape 50"/>
            <p:cNvSpPr/>
            <p:nvPr/>
          </p:nvSpPr>
          <p:spPr>
            <a:xfrm>
              <a:off x="182880" y="3523488"/>
              <a:ext cx="914400" cy="462280"/>
            </a:xfrm>
            <a:prstGeom prst="rect">
              <a:avLst/>
            </a:prstGeom>
            <a:solidFill>
              <a:srgbClr val="EEF8F0"/>
            </a:solidFill>
            <a:ln w="6350">
              <a:solidFill>
                <a:srgbClr val="D1DDE8"/>
              </a:solidFill>
              <a:prstDash val="solid"/>
            </a:ln>
          </p:spPr>
          <p:txBody>
            <a:bodyPr/>
            <a:lstStyle/>
            <a:p>
              <a:endParaRPr lang="en-US"/>
            </a:p>
          </p:txBody>
        </p:sp>
        <p:sp>
          <p:nvSpPr>
            <p:cNvPr id="53" name="Text 51"/>
            <p:cNvSpPr/>
            <p:nvPr/>
          </p:nvSpPr>
          <p:spPr>
            <a:xfrm>
              <a:off x="219456" y="3541776"/>
              <a:ext cx="8412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T1087</a:t>
              </a:r>
              <a:endParaRPr lang="en-US" sz="850" dirty="0"/>
            </a:p>
          </p:txBody>
        </p:sp>
        <p:sp>
          <p:nvSpPr>
            <p:cNvPr id="54" name="Shape 52"/>
            <p:cNvSpPr/>
            <p:nvPr/>
          </p:nvSpPr>
          <p:spPr>
            <a:xfrm>
              <a:off x="1115568" y="3523488"/>
              <a:ext cx="1371600" cy="462280"/>
            </a:xfrm>
            <a:prstGeom prst="rect">
              <a:avLst/>
            </a:prstGeom>
            <a:solidFill>
              <a:srgbClr val="EEF8F0"/>
            </a:solidFill>
            <a:ln w="6350">
              <a:solidFill>
                <a:srgbClr val="D1DDE8"/>
              </a:solidFill>
              <a:prstDash val="solid"/>
            </a:ln>
          </p:spPr>
          <p:txBody>
            <a:bodyPr/>
            <a:lstStyle/>
            <a:p>
              <a:endParaRPr lang="en-US"/>
            </a:p>
          </p:txBody>
        </p:sp>
        <p:sp>
          <p:nvSpPr>
            <p:cNvPr id="55" name="Text 53"/>
            <p:cNvSpPr/>
            <p:nvPr/>
          </p:nvSpPr>
          <p:spPr>
            <a:xfrm>
              <a:off x="1152144" y="3541776"/>
              <a:ext cx="12984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Account Discovery</a:t>
              </a:r>
              <a:endParaRPr lang="en-US" sz="850" dirty="0"/>
            </a:p>
          </p:txBody>
        </p:sp>
        <p:sp>
          <p:nvSpPr>
            <p:cNvPr id="56" name="Shape 54"/>
            <p:cNvSpPr/>
            <p:nvPr/>
          </p:nvSpPr>
          <p:spPr>
            <a:xfrm>
              <a:off x="2505456" y="3523488"/>
              <a:ext cx="3200400" cy="462280"/>
            </a:xfrm>
            <a:prstGeom prst="rect">
              <a:avLst/>
            </a:prstGeom>
            <a:solidFill>
              <a:srgbClr val="EEF8F0"/>
            </a:solidFill>
            <a:ln w="6350">
              <a:solidFill>
                <a:srgbClr val="D1DDE8"/>
              </a:solidFill>
              <a:prstDash val="solid"/>
            </a:ln>
          </p:spPr>
          <p:txBody>
            <a:bodyPr/>
            <a:lstStyle/>
            <a:p>
              <a:endParaRPr lang="en-US"/>
            </a:p>
          </p:txBody>
        </p:sp>
        <p:sp>
          <p:nvSpPr>
            <p:cNvPr id="57" name="Text 55"/>
            <p:cNvSpPr/>
            <p:nvPr/>
          </p:nvSpPr>
          <p:spPr>
            <a:xfrm>
              <a:off x="2542032" y="3541776"/>
              <a:ext cx="31272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Directory or cloud IAM enumeration APIs enable adversary to enumerate identities and entitlements (AD LDAP, Azure Graph, AWS IAM list* actions)</a:t>
              </a:r>
              <a:endParaRPr lang="en-US" sz="850" dirty="0"/>
            </a:p>
          </p:txBody>
        </p:sp>
        <p:sp>
          <p:nvSpPr>
            <p:cNvPr id="58" name="Shape 56"/>
            <p:cNvSpPr/>
            <p:nvPr/>
          </p:nvSpPr>
          <p:spPr>
            <a:xfrm>
              <a:off x="5724144" y="3523488"/>
              <a:ext cx="3474720" cy="462280"/>
            </a:xfrm>
            <a:prstGeom prst="rect">
              <a:avLst/>
            </a:prstGeom>
            <a:solidFill>
              <a:srgbClr val="EEF8F0"/>
            </a:solidFill>
            <a:ln w="6350">
              <a:solidFill>
                <a:srgbClr val="D1DDE8"/>
              </a:solidFill>
              <a:prstDash val="solid"/>
            </a:ln>
          </p:spPr>
          <p:txBody>
            <a:bodyPr/>
            <a:lstStyle/>
            <a:p>
              <a:endParaRPr lang="en-US"/>
            </a:p>
          </p:txBody>
        </p:sp>
        <p:sp>
          <p:nvSpPr>
            <p:cNvPr id="59" name="Text 57"/>
            <p:cNvSpPr/>
            <p:nvPr/>
          </p:nvSpPr>
          <p:spPr>
            <a:xfrm>
              <a:off x="5760720" y="3541776"/>
              <a:ext cx="340156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Least-privilege access to directory and cloud IAM enumeration APIs; authentication and rate-limiting required; query anomaly detection in SIEM</a:t>
              </a:r>
              <a:endParaRPr lang="en-US" sz="850" dirty="0"/>
            </a:p>
          </p:txBody>
        </p:sp>
        <p:sp>
          <p:nvSpPr>
            <p:cNvPr id="60" name="Shape 58"/>
            <p:cNvSpPr/>
            <p:nvPr/>
          </p:nvSpPr>
          <p:spPr>
            <a:xfrm>
              <a:off x="182880" y="3985768"/>
              <a:ext cx="914400" cy="462280"/>
            </a:xfrm>
            <a:prstGeom prst="rect">
              <a:avLst/>
            </a:prstGeom>
            <a:solidFill>
              <a:srgbClr val="FFFFFF"/>
            </a:solidFill>
            <a:ln w="6350">
              <a:solidFill>
                <a:srgbClr val="D1DDE8"/>
              </a:solidFill>
              <a:prstDash val="solid"/>
            </a:ln>
          </p:spPr>
          <p:txBody>
            <a:bodyPr/>
            <a:lstStyle/>
            <a:p>
              <a:endParaRPr lang="en-US"/>
            </a:p>
          </p:txBody>
        </p:sp>
        <p:sp>
          <p:nvSpPr>
            <p:cNvPr id="61" name="Text 59"/>
            <p:cNvSpPr/>
            <p:nvPr/>
          </p:nvSpPr>
          <p:spPr>
            <a:xfrm>
              <a:off x="219456" y="4004056"/>
              <a:ext cx="8412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T1548</a:t>
              </a:r>
              <a:endParaRPr lang="en-US" sz="850" dirty="0"/>
            </a:p>
          </p:txBody>
        </p:sp>
        <p:sp>
          <p:nvSpPr>
            <p:cNvPr id="62" name="Shape 60"/>
            <p:cNvSpPr/>
            <p:nvPr/>
          </p:nvSpPr>
          <p:spPr>
            <a:xfrm>
              <a:off x="1115568" y="3985768"/>
              <a:ext cx="1371600" cy="462280"/>
            </a:xfrm>
            <a:prstGeom prst="rect">
              <a:avLst/>
            </a:prstGeom>
            <a:solidFill>
              <a:srgbClr val="FFFFFF"/>
            </a:solidFill>
            <a:ln w="6350">
              <a:solidFill>
                <a:srgbClr val="D1DDE8"/>
              </a:solidFill>
              <a:prstDash val="solid"/>
            </a:ln>
          </p:spPr>
          <p:txBody>
            <a:bodyPr/>
            <a:lstStyle/>
            <a:p>
              <a:endParaRPr lang="en-US"/>
            </a:p>
          </p:txBody>
        </p:sp>
        <p:sp>
          <p:nvSpPr>
            <p:cNvPr id="63" name="Text 61"/>
            <p:cNvSpPr/>
            <p:nvPr/>
          </p:nvSpPr>
          <p:spPr>
            <a:xfrm>
              <a:off x="1152144" y="4004056"/>
              <a:ext cx="12984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Abuse Elevation Control</a:t>
              </a:r>
              <a:endParaRPr lang="en-US" sz="850" dirty="0"/>
            </a:p>
          </p:txBody>
        </p:sp>
        <p:sp>
          <p:nvSpPr>
            <p:cNvPr id="64" name="Shape 62"/>
            <p:cNvSpPr/>
            <p:nvPr/>
          </p:nvSpPr>
          <p:spPr>
            <a:xfrm>
              <a:off x="2505456" y="3985768"/>
              <a:ext cx="3200400" cy="462280"/>
            </a:xfrm>
            <a:prstGeom prst="rect">
              <a:avLst/>
            </a:prstGeom>
            <a:solidFill>
              <a:srgbClr val="FFFFFF"/>
            </a:solidFill>
            <a:ln w="6350">
              <a:solidFill>
                <a:srgbClr val="D1DDE8"/>
              </a:solidFill>
              <a:prstDash val="solid"/>
            </a:ln>
          </p:spPr>
          <p:txBody>
            <a:bodyPr/>
            <a:lstStyle/>
            <a:p>
              <a:endParaRPr lang="en-US"/>
            </a:p>
          </p:txBody>
        </p:sp>
        <p:sp>
          <p:nvSpPr>
            <p:cNvPr id="65" name="Text 63"/>
            <p:cNvSpPr/>
            <p:nvPr/>
          </p:nvSpPr>
          <p:spPr>
            <a:xfrm>
              <a:off x="2542032" y="4004056"/>
              <a:ext cx="31272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Standing privileged accounts exploited post-compromise; adversary already has admin access</a:t>
              </a:r>
              <a:endParaRPr lang="en-US" sz="850" dirty="0"/>
            </a:p>
          </p:txBody>
        </p:sp>
        <p:sp>
          <p:nvSpPr>
            <p:cNvPr id="66" name="Shape 64"/>
            <p:cNvSpPr/>
            <p:nvPr/>
          </p:nvSpPr>
          <p:spPr>
            <a:xfrm>
              <a:off x="5724144" y="3985768"/>
              <a:ext cx="3474720" cy="462280"/>
            </a:xfrm>
            <a:prstGeom prst="rect">
              <a:avLst/>
            </a:prstGeom>
            <a:solidFill>
              <a:srgbClr val="FFFFFF"/>
            </a:solidFill>
            <a:ln w="6350">
              <a:solidFill>
                <a:srgbClr val="D1DDE8"/>
              </a:solidFill>
              <a:prstDash val="solid"/>
            </a:ln>
          </p:spPr>
          <p:txBody>
            <a:bodyPr/>
            <a:lstStyle/>
            <a:p>
              <a:endParaRPr lang="en-US"/>
            </a:p>
          </p:txBody>
        </p:sp>
        <p:sp>
          <p:nvSpPr>
            <p:cNvPr id="67" name="Text 65"/>
            <p:cNvSpPr/>
            <p:nvPr/>
          </p:nvSpPr>
          <p:spPr>
            <a:xfrm>
              <a:off x="5760720" y="4004056"/>
              <a:ext cx="340156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JIT access model; standing privilege elimination; privileged role quarterly certification; PAM-IGA integration</a:t>
              </a:r>
              <a:endParaRPr lang="en-US" sz="850" dirty="0"/>
            </a:p>
          </p:txBody>
        </p:sp>
        <p:sp>
          <p:nvSpPr>
            <p:cNvPr id="68" name="Shape 66"/>
            <p:cNvSpPr/>
            <p:nvPr/>
          </p:nvSpPr>
          <p:spPr>
            <a:xfrm>
              <a:off x="182880" y="4448048"/>
              <a:ext cx="914400" cy="462280"/>
            </a:xfrm>
            <a:prstGeom prst="rect">
              <a:avLst/>
            </a:prstGeom>
            <a:solidFill>
              <a:srgbClr val="EEF8F0"/>
            </a:solidFill>
            <a:ln w="6350">
              <a:solidFill>
                <a:srgbClr val="D1DDE8"/>
              </a:solidFill>
              <a:prstDash val="solid"/>
            </a:ln>
          </p:spPr>
          <p:txBody>
            <a:bodyPr/>
            <a:lstStyle/>
            <a:p>
              <a:endParaRPr lang="en-US"/>
            </a:p>
          </p:txBody>
        </p:sp>
        <p:sp>
          <p:nvSpPr>
            <p:cNvPr id="69" name="Text 67"/>
            <p:cNvSpPr/>
            <p:nvPr/>
          </p:nvSpPr>
          <p:spPr>
            <a:xfrm>
              <a:off x="219456" y="4466336"/>
              <a:ext cx="8412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T1556</a:t>
              </a:r>
              <a:endParaRPr lang="en-US" sz="850" dirty="0"/>
            </a:p>
          </p:txBody>
        </p:sp>
        <p:sp>
          <p:nvSpPr>
            <p:cNvPr id="70" name="Shape 68"/>
            <p:cNvSpPr/>
            <p:nvPr/>
          </p:nvSpPr>
          <p:spPr>
            <a:xfrm>
              <a:off x="1115568" y="4448048"/>
              <a:ext cx="1371600" cy="462280"/>
            </a:xfrm>
            <a:prstGeom prst="rect">
              <a:avLst/>
            </a:prstGeom>
            <a:solidFill>
              <a:srgbClr val="EEF8F0"/>
            </a:solidFill>
            <a:ln w="6350">
              <a:solidFill>
                <a:srgbClr val="D1DDE8"/>
              </a:solidFill>
              <a:prstDash val="solid"/>
            </a:ln>
          </p:spPr>
          <p:txBody>
            <a:bodyPr/>
            <a:lstStyle/>
            <a:p>
              <a:endParaRPr lang="en-US"/>
            </a:p>
          </p:txBody>
        </p:sp>
        <p:sp>
          <p:nvSpPr>
            <p:cNvPr id="71" name="Text 69"/>
            <p:cNvSpPr/>
            <p:nvPr/>
          </p:nvSpPr>
          <p:spPr>
            <a:xfrm>
              <a:off x="1152144" y="4466336"/>
              <a:ext cx="12984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Modify Auth Process</a:t>
              </a:r>
              <a:endParaRPr lang="en-US" sz="850" dirty="0"/>
            </a:p>
          </p:txBody>
        </p:sp>
        <p:sp>
          <p:nvSpPr>
            <p:cNvPr id="72" name="Shape 70"/>
            <p:cNvSpPr/>
            <p:nvPr/>
          </p:nvSpPr>
          <p:spPr>
            <a:xfrm>
              <a:off x="2505456" y="4448048"/>
              <a:ext cx="3200400" cy="462280"/>
            </a:xfrm>
            <a:prstGeom prst="rect">
              <a:avLst/>
            </a:prstGeom>
            <a:solidFill>
              <a:srgbClr val="EEF8F0"/>
            </a:solidFill>
            <a:ln w="6350">
              <a:solidFill>
                <a:srgbClr val="D1DDE8"/>
              </a:solidFill>
              <a:prstDash val="solid"/>
            </a:ln>
          </p:spPr>
          <p:txBody>
            <a:bodyPr/>
            <a:lstStyle/>
            <a:p>
              <a:endParaRPr lang="en-US"/>
            </a:p>
          </p:txBody>
        </p:sp>
        <p:sp>
          <p:nvSpPr>
            <p:cNvPr id="73" name="Text 71"/>
            <p:cNvSpPr/>
            <p:nvPr/>
          </p:nvSpPr>
          <p:spPr>
            <a:xfrm>
              <a:off x="2542032" y="4466336"/>
              <a:ext cx="312724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Excessive entitlements to auth infrastructure (DC, PKI) enable adversary to plant skeleton keys or auth backdoors</a:t>
              </a:r>
              <a:endParaRPr lang="en-US" sz="850" dirty="0"/>
            </a:p>
          </p:txBody>
        </p:sp>
        <p:sp>
          <p:nvSpPr>
            <p:cNvPr id="74" name="Shape 72"/>
            <p:cNvSpPr/>
            <p:nvPr/>
          </p:nvSpPr>
          <p:spPr>
            <a:xfrm>
              <a:off x="5724144" y="4448048"/>
              <a:ext cx="3474720" cy="462280"/>
            </a:xfrm>
            <a:prstGeom prst="rect">
              <a:avLst/>
            </a:prstGeom>
            <a:solidFill>
              <a:srgbClr val="EEF8F0"/>
            </a:solidFill>
            <a:ln w="6350">
              <a:solidFill>
                <a:srgbClr val="D1DDE8"/>
              </a:solidFill>
              <a:prstDash val="solid"/>
            </a:ln>
          </p:spPr>
          <p:txBody>
            <a:bodyPr/>
            <a:lstStyle/>
            <a:p>
              <a:endParaRPr lang="en-US"/>
            </a:p>
          </p:txBody>
        </p:sp>
        <p:sp>
          <p:nvSpPr>
            <p:cNvPr id="75" name="Text 73"/>
            <p:cNvSpPr/>
            <p:nvPr/>
          </p:nvSpPr>
          <p:spPr>
            <a:xfrm>
              <a:off x="5760720" y="4466336"/>
              <a:ext cx="3401568" cy="425704"/>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SoD: no identity holds auth infrastructure write access plus business entitlements; Tier 0 governed under strictest JIT model</a:t>
              </a:r>
              <a:endParaRPr lang="en-US" sz="850" dirty="0"/>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C5E"/>
          </a:solidFill>
          <a:ln w="12700">
            <a:solidFill>
              <a:srgbClr val="1A3C5E"/>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Identity Attack Path: Real-World Example</a:t>
            </a:r>
            <a:endParaRPr lang="en-US" sz="2000" dirty="0"/>
          </a:p>
        </p:txBody>
      </p:sp>
      <p:sp>
        <p:nvSpPr>
          <p:cNvPr id="4" name="Shape 2"/>
          <p:cNvSpPr/>
          <p:nvPr/>
        </p:nvSpPr>
        <p:spPr>
          <a:xfrm>
            <a:off x="182880" y="786384"/>
            <a:ext cx="1645920" cy="274320"/>
          </a:xfrm>
          <a:prstGeom prst="rect">
            <a:avLst/>
          </a:prstGeom>
          <a:solidFill>
            <a:srgbClr val="1A3C5E"/>
          </a:solidFill>
          <a:ln w="12700">
            <a:solidFill>
              <a:srgbClr val="1A3C5E"/>
            </a:solidFill>
            <a:prstDash val="solid"/>
          </a:ln>
        </p:spPr>
        <p:txBody>
          <a:bodyPr/>
          <a:lstStyle/>
          <a:p>
            <a:endParaRPr lang="en-US"/>
          </a:p>
        </p:txBody>
      </p:sp>
      <p:sp>
        <p:nvSpPr>
          <p:cNvPr id="5" name="Text 3"/>
          <p:cNvSpPr/>
          <p:nvPr/>
        </p:nvSpPr>
        <p:spPr>
          <a:xfrm>
            <a:off x="228600" y="786384"/>
            <a:ext cx="155448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Attack Stage</a:t>
            </a:r>
            <a:endParaRPr lang="en-US" sz="900" dirty="0"/>
          </a:p>
        </p:txBody>
      </p:sp>
      <p:sp>
        <p:nvSpPr>
          <p:cNvPr id="6" name="Shape 4"/>
          <p:cNvSpPr/>
          <p:nvPr/>
        </p:nvSpPr>
        <p:spPr>
          <a:xfrm>
            <a:off x="1847088" y="786384"/>
            <a:ext cx="1783080" cy="274320"/>
          </a:xfrm>
          <a:prstGeom prst="rect">
            <a:avLst/>
          </a:prstGeom>
          <a:solidFill>
            <a:srgbClr val="2D7D46"/>
          </a:solidFill>
          <a:ln w="12700">
            <a:solidFill>
              <a:srgbClr val="2D7D46"/>
            </a:solidFill>
            <a:prstDash val="solid"/>
          </a:ln>
        </p:spPr>
        <p:txBody>
          <a:bodyPr/>
          <a:lstStyle/>
          <a:p>
            <a:endParaRPr lang="en-US"/>
          </a:p>
        </p:txBody>
      </p:sp>
      <p:sp>
        <p:nvSpPr>
          <p:cNvPr id="7" name="Text 5"/>
          <p:cNvSpPr/>
          <p:nvPr/>
        </p:nvSpPr>
        <p:spPr>
          <a:xfrm>
            <a:off x="1892808" y="786384"/>
            <a:ext cx="169164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IGA Control</a:t>
            </a:r>
            <a:endParaRPr lang="en-US" sz="900" dirty="0"/>
          </a:p>
        </p:txBody>
      </p:sp>
      <p:sp>
        <p:nvSpPr>
          <p:cNvPr id="8" name="Shape 6"/>
          <p:cNvSpPr/>
          <p:nvPr/>
        </p:nvSpPr>
        <p:spPr>
          <a:xfrm>
            <a:off x="3648456" y="786384"/>
            <a:ext cx="1920240" cy="274320"/>
          </a:xfrm>
          <a:prstGeom prst="rect">
            <a:avLst/>
          </a:prstGeom>
          <a:solidFill>
            <a:srgbClr val="1565C0"/>
          </a:solidFill>
          <a:ln w="12700">
            <a:solidFill>
              <a:srgbClr val="1565C0"/>
            </a:solidFill>
            <a:prstDash val="solid"/>
          </a:ln>
        </p:spPr>
        <p:txBody>
          <a:bodyPr/>
          <a:lstStyle/>
          <a:p>
            <a:endParaRPr lang="en-US"/>
          </a:p>
        </p:txBody>
      </p:sp>
      <p:sp>
        <p:nvSpPr>
          <p:cNvPr id="9" name="Text 7"/>
          <p:cNvSpPr/>
          <p:nvPr/>
        </p:nvSpPr>
        <p:spPr>
          <a:xfrm>
            <a:off x="3694176" y="786384"/>
            <a:ext cx="182880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IdP Control</a:t>
            </a:r>
            <a:endParaRPr lang="en-US" sz="900" dirty="0"/>
          </a:p>
        </p:txBody>
      </p:sp>
      <p:sp>
        <p:nvSpPr>
          <p:cNvPr id="10" name="Shape 8"/>
          <p:cNvSpPr/>
          <p:nvPr/>
        </p:nvSpPr>
        <p:spPr>
          <a:xfrm>
            <a:off x="5586984" y="786384"/>
            <a:ext cx="1417320" cy="274320"/>
          </a:xfrm>
          <a:prstGeom prst="rect">
            <a:avLst/>
          </a:prstGeom>
          <a:solidFill>
            <a:srgbClr val="6B21A8"/>
          </a:solidFill>
          <a:ln w="12700">
            <a:solidFill>
              <a:srgbClr val="6B21A8"/>
            </a:solidFill>
            <a:prstDash val="solid"/>
          </a:ln>
        </p:spPr>
        <p:txBody>
          <a:bodyPr/>
          <a:lstStyle/>
          <a:p>
            <a:endParaRPr lang="en-US"/>
          </a:p>
        </p:txBody>
      </p:sp>
      <p:sp>
        <p:nvSpPr>
          <p:cNvPr id="11" name="Text 9"/>
          <p:cNvSpPr/>
          <p:nvPr/>
        </p:nvSpPr>
        <p:spPr>
          <a:xfrm>
            <a:off x="5632704" y="786384"/>
            <a:ext cx="132588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PAM Control</a:t>
            </a:r>
            <a:endParaRPr lang="en-US" sz="900" dirty="0"/>
          </a:p>
        </p:txBody>
      </p:sp>
      <p:sp>
        <p:nvSpPr>
          <p:cNvPr id="12" name="Shape 10"/>
          <p:cNvSpPr/>
          <p:nvPr/>
        </p:nvSpPr>
        <p:spPr>
          <a:xfrm>
            <a:off x="7022592" y="786384"/>
            <a:ext cx="2011680" cy="274320"/>
          </a:xfrm>
          <a:prstGeom prst="rect">
            <a:avLst/>
          </a:prstGeom>
          <a:solidFill>
            <a:srgbClr val="D97706"/>
          </a:solidFill>
          <a:ln w="12700">
            <a:solidFill>
              <a:srgbClr val="D97706"/>
            </a:solidFill>
            <a:prstDash val="solid"/>
          </a:ln>
        </p:spPr>
        <p:txBody>
          <a:bodyPr/>
          <a:lstStyle/>
          <a:p>
            <a:endParaRPr lang="en-US"/>
          </a:p>
        </p:txBody>
      </p:sp>
      <p:sp>
        <p:nvSpPr>
          <p:cNvPr id="13" name="Text 11"/>
          <p:cNvSpPr/>
          <p:nvPr/>
        </p:nvSpPr>
        <p:spPr>
          <a:xfrm>
            <a:off x="7068312" y="786384"/>
            <a:ext cx="192024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CIEM Control</a:t>
            </a:r>
            <a:endParaRPr lang="en-US" sz="900" dirty="0"/>
          </a:p>
        </p:txBody>
      </p:sp>
      <p:sp>
        <p:nvSpPr>
          <p:cNvPr id="14" name="Shape 12"/>
          <p:cNvSpPr/>
          <p:nvPr/>
        </p:nvSpPr>
        <p:spPr>
          <a:xfrm>
            <a:off x="182880" y="1060704"/>
            <a:ext cx="1645920" cy="749808"/>
          </a:xfrm>
          <a:prstGeom prst="rect">
            <a:avLst/>
          </a:prstGeom>
          <a:solidFill>
            <a:srgbClr val="FFFFFF"/>
          </a:solidFill>
          <a:ln w="6350">
            <a:solidFill>
              <a:srgbClr val="D1DDE8"/>
            </a:solidFill>
            <a:prstDash val="solid"/>
          </a:ln>
        </p:spPr>
        <p:txBody>
          <a:bodyPr/>
          <a:lstStyle/>
          <a:p>
            <a:endParaRPr lang="en-US"/>
          </a:p>
        </p:txBody>
      </p:sp>
      <p:sp>
        <p:nvSpPr>
          <p:cNvPr id="15" name="Text 13"/>
          <p:cNvSpPr/>
          <p:nvPr/>
        </p:nvSpPr>
        <p:spPr>
          <a:xfrm>
            <a:off x="228600" y="1088136"/>
            <a:ext cx="1554480" cy="201168"/>
          </a:xfrm>
          <a:prstGeom prst="rect">
            <a:avLst/>
          </a:prstGeom>
          <a:noFill/>
          <a:ln/>
        </p:spPr>
        <p:txBody>
          <a:bodyPr wrap="square" lIns="0" tIns="0" rIns="0" bIns="0" rtlCol="0" anchor="ctr"/>
          <a:lstStyle/>
          <a:p>
            <a:pPr marL="0" indent="0">
              <a:buNone/>
            </a:pPr>
            <a:r>
              <a:rPr lang="en-US" sz="850" b="1" dirty="0">
                <a:solidFill>
                  <a:srgbClr val="1A2E44"/>
                </a:solidFill>
                <a:latin typeface="Calibri" pitchFamily="34" charset="0"/>
                <a:ea typeface="Calibri" pitchFamily="34" charset="-122"/>
                <a:cs typeface="Calibri" pitchFamily="34" charset="-120"/>
              </a:rPr>
              <a:t>1. Phishing Compromise</a:t>
            </a:r>
            <a:endParaRPr lang="en-US" sz="850" dirty="0"/>
          </a:p>
        </p:txBody>
      </p:sp>
      <p:sp>
        <p:nvSpPr>
          <p:cNvPr id="16" name="Text 14"/>
          <p:cNvSpPr/>
          <p:nvPr/>
        </p:nvSpPr>
        <p:spPr>
          <a:xfrm>
            <a:off x="228600" y="1298448"/>
            <a:ext cx="1554480" cy="155448"/>
          </a:xfrm>
          <a:prstGeom prst="rect">
            <a:avLst/>
          </a:prstGeom>
          <a:noFill/>
          <a:ln/>
        </p:spPr>
        <p:txBody>
          <a:bodyPr wrap="square" lIns="0" tIns="0" rIns="0" bIns="0" rtlCol="0" anchor="ctr"/>
          <a:lstStyle/>
          <a:p>
            <a:pPr marL="0" indent="0">
              <a:buNone/>
            </a:pPr>
            <a:r>
              <a:rPr lang="en-US" sz="700" i="1" dirty="0">
                <a:solidFill>
                  <a:srgbClr val="C0392B"/>
                </a:solidFill>
                <a:latin typeface="Calibri" pitchFamily="34" charset="0"/>
                <a:ea typeface="Calibri" pitchFamily="34" charset="-122"/>
                <a:cs typeface="Calibri" pitchFamily="34" charset="-120"/>
              </a:rPr>
              <a:t>MITRE: T1566 / T1078</a:t>
            </a:r>
            <a:endParaRPr lang="en-US" sz="700" dirty="0"/>
          </a:p>
        </p:txBody>
      </p:sp>
      <p:sp>
        <p:nvSpPr>
          <p:cNvPr id="17" name="Text 15"/>
          <p:cNvSpPr/>
          <p:nvPr/>
        </p:nvSpPr>
        <p:spPr>
          <a:xfrm>
            <a:off x="228600" y="1463040"/>
            <a:ext cx="1554480" cy="320040"/>
          </a:xfrm>
          <a:prstGeom prst="rect">
            <a:avLst/>
          </a:prstGeom>
          <a:noFill/>
          <a:ln/>
        </p:spPr>
        <p:txBody>
          <a:bodyPr wrap="square" lIns="0" tIns="0" rIns="0" bIns="0" rtlCol="0" anchor="ctr"/>
          <a:lstStyle/>
          <a:p>
            <a:pPr marL="0" indent="0">
              <a:buNone/>
            </a:pPr>
            <a:r>
              <a:rPr lang="en-US" sz="750" dirty="0">
                <a:solidFill>
                  <a:srgbClr val="4B6076"/>
                </a:solidFill>
                <a:latin typeface="Calibri" pitchFamily="34" charset="0"/>
                <a:ea typeface="Calibri" pitchFamily="34" charset="-122"/>
                <a:cs typeface="Calibri" pitchFamily="34" charset="-120"/>
              </a:rPr>
              <a:t>AiTM phishing captures session cookie or OAuth token, bypassing MFA prompt.</a:t>
            </a:r>
            <a:endParaRPr lang="en-US" sz="750" dirty="0"/>
          </a:p>
        </p:txBody>
      </p:sp>
      <p:sp>
        <p:nvSpPr>
          <p:cNvPr id="18" name="Shape 16"/>
          <p:cNvSpPr/>
          <p:nvPr/>
        </p:nvSpPr>
        <p:spPr>
          <a:xfrm>
            <a:off x="1847088" y="1060704"/>
            <a:ext cx="1783080" cy="749808"/>
          </a:xfrm>
          <a:prstGeom prst="rect">
            <a:avLst/>
          </a:prstGeom>
          <a:solidFill>
            <a:srgbClr val="FFFFFF"/>
          </a:solidFill>
          <a:ln w="6350">
            <a:solidFill>
              <a:srgbClr val="D1DDE8"/>
            </a:solidFill>
            <a:prstDash val="solid"/>
          </a:ln>
        </p:spPr>
        <p:txBody>
          <a:bodyPr/>
          <a:lstStyle/>
          <a:p>
            <a:endParaRPr lang="en-US"/>
          </a:p>
        </p:txBody>
      </p:sp>
      <p:sp>
        <p:nvSpPr>
          <p:cNvPr id="19" name="Text 17"/>
          <p:cNvSpPr/>
          <p:nvPr/>
        </p:nvSpPr>
        <p:spPr>
          <a:xfrm>
            <a:off x="1892808" y="1097280"/>
            <a:ext cx="1691640" cy="676656"/>
          </a:xfrm>
          <a:prstGeom prst="rect">
            <a:avLst/>
          </a:prstGeom>
          <a:noFill/>
          <a:ln/>
        </p:spPr>
        <p:txBody>
          <a:bodyPr wrap="square" lIns="0" tIns="0" rIns="0" bIns="0" rtlCol="0" anchor="ctr"/>
          <a:lstStyle/>
          <a:p>
            <a:pPr marL="0" indent="0">
              <a:buNone/>
            </a:pPr>
            <a:r>
              <a:rPr lang="en-US" sz="750" dirty="0">
                <a:solidFill>
                  <a:srgbClr val="8BAAC2"/>
                </a:solidFill>
                <a:latin typeface="Calibri" pitchFamily="34" charset="0"/>
                <a:ea typeface="Calibri" pitchFamily="34" charset="-122"/>
                <a:cs typeface="Calibri" pitchFamily="34" charset="-120"/>
              </a:rPr>
              <a:t>—</a:t>
            </a:r>
            <a:endParaRPr lang="en-US" sz="750" dirty="0"/>
          </a:p>
        </p:txBody>
      </p:sp>
      <p:sp>
        <p:nvSpPr>
          <p:cNvPr id="20" name="Shape 18"/>
          <p:cNvSpPr/>
          <p:nvPr/>
        </p:nvSpPr>
        <p:spPr>
          <a:xfrm>
            <a:off x="3648456" y="1060704"/>
            <a:ext cx="1920240" cy="749808"/>
          </a:xfrm>
          <a:prstGeom prst="rect">
            <a:avLst/>
          </a:prstGeom>
          <a:solidFill>
            <a:srgbClr val="EBF3FA"/>
          </a:solidFill>
          <a:ln w="6350">
            <a:solidFill>
              <a:srgbClr val="D1DDE8"/>
            </a:solidFill>
            <a:prstDash val="solid"/>
          </a:ln>
        </p:spPr>
        <p:txBody>
          <a:bodyPr/>
          <a:lstStyle/>
          <a:p>
            <a:endParaRPr lang="en-US"/>
          </a:p>
        </p:txBody>
      </p:sp>
      <p:sp>
        <p:nvSpPr>
          <p:cNvPr id="21" name="Text 19"/>
          <p:cNvSpPr/>
          <p:nvPr/>
        </p:nvSpPr>
        <p:spPr>
          <a:xfrm>
            <a:off x="3694176" y="1097280"/>
            <a:ext cx="1828800" cy="676656"/>
          </a:xfrm>
          <a:prstGeom prst="rect">
            <a:avLst/>
          </a:prstGeom>
          <a:noFill/>
          <a:ln/>
        </p:spPr>
        <p:txBody>
          <a:bodyPr wrap="square" lIns="0" tIns="0" rIns="0" bIns="0" rtlCol="0" anchor="ctr"/>
          <a:lstStyle/>
          <a:p>
            <a:pPr marL="0" indent="0">
              <a:buNone/>
            </a:pPr>
            <a:r>
              <a:rPr lang="en-US" sz="750" dirty="0">
                <a:solidFill>
                  <a:srgbClr val="1565C0"/>
                </a:solidFill>
                <a:latin typeface="Calibri" pitchFamily="34" charset="0"/>
                <a:ea typeface="Calibri" pitchFamily="34" charset="-122"/>
                <a:cs typeface="Calibri" pitchFamily="34" charset="-120"/>
              </a:rPr>
              <a:t>Phishing-resistant MFA (FIDO2) blocks AiTM proxy. Risk-based CA flags new device.</a:t>
            </a:r>
            <a:endParaRPr lang="en-US" sz="750" dirty="0"/>
          </a:p>
        </p:txBody>
      </p:sp>
      <p:sp>
        <p:nvSpPr>
          <p:cNvPr id="22" name="Shape 20"/>
          <p:cNvSpPr/>
          <p:nvPr/>
        </p:nvSpPr>
        <p:spPr>
          <a:xfrm>
            <a:off x="5586984" y="1060704"/>
            <a:ext cx="1417320" cy="749808"/>
          </a:xfrm>
          <a:prstGeom prst="rect">
            <a:avLst/>
          </a:prstGeom>
          <a:solidFill>
            <a:srgbClr val="FFFFFF"/>
          </a:solidFill>
          <a:ln w="6350">
            <a:solidFill>
              <a:srgbClr val="D1DDE8"/>
            </a:solidFill>
            <a:prstDash val="solid"/>
          </a:ln>
        </p:spPr>
        <p:txBody>
          <a:bodyPr/>
          <a:lstStyle/>
          <a:p>
            <a:endParaRPr lang="en-US"/>
          </a:p>
        </p:txBody>
      </p:sp>
      <p:sp>
        <p:nvSpPr>
          <p:cNvPr id="23" name="Text 21"/>
          <p:cNvSpPr/>
          <p:nvPr/>
        </p:nvSpPr>
        <p:spPr>
          <a:xfrm>
            <a:off x="5632704" y="1097280"/>
            <a:ext cx="1325880" cy="676656"/>
          </a:xfrm>
          <a:prstGeom prst="rect">
            <a:avLst/>
          </a:prstGeom>
          <a:noFill/>
          <a:ln/>
        </p:spPr>
        <p:txBody>
          <a:bodyPr wrap="square" lIns="0" tIns="0" rIns="0" bIns="0" rtlCol="0" anchor="ctr"/>
          <a:lstStyle/>
          <a:p>
            <a:pPr marL="0" indent="0">
              <a:buNone/>
            </a:pPr>
            <a:r>
              <a:rPr lang="en-US" sz="750" dirty="0">
                <a:solidFill>
                  <a:srgbClr val="8BAAC2"/>
                </a:solidFill>
                <a:latin typeface="Calibri" pitchFamily="34" charset="0"/>
                <a:ea typeface="Calibri" pitchFamily="34" charset="-122"/>
                <a:cs typeface="Calibri" pitchFamily="34" charset="-120"/>
              </a:rPr>
              <a:t>—</a:t>
            </a:r>
            <a:endParaRPr lang="en-US" sz="750" dirty="0"/>
          </a:p>
        </p:txBody>
      </p:sp>
      <p:sp>
        <p:nvSpPr>
          <p:cNvPr id="24" name="Shape 22"/>
          <p:cNvSpPr/>
          <p:nvPr/>
        </p:nvSpPr>
        <p:spPr>
          <a:xfrm>
            <a:off x="7022592" y="1060704"/>
            <a:ext cx="2011680" cy="749808"/>
          </a:xfrm>
          <a:prstGeom prst="rect">
            <a:avLst/>
          </a:prstGeom>
          <a:solidFill>
            <a:srgbClr val="FFFFFF"/>
          </a:solidFill>
          <a:ln w="6350">
            <a:solidFill>
              <a:srgbClr val="D1DDE8"/>
            </a:solidFill>
            <a:prstDash val="solid"/>
          </a:ln>
        </p:spPr>
        <p:txBody>
          <a:bodyPr/>
          <a:lstStyle/>
          <a:p>
            <a:endParaRPr lang="en-US"/>
          </a:p>
        </p:txBody>
      </p:sp>
      <p:sp>
        <p:nvSpPr>
          <p:cNvPr id="25" name="Text 23"/>
          <p:cNvSpPr/>
          <p:nvPr/>
        </p:nvSpPr>
        <p:spPr>
          <a:xfrm>
            <a:off x="7068312" y="1097280"/>
            <a:ext cx="1920240" cy="676656"/>
          </a:xfrm>
          <a:prstGeom prst="rect">
            <a:avLst/>
          </a:prstGeom>
          <a:noFill/>
          <a:ln/>
        </p:spPr>
        <p:txBody>
          <a:bodyPr wrap="square" lIns="0" tIns="0" rIns="0" bIns="0" rtlCol="0" anchor="ctr"/>
          <a:lstStyle/>
          <a:p>
            <a:pPr marL="0" indent="0">
              <a:buNone/>
            </a:pPr>
            <a:r>
              <a:rPr lang="en-US" sz="750" dirty="0">
                <a:solidFill>
                  <a:srgbClr val="8BAAC2"/>
                </a:solidFill>
                <a:latin typeface="Calibri" pitchFamily="34" charset="0"/>
                <a:ea typeface="Calibri" pitchFamily="34" charset="-122"/>
                <a:cs typeface="Calibri" pitchFamily="34" charset="-120"/>
              </a:rPr>
              <a:t>—</a:t>
            </a:r>
            <a:endParaRPr lang="en-US" sz="750" dirty="0"/>
          </a:p>
        </p:txBody>
      </p:sp>
      <p:sp>
        <p:nvSpPr>
          <p:cNvPr id="26" name="Shape 24"/>
          <p:cNvSpPr/>
          <p:nvPr/>
        </p:nvSpPr>
        <p:spPr>
          <a:xfrm>
            <a:off x="182880" y="1810512"/>
            <a:ext cx="1645920" cy="749808"/>
          </a:xfrm>
          <a:prstGeom prst="rect">
            <a:avLst/>
          </a:prstGeom>
          <a:solidFill>
            <a:srgbClr val="EEF8F0"/>
          </a:solidFill>
          <a:ln w="6350">
            <a:solidFill>
              <a:srgbClr val="D1DDE8"/>
            </a:solidFill>
            <a:prstDash val="solid"/>
          </a:ln>
        </p:spPr>
        <p:txBody>
          <a:bodyPr/>
          <a:lstStyle/>
          <a:p>
            <a:endParaRPr lang="en-US"/>
          </a:p>
        </p:txBody>
      </p:sp>
      <p:sp>
        <p:nvSpPr>
          <p:cNvPr id="27" name="Text 25"/>
          <p:cNvSpPr/>
          <p:nvPr/>
        </p:nvSpPr>
        <p:spPr>
          <a:xfrm>
            <a:off x="228600" y="1837944"/>
            <a:ext cx="1554480" cy="201168"/>
          </a:xfrm>
          <a:prstGeom prst="rect">
            <a:avLst/>
          </a:prstGeom>
          <a:noFill/>
          <a:ln/>
        </p:spPr>
        <p:txBody>
          <a:bodyPr wrap="square" lIns="0" tIns="0" rIns="0" bIns="0" rtlCol="0" anchor="ctr"/>
          <a:lstStyle/>
          <a:p>
            <a:pPr marL="0" indent="0">
              <a:buNone/>
            </a:pPr>
            <a:r>
              <a:rPr lang="en-US" sz="850" b="1" dirty="0">
                <a:solidFill>
                  <a:srgbClr val="1A2E44"/>
                </a:solidFill>
                <a:latin typeface="Calibri" pitchFamily="34" charset="0"/>
                <a:ea typeface="Calibri" pitchFamily="34" charset="-122"/>
                <a:cs typeface="Calibri" pitchFamily="34" charset="-120"/>
              </a:rPr>
              <a:t>2. Token Theft &amp; Persistence</a:t>
            </a:r>
            <a:endParaRPr lang="en-US" sz="850" dirty="0"/>
          </a:p>
        </p:txBody>
      </p:sp>
      <p:sp>
        <p:nvSpPr>
          <p:cNvPr id="28" name="Text 26"/>
          <p:cNvSpPr/>
          <p:nvPr/>
        </p:nvSpPr>
        <p:spPr>
          <a:xfrm>
            <a:off x="228600" y="2048256"/>
            <a:ext cx="1554480" cy="155448"/>
          </a:xfrm>
          <a:prstGeom prst="rect">
            <a:avLst/>
          </a:prstGeom>
          <a:noFill/>
          <a:ln/>
        </p:spPr>
        <p:txBody>
          <a:bodyPr wrap="square" lIns="0" tIns="0" rIns="0" bIns="0" rtlCol="0" anchor="ctr"/>
          <a:lstStyle/>
          <a:p>
            <a:pPr marL="0" indent="0">
              <a:buNone/>
            </a:pPr>
            <a:r>
              <a:rPr lang="en-US" sz="700" i="1" dirty="0">
                <a:solidFill>
                  <a:srgbClr val="C0392B"/>
                </a:solidFill>
                <a:latin typeface="Calibri" pitchFamily="34" charset="0"/>
                <a:ea typeface="Calibri" pitchFamily="34" charset="-122"/>
                <a:cs typeface="Calibri" pitchFamily="34" charset="-120"/>
              </a:rPr>
              <a:t>MITRE: T1539 / T1528</a:t>
            </a:r>
            <a:endParaRPr lang="en-US" sz="700" dirty="0"/>
          </a:p>
        </p:txBody>
      </p:sp>
      <p:sp>
        <p:nvSpPr>
          <p:cNvPr id="29" name="Text 27"/>
          <p:cNvSpPr/>
          <p:nvPr/>
        </p:nvSpPr>
        <p:spPr>
          <a:xfrm>
            <a:off x="228600" y="2212848"/>
            <a:ext cx="1554480" cy="320040"/>
          </a:xfrm>
          <a:prstGeom prst="rect">
            <a:avLst/>
          </a:prstGeom>
          <a:noFill/>
          <a:ln/>
        </p:spPr>
        <p:txBody>
          <a:bodyPr wrap="square" lIns="0" tIns="0" rIns="0" bIns="0" rtlCol="0" anchor="ctr"/>
          <a:lstStyle/>
          <a:p>
            <a:pPr marL="0" indent="0">
              <a:buNone/>
            </a:pPr>
            <a:r>
              <a:rPr lang="en-US" sz="750" dirty="0">
                <a:solidFill>
                  <a:srgbClr val="4B6076"/>
                </a:solidFill>
                <a:latin typeface="Calibri" pitchFamily="34" charset="0"/>
                <a:ea typeface="Calibri" pitchFamily="34" charset="-122"/>
                <a:cs typeface="Calibri" pitchFamily="34" charset="-120"/>
              </a:rPr>
              <a:t>Stolen token replayed. OAuth consent grant requested for persistent app access.</a:t>
            </a:r>
            <a:endParaRPr lang="en-US" sz="750" dirty="0"/>
          </a:p>
        </p:txBody>
      </p:sp>
      <p:sp>
        <p:nvSpPr>
          <p:cNvPr id="30" name="Shape 28"/>
          <p:cNvSpPr/>
          <p:nvPr/>
        </p:nvSpPr>
        <p:spPr>
          <a:xfrm>
            <a:off x="1847088" y="1810512"/>
            <a:ext cx="1783080" cy="749808"/>
          </a:xfrm>
          <a:prstGeom prst="rect">
            <a:avLst/>
          </a:prstGeom>
          <a:solidFill>
            <a:srgbClr val="F0FAF4"/>
          </a:solidFill>
          <a:ln w="6350">
            <a:solidFill>
              <a:srgbClr val="D1DDE8"/>
            </a:solidFill>
            <a:prstDash val="solid"/>
          </a:ln>
        </p:spPr>
        <p:txBody>
          <a:bodyPr/>
          <a:lstStyle/>
          <a:p>
            <a:endParaRPr lang="en-US"/>
          </a:p>
        </p:txBody>
      </p:sp>
      <p:sp>
        <p:nvSpPr>
          <p:cNvPr id="31" name="Text 29"/>
          <p:cNvSpPr/>
          <p:nvPr/>
        </p:nvSpPr>
        <p:spPr>
          <a:xfrm>
            <a:off x="1892808" y="1847088"/>
            <a:ext cx="1691640" cy="676656"/>
          </a:xfrm>
          <a:prstGeom prst="rect">
            <a:avLst/>
          </a:prstGeom>
          <a:noFill/>
          <a:ln/>
        </p:spPr>
        <p:txBody>
          <a:bodyPr wrap="square" lIns="0" tIns="0" rIns="0" bIns="0" rtlCol="0" anchor="ctr"/>
          <a:lstStyle/>
          <a:p>
            <a:pPr marL="0" indent="0">
              <a:buNone/>
            </a:pPr>
            <a:r>
              <a:rPr lang="en-US" sz="750" dirty="0">
                <a:solidFill>
                  <a:srgbClr val="2D7D46"/>
                </a:solidFill>
                <a:latin typeface="Calibri" pitchFamily="34" charset="0"/>
                <a:ea typeface="Calibri" pitchFamily="34" charset="-122"/>
                <a:cs typeface="Calibri" pitchFamily="34" charset="-120"/>
              </a:rPr>
              <a:t>Orphaned OAuth consents surfaced in access review cycle.</a:t>
            </a:r>
            <a:endParaRPr lang="en-US" sz="750" dirty="0"/>
          </a:p>
        </p:txBody>
      </p:sp>
      <p:sp>
        <p:nvSpPr>
          <p:cNvPr id="32" name="Shape 30"/>
          <p:cNvSpPr/>
          <p:nvPr/>
        </p:nvSpPr>
        <p:spPr>
          <a:xfrm>
            <a:off x="3648456" y="1810512"/>
            <a:ext cx="1920240" cy="749808"/>
          </a:xfrm>
          <a:prstGeom prst="rect">
            <a:avLst/>
          </a:prstGeom>
          <a:solidFill>
            <a:srgbClr val="EBF3FA"/>
          </a:solidFill>
          <a:ln w="6350">
            <a:solidFill>
              <a:srgbClr val="D1DDE8"/>
            </a:solidFill>
            <a:prstDash val="solid"/>
          </a:ln>
        </p:spPr>
        <p:txBody>
          <a:bodyPr/>
          <a:lstStyle/>
          <a:p>
            <a:endParaRPr lang="en-US"/>
          </a:p>
        </p:txBody>
      </p:sp>
      <p:sp>
        <p:nvSpPr>
          <p:cNvPr id="33" name="Text 31"/>
          <p:cNvSpPr/>
          <p:nvPr/>
        </p:nvSpPr>
        <p:spPr>
          <a:xfrm>
            <a:off x="3694176" y="1847088"/>
            <a:ext cx="1828800" cy="676656"/>
          </a:xfrm>
          <a:prstGeom prst="rect">
            <a:avLst/>
          </a:prstGeom>
          <a:noFill/>
          <a:ln/>
        </p:spPr>
        <p:txBody>
          <a:bodyPr wrap="square" lIns="0" tIns="0" rIns="0" bIns="0" rtlCol="0" anchor="ctr"/>
          <a:lstStyle/>
          <a:p>
            <a:pPr marL="0" indent="0">
              <a:buNone/>
            </a:pPr>
            <a:r>
              <a:rPr lang="en-US" sz="750" dirty="0">
                <a:solidFill>
                  <a:srgbClr val="1565C0"/>
                </a:solidFill>
                <a:latin typeface="Calibri" pitchFamily="34" charset="0"/>
                <a:ea typeface="Calibri" pitchFamily="34" charset="-122"/>
                <a:cs typeface="Calibri" pitchFamily="34" charset="-120"/>
              </a:rPr>
              <a:t>CAEP/CAE revokes session on anomaly signal. Restrict consent to approved apps only.</a:t>
            </a:r>
            <a:endParaRPr lang="en-US" sz="750" dirty="0"/>
          </a:p>
        </p:txBody>
      </p:sp>
      <p:sp>
        <p:nvSpPr>
          <p:cNvPr id="34" name="Shape 32"/>
          <p:cNvSpPr/>
          <p:nvPr/>
        </p:nvSpPr>
        <p:spPr>
          <a:xfrm>
            <a:off x="5586984" y="1810512"/>
            <a:ext cx="1417320" cy="749808"/>
          </a:xfrm>
          <a:prstGeom prst="rect">
            <a:avLst/>
          </a:prstGeom>
          <a:solidFill>
            <a:srgbClr val="EEF8F0"/>
          </a:solidFill>
          <a:ln w="6350">
            <a:solidFill>
              <a:srgbClr val="D1DDE8"/>
            </a:solidFill>
            <a:prstDash val="solid"/>
          </a:ln>
        </p:spPr>
        <p:txBody>
          <a:bodyPr/>
          <a:lstStyle/>
          <a:p>
            <a:endParaRPr lang="en-US"/>
          </a:p>
        </p:txBody>
      </p:sp>
      <p:sp>
        <p:nvSpPr>
          <p:cNvPr id="35" name="Text 33"/>
          <p:cNvSpPr/>
          <p:nvPr/>
        </p:nvSpPr>
        <p:spPr>
          <a:xfrm>
            <a:off x="5632704" y="1847088"/>
            <a:ext cx="1325880" cy="676656"/>
          </a:xfrm>
          <a:prstGeom prst="rect">
            <a:avLst/>
          </a:prstGeom>
          <a:noFill/>
          <a:ln/>
        </p:spPr>
        <p:txBody>
          <a:bodyPr wrap="square" lIns="0" tIns="0" rIns="0" bIns="0" rtlCol="0" anchor="ctr"/>
          <a:lstStyle/>
          <a:p>
            <a:pPr marL="0" indent="0">
              <a:buNone/>
            </a:pPr>
            <a:r>
              <a:rPr lang="en-US" sz="750" dirty="0">
                <a:solidFill>
                  <a:srgbClr val="8BAAC2"/>
                </a:solidFill>
                <a:latin typeface="Calibri" pitchFamily="34" charset="0"/>
                <a:ea typeface="Calibri" pitchFamily="34" charset="-122"/>
                <a:cs typeface="Calibri" pitchFamily="34" charset="-120"/>
              </a:rPr>
              <a:t>—</a:t>
            </a:r>
            <a:endParaRPr lang="en-US" sz="750" dirty="0"/>
          </a:p>
        </p:txBody>
      </p:sp>
      <p:sp>
        <p:nvSpPr>
          <p:cNvPr id="36" name="Shape 34"/>
          <p:cNvSpPr/>
          <p:nvPr/>
        </p:nvSpPr>
        <p:spPr>
          <a:xfrm>
            <a:off x="7022592" y="1810512"/>
            <a:ext cx="2011680" cy="749808"/>
          </a:xfrm>
          <a:prstGeom prst="rect">
            <a:avLst/>
          </a:prstGeom>
          <a:solidFill>
            <a:srgbClr val="EEF8F0"/>
          </a:solidFill>
          <a:ln w="6350">
            <a:solidFill>
              <a:srgbClr val="D1DDE8"/>
            </a:solidFill>
            <a:prstDash val="solid"/>
          </a:ln>
        </p:spPr>
        <p:txBody>
          <a:bodyPr/>
          <a:lstStyle/>
          <a:p>
            <a:endParaRPr lang="en-US"/>
          </a:p>
        </p:txBody>
      </p:sp>
      <p:sp>
        <p:nvSpPr>
          <p:cNvPr id="37" name="Text 35"/>
          <p:cNvSpPr/>
          <p:nvPr/>
        </p:nvSpPr>
        <p:spPr>
          <a:xfrm>
            <a:off x="7068312" y="1847088"/>
            <a:ext cx="1920240" cy="676656"/>
          </a:xfrm>
          <a:prstGeom prst="rect">
            <a:avLst/>
          </a:prstGeom>
          <a:noFill/>
          <a:ln/>
        </p:spPr>
        <p:txBody>
          <a:bodyPr wrap="square" lIns="0" tIns="0" rIns="0" bIns="0" rtlCol="0" anchor="ctr"/>
          <a:lstStyle/>
          <a:p>
            <a:pPr marL="0" indent="0">
              <a:buNone/>
            </a:pPr>
            <a:r>
              <a:rPr lang="en-US" sz="750" dirty="0">
                <a:solidFill>
                  <a:srgbClr val="8BAAC2"/>
                </a:solidFill>
                <a:latin typeface="Calibri" pitchFamily="34" charset="0"/>
                <a:ea typeface="Calibri" pitchFamily="34" charset="-122"/>
                <a:cs typeface="Calibri" pitchFamily="34" charset="-120"/>
              </a:rPr>
              <a:t>—</a:t>
            </a:r>
            <a:endParaRPr lang="en-US" sz="750" dirty="0"/>
          </a:p>
        </p:txBody>
      </p:sp>
      <p:sp>
        <p:nvSpPr>
          <p:cNvPr id="38" name="Shape 36"/>
          <p:cNvSpPr/>
          <p:nvPr/>
        </p:nvSpPr>
        <p:spPr>
          <a:xfrm>
            <a:off x="182880" y="2560320"/>
            <a:ext cx="1645920" cy="749808"/>
          </a:xfrm>
          <a:prstGeom prst="rect">
            <a:avLst/>
          </a:prstGeom>
          <a:solidFill>
            <a:srgbClr val="FFFFFF"/>
          </a:solidFill>
          <a:ln w="6350">
            <a:solidFill>
              <a:srgbClr val="D1DDE8"/>
            </a:solidFill>
            <a:prstDash val="solid"/>
          </a:ln>
        </p:spPr>
        <p:txBody>
          <a:bodyPr/>
          <a:lstStyle/>
          <a:p>
            <a:endParaRPr lang="en-US"/>
          </a:p>
        </p:txBody>
      </p:sp>
      <p:sp>
        <p:nvSpPr>
          <p:cNvPr id="39" name="Text 37"/>
          <p:cNvSpPr/>
          <p:nvPr/>
        </p:nvSpPr>
        <p:spPr>
          <a:xfrm>
            <a:off x="228600" y="2587752"/>
            <a:ext cx="1554480" cy="201168"/>
          </a:xfrm>
          <a:prstGeom prst="rect">
            <a:avLst/>
          </a:prstGeom>
          <a:noFill/>
          <a:ln/>
        </p:spPr>
        <p:txBody>
          <a:bodyPr wrap="square" lIns="0" tIns="0" rIns="0" bIns="0" rtlCol="0" anchor="ctr"/>
          <a:lstStyle/>
          <a:p>
            <a:pPr marL="0" indent="0">
              <a:buNone/>
            </a:pPr>
            <a:r>
              <a:rPr lang="en-US" sz="850" b="1" dirty="0">
                <a:solidFill>
                  <a:srgbClr val="1A2E44"/>
                </a:solidFill>
                <a:latin typeface="Calibri" pitchFamily="34" charset="0"/>
                <a:ea typeface="Calibri" pitchFamily="34" charset="-122"/>
                <a:cs typeface="Calibri" pitchFamily="34" charset="-120"/>
              </a:rPr>
              <a:t>3. Privilege Escalation</a:t>
            </a:r>
            <a:endParaRPr lang="en-US" sz="850" dirty="0"/>
          </a:p>
        </p:txBody>
      </p:sp>
      <p:sp>
        <p:nvSpPr>
          <p:cNvPr id="40" name="Text 38"/>
          <p:cNvSpPr/>
          <p:nvPr/>
        </p:nvSpPr>
        <p:spPr>
          <a:xfrm>
            <a:off x="228600" y="2798064"/>
            <a:ext cx="1554480" cy="155448"/>
          </a:xfrm>
          <a:prstGeom prst="rect">
            <a:avLst/>
          </a:prstGeom>
          <a:noFill/>
          <a:ln/>
        </p:spPr>
        <p:txBody>
          <a:bodyPr wrap="square" lIns="0" tIns="0" rIns="0" bIns="0" rtlCol="0" anchor="ctr"/>
          <a:lstStyle/>
          <a:p>
            <a:pPr marL="0" indent="0">
              <a:buNone/>
            </a:pPr>
            <a:r>
              <a:rPr lang="en-US" sz="700" i="1" dirty="0">
                <a:solidFill>
                  <a:srgbClr val="C0392B"/>
                </a:solidFill>
                <a:latin typeface="Calibri" pitchFamily="34" charset="0"/>
                <a:ea typeface="Calibri" pitchFamily="34" charset="-122"/>
                <a:cs typeface="Calibri" pitchFamily="34" charset="-120"/>
              </a:rPr>
              <a:t>MITRE: T1548 / T1078.004</a:t>
            </a:r>
            <a:endParaRPr lang="en-US" sz="700" dirty="0"/>
          </a:p>
        </p:txBody>
      </p:sp>
      <p:sp>
        <p:nvSpPr>
          <p:cNvPr id="41" name="Text 39"/>
          <p:cNvSpPr/>
          <p:nvPr/>
        </p:nvSpPr>
        <p:spPr>
          <a:xfrm>
            <a:off x="228600" y="2962656"/>
            <a:ext cx="1554480" cy="320040"/>
          </a:xfrm>
          <a:prstGeom prst="rect">
            <a:avLst/>
          </a:prstGeom>
          <a:noFill/>
          <a:ln/>
        </p:spPr>
        <p:txBody>
          <a:bodyPr wrap="square" lIns="0" tIns="0" rIns="0" bIns="0" rtlCol="0" anchor="ctr"/>
          <a:lstStyle/>
          <a:p>
            <a:pPr marL="0" indent="0">
              <a:buNone/>
            </a:pPr>
            <a:r>
              <a:rPr lang="en-US" sz="750" dirty="0">
                <a:solidFill>
                  <a:srgbClr val="4B6076"/>
                </a:solidFill>
                <a:latin typeface="Calibri" pitchFamily="34" charset="0"/>
                <a:ea typeface="Calibri" pitchFamily="34" charset="-122"/>
                <a:cs typeface="Calibri" pitchFamily="34" charset="-120"/>
              </a:rPr>
              <a:t>Compromised account holds legacy Mover entitlements. Cloud IAM role has excessive permissions.</a:t>
            </a:r>
            <a:endParaRPr lang="en-US" sz="750" dirty="0"/>
          </a:p>
        </p:txBody>
      </p:sp>
      <p:sp>
        <p:nvSpPr>
          <p:cNvPr id="42" name="Shape 40"/>
          <p:cNvSpPr/>
          <p:nvPr/>
        </p:nvSpPr>
        <p:spPr>
          <a:xfrm>
            <a:off x="1847088" y="2560320"/>
            <a:ext cx="1783080" cy="749808"/>
          </a:xfrm>
          <a:prstGeom prst="rect">
            <a:avLst/>
          </a:prstGeom>
          <a:solidFill>
            <a:srgbClr val="F0FAF4"/>
          </a:solidFill>
          <a:ln w="6350">
            <a:solidFill>
              <a:srgbClr val="D1DDE8"/>
            </a:solidFill>
            <a:prstDash val="solid"/>
          </a:ln>
        </p:spPr>
        <p:txBody>
          <a:bodyPr/>
          <a:lstStyle/>
          <a:p>
            <a:endParaRPr lang="en-US"/>
          </a:p>
        </p:txBody>
      </p:sp>
      <p:sp>
        <p:nvSpPr>
          <p:cNvPr id="43" name="Text 41"/>
          <p:cNvSpPr/>
          <p:nvPr/>
        </p:nvSpPr>
        <p:spPr>
          <a:xfrm>
            <a:off x="1892808" y="2596896"/>
            <a:ext cx="1691640" cy="676656"/>
          </a:xfrm>
          <a:prstGeom prst="rect">
            <a:avLst/>
          </a:prstGeom>
          <a:noFill/>
          <a:ln/>
        </p:spPr>
        <p:txBody>
          <a:bodyPr wrap="square" lIns="0" tIns="0" rIns="0" bIns="0" rtlCol="0" anchor="ctr"/>
          <a:lstStyle/>
          <a:p>
            <a:pPr marL="0" indent="0">
              <a:buNone/>
            </a:pPr>
            <a:r>
              <a:rPr lang="en-US" sz="750" dirty="0">
                <a:solidFill>
                  <a:srgbClr val="2D7D46"/>
                </a:solidFill>
                <a:latin typeface="Calibri" pitchFamily="34" charset="0"/>
                <a:ea typeface="Calibri" pitchFamily="34" charset="-122"/>
                <a:cs typeface="Calibri" pitchFamily="34" charset="-120"/>
              </a:rPr>
              <a:t>Mover workflow removes prior entitlements. Certification removes unused roles.</a:t>
            </a:r>
            <a:endParaRPr lang="en-US" sz="750" dirty="0"/>
          </a:p>
        </p:txBody>
      </p:sp>
      <p:sp>
        <p:nvSpPr>
          <p:cNvPr id="44" name="Shape 42"/>
          <p:cNvSpPr/>
          <p:nvPr/>
        </p:nvSpPr>
        <p:spPr>
          <a:xfrm>
            <a:off x="3648456" y="2560320"/>
            <a:ext cx="1920240" cy="749808"/>
          </a:xfrm>
          <a:prstGeom prst="rect">
            <a:avLst/>
          </a:prstGeom>
          <a:solidFill>
            <a:srgbClr val="EBF3FA"/>
          </a:solidFill>
          <a:ln w="6350">
            <a:solidFill>
              <a:srgbClr val="D1DDE8"/>
            </a:solidFill>
            <a:prstDash val="solid"/>
          </a:ln>
        </p:spPr>
        <p:txBody>
          <a:bodyPr/>
          <a:lstStyle/>
          <a:p>
            <a:endParaRPr lang="en-US"/>
          </a:p>
        </p:txBody>
      </p:sp>
      <p:sp>
        <p:nvSpPr>
          <p:cNvPr id="45" name="Text 43"/>
          <p:cNvSpPr/>
          <p:nvPr/>
        </p:nvSpPr>
        <p:spPr>
          <a:xfrm>
            <a:off x="3694176" y="2596896"/>
            <a:ext cx="1828800" cy="676656"/>
          </a:xfrm>
          <a:prstGeom prst="rect">
            <a:avLst/>
          </a:prstGeom>
          <a:noFill/>
          <a:ln/>
        </p:spPr>
        <p:txBody>
          <a:bodyPr wrap="square" lIns="0" tIns="0" rIns="0" bIns="0" rtlCol="0" anchor="ctr"/>
          <a:lstStyle/>
          <a:p>
            <a:pPr marL="0" indent="0">
              <a:buNone/>
            </a:pPr>
            <a:r>
              <a:rPr lang="en-US" sz="750" dirty="0">
                <a:solidFill>
                  <a:srgbClr val="1565C0"/>
                </a:solidFill>
                <a:latin typeface="Calibri" pitchFamily="34" charset="0"/>
                <a:ea typeface="Calibri" pitchFamily="34" charset="-122"/>
                <a:cs typeface="Calibri" pitchFamily="34" charset="-120"/>
              </a:rPr>
              <a:t>PIM approval required for privileged role activation.</a:t>
            </a:r>
            <a:endParaRPr lang="en-US" sz="750" dirty="0"/>
          </a:p>
        </p:txBody>
      </p:sp>
      <p:sp>
        <p:nvSpPr>
          <p:cNvPr id="46" name="Shape 44"/>
          <p:cNvSpPr/>
          <p:nvPr/>
        </p:nvSpPr>
        <p:spPr>
          <a:xfrm>
            <a:off x="5586984" y="2560320"/>
            <a:ext cx="1417320" cy="749808"/>
          </a:xfrm>
          <a:prstGeom prst="rect">
            <a:avLst/>
          </a:prstGeom>
          <a:solidFill>
            <a:srgbClr val="F4F0FA"/>
          </a:solidFill>
          <a:ln w="6350">
            <a:solidFill>
              <a:srgbClr val="D1DDE8"/>
            </a:solidFill>
            <a:prstDash val="solid"/>
          </a:ln>
        </p:spPr>
        <p:txBody>
          <a:bodyPr/>
          <a:lstStyle/>
          <a:p>
            <a:endParaRPr lang="en-US"/>
          </a:p>
        </p:txBody>
      </p:sp>
      <p:sp>
        <p:nvSpPr>
          <p:cNvPr id="47" name="Text 45"/>
          <p:cNvSpPr/>
          <p:nvPr/>
        </p:nvSpPr>
        <p:spPr>
          <a:xfrm>
            <a:off x="5632704" y="2596896"/>
            <a:ext cx="1325880" cy="676656"/>
          </a:xfrm>
          <a:prstGeom prst="rect">
            <a:avLst/>
          </a:prstGeom>
          <a:noFill/>
          <a:ln/>
        </p:spPr>
        <p:txBody>
          <a:bodyPr wrap="square" lIns="0" tIns="0" rIns="0" bIns="0" rtlCol="0" anchor="ctr"/>
          <a:lstStyle/>
          <a:p>
            <a:pPr marL="0" indent="0">
              <a:buNone/>
            </a:pPr>
            <a:r>
              <a:rPr lang="en-US" sz="750" dirty="0">
                <a:solidFill>
                  <a:srgbClr val="6B21A8"/>
                </a:solidFill>
                <a:latin typeface="Calibri" pitchFamily="34" charset="0"/>
                <a:ea typeface="Calibri" pitchFamily="34" charset="-122"/>
                <a:cs typeface="Calibri" pitchFamily="34" charset="-120"/>
              </a:rPr>
              <a:t>JIT access; no standing admin. All privilege elevation logged.</a:t>
            </a:r>
            <a:endParaRPr lang="en-US" sz="750" dirty="0"/>
          </a:p>
        </p:txBody>
      </p:sp>
      <p:sp>
        <p:nvSpPr>
          <p:cNvPr id="48" name="Shape 46"/>
          <p:cNvSpPr/>
          <p:nvPr/>
        </p:nvSpPr>
        <p:spPr>
          <a:xfrm>
            <a:off x="7022592" y="2560320"/>
            <a:ext cx="2011680" cy="749808"/>
          </a:xfrm>
          <a:prstGeom prst="rect">
            <a:avLst/>
          </a:prstGeom>
          <a:solidFill>
            <a:srgbClr val="FEF9EC"/>
          </a:solidFill>
          <a:ln w="6350">
            <a:solidFill>
              <a:srgbClr val="D1DDE8"/>
            </a:solidFill>
            <a:prstDash val="solid"/>
          </a:ln>
        </p:spPr>
        <p:txBody>
          <a:bodyPr/>
          <a:lstStyle/>
          <a:p>
            <a:endParaRPr lang="en-US"/>
          </a:p>
        </p:txBody>
      </p:sp>
      <p:sp>
        <p:nvSpPr>
          <p:cNvPr id="49" name="Text 47"/>
          <p:cNvSpPr/>
          <p:nvPr/>
        </p:nvSpPr>
        <p:spPr>
          <a:xfrm>
            <a:off x="7068312" y="2596896"/>
            <a:ext cx="1920240" cy="676656"/>
          </a:xfrm>
          <a:prstGeom prst="rect">
            <a:avLst/>
          </a:prstGeom>
          <a:noFill/>
          <a:ln/>
        </p:spPr>
        <p:txBody>
          <a:bodyPr wrap="square" lIns="0" tIns="0" rIns="0" bIns="0" rtlCol="0" anchor="ctr"/>
          <a:lstStyle/>
          <a:p>
            <a:pPr marL="0" indent="0">
              <a:buNone/>
            </a:pPr>
            <a:r>
              <a:rPr lang="en-US" sz="750" dirty="0">
                <a:solidFill>
                  <a:srgbClr val="D97706"/>
                </a:solidFill>
                <a:latin typeface="Calibri" pitchFamily="34" charset="0"/>
                <a:ea typeface="Calibri" pitchFamily="34" charset="-122"/>
                <a:cs typeface="Calibri" pitchFamily="34" charset="-120"/>
              </a:rPr>
              <a:t>Least-privilege analytics removes unused IAM actions automatically.</a:t>
            </a:r>
            <a:endParaRPr lang="en-US" sz="750" dirty="0"/>
          </a:p>
        </p:txBody>
      </p:sp>
      <p:sp>
        <p:nvSpPr>
          <p:cNvPr id="50" name="Shape 48"/>
          <p:cNvSpPr/>
          <p:nvPr/>
        </p:nvSpPr>
        <p:spPr>
          <a:xfrm>
            <a:off x="182880" y="3310128"/>
            <a:ext cx="1645920" cy="749808"/>
          </a:xfrm>
          <a:prstGeom prst="rect">
            <a:avLst/>
          </a:prstGeom>
          <a:solidFill>
            <a:srgbClr val="EEF8F0"/>
          </a:solidFill>
          <a:ln w="6350">
            <a:solidFill>
              <a:srgbClr val="D1DDE8"/>
            </a:solidFill>
            <a:prstDash val="solid"/>
          </a:ln>
        </p:spPr>
        <p:txBody>
          <a:bodyPr/>
          <a:lstStyle/>
          <a:p>
            <a:endParaRPr lang="en-US"/>
          </a:p>
        </p:txBody>
      </p:sp>
      <p:sp>
        <p:nvSpPr>
          <p:cNvPr id="51" name="Text 49"/>
          <p:cNvSpPr/>
          <p:nvPr/>
        </p:nvSpPr>
        <p:spPr>
          <a:xfrm>
            <a:off x="228600" y="3337560"/>
            <a:ext cx="1554480" cy="201168"/>
          </a:xfrm>
          <a:prstGeom prst="rect">
            <a:avLst/>
          </a:prstGeom>
          <a:noFill/>
          <a:ln/>
        </p:spPr>
        <p:txBody>
          <a:bodyPr wrap="square" lIns="0" tIns="0" rIns="0" bIns="0" rtlCol="0" anchor="ctr"/>
          <a:lstStyle/>
          <a:p>
            <a:pPr marL="0" indent="0">
              <a:buNone/>
            </a:pPr>
            <a:r>
              <a:rPr lang="en-US" sz="850" b="1" dirty="0">
                <a:solidFill>
                  <a:srgbClr val="1A2E44"/>
                </a:solidFill>
                <a:latin typeface="Calibri" pitchFamily="34" charset="0"/>
                <a:ea typeface="Calibri" pitchFamily="34" charset="-122"/>
                <a:cs typeface="Calibri" pitchFamily="34" charset="-120"/>
              </a:rPr>
              <a:t>4. Cloud Role Abuse</a:t>
            </a:r>
            <a:endParaRPr lang="en-US" sz="850" dirty="0"/>
          </a:p>
        </p:txBody>
      </p:sp>
      <p:sp>
        <p:nvSpPr>
          <p:cNvPr id="52" name="Text 50"/>
          <p:cNvSpPr/>
          <p:nvPr/>
        </p:nvSpPr>
        <p:spPr>
          <a:xfrm>
            <a:off x="228600" y="3547872"/>
            <a:ext cx="1554480" cy="155448"/>
          </a:xfrm>
          <a:prstGeom prst="rect">
            <a:avLst/>
          </a:prstGeom>
          <a:noFill/>
          <a:ln/>
        </p:spPr>
        <p:txBody>
          <a:bodyPr wrap="square" lIns="0" tIns="0" rIns="0" bIns="0" rtlCol="0" anchor="ctr"/>
          <a:lstStyle/>
          <a:p>
            <a:pPr marL="0" indent="0">
              <a:buNone/>
            </a:pPr>
            <a:r>
              <a:rPr lang="en-US" sz="700" i="1" dirty="0">
                <a:solidFill>
                  <a:srgbClr val="C0392B"/>
                </a:solidFill>
                <a:latin typeface="Calibri" pitchFamily="34" charset="0"/>
                <a:ea typeface="Calibri" pitchFamily="34" charset="-122"/>
                <a:cs typeface="Calibri" pitchFamily="34" charset="-120"/>
              </a:rPr>
              <a:t>MITRE: T1098 / T1078.004</a:t>
            </a:r>
            <a:endParaRPr lang="en-US" sz="700" dirty="0"/>
          </a:p>
        </p:txBody>
      </p:sp>
      <p:sp>
        <p:nvSpPr>
          <p:cNvPr id="53" name="Text 51"/>
          <p:cNvSpPr/>
          <p:nvPr/>
        </p:nvSpPr>
        <p:spPr>
          <a:xfrm>
            <a:off x="228600" y="3712464"/>
            <a:ext cx="1554480" cy="320040"/>
          </a:xfrm>
          <a:prstGeom prst="rect">
            <a:avLst/>
          </a:prstGeom>
          <a:noFill/>
          <a:ln/>
        </p:spPr>
        <p:txBody>
          <a:bodyPr wrap="square" lIns="0" tIns="0" rIns="0" bIns="0" rtlCol="0" anchor="ctr"/>
          <a:lstStyle/>
          <a:p>
            <a:pPr marL="0" indent="0">
              <a:buNone/>
            </a:pPr>
            <a:r>
              <a:rPr lang="en-US" sz="750" dirty="0">
                <a:solidFill>
                  <a:srgbClr val="4B6076"/>
                </a:solidFill>
                <a:latin typeface="Calibri" pitchFamily="34" charset="0"/>
                <a:ea typeface="Calibri" pitchFamily="34" charset="-122"/>
                <a:cs typeface="Calibri" pitchFamily="34" charset="-120"/>
              </a:rPr>
              <a:t>Attacker assumes AWS role with S3 read + Lambda invoke. Data exfiltrated via Lambda.</a:t>
            </a:r>
            <a:endParaRPr lang="en-US" sz="750" dirty="0"/>
          </a:p>
        </p:txBody>
      </p:sp>
      <p:sp>
        <p:nvSpPr>
          <p:cNvPr id="54" name="Shape 52"/>
          <p:cNvSpPr/>
          <p:nvPr/>
        </p:nvSpPr>
        <p:spPr>
          <a:xfrm>
            <a:off x="1847088" y="3310128"/>
            <a:ext cx="1783080" cy="749808"/>
          </a:xfrm>
          <a:prstGeom prst="rect">
            <a:avLst/>
          </a:prstGeom>
          <a:solidFill>
            <a:srgbClr val="F0FAF4"/>
          </a:solidFill>
          <a:ln w="6350">
            <a:solidFill>
              <a:srgbClr val="D1DDE8"/>
            </a:solidFill>
            <a:prstDash val="solid"/>
          </a:ln>
        </p:spPr>
        <p:txBody>
          <a:bodyPr/>
          <a:lstStyle/>
          <a:p>
            <a:endParaRPr lang="en-US"/>
          </a:p>
        </p:txBody>
      </p:sp>
      <p:sp>
        <p:nvSpPr>
          <p:cNvPr id="55" name="Text 53"/>
          <p:cNvSpPr/>
          <p:nvPr/>
        </p:nvSpPr>
        <p:spPr>
          <a:xfrm>
            <a:off x="1892808" y="3346704"/>
            <a:ext cx="1691640" cy="676656"/>
          </a:xfrm>
          <a:prstGeom prst="rect">
            <a:avLst/>
          </a:prstGeom>
          <a:noFill/>
          <a:ln/>
        </p:spPr>
        <p:txBody>
          <a:bodyPr wrap="square" lIns="0" tIns="0" rIns="0" bIns="0" rtlCol="0" anchor="ctr"/>
          <a:lstStyle/>
          <a:p>
            <a:pPr marL="0" indent="0">
              <a:buNone/>
            </a:pPr>
            <a:r>
              <a:rPr lang="en-US" sz="750" dirty="0">
                <a:solidFill>
                  <a:srgbClr val="2D7D46"/>
                </a:solidFill>
                <a:latin typeface="Calibri" pitchFamily="34" charset="0"/>
                <a:ea typeface="Calibri" pitchFamily="34" charset="-122"/>
                <a:cs typeface="Calibri" pitchFamily="34" charset="-120"/>
              </a:rPr>
              <a:t>CIEM-IGA integration flags excessive permissions for review.</a:t>
            </a:r>
            <a:endParaRPr lang="en-US" sz="750" dirty="0"/>
          </a:p>
        </p:txBody>
      </p:sp>
      <p:sp>
        <p:nvSpPr>
          <p:cNvPr id="56" name="Shape 54"/>
          <p:cNvSpPr/>
          <p:nvPr/>
        </p:nvSpPr>
        <p:spPr>
          <a:xfrm>
            <a:off x="3648456" y="3310128"/>
            <a:ext cx="1920240" cy="749808"/>
          </a:xfrm>
          <a:prstGeom prst="rect">
            <a:avLst/>
          </a:prstGeom>
          <a:solidFill>
            <a:srgbClr val="EBF3FA"/>
          </a:solidFill>
          <a:ln w="6350">
            <a:solidFill>
              <a:srgbClr val="D1DDE8"/>
            </a:solidFill>
            <a:prstDash val="solid"/>
          </a:ln>
        </p:spPr>
        <p:txBody>
          <a:bodyPr/>
          <a:lstStyle/>
          <a:p>
            <a:endParaRPr lang="en-US"/>
          </a:p>
        </p:txBody>
      </p:sp>
      <p:sp>
        <p:nvSpPr>
          <p:cNvPr id="57" name="Text 55"/>
          <p:cNvSpPr/>
          <p:nvPr/>
        </p:nvSpPr>
        <p:spPr>
          <a:xfrm>
            <a:off x="3694176" y="3346704"/>
            <a:ext cx="1828800" cy="676656"/>
          </a:xfrm>
          <a:prstGeom prst="rect">
            <a:avLst/>
          </a:prstGeom>
          <a:noFill/>
          <a:ln/>
        </p:spPr>
        <p:txBody>
          <a:bodyPr wrap="square" lIns="0" tIns="0" rIns="0" bIns="0" rtlCol="0" anchor="ctr"/>
          <a:lstStyle/>
          <a:p>
            <a:pPr marL="0" indent="0">
              <a:buNone/>
            </a:pPr>
            <a:r>
              <a:rPr lang="en-US" sz="750" dirty="0">
                <a:solidFill>
                  <a:srgbClr val="1565C0"/>
                </a:solidFill>
                <a:latin typeface="Calibri" pitchFamily="34" charset="0"/>
                <a:ea typeface="Calibri" pitchFamily="34" charset="-122"/>
                <a:cs typeface="Calibri" pitchFamily="34" charset="-120"/>
              </a:rPr>
              <a:t>Conditional Access blocks unusual sign-in location/time.</a:t>
            </a:r>
            <a:endParaRPr lang="en-US" sz="750" dirty="0"/>
          </a:p>
        </p:txBody>
      </p:sp>
      <p:sp>
        <p:nvSpPr>
          <p:cNvPr id="58" name="Shape 56"/>
          <p:cNvSpPr/>
          <p:nvPr/>
        </p:nvSpPr>
        <p:spPr>
          <a:xfrm>
            <a:off x="5586984" y="3310128"/>
            <a:ext cx="1417320" cy="749808"/>
          </a:xfrm>
          <a:prstGeom prst="rect">
            <a:avLst/>
          </a:prstGeom>
          <a:solidFill>
            <a:srgbClr val="EEF8F0"/>
          </a:solidFill>
          <a:ln w="6350">
            <a:solidFill>
              <a:srgbClr val="D1DDE8"/>
            </a:solidFill>
            <a:prstDash val="solid"/>
          </a:ln>
        </p:spPr>
        <p:txBody>
          <a:bodyPr/>
          <a:lstStyle/>
          <a:p>
            <a:endParaRPr lang="en-US"/>
          </a:p>
        </p:txBody>
      </p:sp>
      <p:sp>
        <p:nvSpPr>
          <p:cNvPr id="59" name="Text 57"/>
          <p:cNvSpPr/>
          <p:nvPr/>
        </p:nvSpPr>
        <p:spPr>
          <a:xfrm>
            <a:off x="5632704" y="3346704"/>
            <a:ext cx="1325880" cy="676656"/>
          </a:xfrm>
          <a:prstGeom prst="rect">
            <a:avLst/>
          </a:prstGeom>
          <a:noFill/>
          <a:ln/>
        </p:spPr>
        <p:txBody>
          <a:bodyPr wrap="square" lIns="0" tIns="0" rIns="0" bIns="0" rtlCol="0" anchor="ctr"/>
          <a:lstStyle/>
          <a:p>
            <a:pPr marL="0" indent="0">
              <a:buNone/>
            </a:pPr>
            <a:r>
              <a:rPr lang="en-US" sz="750" dirty="0">
                <a:solidFill>
                  <a:srgbClr val="8BAAC2"/>
                </a:solidFill>
                <a:latin typeface="Calibri" pitchFamily="34" charset="0"/>
                <a:ea typeface="Calibri" pitchFamily="34" charset="-122"/>
                <a:cs typeface="Calibri" pitchFamily="34" charset="-120"/>
              </a:rPr>
              <a:t>—</a:t>
            </a:r>
            <a:endParaRPr lang="en-US" sz="750" dirty="0"/>
          </a:p>
        </p:txBody>
      </p:sp>
      <p:sp>
        <p:nvSpPr>
          <p:cNvPr id="60" name="Shape 58"/>
          <p:cNvSpPr/>
          <p:nvPr/>
        </p:nvSpPr>
        <p:spPr>
          <a:xfrm>
            <a:off x="7022592" y="3310128"/>
            <a:ext cx="2011680" cy="749808"/>
          </a:xfrm>
          <a:prstGeom prst="rect">
            <a:avLst/>
          </a:prstGeom>
          <a:solidFill>
            <a:srgbClr val="FEF9EC"/>
          </a:solidFill>
          <a:ln w="6350">
            <a:solidFill>
              <a:srgbClr val="D1DDE8"/>
            </a:solidFill>
            <a:prstDash val="solid"/>
          </a:ln>
        </p:spPr>
        <p:txBody>
          <a:bodyPr/>
          <a:lstStyle/>
          <a:p>
            <a:endParaRPr lang="en-US"/>
          </a:p>
        </p:txBody>
      </p:sp>
      <p:sp>
        <p:nvSpPr>
          <p:cNvPr id="61" name="Text 59"/>
          <p:cNvSpPr/>
          <p:nvPr/>
        </p:nvSpPr>
        <p:spPr>
          <a:xfrm>
            <a:off x="7068312" y="3346704"/>
            <a:ext cx="1920240" cy="676656"/>
          </a:xfrm>
          <a:prstGeom prst="rect">
            <a:avLst/>
          </a:prstGeom>
          <a:noFill/>
          <a:ln/>
        </p:spPr>
        <p:txBody>
          <a:bodyPr wrap="square" lIns="0" tIns="0" rIns="0" bIns="0" rtlCol="0" anchor="ctr"/>
          <a:lstStyle/>
          <a:p>
            <a:pPr marL="0" indent="0">
              <a:buNone/>
            </a:pPr>
            <a:r>
              <a:rPr lang="en-US" sz="750" dirty="0">
                <a:solidFill>
                  <a:srgbClr val="D97706"/>
                </a:solidFill>
                <a:latin typeface="Calibri" pitchFamily="34" charset="0"/>
                <a:ea typeface="Calibri" pitchFamily="34" charset="-122"/>
                <a:cs typeface="Calibri" pitchFamily="34" charset="-120"/>
              </a:rPr>
              <a:t>Cross-account role analysis detects trust chain abuse. Alert on role assumption anomaly.</a:t>
            </a:r>
            <a:endParaRPr lang="en-US" sz="750" dirty="0"/>
          </a:p>
        </p:txBody>
      </p:sp>
      <p:sp>
        <p:nvSpPr>
          <p:cNvPr id="62" name="Shape 60"/>
          <p:cNvSpPr/>
          <p:nvPr/>
        </p:nvSpPr>
        <p:spPr>
          <a:xfrm>
            <a:off x="182880" y="4059936"/>
            <a:ext cx="1645920" cy="749808"/>
          </a:xfrm>
          <a:prstGeom prst="rect">
            <a:avLst/>
          </a:prstGeom>
          <a:solidFill>
            <a:srgbClr val="FFFFFF"/>
          </a:solidFill>
          <a:ln w="6350">
            <a:solidFill>
              <a:srgbClr val="D1DDE8"/>
            </a:solidFill>
            <a:prstDash val="solid"/>
          </a:ln>
        </p:spPr>
        <p:txBody>
          <a:bodyPr/>
          <a:lstStyle/>
          <a:p>
            <a:endParaRPr lang="en-US"/>
          </a:p>
        </p:txBody>
      </p:sp>
      <p:sp>
        <p:nvSpPr>
          <p:cNvPr id="63" name="Text 61"/>
          <p:cNvSpPr/>
          <p:nvPr/>
        </p:nvSpPr>
        <p:spPr>
          <a:xfrm>
            <a:off x="228600" y="4087368"/>
            <a:ext cx="1554480" cy="201168"/>
          </a:xfrm>
          <a:prstGeom prst="rect">
            <a:avLst/>
          </a:prstGeom>
          <a:noFill/>
          <a:ln/>
        </p:spPr>
        <p:txBody>
          <a:bodyPr wrap="square" lIns="0" tIns="0" rIns="0" bIns="0" rtlCol="0" anchor="ctr"/>
          <a:lstStyle/>
          <a:p>
            <a:pPr marL="0" indent="0">
              <a:buNone/>
            </a:pPr>
            <a:r>
              <a:rPr lang="en-US" sz="850" b="1" dirty="0">
                <a:solidFill>
                  <a:srgbClr val="1A2E44"/>
                </a:solidFill>
                <a:latin typeface="Calibri" pitchFamily="34" charset="0"/>
                <a:ea typeface="Calibri" pitchFamily="34" charset="-122"/>
                <a:cs typeface="Calibri" pitchFamily="34" charset="-120"/>
              </a:rPr>
              <a:t>5. Persistence &amp; Exfiltration</a:t>
            </a:r>
            <a:endParaRPr lang="en-US" sz="850" dirty="0"/>
          </a:p>
        </p:txBody>
      </p:sp>
      <p:sp>
        <p:nvSpPr>
          <p:cNvPr id="64" name="Text 62"/>
          <p:cNvSpPr/>
          <p:nvPr/>
        </p:nvSpPr>
        <p:spPr>
          <a:xfrm>
            <a:off x="228600" y="4297680"/>
            <a:ext cx="1554480" cy="155448"/>
          </a:xfrm>
          <a:prstGeom prst="rect">
            <a:avLst/>
          </a:prstGeom>
          <a:noFill/>
          <a:ln/>
        </p:spPr>
        <p:txBody>
          <a:bodyPr wrap="square" lIns="0" tIns="0" rIns="0" bIns="0" rtlCol="0" anchor="ctr"/>
          <a:lstStyle/>
          <a:p>
            <a:pPr marL="0" indent="0">
              <a:buNone/>
            </a:pPr>
            <a:r>
              <a:rPr lang="en-US" sz="700" i="1" dirty="0">
                <a:solidFill>
                  <a:srgbClr val="C0392B"/>
                </a:solidFill>
                <a:latin typeface="Calibri" pitchFamily="34" charset="0"/>
                <a:ea typeface="Calibri" pitchFamily="34" charset="-122"/>
                <a:cs typeface="Calibri" pitchFamily="34" charset="-120"/>
              </a:rPr>
              <a:t>MITRE: T1136 / T1556</a:t>
            </a:r>
            <a:endParaRPr lang="en-US" sz="700" dirty="0"/>
          </a:p>
        </p:txBody>
      </p:sp>
      <p:sp>
        <p:nvSpPr>
          <p:cNvPr id="65" name="Text 63"/>
          <p:cNvSpPr/>
          <p:nvPr/>
        </p:nvSpPr>
        <p:spPr>
          <a:xfrm>
            <a:off x="228600" y="4462272"/>
            <a:ext cx="1554480" cy="320040"/>
          </a:xfrm>
          <a:prstGeom prst="rect">
            <a:avLst/>
          </a:prstGeom>
          <a:noFill/>
          <a:ln/>
        </p:spPr>
        <p:txBody>
          <a:bodyPr wrap="square" lIns="0" tIns="0" rIns="0" bIns="0" rtlCol="0" anchor="ctr"/>
          <a:lstStyle/>
          <a:p>
            <a:pPr marL="0" indent="0">
              <a:buNone/>
            </a:pPr>
            <a:r>
              <a:rPr lang="en-US" sz="750" dirty="0">
                <a:solidFill>
                  <a:srgbClr val="4B6076"/>
                </a:solidFill>
                <a:latin typeface="Calibri" pitchFamily="34" charset="0"/>
                <a:ea typeface="Calibri" pitchFamily="34" charset="-122"/>
                <a:cs typeface="Calibri" pitchFamily="34" charset="-120"/>
              </a:rPr>
              <a:t>Backdoor service account created. Data staged to external bucket. Access outlasts initial token.</a:t>
            </a:r>
            <a:endParaRPr lang="en-US" sz="750" dirty="0"/>
          </a:p>
        </p:txBody>
      </p:sp>
      <p:sp>
        <p:nvSpPr>
          <p:cNvPr id="66" name="Shape 64"/>
          <p:cNvSpPr/>
          <p:nvPr/>
        </p:nvSpPr>
        <p:spPr>
          <a:xfrm>
            <a:off x="1847088" y="4059936"/>
            <a:ext cx="1783080" cy="749808"/>
          </a:xfrm>
          <a:prstGeom prst="rect">
            <a:avLst/>
          </a:prstGeom>
          <a:solidFill>
            <a:srgbClr val="F0FAF4"/>
          </a:solidFill>
          <a:ln w="6350">
            <a:solidFill>
              <a:srgbClr val="D1DDE8"/>
            </a:solidFill>
            <a:prstDash val="solid"/>
          </a:ln>
        </p:spPr>
        <p:txBody>
          <a:bodyPr/>
          <a:lstStyle/>
          <a:p>
            <a:endParaRPr lang="en-US"/>
          </a:p>
        </p:txBody>
      </p:sp>
      <p:sp>
        <p:nvSpPr>
          <p:cNvPr id="67" name="Text 65"/>
          <p:cNvSpPr/>
          <p:nvPr/>
        </p:nvSpPr>
        <p:spPr>
          <a:xfrm>
            <a:off x="1892808" y="4096512"/>
            <a:ext cx="1691640" cy="676656"/>
          </a:xfrm>
          <a:prstGeom prst="rect">
            <a:avLst/>
          </a:prstGeom>
          <a:noFill/>
          <a:ln/>
        </p:spPr>
        <p:txBody>
          <a:bodyPr wrap="square" lIns="0" tIns="0" rIns="0" bIns="0" rtlCol="0" anchor="ctr"/>
          <a:lstStyle/>
          <a:p>
            <a:pPr marL="0" indent="0">
              <a:buNone/>
            </a:pPr>
            <a:r>
              <a:rPr lang="en-US" sz="750" dirty="0">
                <a:solidFill>
                  <a:srgbClr val="2D7D46"/>
                </a:solidFill>
                <a:latin typeface="Calibri" pitchFamily="34" charset="0"/>
                <a:ea typeface="Calibri" pitchFamily="34" charset="-122"/>
                <a:cs typeface="Calibri" pitchFamily="34" charset="-120"/>
              </a:rPr>
              <a:t>Orphan account detection (24h SLA). Out-of-band account creation triggers SIEM alert.</a:t>
            </a:r>
            <a:endParaRPr lang="en-US" sz="750" dirty="0"/>
          </a:p>
        </p:txBody>
      </p:sp>
      <p:sp>
        <p:nvSpPr>
          <p:cNvPr id="68" name="Shape 66"/>
          <p:cNvSpPr/>
          <p:nvPr/>
        </p:nvSpPr>
        <p:spPr>
          <a:xfrm>
            <a:off x="3648456" y="4059936"/>
            <a:ext cx="1920240" cy="749808"/>
          </a:xfrm>
          <a:prstGeom prst="rect">
            <a:avLst/>
          </a:prstGeom>
          <a:solidFill>
            <a:srgbClr val="FFFFFF"/>
          </a:solidFill>
          <a:ln w="6350">
            <a:solidFill>
              <a:srgbClr val="D1DDE8"/>
            </a:solidFill>
            <a:prstDash val="solid"/>
          </a:ln>
        </p:spPr>
        <p:txBody>
          <a:bodyPr/>
          <a:lstStyle/>
          <a:p>
            <a:endParaRPr lang="en-US"/>
          </a:p>
        </p:txBody>
      </p:sp>
      <p:sp>
        <p:nvSpPr>
          <p:cNvPr id="69" name="Text 67"/>
          <p:cNvSpPr/>
          <p:nvPr/>
        </p:nvSpPr>
        <p:spPr>
          <a:xfrm>
            <a:off x="3694176" y="4096512"/>
            <a:ext cx="1828800" cy="676656"/>
          </a:xfrm>
          <a:prstGeom prst="rect">
            <a:avLst/>
          </a:prstGeom>
          <a:noFill/>
          <a:ln/>
        </p:spPr>
        <p:txBody>
          <a:bodyPr wrap="square" lIns="0" tIns="0" rIns="0" bIns="0" rtlCol="0" anchor="ctr"/>
          <a:lstStyle/>
          <a:p>
            <a:pPr marL="0" indent="0">
              <a:buNone/>
            </a:pPr>
            <a:r>
              <a:rPr lang="en-US" sz="750" dirty="0">
                <a:solidFill>
                  <a:srgbClr val="8BAAC2"/>
                </a:solidFill>
                <a:latin typeface="Calibri" pitchFamily="34" charset="0"/>
                <a:ea typeface="Calibri" pitchFamily="34" charset="-122"/>
                <a:cs typeface="Calibri" pitchFamily="34" charset="-120"/>
              </a:rPr>
              <a:t>—</a:t>
            </a:r>
            <a:endParaRPr lang="en-US" sz="750" dirty="0"/>
          </a:p>
        </p:txBody>
      </p:sp>
      <p:sp>
        <p:nvSpPr>
          <p:cNvPr id="70" name="Shape 68"/>
          <p:cNvSpPr/>
          <p:nvPr/>
        </p:nvSpPr>
        <p:spPr>
          <a:xfrm>
            <a:off x="5586984" y="4059936"/>
            <a:ext cx="1417320" cy="749808"/>
          </a:xfrm>
          <a:prstGeom prst="rect">
            <a:avLst/>
          </a:prstGeom>
          <a:solidFill>
            <a:srgbClr val="F4F0FA"/>
          </a:solidFill>
          <a:ln w="6350">
            <a:solidFill>
              <a:srgbClr val="D1DDE8"/>
            </a:solidFill>
            <a:prstDash val="solid"/>
          </a:ln>
        </p:spPr>
        <p:txBody>
          <a:bodyPr/>
          <a:lstStyle/>
          <a:p>
            <a:endParaRPr lang="en-US"/>
          </a:p>
        </p:txBody>
      </p:sp>
      <p:sp>
        <p:nvSpPr>
          <p:cNvPr id="71" name="Text 69"/>
          <p:cNvSpPr/>
          <p:nvPr/>
        </p:nvSpPr>
        <p:spPr>
          <a:xfrm>
            <a:off x="5632704" y="4096512"/>
            <a:ext cx="1325880" cy="676656"/>
          </a:xfrm>
          <a:prstGeom prst="rect">
            <a:avLst/>
          </a:prstGeom>
          <a:noFill/>
          <a:ln/>
        </p:spPr>
        <p:txBody>
          <a:bodyPr wrap="square" lIns="0" tIns="0" rIns="0" bIns="0" rtlCol="0" anchor="ctr"/>
          <a:lstStyle/>
          <a:p>
            <a:pPr marL="0" indent="0">
              <a:buNone/>
            </a:pPr>
            <a:r>
              <a:rPr lang="en-US" sz="750" dirty="0">
                <a:solidFill>
                  <a:srgbClr val="6B21A8"/>
                </a:solidFill>
                <a:latin typeface="Calibri" pitchFamily="34" charset="0"/>
                <a:ea typeface="Calibri" pitchFamily="34" charset="-122"/>
                <a:cs typeface="Calibri" pitchFamily="34" charset="-120"/>
              </a:rPr>
              <a:t>Break-glass audit captures unauthorized privileged access attempts.</a:t>
            </a:r>
            <a:endParaRPr lang="en-US" sz="750" dirty="0"/>
          </a:p>
        </p:txBody>
      </p:sp>
      <p:sp>
        <p:nvSpPr>
          <p:cNvPr id="72" name="Shape 70"/>
          <p:cNvSpPr/>
          <p:nvPr/>
        </p:nvSpPr>
        <p:spPr>
          <a:xfrm>
            <a:off x="7022592" y="4059936"/>
            <a:ext cx="2011680" cy="749808"/>
          </a:xfrm>
          <a:prstGeom prst="rect">
            <a:avLst/>
          </a:prstGeom>
          <a:solidFill>
            <a:srgbClr val="FEF9EC"/>
          </a:solidFill>
          <a:ln w="6350">
            <a:solidFill>
              <a:srgbClr val="D1DDE8"/>
            </a:solidFill>
            <a:prstDash val="solid"/>
          </a:ln>
        </p:spPr>
        <p:txBody>
          <a:bodyPr/>
          <a:lstStyle/>
          <a:p>
            <a:endParaRPr lang="en-US"/>
          </a:p>
        </p:txBody>
      </p:sp>
      <p:sp>
        <p:nvSpPr>
          <p:cNvPr id="73" name="Text 71"/>
          <p:cNvSpPr/>
          <p:nvPr/>
        </p:nvSpPr>
        <p:spPr>
          <a:xfrm>
            <a:off x="7068312" y="4096512"/>
            <a:ext cx="1920240" cy="676656"/>
          </a:xfrm>
          <a:prstGeom prst="rect">
            <a:avLst/>
          </a:prstGeom>
          <a:noFill/>
          <a:ln/>
        </p:spPr>
        <p:txBody>
          <a:bodyPr wrap="square" lIns="0" tIns="0" rIns="0" bIns="0" rtlCol="0" anchor="ctr"/>
          <a:lstStyle/>
          <a:p>
            <a:pPr marL="0" indent="0">
              <a:buNone/>
            </a:pPr>
            <a:r>
              <a:rPr lang="en-US" sz="750" dirty="0">
                <a:solidFill>
                  <a:srgbClr val="D97706"/>
                </a:solidFill>
                <a:latin typeface="Calibri" pitchFamily="34" charset="0"/>
                <a:ea typeface="Calibri" pitchFamily="34" charset="-122"/>
                <a:cs typeface="Calibri" pitchFamily="34" charset="-120"/>
              </a:rPr>
              <a:t>New cloud resource creation outside approved IaC process triggers alert.</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3C5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D7D46"/>
          </a:solidFill>
          <a:ln w="12700">
            <a:solidFill>
              <a:srgbClr val="2D7D46"/>
            </a:solidFill>
            <a:prstDash val="solid"/>
          </a:ln>
        </p:spPr>
        <p:txBody>
          <a:bodyPr/>
          <a:lstStyle/>
          <a:p>
            <a:endParaRPr lang="en-US"/>
          </a:p>
        </p:txBody>
      </p:sp>
      <p:sp>
        <p:nvSpPr>
          <p:cNvPr id="3" name="Text 1"/>
          <p:cNvSpPr/>
          <p:nvPr/>
        </p:nvSpPr>
        <p:spPr>
          <a:xfrm>
            <a:off x="6858000" y="731520"/>
            <a:ext cx="2103120" cy="2560320"/>
          </a:xfrm>
          <a:prstGeom prst="rect">
            <a:avLst/>
          </a:prstGeom>
          <a:noFill/>
          <a:ln/>
        </p:spPr>
        <p:txBody>
          <a:bodyPr wrap="square" lIns="0" tIns="0" rIns="0" bIns="0" rtlCol="0" anchor="ctr"/>
          <a:lstStyle/>
          <a:p>
            <a:pPr marL="0" indent="0" algn="r">
              <a:buNone/>
            </a:pPr>
            <a:r>
              <a:rPr lang="en-US" sz="14000" b="1" dirty="0">
                <a:solidFill>
                  <a:srgbClr val="1A4A30"/>
                </a:solidFill>
                <a:latin typeface="Calibri" pitchFamily="34" charset="0"/>
                <a:ea typeface="Calibri" pitchFamily="34" charset="-122"/>
                <a:cs typeface="Calibri" pitchFamily="34" charset="-120"/>
              </a:rPr>
              <a:t>10</a:t>
            </a:r>
            <a:endParaRPr lang="en-US" sz="14000" dirty="0"/>
          </a:p>
        </p:txBody>
      </p:sp>
      <p:sp>
        <p:nvSpPr>
          <p:cNvPr id="4" name="Text 2"/>
          <p:cNvSpPr/>
          <p:nvPr/>
        </p:nvSpPr>
        <p:spPr>
          <a:xfrm>
            <a:off x="320040" y="1600200"/>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Vendor Landscape &amp; NIST Controls</a:t>
            </a:r>
            <a:endParaRPr lang="en-US" sz="3000" dirty="0"/>
          </a:p>
        </p:txBody>
      </p:sp>
      <p:sp>
        <p:nvSpPr>
          <p:cNvPr id="5" name="Shape 3"/>
          <p:cNvSpPr/>
          <p:nvPr/>
        </p:nvSpPr>
        <p:spPr>
          <a:xfrm>
            <a:off x="320040" y="2468880"/>
            <a:ext cx="6217920" cy="0"/>
          </a:xfrm>
          <a:prstGeom prst="line">
            <a:avLst/>
          </a:prstGeom>
          <a:noFill/>
          <a:ln w="6350">
            <a:solidFill>
              <a:srgbClr val="8BAAC2"/>
            </a:solidFill>
            <a:prstDash val="solid"/>
          </a:ln>
        </p:spPr>
        <p:txBody>
          <a:bodyPr/>
          <a:lstStyle/>
          <a:p>
            <a:endParaRPr lang="en-US"/>
          </a:p>
        </p:txBody>
      </p:sp>
      <p:sp>
        <p:nvSpPr>
          <p:cNvPr id="6" name="Text 4"/>
          <p:cNvSpPr/>
          <p:nvPr/>
        </p:nvSpPr>
        <p:spPr>
          <a:xfrm>
            <a:off x="320040" y="2542032"/>
            <a:ext cx="6400800" cy="457200"/>
          </a:xfrm>
          <a:prstGeom prst="rect">
            <a:avLst/>
          </a:prstGeom>
          <a:noFill/>
          <a:ln/>
        </p:spPr>
        <p:txBody>
          <a:bodyPr wrap="square" lIns="0" tIns="0" rIns="0" bIns="0" rtlCol="0" anchor="ctr"/>
          <a:lstStyle/>
          <a:p>
            <a:pPr marL="0" indent="0">
              <a:buNone/>
            </a:pPr>
            <a:r>
              <a:rPr lang="en-US" sz="1400" i="1" dirty="0">
                <a:solidFill>
                  <a:srgbClr val="C9DDE8"/>
                </a:solidFill>
                <a:latin typeface="Calibri" pitchFamily="34" charset="0"/>
                <a:ea typeface="Calibri" pitchFamily="34" charset="-122"/>
                <a:cs typeface="Calibri" pitchFamily="34" charset="-120"/>
              </a:rPr>
              <a:t>Platform comparison and SP 800-53 mapping</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C5E"/>
          </a:solidFill>
          <a:ln w="12700">
            <a:solidFill>
              <a:srgbClr val="1A3C5E"/>
            </a:solidFill>
            <a:prstDash val="solid"/>
          </a:ln>
        </p:spPr>
        <p:txBody>
          <a:bodyPr/>
          <a:lstStyle/>
          <a:p>
            <a:endParaRPr lang="en-US"/>
          </a:p>
        </p:txBody>
      </p:sp>
      <p:sp>
        <p:nvSpPr>
          <p:cNvPr id="3" name="Text 1"/>
          <p:cNvSpPr/>
          <p:nvPr/>
        </p:nvSpPr>
        <p:spPr>
          <a:xfrm>
            <a:off x="457200" y="0"/>
            <a:ext cx="8229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IGA Vendor Landscape</a:t>
            </a:r>
            <a:endParaRPr lang="en-US" sz="2200" dirty="0"/>
          </a:p>
        </p:txBody>
      </p:sp>
      <p:sp>
        <p:nvSpPr>
          <p:cNvPr id="4" name="Shape 2"/>
          <p:cNvSpPr/>
          <p:nvPr/>
        </p:nvSpPr>
        <p:spPr>
          <a:xfrm>
            <a:off x="182880" y="804672"/>
            <a:ext cx="2743200" cy="1920240"/>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5" name="Shape 3"/>
          <p:cNvSpPr/>
          <p:nvPr/>
        </p:nvSpPr>
        <p:spPr>
          <a:xfrm>
            <a:off x="182880" y="804672"/>
            <a:ext cx="2743200" cy="365760"/>
          </a:xfrm>
          <a:prstGeom prst="rect">
            <a:avLst/>
          </a:prstGeom>
          <a:solidFill>
            <a:srgbClr val="003F5C"/>
          </a:solidFill>
          <a:ln w="12700">
            <a:solidFill>
              <a:srgbClr val="003F5C"/>
            </a:solidFill>
            <a:prstDash val="solid"/>
          </a:ln>
        </p:spPr>
        <p:txBody>
          <a:bodyPr/>
          <a:lstStyle/>
          <a:p>
            <a:endParaRPr lang="en-US"/>
          </a:p>
        </p:txBody>
      </p:sp>
      <p:sp>
        <p:nvSpPr>
          <p:cNvPr id="6" name="Text 4"/>
          <p:cNvSpPr/>
          <p:nvPr/>
        </p:nvSpPr>
        <p:spPr>
          <a:xfrm>
            <a:off x="256032" y="804672"/>
            <a:ext cx="182880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SailPoint ISC</a:t>
            </a:r>
            <a:endParaRPr lang="en-US" sz="1200" dirty="0"/>
          </a:p>
        </p:txBody>
      </p:sp>
      <p:sp>
        <p:nvSpPr>
          <p:cNvPr id="7" name="Text 5"/>
          <p:cNvSpPr/>
          <p:nvPr/>
        </p:nvSpPr>
        <p:spPr>
          <a:xfrm>
            <a:off x="1920240" y="868680"/>
            <a:ext cx="914400" cy="237744"/>
          </a:xfrm>
          <a:prstGeom prst="rect">
            <a:avLst/>
          </a:prstGeom>
          <a:noFill/>
          <a:ln/>
        </p:spPr>
        <p:txBody>
          <a:bodyPr wrap="square" lIns="0" tIns="0" rIns="0" bIns="0" rtlCol="0" anchor="ctr"/>
          <a:lstStyle/>
          <a:p>
            <a:pPr marL="0" indent="0" algn="r">
              <a:buNone/>
            </a:pPr>
            <a:r>
              <a:rPr lang="en-US" sz="800" i="1" dirty="0">
                <a:solidFill>
                  <a:srgbClr val="FFFFFF"/>
                </a:solidFill>
                <a:latin typeface="Calibri" pitchFamily="34" charset="0"/>
                <a:ea typeface="Calibri" pitchFamily="34" charset="-122"/>
                <a:cs typeface="Calibri" pitchFamily="34" charset="-120"/>
              </a:rPr>
              <a:t>Market Leader</a:t>
            </a:r>
            <a:endParaRPr lang="en-US" sz="800" dirty="0"/>
          </a:p>
        </p:txBody>
      </p:sp>
      <p:sp>
        <p:nvSpPr>
          <p:cNvPr id="8" name="Text 6"/>
          <p:cNvSpPr/>
          <p:nvPr/>
        </p:nvSpPr>
        <p:spPr>
          <a:xfrm>
            <a:off x="274320" y="1207008"/>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Gartner IGA MQ Leader (2024)</a:t>
            </a:r>
            <a:endParaRPr lang="en-US" sz="900" dirty="0"/>
          </a:p>
        </p:txBody>
      </p:sp>
      <p:sp>
        <p:nvSpPr>
          <p:cNvPr id="9" name="Text 7"/>
          <p:cNvSpPr/>
          <p:nvPr/>
        </p:nvSpPr>
        <p:spPr>
          <a:xfrm>
            <a:off x="274320" y="1508760"/>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AI Recommendations + Atlas platform</a:t>
            </a:r>
            <a:endParaRPr lang="en-US" sz="900" dirty="0"/>
          </a:p>
        </p:txBody>
      </p:sp>
      <p:sp>
        <p:nvSpPr>
          <p:cNvPr id="10" name="Text 8"/>
          <p:cNvSpPr/>
          <p:nvPr/>
        </p:nvSpPr>
        <p:spPr>
          <a:xfrm>
            <a:off x="274320" y="1810512"/>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200+ pre-built connectors</a:t>
            </a:r>
            <a:endParaRPr lang="en-US" sz="900" dirty="0"/>
          </a:p>
        </p:txBody>
      </p:sp>
      <p:sp>
        <p:nvSpPr>
          <p:cNvPr id="11" name="Text 9"/>
          <p:cNvSpPr/>
          <p:nvPr/>
        </p:nvSpPr>
        <p:spPr>
          <a:xfrm>
            <a:off x="274320" y="2112264"/>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CIEM + File Access Manager modules</a:t>
            </a:r>
            <a:endParaRPr lang="en-US" sz="900" dirty="0"/>
          </a:p>
        </p:txBody>
      </p:sp>
      <p:sp>
        <p:nvSpPr>
          <p:cNvPr id="12" name="Text 10"/>
          <p:cNvSpPr/>
          <p:nvPr/>
        </p:nvSpPr>
        <p:spPr>
          <a:xfrm>
            <a:off x="274320" y="2414016"/>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Best for: Large complex enterprises</a:t>
            </a:r>
            <a:endParaRPr lang="en-US" sz="900" dirty="0"/>
          </a:p>
        </p:txBody>
      </p:sp>
      <p:sp>
        <p:nvSpPr>
          <p:cNvPr id="13" name="Shape 11"/>
          <p:cNvSpPr/>
          <p:nvPr/>
        </p:nvSpPr>
        <p:spPr>
          <a:xfrm>
            <a:off x="3108960" y="804672"/>
            <a:ext cx="2743200" cy="1920240"/>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14" name="Shape 12"/>
          <p:cNvSpPr/>
          <p:nvPr/>
        </p:nvSpPr>
        <p:spPr>
          <a:xfrm>
            <a:off x="3108960" y="804672"/>
            <a:ext cx="2743200" cy="365760"/>
          </a:xfrm>
          <a:prstGeom prst="rect">
            <a:avLst/>
          </a:prstGeom>
          <a:solidFill>
            <a:srgbClr val="1A5276"/>
          </a:solidFill>
          <a:ln w="12700">
            <a:solidFill>
              <a:srgbClr val="1A5276"/>
            </a:solidFill>
            <a:prstDash val="solid"/>
          </a:ln>
        </p:spPr>
        <p:txBody>
          <a:bodyPr/>
          <a:lstStyle/>
          <a:p>
            <a:endParaRPr lang="en-US"/>
          </a:p>
        </p:txBody>
      </p:sp>
      <p:sp>
        <p:nvSpPr>
          <p:cNvPr id="15" name="Text 13"/>
          <p:cNvSpPr/>
          <p:nvPr/>
        </p:nvSpPr>
        <p:spPr>
          <a:xfrm>
            <a:off x="3182112" y="804672"/>
            <a:ext cx="182880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Saviynt EIC</a:t>
            </a:r>
            <a:endParaRPr lang="en-US" sz="1200" dirty="0"/>
          </a:p>
        </p:txBody>
      </p:sp>
      <p:sp>
        <p:nvSpPr>
          <p:cNvPr id="16" name="Text 14"/>
          <p:cNvSpPr/>
          <p:nvPr/>
        </p:nvSpPr>
        <p:spPr>
          <a:xfrm>
            <a:off x="4846320" y="868680"/>
            <a:ext cx="914400" cy="237744"/>
          </a:xfrm>
          <a:prstGeom prst="rect">
            <a:avLst/>
          </a:prstGeom>
          <a:noFill/>
          <a:ln/>
        </p:spPr>
        <p:txBody>
          <a:bodyPr wrap="square" lIns="0" tIns="0" rIns="0" bIns="0" rtlCol="0" anchor="ctr"/>
          <a:lstStyle/>
          <a:p>
            <a:pPr marL="0" indent="0" algn="r">
              <a:buNone/>
            </a:pPr>
            <a:r>
              <a:rPr lang="en-US" sz="800" i="1" dirty="0">
                <a:solidFill>
                  <a:srgbClr val="FFFFFF"/>
                </a:solidFill>
                <a:latin typeface="Calibri" pitchFamily="34" charset="0"/>
                <a:ea typeface="Calibri" pitchFamily="34" charset="-122"/>
                <a:cs typeface="Calibri" pitchFamily="34" charset="-120"/>
              </a:rPr>
              <a:t>Gartner Market Guide</a:t>
            </a:r>
            <a:endParaRPr lang="en-US" sz="800" dirty="0"/>
          </a:p>
        </p:txBody>
      </p:sp>
      <p:sp>
        <p:nvSpPr>
          <p:cNvPr id="17" name="Text 15"/>
          <p:cNvSpPr/>
          <p:nvPr/>
        </p:nvSpPr>
        <p:spPr>
          <a:xfrm>
            <a:off x="3200400" y="1207008"/>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Native CIEM + PAM + IGA in one</a:t>
            </a:r>
            <a:endParaRPr lang="en-US" sz="900" dirty="0"/>
          </a:p>
        </p:txBody>
      </p:sp>
      <p:sp>
        <p:nvSpPr>
          <p:cNvPr id="18" name="Text 16"/>
          <p:cNvSpPr/>
          <p:nvPr/>
        </p:nvSpPr>
        <p:spPr>
          <a:xfrm>
            <a:off x="3200400" y="1508760"/>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Strong cloud governance (AWS/Azure/GCP)</a:t>
            </a:r>
            <a:endParaRPr lang="en-US" sz="900" dirty="0"/>
          </a:p>
        </p:txBody>
      </p:sp>
      <p:sp>
        <p:nvSpPr>
          <p:cNvPr id="19" name="Text 17"/>
          <p:cNvSpPr/>
          <p:nvPr/>
        </p:nvSpPr>
        <p:spPr>
          <a:xfrm>
            <a:off x="3200400" y="1810512"/>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Healthcare and BFSI reference clients</a:t>
            </a:r>
            <a:endParaRPr lang="en-US" sz="900" dirty="0"/>
          </a:p>
        </p:txBody>
      </p:sp>
      <p:sp>
        <p:nvSpPr>
          <p:cNvPr id="20" name="Text 18"/>
          <p:cNvSpPr/>
          <p:nvPr/>
        </p:nvSpPr>
        <p:spPr>
          <a:xfrm>
            <a:off x="3200400" y="2112264"/>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Convergence platform approach</a:t>
            </a:r>
            <a:endParaRPr lang="en-US" sz="900" dirty="0"/>
          </a:p>
        </p:txBody>
      </p:sp>
      <p:sp>
        <p:nvSpPr>
          <p:cNvPr id="21" name="Text 19"/>
          <p:cNvSpPr/>
          <p:nvPr/>
        </p:nvSpPr>
        <p:spPr>
          <a:xfrm>
            <a:off x="3200400" y="2414016"/>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Best for: Cloud-heavy + regulated sectors</a:t>
            </a:r>
            <a:endParaRPr lang="en-US" sz="900" dirty="0"/>
          </a:p>
        </p:txBody>
      </p:sp>
      <p:sp>
        <p:nvSpPr>
          <p:cNvPr id="22" name="Shape 20"/>
          <p:cNvSpPr/>
          <p:nvPr/>
        </p:nvSpPr>
        <p:spPr>
          <a:xfrm>
            <a:off x="6035040" y="804672"/>
            <a:ext cx="2743200" cy="1920240"/>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23" name="Shape 21"/>
          <p:cNvSpPr/>
          <p:nvPr/>
        </p:nvSpPr>
        <p:spPr>
          <a:xfrm>
            <a:off x="6035040" y="804672"/>
            <a:ext cx="2743200" cy="365760"/>
          </a:xfrm>
          <a:prstGeom prst="rect">
            <a:avLst/>
          </a:prstGeom>
          <a:solidFill>
            <a:srgbClr val="0078D4"/>
          </a:solidFill>
          <a:ln w="12700">
            <a:solidFill>
              <a:srgbClr val="0078D4"/>
            </a:solidFill>
            <a:prstDash val="solid"/>
          </a:ln>
        </p:spPr>
        <p:txBody>
          <a:bodyPr/>
          <a:lstStyle/>
          <a:p>
            <a:endParaRPr lang="en-US"/>
          </a:p>
        </p:txBody>
      </p:sp>
      <p:sp>
        <p:nvSpPr>
          <p:cNvPr id="24" name="Text 22"/>
          <p:cNvSpPr/>
          <p:nvPr/>
        </p:nvSpPr>
        <p:spPr>
          <a:xfrm>
            <a:off x="6108192" y="804672"/>
            <a:ext cx="182880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Entra ID Governance</a:t>
            </a:r>
            <a:endParaRPr lang="en-US" sz="1200" dirty="0"/>
          </a:p>
        </p:txBody>
      </p:sp>
      <p:sp>
        <p:nvSpPr>
          <p:cNvPr id="25" name="Text 23"/>
          <p:cNvSpPr/>
          <p:nvPr/>
        </p:nvSpPr>
        <p:spPr>
          <a:xfrm>
            <a:off x="7772400" y="868680"/>
            <a:ext cx="914400" cy="237744"/>
          </a:xfrm>
          <a:prstGeom prst="rect">
            <a:avLst/>
          </a:prstGeom>
          <a:noFill/>
          <a:ln/>
        </p:spPr>
        <p:txBody>
          <a:bodyPr wrap="square" lIns="0" tIns="0" rIns="0" bIns="0" rtlCol="0" anchor="ctr"/>
          <a:lstStyle/>
          <a:p>
            <a:pPr marL="0" indent="0" algn="r">
              <a:buNone/>
            </a:pPr>
            <a:r>
              <a:rPr lang="en-US" sz="800" i="1" dirty="0">
                <a:solidFill>
                  <a:srgbClr val="FFFFFF"/>
                </a:solidFill>
                <a:latin typeface="Calibri" pitchFamily="34" charset="0"/>
                <a:ea typeface="Calibri" pitchFamily="34" charset="-122"/>
                <a:cs typeface="Calibri" pitchFamily="34" charset="-120"/>
              </a:rPr>
              <a:t>Native M365</a:t>
            </a:r>
            <a:endParaRPr lang="en-US" sz="800" dirty="0"/>
          </a:p>
        </p:txBody>
      </p:sp>
      <p:sp>
        <p:nvSpPr>
          <p:cNvPr id="26" name="Text 24"/>
          <p:cNvSpPr/>
          <p:nvPr/>
        </p:nvSpPr>
        <p:spPr>
          <a:xfrm>
            <a:off x="6126480" y="1207008"/>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Native Entra ID P2 integration</a:t>
            </a:r>
            <a:endParaRPr lang="en-US" sz="900" dirty="0"/>
          </a:p>
        </p:txBody>
      </p:sp>
      <p:sp>
        <p:nvSpPr>
          <p:cNvPr id="27" name="Text 25"/>
          <p:cNvSpPr/>
          <p:nvPr/>
        </p:nvSpPr>
        <p:spPr>
          <a:xfrm>
            <a:off x="6126480" y="1508760"/>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Entitlement Management + Access Reviews</a:t>
            </a:r>
            <a:endParaRPr lang="en-US" sz="900" dirty="0"/>
          </a:p>
        </p:txBody>
      </p:sp>
      <p:sp>
        <p:nvSpPr>
          <p:cNvPr id="28" name="Text 26"/>
          <p:cNvSpPr/>
          <p:nvPr/>
        </p:nvSpPr>
        <p:spPr>
          <a:xfrm>
            <a:off x="6126480" y="1810512"/>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Lifecycle Workflows for JML automation</a:t>
            </a:r>
            <a:endParaRPr lang="en-US" sz="900" dirty="0"/>
          </a:p>
        </p:txBody>
      </p:sp>
      <p:sp>
        <p:nvSpPr>
          <p:cNvPr id="29" name="Text 27"/>
          <p:cNvSpPr/>
          <p:nvPr/>
        </p:nvSpPr>
        <p:spPr>
          <a:xfrm>
            <a:off x="6126480" y="2112264"/>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Entra PIM for privileged roles</a:t>
            </a:r>
            <a:endParaRPr lang="en-US" sz="900" dirty="0"/>
          </a:p>
        </p:txBody>
      </p:sp>
      <p:sp>
        <p:nvSpPr>
          <p:cNvPr id="30" name="Text 28"/>
          <p:cNvSpPr/>
          <p:nvPr/>
        </p:nvSpPr>
        <p:spPr>
          <a:xfrm>
            <a:off x="6126480" y="2414016"/>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Best for: Microsoft-centric orgs</a:t>
            </a:r>
            <a:endParaRPr lang="en-US" sz="900" dirty="0"/>
          </a:p>
        </p:txBody>
      </p:sp>
      <p:sp>
        <p:nvSpPr>
          <p:cNvPr id="31" name="Shape 29"/>
          <p:cNvSpPr/>
          <p:nvPr/>
        </p:nvSpPr>
        <p:spPr>
          <a:xfrm>
            <a:off x="182880" y="2889504"/>
            <a:ext cx="2743200" cy="1920240"/>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32" name="Shape 30"/>
          <p:cNvSpPr/>
          <p:nvPr/>
        </p:nvSpPr>
        <p:spPr>
          <a:xfrm>
            <a:off x="182880" y="2889504"/>
            <a:ext cx="2743200" cy="365760"/>
          </a:xfrm>
          <a:prstGeom prst="rect">
            <a:avLst/>
          </a:prstGeom>
          <a:solidFill>
            <a:srgbClr val="1F618D"/>
          </a:solidFill>
          <a:ln w="12700">
            <a:solidFill>
              <a:srgbClr val="1F618D"/>
            </a:solidFill>
            <a:prstDash val="solid"/>
          </a:ln>
        </p:spPr>
        <p:txBody>
          <a:bodyPr/>
          <a:lstStyle/>
          <a:p>
            <a:endParaRPr lang="en-US"/>
          </a:p>
        </p:txBody>
      </p:sp>
      <p:sp>
        <p:nvSpPr>
          <p:cNvPr id="33" name="Text 31"/>
          <p:cNvSpPr/>
          <p:nvPr/>
        </p:nvSpPr>
        <p:spPr>
          <a:xfrm>
            <a:off x="256032" y="2889504"/>
            <a:ext cx="182880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IBM Verify Governance</a:t>
            </a:r>
            <a:endParaRPr lang="en-US" sz="1200" dirty="0"/>
          </a:p>
        </p:txBody>
      </p:sp>
      <p:sp>
        <p:nvSpPr>
          <p:cNvPr id="34" name="Text 32"/>
          <p:cNvSpPr/>
          <p:nvPr/>
        </p:nvSpPr>
        <p:spPr>
          <a:xfrm>
            <a:off x="1920240" y="2953512"/>
            <a:ext cx="914400" cy="237744"/>
          </a:xfrm>
          <a:prstGeom prst="rect">
            <a:avLst/>
          </a:prstGeom>
          <a:noFill/>
          <a:ln/>
        </p:spPr>
        <p:txBody>
          <a:bodyPr wrap="square" lIns="0" tIns="0" rIns="0" bIns="0" rtlCol="0" anchor="ctr"/>
          <a:lstStyle/>
          <a:p>
            <a:pPr marL="0" indent="0" algn="r">
              <a:buNone/>
            </a:pPr>
            <a:r>
              <a:rPr lang="en-US" sz="800" i="1" dirty="0">
                <a:solidFill>
                  <a:srgbClr val="FFFFFF"/>
                </a:solidFill>
                <a:latin typeface="Calibri" pitchFamily="34" charset="0"/>
                <a:ea typeface="Calibri" pitchFamily="34" charset="-122"/>
                <a:cs typeface="Calibri" pitchFamily="34" charset="-120"/>
              </a:rPr>
              <a:t>Enterprise</a:t>
            </a:r>
            <a:endParaRPr lang="en-US" sz="800" dirty="0"/>
          </a:p>
        </p:txBody>
      </p:sp>
      <p:sp>
        <p:nvSpPr>
          <p:cNvPr id="35" name="Text 33"/>
          <p:cNvSpPr/>
          <p:nvPr/>
        </p:nvSpPr>
        <p:spPr>
          <a:xfrm>
            <a:off x="274320" y="3291840"/>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Strong identity analytics engine</a:t>
            </a:r>
            <a:endParaRPr lang="en-US" sz="900" dirty="0"/>
          </a:p>
        </p:txBody>
      </p:sp>
      <p:sp>
        <p:nvSpPr>
          <p:cNvPr id="36" name="Text 34"/>
          <p:cNvSpPr/>
          <p:nvPr/>
        </p:nvSpPr>
        <p:spPr>
          <a:xfrm>
            <a:off x="274320" y="3593592"/>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Deep SAP and Oracle ERP SoD rules</a:t>
            </a:r>
            <a:endParaRPr lang="en-US" sz="900" dirty="0"/>
          </a:p>
        </p:txBody>
      </p:sp>
      <p:sp>
        <p:nvSpPr>
          <p:cNvPr id="37" name="Text 35"/>
          <p:cNvSpPr/>
          <p:nvPr/>
        </p:nvSpPr>
        <p:spPr>
          <a:xfrm>
            <a:off x="274320" y="3895344"/>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IBM Consulting delivery ecosystem</a:t>
            </a:r>
            <a:endParaRPr lang="en-US" sz="900" dirty="0"/>
          </a:p>
        </p:txBody>
      </p:sp>
      <p:sp>
        <p:nvSpPr>
          <p:cNvPr id="38" name="Text 36"/>
          <p:cNvSpPr/>
          <p:nvPr/>
        </p:nvSpPr>
        <p:spPr>
          <a:xfrm>
            <a:off x="274320" y="4197096"/>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Hybrid and on-prem deployment</a:t>
            </a:r>
            <a:endParaRPr lang="en-US" sz="900" dirty="0"/>
          </a:p>
        </p:txBody>
      </p:sp>
      <p:sp>
        <p:nvSpPr>
          <p:cNvPr id="39" name="Text 37"/>
          <p:cNvSpPr/>
          <p:nvPr/>
        </p:nvSpPr>
        <p:spPr>
          <a:xfrm>
            <a:off x="274320" y="4498848"/>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Best for: SAP-centric financial sector</a:t>
            </a:r>
            <a:endParaRPr lang="en-US" sz="900" dirty="0"/>
          </a:p>
        </p:txBody>
      </p:sp>
      <p:sp>
        <p:nvSpPr>
          <p:cNvPr id="40" name="Shape 38"/>
          <p:cNvSpPr/>
          <p:nvPr/>
        </p:nvSpPr>
        <p:spPr>
          <a:xfrm>
            <a:off x="3108960" y="2889504"/>
            <a:ext cx="2743200" cy="1920240"/>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41" name="Shape 39"/>
          <p:cNvSpPr/>
          <p:nvPr/>
        </p:nvSpPr>
        <p:spPr>
          <a:xfrm>
            <a:off x="3108960" y="2889504"/>
            <a:ext cx="2743200" cy="365760"/>
          </a:xfrm>
          <a:prstGeom prst="rect">
            <a:avLst/>
          </a:prstGeom>
          <a:solidFill>
            <a:srgbClr val="2E4057"/>
          </a:solidFill>
          <a:ln w="12700">
            <a:solidFill>
              <a:srgbClr val="2E4057"/>
            </a:solidFill>
            <a:prstDash val="solid"/>
          </a:ln>
        </p:spPr>
        <p:txBody>
          <a:bodyPr/>
          <a:lstStyle/>
          <a:p>
            <a:endParaRPr lang="en-US"/>
          </a:p>
        </p:txBody>
      </p:sp>
      <p:sp>
        <p:nvSpPr>
          <p:cNvPr id="42" name="Text 40"/>
          <p:cNvSpPr/>
          <p:nvPr/>
        </p:nvSpPr>
        <p:spPr>
          <a:xfrm>
            <a:off x="3182112" y="2889504"/>
            <a:ext cx="182880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One Identity Manager</a:t>
            </a:r>
            <a:endParaRPr lang="en-US" sz="1200" dirty="0"/>
          </a:p>
        </p:txBody>
      </p:sp>
      <p:sp>
        <p:nvSpPr>
          <p:cNvPr id="43" name="Text 41"/>
          <p:cNvSpPr/>
          <p:nvPr/>
        </p:nvSpPr>
        <p:spPr>
          <a:xfrm>
            <a:off x="4846320" y="2953512"/>
            <a:ext cx="914400" cy="237744"/>
          </a:xfrm>
          <a:prstGeom prst="rect">
            <a:avLst/>
          </a:prstGeom>
          <a:noFill/>
          <a:ln/>
        </p:spPr>
        <p:txBody>
          <a:bodyPr wrap="square" lIns="0" tIns="0" rIns="0" bIns="0" rtlCol="0" anchor="ctr"/>
          <a:lstStyle/>
          <a:p>
            <a:pPr marL="0" indent="0" algn="r">
              <a:buNone/>
            </a:pPr>
            <a:r>
              <a:rPr lang="en-US" sz="800" i="1" dirty="0">
                <a:solidFill>
                  <a:srgbClr val="FFFFFF"/>
                </a:solidFill>
                <a:latin typeface="Calibri" pitchFamily="34" charset="0"/>
                <a:ea typeface="Calibri" pitchFamily="34" charset="-122"/>
                <a:cs typeface="Calibri" pitchFamily="34" charset="-120"/>
              </a:rPr>
              <a:t>On-Prem / SaaS</a:t>
            </a:r>
            <a:endParaRPr lang="en-US" sz="800" dirty="0"/>
          </a:p>
        </p:txBody>
      </p:sp>
      <p:sp>
        <p:nvSpPr>
          <p:cNvPr id="44" name="Text 42"/>
          <p:cNvSpPr/>
          <p:nvPr/>
        </p:nvSpPr>
        <p:spPr>
          <a:xfrm>
            <a:off x="3200400" y="3291840"/>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Comprehensive AD/Windows governance</a:t>
            </a:r>
            <a:endParaRPr lang="en-US" sz="900" dirty="0"/>
          </a:p>
        </p:txBody>
      </p:sp>
      <p:sp>
        <p:nvSpPr>
          <p:cNvPr id="45" name="Text 43"/>
          <p:cNvSpPr/>
          <p:nvPr/>
        </p:nvSpPr>
        <p:spPr>
          <a:xfrm>
            <a:off x="3200400" y="3593592"/>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HR sync engine</a:t>
            </a:r>
            <a:endParaRPr lang="en-US" sz="900" dirty="0"/>
          </a:p>
        </p:txBody>
      </p:sp>
      <p:sp>
        <p:nvSpPr>
          <p:cNvPr id="46" name="Text 44"/>
          <p:cNvSpPr/>
          <p:nvPr/>
        </p:nvSpPr>
        <p:spPr>
          <a:xfrm>
            <a:off x="3200400" y="3895344"/>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SaaS via Identity Manager On Demand</a:t>
            </a:r>
            <a:endParaRPr lang="en-US" sz="900" dirty="0"/>
          </a:p>
        </p:txBody>
      </p:sp>
      <p:sp>
        <p:nvSpPr>
          <p:cNvPr id="47" name="Text 45"/>
          <p:cNvSpPr/>
          <p:nvPr/>
        </p:nvSpPr>
        <p:spPr>
          <a:xfrm>
            <a:off x="3200400" y="4197096"/>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Strong EMEA and government presence</a:t>
            </a:r>
            <a:endParaRPr lang="en-US" sz="900" dirty="0"/>
          </a:p>
        </p:txBody>
      </p:sp>
      <p:sp>
        <p:nvSpPr>
          <p:cNvPr id="48" name="Text 46"/>
          <p:cNvSpPr/>
          <p:nvPr/>
        </p:nvSpPr>
        <p:spPr>
          <a:xfrm>
            <a:off x="3200400" y="4498848"/>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Best for: On-prem AD environments</a:t>
            </a:r>
            <a:endParaRPr lang="en-US" sz="900" dirty="0"/>
          </a:p>
        </p:txBody>
      </p:sp>
      <p:sp>
        <p:nvSpPr>
          <p:cNvPr id="49" name="Shape 47"/>
          <p:cNvSpPr/>
          <p:nvPr/>
        </p:nvSpPr>
        <p:spPr>
          <a:xfrm>
            <a:off x="6035040" y="2889504"/>
            <a:ext cx="2743200" cy="1920240"/>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50" name="Shape 48"/>
          <p:cNvSpPr/>
          <p:nvPr/>
        </p:nvSpPr>
        <p:spPr>
          <a:xfrm>
            <a:off x="6035040" y="2889504"/>
            <a:ext cx="2743200" cy="365760"/>
          </a:xfrm>
          <a:prstGeom prst="rect">
            <a:avLst/>
          </a:prstGeom>
          <a:solidFill>
            <a:srgbClr val="2D6A4F"/>
          </a:solidFill>
          <a:ln w="12700">
            <a:solidFill>
              <a:srgbClr val="2D6A4F"/>
            </a:solidFill>
            <a:prstDash val="solid"/>
          </a:ln>
        </p:spPr>
        <p:txBody>
          <a:bodyPr/>
          <a:lstStyle/>
          <a:p>
            <a:endParaRPr lang="en-US"/>
          </a:p>
        </p:txBody>
      </p:sp>
      <p:sp>
        <p:nvSpPr>
          <p:cNvPr id="51" name="Text 49"/>
          <p:cNvSpPr/>
          <p:nvPr/>
        </p:nvSpPr>
        <p:spPr>
          <a:xfrm>
            <a:off x="6108192" y="2889504"/>
            <a:ext cx="182880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Omada Identity</a:t>
            </a:r>
            <a:endParaRPr lang="en-US" sz="1200" dirty="0"/>
          </a:p>
        </p:txBody>
      </p:sp>
      <p:sp>
        <p:nvSpPr>
          <p:cNvPr id="52" name="Text 50"/>
          <p:cNvSpPr/>
          <p:nvPr/>
        </p:nvSpPr>
        <p:spPr>
          <a:xfrm>
            <a:off x="7772400" y="2953512"/>
            <a:ext cx="914400" cy="237744"/>
          </a:xfrm>
          <a:prstGeom prst="rect">
            <a:avLst/>
          </a:prstGeom>
          <a:noFill/>
          <a:ln/>
        </p:spPr>
        <p:txBody>
          <a:bodyPr wrap="square" lIns="0" tIns="0" rIns="0" bIns="0" rtlCol="0" anchor="ctr"/>
          <a:lstStyle/>
          <a:p>
            <a:pPr marL="0" indent="0" algn="r">
              <a:buNone/>
            </a:pPr>
            <a:r>
              <a:rPr lang="en-US" sz="800" i="1" dirty="0">
                <a:solidFill>
                  <a:srgbClr val="FFFFFF"/>
                </a:solidFill>
                <a:latin typeface="Calibri" pitchFamily="34" charset="0"/>
                <a:ea typeface="Calibri" pitchFamily="34" charset="-122"/>
                <a:cs typeface="Calibri" pitchFamily="34" charset="-120"/>
              </a:rPr>
              <a:t>Mid-Market</a:t>
            </a:r>
            <a:endParaRPr lang="en-US" sz="800" dirty="0"/>
          </a:p>
        </p:txBody>
      </p:sp>
      <p:sp>
        <p:nvSpPr>
          <p:cNvPr id="53" name="Text 51"/>
          <p:cNvSpPr/>
          <p:nvPr/>
        </p:nvSpPr>
        <p:spPr>
          <a:xfrm>
            <a:off x="6126480" y="3291840"/>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Modular architecture</a:t>
            </a:r>
            <a:endParaRPr lang="en-US" sz="900" dirty="0"/>
          </a:p>
        </p:txBody>
      </p:sp>
      <p:sp>
        <p:nvSpPr>
          <p:cNvPr id="54" name="Text 52"/>
          <p:cNvSpPr/>
          <p:nvPr/>
        </p:nvSpPr>
        <p:spPr>
          <a:xfrm>
            <a:off x="6126480" y="3593592"/>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Strong European market presence</a:t>
            </a:r>
            <a:endParaRPr lang="en-US" sz="900" dirty="0"/>
          </a:p>
        </p:txBody>
      </p:sp>
      <p:sp>
        <p:nvSpPr>
          <p:cNvPr id="55" name="Text 53"/>
          <p:cNvSpPr/>
          <p:nvPr/>
        </p:nvSpPr>
        <p:spPr>
          <a:xfrm>
            <a:off x="6126480" y="3895344"/>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GDPR-aligned governance controls</a:t>
            </a:r>
            <a:endParaRPr lang="en-US" sz="900" dirty="0"/>
          </a:p>
        </p:txBody>
      </p:sp>
      <p:sp>
        <p:nvSpPr>
          <p:cNvPr id="56" name="Text 54"/>
          <p:cNvSpPr/>
          <p:nvPr/>
        </p:nvSpPr>
        <p:spPr>
          <a:xfrm>
            <a:off x="6126480" y="4197096"/>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Flexible certification campaigns</a:t>
            </a:r>
            <a:endParaRPr lang="en-US" sz="900" dirty="0"/>
          </a:p>
        </p:txBody>
      </p:sp>
      <p:sp>
        <p:nvSpPr>
          <p:cNvPr id="57" name="Text 55"/>
          <p:cNvSpPr/>
          <p:nvPr/>
        </p:nvSpPr>
        <p:spPr>
          <a:xfrm>
            <a:off x="6126480" y="4498848"/>
            <a:ext cx="2560320" cy="274320"/>
          </a:xfrm>
          <a:prstGeom prst="rect">
            <a:avLst/>
          </a:prstGeom>
          <a:noFill/>
          <a:ln/>
        </p:spPr>
        <p:txBody>
          <a:bodyPr wrap="square" lIns="0" tIns="0" rIns="0" bIns="0" rtlCol="0" anchor="ctr"/>
          <a:lstStyle/>
          <a:p>
            <a:pPr marL="0" indent="0">
              <a:buNone/>
            </a:pPr>
            <a:r>
              <a:rPr lang="en-US" sz="900" b="1" dirty="0">
                <a:solidFill>
                  <a:srgbClr val="2D7D46"/>
                </a:solidFill>
                <a:latin typeface="Calibri" pitchFamily="34" charset="0"/>
                <a:ea typeface="Calibri" pitchFamily="34" charset="-122"/>
                <a:cs typeface="Calibri" pitchFamily="34" charset="-120"/>
              </a:rPr>
              <a:t>• </a:t>
            </a:r>
            <a:r>
              <a:rPr lang="en-US" sz="900" dirty="0">
                <a:solidFill>
                  <a:srgbClr val="4B6076"/>
                </a:solidFill>
                <a:latin typeface="Calibri" pitchFamily="34" charset="0"/>
                <a:ea typeface="Calibri" pitchFamily="34" charset="-122"/>
                <a:cs typeface="Calibri" pitchFamily="34" charset="-120"/>
              </a:rPr>
              <a:t>Best for: Mid-market, European orgs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C5E"/>
          </a:solidFill>
          <a:ln w="12700">
            <a:solidFill>
              <a:srgbClr val="1A3C5E"/>
            </a:solidFill>
            <a:prstDash val="solid"/>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NIST SP 800-53 Rev 5 — IGA Control Mapping</a:t>
            </a:r>
            <a:endParaRPr lang="en-US" sz="1800" dirty="0"/>
          </a:p>
        </p:txBody>
      </p:sp>
      <p:sp>
        <p:nvSpPr>
          <p:cNvPr id="4" name="Shape 2"/>
          <p:cNvSpPr/>
          <p:nvPr/>
        </p:nvSpPr>
        <p:spPr>
          <a:xfrm>
            <a:off x="182880" y="749808"/>
            <a:ext cx="777240" cy="378229"/>
          </a:xfrm>
          <a:prstGeom prst="rect">
            <a:avLst/>
          </a:prstGeom>
          <a:solidFill>
            <a:srgbClr val="1A3C5E"/>
          </a:solidFill>
          <a:ln w="6350">
            <a:solidFill>
              <a:srgbClr val="D1DDE8"/>
            </a:solidFill>
            <a:prstDash val="solid"/>
          </a:ln>
        </p:spPr>
        <p:txBody>
          <a:bodyPr/>
          <a:lstStyle/>
          <a:p>
            <a:endParaRPr lang="en-US"/>
          </a:p>
        </p:txBody>
      </p:sp>
      <p:sp>
        <p:nvSpPr>
          <p:cNvPr id="5" name="Text 3"/>
          <p:cNvSpPr/>
          <p:nvPr/>
        </p:nvSpPr>
        <p:spPr>
          <a:xfrm>
            <a:off x="219456" y="768096"/>
            <a:ext cx="704088" cy="341653"/>
          </a:xfrm>
          <a:prstGeom prst="rect">
            <a:avLst/>
          </a:prstGeom>
          <a:noFill/>
          <a:ln/>
        </p:spPr>
        <p:txBody>
          <a:bodyPr wrap="square" lIns="0" tIns="0" rIns="0" bIns="0" rtlCol="0" anchor="ctr"/>
          <a:lstStyle/>
          <a:p>
            <a:pPr marL="0" indent="0">
              <a:buNone/>
            </a:pPr>
            <a:r>
              <a:rPr lang="en-US" sz="1100" b="1" dirty="0">
                <a:solidFill>
                  <a:srgbClr val="2D7D46"/>
                </a:solidFill>
                <a:latin typeface="Calibri" pitchFamily="34" charset="0"/>
                <a:ea typeface="Calibri" pitchFamily="34" charset="-122"/>
                <a:cs typeface="Calibri" pitchFamily="34" charset="-120"/>
              </a:rPr>
              <a:t>Control</a:t>
            </a:r>
            <a:endParaRPr lang="en-US" sz="1100" dirty="0"/>
          </a:p>
        </p:txBody>
      </p:sp>
      <p:sp>
        <p:nvSpPr>
          <p:cNvPr id="6" name="Shape 4"/>
          <p:cNvSpPr/>
          <p:nvPr/>
        </p:nvSpPr>
        <p:spPr>
          <a:xfrm>
            <a:off x="987552" y="749808"/>
            <a:ext cx="1645920" cy="378229"/>
          </a:xfrm>
          <a:prstGeom prst="rect">
            <a:avLst/>
          </a:prstGeom>
          <a:solidFill>
            <a:srgbClr val="1A3C5E"/>
          </a:solidFill>
          <a:ln w="6350">
            <a:solidFill>
              <a:srgbClr val="D1DDE8"/>
            </a:solidFill>
            <a:prstDash val="solid"/>
          </a:ln>
        </p:spPr>
        <p:txBody>
          <a:bodyPr/>
          <a:lstStyle/>
          <a:p>
            <a:endParaRPr lang="en-US"/>
          </a:p>
        </p:txBody>
      </p:sp>
      <p:sp>
        <p:nvSpPr>
          <p:cNvPr id="7" name="Text 5"/>
          <p:cNvSpPr/>
          <p:nvPr/>
        </p:nvSpPr>
        <p:spPr>
          <a:xfrm>
            <a:off x="1024128" y="768096"/>
            <a:ext cx="1572768" cy="341653"/>
          </a:xfrm>
          <a:prstGeom prst="rect">
            <a:avLst/>
          </a:prstGeom>
          <a:noFill/>
          <a:ln/>
        </p:spPr>
        <p:txBody>
          <a:bodyPr wrap="square" lIns="0" tIns="0" rIns="0" bIns="0" rtlCol="0" anchor="ctr"/>
          <a:lstStyle/>
          <a:p>
            <a:pPr marL="0" indent="0">
              <a:buNone/>
            </a:pPr>
            <a:r>
              <a:rPr lang="en-US" sz="1100" b="1" dirty="0">
                <a:solidFill>
                  <a:srgbClr val="2D7D46"/>
                </a:solidFill>
                <a:latin typeface="Calibri" pitchFamily="34" charset="0"/>
                <a:ea typeface="Calibri" pitchFamily="34" charset="-122"/>
                <a:cs typeface="Calibri" pitchFamily="34" charset="-120"/>
              </a:rPr>
              <a:t>Name</a:t>
            </a:r>
            <a:endParaRPr lang="en-US" sz="1100" dirty="0"/>
          </a:p>
        </p:txBody>
      </p:sp>
      <p:sp>
        <p:nvSpPr>
          <p:cNvPr id="8" name="Shape 6"/>
          <p:cNvSpPr/>
          <p:nvPr/>
        </p:nvSpPr>
        <p:spPr>
          <a:xfrm>
            <a:off x="2651760" y="749808"/>
            <a:ext cx="6080760" cy="378229"/>
          </a:xfrm>
          <a:prstGeom prst="rect">
            <a:avLst/>
          </a:prstGeom>
          <a:solidFill>
            <a:srgbClr val="1A3C5E"/>
          </a:solidFill>
          <a:ln w="6350">
            <a:solidFill>
              <a:srgbClr val="D1DDE8"/>
            </a:solidFill>
            <a:prstDash val="solid"/>
          </a:ln>
        </p:spPr>
        <p:txBody>
          <a:bodyPr/>
          <a:lstStyle/>
          <a:p>
            <a:endParaRPr lang="en-US"/>
          </a:p>
        </p:txBody>
      </p:sp>
      <p:sp>
        <p:nvSpPr>
          <p:cNvPr id="9" name="Text 7"/>
          <p:cNvSpPr/>
          <p:nvPr/>
        </p:nvSpPr>
        <p:spPr>
          <a:xfrm>
            <a:off x="2688336" y="768096"/>
            <a:ext cx="6007608" cy="341653"/>
          </a:xfrm>
          <a:prstGeom prst="rect">
            <a:avLst/>
          </a:prstGeom>
          <a:noFill/>
          <a:ln/>
        </p:spPr>
        <p:txBody>
          <a:bodyPr wrap="square" lIns="0" tIns="0" rIns="0" bIns="0" rtlCol="0" anchor="ctr"/>
          <a:lstStyle/>
          <a:p>
            <a:pPr marL="0" indent="0">
              <a:buNone/>
            </a:pPr>
            <a:r>
              <a:rPr lang="en-US" sz="1100" b="1" dirty="0">
                <a:solidFill>
                  <a:srgbClr val="2D7D46"/>
                </a:solidFill>
                <a:latin typeface="Calibri" pitchFamily="34" charset="0"/>
                <a:ea typeface="Calibri" pitchFamily="34" charset="-122"/>
                <a:cs typeface="Calibri" pitchFamily="34" charset="-120"/>
              </a:rPr>
              <a:t>IGA Implementation</a:t>
            </a:r>
            <a:endParaRPr lang="en-US" sz="1100" dirty="0"/>
          </a:p>
        </p:txBody>
      </p:sp>
      <p:sp>
        <p:nvSpPr>
          <p:cNvPr id="10" name="Shape 8"/>
          <p:cNvSpPr/>
          <p:nvPr/>
        </p:nvSpPr>
        <p:spPr>
          <a:xfrm>
            <a:off x="182880" y="1128037"/>
            <a:ext cx="777240" cy="378229"/>
          </a:xfrm>
          <a:prstGeom prst="rect">
            <a:avLst/>
          </a:prstGeom>
          <a:solidFill>
            <a:srgbClr val="FFFFFF"/>
          </a:solidFill>
          <a:ln w="6350">
            <a:solidFill>
              <a:srgbClr val="D1DDE8"/>
            </a:solidFill>
            <a:prstDash val="solid"/>
          </a:ln>
        </p:spPr>
        <p:txBody>
          <a:bodyPr/>
          <a:lstStyle/>
          <a:p>
            <a:endParaRPr lang="en-US"/>
          </a:p>
        </p:txBody>
      </p:sp>
      <p:sp>
        <p:nvSpPr>
          <p:cNvPr id="11" name="Text 9"/>
          <p:cNvSpPr/>
          <p:nvPr/>
        </p:nvSpPr>
        <p:spPr>
          <a:xfrm>
            <a:off x="219456" y="1146325"/>
            <a:ext cx="70408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AC-2</a:t>
            </a:r>
            <a:endParaRPr lang="en-US" sz="850" dirty="0"/>
          </a:p>
        </p:txBody>
      </p:sp>
      <p:sp>
        <p:nvSpPr>
          <p:cNvPr id="12" name="Shape 10"/>
          <p:cNvSpPr/>
          <p:nvPr/>
        </p:nvSpPr>
        <p:spPr>
          <a:xfrm>
            <a:off x="987552" y="1128037"/>
            <a:ext cx="1645920" cy="378229"/>
          </a:xfrm>
          <a:prstGeom prst="rect">
            <a:avLst/>
          </a:prstGeom>
          <a:solidFill>
            <a:srgbClr val="FFFFFF"/>
          </a:solidFill>
          <a:ln w="6350">
            <a:solidFill>
              <a:srgbClr val="D1DDE8"/>
            </a:solidFill>
            <a:prstDash val="solid"/>
          </a:ln>
        </p:spPr>
        <p:txBody>
          <a:bodyPr/>
          <a:lstStyle/>
          <a:p>
            <a:endParaRPr lang="en-US"/>
          </a:p>
        </p:txBody>
      </p:sp>
      <p:sp>
        <p:nvSpPr>
          <p:cNvPr id="13" name="Text 11"/>
          <p:cNvSpPr/>
          <p:nvPr/>
        </p:nvSpPr>
        <p:spPr>
          <a:xfrm>
            <a:off x="1024128" y="1146325"/>
            <a:ext cx="157276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Account Management</a:t>
            </a:r>
            <a:endParaRPr lang="en-US" sz="850" dirty="0"/>
          </a:p>
        </p:txBody>
      </p:sp>
      <p:sp>
        <p:nvSpPr>
          <p:cNvPr id="14" name="Shape 12"/>
          <p:cNvSpPr/>
          <p:nvPr/>
        </p:nvSpPr>
        <p:spPr>
          <a:xfrm>
            <a:off x="2651760" y="1128037"/>
            <a:ext cx="6080760" cy="378229"/>
          </a:xfrm>
          <a:prstGeom prst="rect">
            <a:avLst/>
          </a:prstGeom>
          <a:solidFill>
            <a:srgbClr val="FFFFFF"/>
          </a:solidFill>
          <a:ln w="6350">
            <a:solidFill>
              <a:srgbClr val="D1DDE8"/>
            </a:solidFill>
            <a:prstDash val="solid"/>
          </a:ln>
        </p:spPr>
        <p:txBody>
          <a:bodyPr/>
          <a:lstStyle/>
          <a:p>
            <a:endParaRPr lang="en-US"/>
          </a:p>
        </p:txBody>
      </p:sp>
      <p:sp>
        <p:nvSpPr>
          <p:cNvPr id="15" name="Text 13"/>
          <p:cNvSpPr/>
          <p:nvPr/>
        </p:nvSpPr>
        <p:spPr>
          <a:xfrm>
            <a:off x="2688336" y="1146325"/>
            <a:ext cx="600760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Automated JML lifecycle via HRMS-IGA integration; all changes logged; orphaned account remediation; access review evidence</a:t>
            </a:r>
            <a:endParaRPr lang="en-US" sz="850" dirty="0"/>
          </a:p>
        </p:txBody>
      </p:sp>
      <p:sp>
        <p:nvSpPr>
          <p:cNvPr id="16" name="Shape 14"/>
          <p:cNvSpPr/>
          <p:nvPr/>
        </p:nvSpPr>
        <p:spPr>
          <a:xfrm>
            <a:off x="182880" y="1506266"/>
            <a:ext cx="777240" cy="378229"/>
          </a:xfrm>
          <a:prstGeom prst="rect">
            <a:avLst/>
          </a:prstGeom>
          <a:solidFill>
            <a:srgbClr val="EEF8F0"/>
          </a:solidFill>
          <a:ln w="6350">
            <a:solidFill>
              <a:srgbClr val="D1DDE8"/>
            </a:solidFill>
            <a:prstDash val="solid"/>
          </a:ln>
        </p:spPr>
        <p:txBody>
          <a:bodyPr/>
          <a:lstStyle/>
          <a:p>
            <a:endParaRPr lang="en-US"/>
          </a:p>
        </p:txBody>
      </p:sp>
      <p:sp>
        <p:nvSpPr>
          <p:cNvPr id="17" name="Text 15"/>
          <p:cNvSpPr/>
          <p:nvPr/>
        </p:nvSpPr>
        <p:spPr>
          <a:xfrm>
            <a:off x="219456" y="1524554"/>
            <a:ext cx="70408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AC-2(1)</a:t>
            </a:r>
            <a:endParaRPr lang="en-US" sz="850" dirty="0"/>
          </a:p>
        </p:txBody>
      </p:sp>
      <p:sp>
        <p:nvSpPr>
          <p:cNvPr id="18" name="Shape 16"/>
          <p:cNvSpPr/>
          <p:nvPr/>
        </p:nvSpPr>
        <p:spPr>
          <a:xfrm>
            <a:off x="987552" y="1506266"/>
            <a:ext cx="1645920" cy="378229"/>
          </a:xfrm>
          <a:prstGeom prst="rect">
            <a:avLst/>
          </a:prstGeom>
          <a:solidFill>
            <a:srgbClr val="EEF8F0"/>
          </a:solidFill>
          <a:ln w="6350">
            <a:solidFill>
              <a:srgbClr val="D1DDE8"/>
            </a:solidFill>
            <a:prstDash val="solid"/>
          </a:ln>
        </p:spPr>
        <p:txBody>
          <a:bodyPr/>
          <a:lstStyle/>
          <a:p>
            <a:endParaRPr lang="en-US"/>
          </a:p>
        </p:txBody>
      </p:sp>
      <p:sp>
        <p:nvSpPr>
          <p:cNvPr id="19" name="Text 17"/>
          <p:cNvSpPr/>
          <p:nvPr/>
        </p:nvSpPr>
        <p:spPr>
          <a:xfrm>
            <a:off x="1024128" y="1524554"/>
            <a:ext cx="157276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Automated Account Mgmt</a:t>
            </a:r>
            <a:endParaRPr lang="en-US" sz="850" dirty="0"/>
          </a:p>
        </p:txBody>
      </p:sp>
      <p:sp>
        <p:nvSpPr>
          <p:cNvPr id="20" name="Shape 18"/>
          <p:cNvSpPr/>
          <p:nvPr/>
        </p:nvSpPr>
        <p:spPr>
          <a:xfrm>
            <a:off x="2651760" y="1506266"/>
            <a:ext cx="6080760" cy="378229"/>
          </a:xfrm>
          <a:prstGeom prst="rect">
            <a:avLst/>
          </a:prstGeom>
          <a:solidFill>
            <a:srgbClr val="EEF8F0"/>
          </a:solidFill>
          <a:ln w="6350">
            <a:solidFill>
              <a:srgbClr val="D1DDE8"/>
            </a:solidFill>
            <a:prstDash val="solid"/>
          </a:ln>
        </p:spPr>
        <p:txBody>
          <a:bodyPr/>
          <a:lstStyle/>
          <a:p>
            <a:endParaRPr lang="en-US"/>
          </a:p>
        </p:txBody>
      </p:sp>
      <p:sp>
        <p:nvSpPr>
          <p:cNvPr id="21" name="Text 19"/>
          <p:cNvSpPr/>
          <p:nvPr/>
        </p:nvSpPr>
        <p:spPr>
          <a:xfrm>
            <a:off x="2688336" y="1524554"/>
            <a:ext cx="600760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IGA automates lifecycle provisioning for integrated systems; manual provisioning may still apply for legacy or non-API applications; deprovisioning triggered same-day of HR termination</a:t>
            </a:r>
            <a:endParaRPr lang="en-US" sz="850" dirty="0"/>
          </a:p>
        </p:txBody>
      </p:sp>
      <p:sp>
        <p:nvSpPr>
          <p:cNvPr id="22" name="Shape 20"/>
          <p:cNvSpPr/>
          <p:nvPr/>
        </p:nvSpPr>
        <p:spPr>
          <a:xfrm>
            <a:off x="182880" y="1884495"/>
            <a:ext cx="777240" cy="378229"/>
          </a:xfrm>
          <a:prstGeom prst="rect">
            <a:avLst/>
          </a:prstGeom>
          <a:solidFill>
            <a:srgbClr val="FFFFFF"/>
          </a:solidFill>
          <a:ln w="6350">
            <a:solidFill>
              <a:srgbClr val="D1DDE8"/>
            </a:solidFill>
            <a:prstDash val="solid"/>
          </a:ln>
        </p:spPr>
        <p:txBody>
          <a:bodyPr/>
          <a:lstStyle/>
          <a:p>
            <a:endParaRPr lang="en-US"/>
          </a:p>
        </p:txBody>
      </p:sp>
      <p:sp>
        <p:nvSpPr>
          <p:cNvPr id="23" name="Text 21"/>
          <p:cNvSpPr/>
          <p:nvPr/>
        </p:nvSpPr>
        <p:spPr>
          <a:xfrm>
            <a:off x="219456" y="1902783"/>
            <a:ext cx="70408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AC-2(3)</a:t>
            </a:r>
            <a:endParaRPr lang="en-US" sz="850" dirty="0"/>
          </a:p>
        </p:txBody>
      </p:sp>
      <p:sp>
        <p:nvSpPr>
          <p:cNvPr id="24" name="Shape 22"/>
          <p:cNvSpPr/>
          <p:nvPr/>
        </p:nvSpPr>
        <p:spPr>
          <a:xfrm>
            <a:off x="987552" y="1884495"/>
            <a:ext cx="1645920" cy="378229"/>
          </a:xfrm>
          <a:prstGeom prst="rect">
            <a:avLst/>
          </a:prstGeom>
          <a:solidFill>
            <a:srgbClr val="FFFFFF"/>
          </a:solidFill>
          <a:ln w="6350">
            <a:solidFill>
              <a:srgbClr val="D1DDE8"/>
            </a:solidFill>
            <a:prstDash val="solid"/>
          </a:ln>
        </p:spPr>
        <p:txBody>
          <a:bodyPr/>
          <a:lstStyle/>
          <a:p>
            <a:endParaRPr lang="en-US"/>
          </a:p>
        </p:txBody>
      </p:sp>
      <p:sp>
        <p:nvSpPr>
          <p:cNvPr id="25" name="Text 23"/>
          <p:cNvSpPr/>
          <p:nvPr/>
        </p:nvSpPr>
        <p:spPr>
          <a:xfrm>
            <a:off x="1024128" y="1902783"/>
            <a:ext cx="157276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Disable Inactive Accounts</a:t>
            </a:r>
            <a:endParaRPr lang="en-US" sz="850" dirty="0"/>
          </a:p>
        </p:txBody>
      </p:sp>
      <p:sp>
        <p:nvSpPr>
          <p:cNvPr id="26" name="Shape 24"/>
          <p:cNvSpPr/>
          <p:nvPr/>
        </p:nvSpPr>
        <p:spPr>
          <a:xfrm>
            <a:off x="2651760" y="1884495"/>
            <a:ext cx="6080760" cy="378229"/>
          </a:xfrm>
          <a:prstGeom prst="rect">
            <a:avLst/>
          </a:prstGeom>
          <a:solidFill>
            <a:srgbClr val="FFFFFF"/>
          </a:solidFill>
          <a:ln w="6350">
            <a:solidFill>
              <a:srgbClr val="D1DDE8"/>
            </a:solidFill>
            <a:prstDash val="solid"/>
          </a:ln>
        </p:spPr>
        <p:txBody>
          <a:bodyPr/>
          <a:lstStyle/>
          <a:p>
            <a:endParaRPr lang="en-US"/>
          </a:p>
        </p:txBody>
      </p:sp>
      <p:sp>
        <p:nvSpPr>
          <p:cNvPr id="27" name="Text 25"/>
          <p:cNvSpPr/>
          <p:nvPr/>
        </p:nvSpPr>
        <p:spPr>
          <a:xfrm>
            <a:off x="2688336" y="1902783"/>
            <a:ext cx="600760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IGA identifies accounts inactive 90+ days; owner review and suspension workflow; inactivity reports for audit evidence</a:t>
            </a:r>
            <a:endParaRPr lang="en-US" sz="850" dirty="0"/>
          </a:p>
        </p:txBody>
      </p:sp>
      <p:sp>
        <p:nvSpPr>
          <p:cNvPr id="28" name="Shape 26"/>
          <p:cNvSpPr/>
          <p:nvPr/>
        </p:nvSpPr>
        <p:spPr>
          <a:xfrm>
            <a:off x="182880" y="2262724"/>
            <a:ext cx="777240" cy="378229"/>
          </a:xfrm>
          <a:prstGeom prst="rect">
            <a:avLst/>
          </a:prstGeom>
          <a:solidFill>
            <a:srgbClr val="EEF8F0"/>
          </a:solidFill>
          <a:ln w="6350">
            <a:solidFill>
              <a:srgbClr val="D1DDE8"/>
            </a:solidFill>
            <a:prstDash val="solid"/>
          </a:ln>
        </p:spPr>
        <p:txBody>
          <a:bodyPr/>
          <a:lstStyle/>
          <a:p>
            <a:endParaRPr lang="en-US"/>
          </a:p>
        </p:txBody>
      </p:sp>
      <p:sp>
        <p:nvSpPr>
          <p:cNvPr id="29" name="Text 27"/>
          <p:cNvSpPr/>
          <p:nvPr/>
        </p:nvSpPr>
        <p:spPr>
          <a:xfrm>
            <a:off x="219456" y="2281012"/>
            <a:ext cx="70408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AC-2(7)</a:t>
            </a:r>
            <a:endParaRPr lang="en-US" sz="850" dirty="0"/>
          </a:p>
        </p:txBody>
      </p:sp>
      <p:sp>
        <p:nvSpPr>
          <p:cNvPr id="30" name="Shape 28"/>
          <p:cNvSpPr/>
          <p:nvPr/>
        </p:nvSpPr>
        <p:spPr>
          <a:xfrm>
            <a:off x="987552" y="2262724"/>
            <a:ext cx="1645920" cy="378229"/>
          </a:xfrm>
          <a:prstGeom prst="rect">
            <a:avLst/>
          </a:prstGeom>
          <a:solidFill>
            <a:srgbClr val="EEF8F0"/>
          </a:solidFill>
          <a:ln w="6350">
            <a:solidFill>
              <a:srgbClr val="D1DDE8"/>
            </a:solidFill>
            <a:prstDash val="solid"/>
          </a:ln>
        </p:spPr>
        <p:txBody>
          <a:bodyPr/>
          <a:lstStyle/>
          <a:p>
            <a:endParaRPr lang="en-US"/>
          </a:p>
        </p:txBody>
      </p:sp>
      <p:sp>
        <p:nvSpPr>
          <p:cNvPr id="31" name="Text 29"/>
          <p:cNvSpPr/>
          <p:nvPr/>
        </p:nvSpPr>
        <p:spPr>
          <a:xfrm>
            <a:off x="1024128" y="2281012"/>
            <a:ext cx="157276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Privileged User Accounts</a:t>
            </a:r>
            <a:endParaRPr lang="en-US" sz="850" dirty="0"/>
          </a:p>
        </p:txBody>
      </p:sp>
      <p:sp>
        <p:nvSpPr>
          <p:cNvPr id="32" name="Shape 30"/>
          <p:cNvSpPr/>
          <p:nvPr/>
        </p:nvSpPr>
        <p:spPr>
          <a:xfrm>
            <a:off x="2651760" y="2262724"/>
            <a:ext cx="6080760" cy="378229"/>
          </a:xfrm>
          <a:prstGeom prst="rect">
            <a:avLst/>
          </a:prstGeom>
          <a:solidFill>
            <a:srgbClr val="EEF8F0"/>
          </a:solidFill>
          <a:ln w="6350">
            <a:solidFill>
              <a:srgbClr val="D1DDE8"/>
            </a:solidFill>
            <a:prstDash val="solid"/>
          </a:ln>
        </p:spPr>
        <p:txBody>
          <a:bodyPr/>
          <a:lstStyle/>
          <a:p>
            <a:endParaRPr lang="en-US"/>
          </a:p>
        </p:txBody>
      </p:sp>
      <p:sp>
        <p:nvSpPr>
          <p:cNvPr id="33" name="Text 31"/>
          <p:cNvSpPr/>
          <p:nvPr/>
        </p:nvSpPr>
        <p:spPr>
          <a:xfrm>
            <a:off x="2688336" y="2281012"/>
            <a:ext cx="600760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Privileged accounts governed through IGA; formal approval required; quarterly certification; JIT via PAM-IGA integration</a:t>
            </a:r>
            <a:endParaRPr lang="en-US" sz="850" dirty="0"/>
          </a:p>
        </p:txBody>
      </p:sp>
      <p:sp>
        <p:nvSpPr>
          <p:cNvPr id="34" name="Shape 32"/>
          <p:cNvSpPr/>
          <p:nvPr/>
        </p:nvSpPr>
        <p:spPr>
          <a:xfrm>
            <a:off x="182880" y="2640953"/>
            <a:ext cx="777240" cy="378229"/>
          </a:xfrm>
          <a:prstGeom prst="rect">
            <a:avLst/>
          </a:prstGeom>
          <a:solidFill>
            <a:srgbClr val="FFFFFF"/>
          </a:solidFill>
          <a:ln w="6350">
            <a:solidFill>
              <a:srgbClr val="D1DDE8"/>
            </a:solidFill>
            <a:prstDash val="solid"/>
          </a:ln>
        </p:spPr>
        <p:txBody>
          <a:bodyPr/>
          <a:lstStyle/>
          <a:p>
            <a:endParaRPr lang="en-US"/>
          </a:p>
        </p:txBody>
      </p:sp>
      <p:sp>
        <p:nvSpPr>
          <p:cNvPr id="35" name="Text 33"/>
          <p:cNvSpPr/>
          <p:nvPr/>
        </p:nvSpPr>
        <p:spPr>
          <a:xfrm>
            <a:off x="219456" y="2659241"/>
            <a:ext cx="70408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AC-5</a:t>
            </a:r>
            <a:endParaRPr lang="en-US" sz="850" dirty="0"/>
          </a:p>
        </p:txBody>
      </p:sp>
      <p:sp>
        <p:nvSpPr>
          <p:cNvPr id="36" name="Shape 34"/>
          <p:cNvSpPr/>
          <p:nvPr/>
        </p:nvSpPr>
        <p:spPr>
          <a:xfrm>
            <a:off x="987552" y="2640953"/>
            <a:ext cx="1645920" cy="378229"/>
          </a:xfrm>
          <a:prstGeom prst="rect">
            <a:avLst/>
          </a:prstGeom>
          <a:solidFill>
            <a:srgbClr val="FFFFFF"/>
          </a:solidFill>
          <a:ln w="6350">
            <a:solidFill>
              <a:srgbClr val="D1DDE8"/>
            </a:solidFill>
            <a:prstDash val="solid"/>
          </a:ln>
        </p:spPr>
        <p:txBody>
          <a:bodyPr/>
          <a:lstStyle/>
          <a:p>
            <a:endParaRPr lang="en-US"/>
          </a:p>
        </p:txBody>
      </p:sp>
      <p:sp>
        <p:nvSpPr>
          <p:cNvPr id="37" name="Text 35"/>
          <p:cNvSpPr/>
          <p:nvPr/>
        </p:nvSpPr>
        <p:spPr>
          <a:xfrm>
            <a:off x="1024128" y="2659241"/>
            <a:ext cx="157276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Separation of Duties</a:t>
            </a:r>
            <a:endParaRPr lang="en-US" sz="850" dirty="0"/>
          </a:p>
        </p:txBody>
      </p:sp>
      <p:sp>
        <p:nvSpPr>
          <p:cNvPr id="38" name="Shape 36"/>
          <p:cNvSpPr/>
          <p:nvPr/>
        </p:nvSpPr>
        <p:spPr>
          <a:xfrm>
            <a:off x="2651760" y="2640953"/>
            <a:ext cx="6080760" cy="378229"/>
          </a:xfrm>
          <a:prstGeom prst="rect">
            <a:avLst/>
          </a:prstGeom>
          <a:solidFill>
            <a:srgbClr val="FFFFFF"/>
          </a:solidFill>
          <a:ln w="6350">
            <a:solidFill>
              <a:srgbClr val="D1DDE8"/>
            </a:solidFill>
            <a:prstDash val="solid"/>
          </a:ln>
        </p:spPr>
        <p:txBody>
          <a:bodyPr/>
          <a:lstStyle/>
          <a:p>
            <a:endParaRPr lang="en-US"/>
          </a:p>
        </p:txBody>
      </p:sp>
      <p:sp>
        <p:nvSpPr>
          <p:cNvPr id="39" name="Text 37"/>
          <p:cNvSpPr/>
          <p:nvPr/>
        </p:nvSpPr>
        <p:spPr>
          <a:xfrm>
            <a:off x="2688336" y="2659241"/>
            <a:ext cx="600760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SoD rule library with preventive and detective controls; toxic combination detection; violation remediation workflow; exception documentation</a:t>
            </a:r>
            <a:endParaRPr lang="en-US" sz="850" dirty="0"/>
          </a:p>
        </p:txBody>
      </p:sp>
      <p:sp>
        <p:nvSpPr>
          <p:cNvPr id="40" name="Shape 38"/>
          <p:cNvSpPr/>
          <p:nvPr/>
        </p:nvSpPr>
        <p:spPr>
          <a:xfrm>
            <a:off x="182880" y="3019183"/>
            <a:ext cx="777240" cy="378229"/>
          </a:xfrm>
          <a:prstGeom prst="rect">
            <a:avLst/>
          </a:prstGeom>
          <a:solidFill>
            <a:srgbClr val="EEF8F0"/>
          </a:solidFill>
          <a:ln w="6350">
            <a:solidFill>
              <a:srgbClr val="D1DDE8"/>
            </a:solidFill>
            <a:prstDash val="solid"/>
          </a:ln>
        </p:spPr>
        <p:txBody>
          <a:bodyPr/>
          <a:lstStyle/>
          <a:p>
            <a:endParaRPr lang="en-US"/>
          </a:p>
        </p:txBody>
      </p:sp>
      <p:sp>
        <p:nvSpPr>
          <p:cNvPr id="41" name="Text 39"/>
          <p:cNvSpPr/>
          <p:nvPr/>
        </p:nvSpPr>
        <p:spPr>
          <a:xfrm>
            <a:off x="219456" y="3037471"/>
            <a:ext cx="70408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AC-6</a:t>
            </a:r>
            <a:endParaRPr lang="en-US" sz="850" dirty="0"/>
          </a:p>
        </p:txBody>
      </p:sp>
      <p:sp>
        <p:nvSpPr>
          <p:cNvPr id="42" name="Shape 40"/>
          <p:cNvSpPr/>
          <p:nvPr/>
        </p:nvSpPr>
        <p:spPr>
          <a:xfrm>
            <a:off x="987552" y="3019183"/>
            <a:ext cx="1645920" cy="378229"/>
          </a:xfrm>
          <a:prstGeom prst="rect">
            <a:avLst/>
          </a:prstGeom>
          <a:solidFill>
            <a:srgbClr val="EEF8F0"/>
          </a:solidFill>
          <a:ln w="6350">
            <a:solidFill>
              <a:srgbClr val="D1DDE8"/>
            </a:solidFill>
            <a:prstDash val="solid"/>
          </a:ln>
        </p:spPr>
        <p:txBody>
          <a:bodyPr/>
          <a:lstStyle/>
          <a:p>
            <a:endParaRPr lang="en-US"/>
          </a:p>
        </p:txBody>
      </p:sp>
      <p:sp>
        <p:nvSpPr>
          <p:cNvPr id="43" name="Text 41"/>
          <p:cNvSpPr/>
          <p:nvPr/>
        </p:nvSpPr>
        <p:spPr>
          <a:xfrm>
            <a:off x="1024128" y="3037471"/>
            <a:ext cx="157276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Least Privilege</a:t>
            </a:r>
            <a:endParaRPr lang="en-US" sz="850" dirty="0"/>
          </a:p>
        </p:txBody>
      </p:sp>
      <p:sp>
        <p:nvSpPr>
          <p:cNvPr id="44" name="Shape 42"/>
          <p:cNvSpPr/>
          <p:nvPr/>
        </p:nvSpPr>
        <p:spPr>
          <a:xfrm>
            <a:off x="2651760" y="3019183"/>
            <a:ext cx="6080760" cy="378229"/>
          </a:xfrm>
          <a:prstGeom prst="rect">
            <a:avLst/>
          </a:prstGeom>
          <a:solidFill>
            <a:srgbClr val="EEF8F0"/>
          </a:solidFill>
          <a:ln w="6350">
            <a:solidFill>
              <a:srgbClr val="D1DDE8"/>
            </a:solidFill>
            <a:prstDash val="solid"/>
          </a:ln>
        </p:spPr>
        <p:txBody>
          <a:bodyPr/>
          <a:lstStyle/>
          <a:p>
            <a:endParaRPr lang="en-US"/>
          </a:p>
        </p:txBody>
      </p:sp>
      <p:sp>
        <p:nvSpPr>
          <p:cNvPr id="45" name="Text 43"/>
          <p:cNvSpPr/>
          <p:nvPr/>
        </p:nvSpPr>
        <p:spPr>
          <a:xfrm>
            <a:off x="2688336" y="3037471"/>
            <a:ext cx="600760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Birthright provisioning limited to minimum required; access creep addressed by certification; unused entitlement detection via analytics</a:t>
            </a:r>
            <a:endParaRPr lang="en-US" sz="850" dirty="0"/>
          </a:p>
        </p:txBody>
      </p:sp>
      <p:sp>
        <p:nvSpPr>
          <p:cNvPr id="46" name="Shape 44"/>
          <p:cNvSpPr/>
          <p:nvPr/>
        </p:nvSpPr>
        <p:spPr>
          <a:xfrm>
            <a:off x="182880" y="3397412"/>
            <a:ext cx="777240" cy="378229"/>
          </a:xfrm>
          <a:prstGeom prst="rect">
            <a:avLst/>
          </a:prstGeom>
          <a:solidFill>
            <a:srgbClr val="FFFFFF"/>
          </a:solidFill>
          <a:ln w="6350">
            <a:solidFill>
              <a:srgbClr val="D1DDE8"/>
            </a:solidFill>
            <a:prstDash val="solid"/>
          </a:ln>
        </p:spPr>
        <p:txBody>
          <a:bodyPr/>
          <a:lstStyle/>
          <a:p>
            <a:endParaRPr lang="en-US"/>
          </a:p>
        </p:txBody>
      </p:sp>
      <p:sp>
        <p:nvSpPr>
          <p:cNvPr id="47" name="Text 45"/>
          <p:cNvSpPr/>
          <p:nvPr/>
        </p:nvSpPr>
        <p:spPr>
          <a:xfrm>
            <a:off x="219456" y="3415700"/>
            <a:ext cx="70408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AC-6(7)</a:t>
            </a:r>
            <a:endParaRPr lang="en-US" sz="850" dirty="0"/>
          </a:p>
        </p:txBody>
      </p:sp>
      <p:sp>
        <p:nvSpPr>
          <p:cNvPr id="48" name="Shape 46"/>
          <p:cNvSpPr/>
          <p:nvPr/>
        </p:nvSpPr>
        <p:spPr>
          <a:xfrm>
            <a:off x="987552" y="3397412"/>
            <a:ext cx="1645920" cy="378229"/>
          </a:xfrm>
          <a:prstGeom prst="rect">
            <a:avLst/>
          </a:prstGeom>
          <a:solidFill>
            <a:srgbClr val="FFFFFF"/>
          </a:solidFill>
          <a:ln w="6350">
            <a:solidFill>
              <a:srgbClr val="D1DDE8"/>
            </a:solidFill>
            <a:prstDash val="solid"/>
          </a:ln>
        </p:spPr>
        <p:txBody>
          <a:bodyPr/>
          <a:lstStyle/>
          <a:p>
            <a:endParaRPr lang="en-US"/>
          </a:p>
        </p:txBody>
      </p:sp>
      <p:sp>
        <p:nvSpPr>
          <p:cNvPr id="49" name="Text 47"/>
          <p:cNvSpPr/>
          <p:nvPr/>
        </p:nvSpPr>
        <p:spPr>
          <a:xfrm>
            <a:off x="1024128" y="3415700"/>
            <a:ext cx="157276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Review of User Privileges</a:t>
            </a:r>
            <a:endParaRPr lang="en-US" sz="850" dirty="0"/>
          </a:p>
        </p:txBody>
      </p:sp>
      <p:sp>
        <p:nvSpPr>
          <p:cNvPr id="50" name="Shape 48"/>
          <p:cNvSpPr/>
          <p:nvPr/>
        </p:nvSpPr>
        <p:spPr>
          <a:xfrm>
            <a:off x="2651760" y="3397412"/>
            <a:ext cx="6080760" cy="378229"/>
          </a:xfrm>
          <a:prstGeom prst="rect">
            <a:avLst/>
          </a:prstGeom>
          <a:solidFill>
            <a:srgbClr val="FFFFFF"/>
          </a:solidFill>
          <a:ln w="6350">
            <a:solidFill>
              <a:srgbClr val="D1DDE8"/>
            </a:solidFill>
            <a:prstDash val="solid"/>
          </a:ln>
        </p:spPr>
        <p:txBody>
          <a:bodyPr/>
          <a:lstStyle/>
          <a:p>
            <a:endParaRPr lang="en-US"/>
          </a:p>
        </p:txBody>
      </p:sp>
      <p:sp>
        <p:nvSpPr>
          <p:cNvPr id="51" name="Text 49"/>
          <p:cNvSpPr/>
          <p:nvPr/>
        </p:nvSpPr>
        <p:spPr>
          <a:xfrm>
            <a:off x="2688336" y="3415700"/>
            <a:ext cx="600760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Certification campaigns provide structured periodic review; high-risk quarterly; standard annual; decisions recorded as audit evidence</a:t>
            </a:r>
            <a:endParaRPr lang="en-US" sz="850" dirty="0"/>
          </a:p>
        </p:txBody>
      </p:sp>
      <p:sp>
        <p:nvSpPr>
          <p:cNvPr id="52" name="Shape 50"/>
          <p:cNvSpPr/>
          <p:nvPr/>
        </p:nvSpPr>
        <p:spPr>
          <a:xfrm>
            <a:off x="182880" y="3775641"/>
            <a:ext cx="777240" cy="378229"/>
          </a:xfrm>
          <a:prstGeom prst="rect">
            <a:avLst/>
          </a:prstGeom>
          <a:solidFill>
            <a:srgbClr val="EEF8F0"/>
          </a:solidFill>
          <a:ln w="6350">
            <a:solidFill>
              <a:srgbClr val="D1DDE8"/>
            </a:solidFill>
            <a:prstDash val="solid"/>
          </a:ln>
        </p:spPr>
        <p:txBody>
          <a:bodyPr/>
          <a:lstStyle/>
          <a:p>
            <a:endParaRPr lang="en-US"/>
          </a:p>
        </p:txBody>
      </p:sp>
      <p:sp>
        <p:nvSpPr>
          <p:cNvPr id="53" name="Text 51"/>
          <p:cNvSpPr/>
          <p:nvPr/>
        </p:nvSpPr>
        <p:spPr>
          <a:xfrm>
            <a:off x="219456" y="3793929"/>
            <a:ext cx="70408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PS-4</a:t>
            </a:r>
            <a:endParaRPr lang="en-US" sz="850" dirty="0"/>
          </a:p>
        </p:txBody>
      </p:sp>
      <p:sp>
        <p:nvSpPr>
          <p:cNvPr id="54" name="Shape 52"/>
          <p:cNvSpPr/>
          <p:nvPr/>
        </p:nvSpPr>
        <p:spPr>
          <a:xfrm>
            <a:off x="987552" y="3775641"/>
            <a:ext cx="1645920" cy="378229"/>
          </a:xfrm>
          <a:prstGeom prst="rect">
            <a:avLst/>
          </a:prstGeom>
          <a:solidFill>
            <a:srgbClr val="EEF8F0"/>
          </a:solidFill>
          <a:ln w="6350">
            <a:solidFill>
              <a:srgbClr val="D1DDE8"/>
            </a:solidFill>
            <a:prstDash val="solid"/>
          </a:ln>
        </p:spPr>
        <p:txBody>
          <a:bodyPr/>
          <a:lstStyle/>
          <a:p>
            <a:endParaRPr lang="en-US"/>
          </a:p>
        </p:txBody>
      </p:sp>
      <p:sp>
        <p:nvSpPr>
          <p:cNvPr id="55" name="Text 53"/>
          <p:cNvSpPr/>
          <p:nvPr/>
        </p:nvSpPr>
        <p:spPr>
          <a:xfrm>
            <a:off x="1024128" y="3793929"/>
            <a:ext cx="157276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Personnel Termination</a:t>
            </a:r>
            <a:endParaRPr lang="en-US" sz="850" dirty="0"/>
          </a:p>
        </p:txBody>
      </p:sp>
      <p:sp>
        <p:nvSpPr>
          <p:cNvPr id="56" name="Shape 54"/>
          <p:cNvSpPr/>
          <p:nvPr/>
        </p:nvSpPr>
        <p:spPr>
          <a:xfrm>
            <a:off x="2651760" y="3775641"/>
            <a:ext cx="6080760" cy="378229"/>
          </a:xfrm>
          <a:prstGeom prst="rect">
            <a:avLst/>
          </a:prstGeom>
          <a:solidFill>
            <a:srgbClr val="EEF8F0"/>
          </a:solidFill>
          <a:ln w="6350">
            <a:solidFill>
              <a:srgbClr val="D1DDE8"/>
            </a:solidFill>
            <a:prstDash val="solid"/>
          </a:ln>
        </p:spPr>
        <p:txBody>
          <a:bodyPr/>
          <a:lstStyle/>
          <a:p>
            <a:endParaRPr lang="en-US"/>
          </a:p>
        </p:txBody>
      </p:sp>
      <p:sp>
        <p:nvSpPr>
          <p:cNvPr id="57" name="Text 55"/>
          <p:cNvSpPr/>
          <p:nvPr/>
        </p:nvSpPr>
        <p:spPr>
          <a:xfrm>
            <a:off x="2688336" y="3793929"/>
            <a:ext cx="600760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HRMS-IGA integration triggers same-day account suspension; all entitlements revoked across all systems; full deprovisioning audit log</a:t>
            </a:r>
            <a:endParaRPr lang="en-US" sz="850" dirty="0"/>
          </a:p>
        </p:txBody>
      </p:sp>
      <p:sp>
        <p:nvSpPr>
          <p:cNvPr id="58" name="Shape 56"/>
          <p:cNvSpPr/>
          <p:nvPr/>
        </p:nvSpPr>
        <p:spPr>
          <a:xfrm>
            <a:off x="182880" y="4153870"/>
            <a:ext cx="777240" cy="378229"/>
          </a:xfrm>
          <a:prstGeom prst="rect">
            <a:avLst/>
          </a:prstGeom>
          <a:solidFill>
            <a:srgbClr val="FFFFFF"/>
          </a:solidFill>
          <a:ln w="6350">
            <a:solidFill>
              <a:srgbClr val="D1DDE8"/>
            </a:solidFill>
            <a:prstDash val="solid"/>
          </a:ln>
        </p:spPr>
        <p:txBody>
          <a:bodyPr/>
          <a:lstStyle/>
          <a:p>
            <a:endParaRPr lang="en-US"/>
          </a:p>
        </p:txBody>
      </p:sp>
      <p:sp>
        <p:nvSpPr>
          <p:cNvPr id="59" name="Text 57"/>
          <p:cNvSpPr/>
          <p:nvPr/>
        </p:nvSpPr>
        <p:spPr>
          <a:xfrm>
            <a:off x="219456" y="4172158"/>
            <a:ext cx="70408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PS-5</a:t>
            </a:r>
            <a:endParaRPr lang="en-US" sz="850" dirty="0"/>
          </a:p>
        </p:txBody>
      </p:sp>
      <p:sp>
        <p:nvSpPr>
          <p:cNvPr id="60" name="Shape 58"/>
          <p:cNvSpPr/>
          <p:nvPr/>
        </p:nvSpPr>
        <p:spPr>
          <a:xfrm>
            <a:off x="987552" y="4153870"/>
            <a:ext cx="1645920" cy="378229"/>
          </a:xfrm>
          <a:prstGeom prst="rect">
            <a:avLst/>
          </a:prstGeom>
          <a:solidFill>
            <a:srgbClr val="FFFFFF"/>
          </a:solidFill>
          <a:ln w="6350">
            <a:solidFill>
              <a:srgbClr val="D1DDE8"/>
            </a:solidFill>
            <a:prstDash val="solid"/>
          </a:ln>
        </p:spPr>
        <p:txBody>
          <a:bodyPr/>
          <a:lstStyle/>
          <a:p>
            <a:endParaRPr lang="en-US"/>
          </a:p>
        </p:txBody>
      </p:sp>
      <p:sp>
        <p:nvSpPr>
          <p:cNvPr id="61" name="Text 59"/>
          <p:cNvSpPr/>
          <p:nvPr/>
        </p:nvSpPr>
        <p:spPr>
          <a:xfrm>
            <a:off x="1024128" y="4172158"/>
            <a:ext cx="157276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Personnel Transfer</a:t>
            </a:r>
            <a:endParaRPr lang="en-US" sz="850" dirty="0"/>
          </a:p>
        </p:txBody>
      </p:sp>
      <p:sp>
        <p:nvSpPr>
          <p:cNvPr id="62" name="Shape 60"/>
          <p:cNvSpPr/>
          <p:nvPr/>
        </p:nvSpPr>
        <p:spPr>
          <a:xfrm>
            <a:off x="2651760" y="4153870"/>
            <a:ext cx="6080760" cy="378229"/>
          </a:xfrm>
          <a:prstGeom prst="rect">
            <a:avLst/>
          </a:prstGeom>
          <a:solidFill>
            <a:srgbClr val="FFFFFF"/>
          </a:solidFill>
          <a:ln w="6350">
            <a:solidFill>
              <a:srgbClr val="D1DDE8"/>
            </a:solidFill>
            <a:prstDash val="solid"/>
          </a:ln>
        </p:spPr>
        <p:txBody>
          <a:bodyPr/>
          <a:lstStyle/>
          <a:p>
            <a:endParaRPr lang="en-US"/>
          </a:p>
        </p:txBody>
      </p:sp>
      <p:sp>
        <p:nvSpPr>
          <p:cNvPr id="63" name="Text 61"/>
          <p:cNvSpPr/>
          <p:nvPr/>
        </p:nvSpPr>
        <p:spPr>
          <a:xfrm>
            <a:off x="2688336" y="4172158"/>
            <a:ext cx="600760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Mover workflow removes prior entitlements and provisions new role; access creep prevented; all changes logged with HR event reference</a:t>
            </a:r>
            <a:endParaRPr lang="en-US" sz="850" dirty="0"/>
          </a:p>
        </p:txBody>
      </p:sp>
      <p:sp>
        <p:nvSpPr>
          <p:cNvPr id="64" name="Shape 62"/>
          <p:cNvSpPr/>
          <p:nvPr/>
        </p:nvSpPr>
        <p:spPr>
          <a:xfrm>
            <a:off x="182880" y="4532099"/>
            <a:ext cx="777240" cy="378229"/>
          </a:xfrm>
          <a:prstGeom prst="rect">
            <a:avLst/>
          </a:prstGeom>
          <a:solidFill>
            <a:srgbClr val="EEF8F0"/>
          </a:solidFill>
          <a:ln w="6350">
            <a:solidFill>
              <a:srgbClr val="D1DDE8"/>
            </a:solidFill>
            <a:prstDash val="solid"/>
          </a:ln>
        </p:spPr>
        <p:txBody>
          <a:bodyPr/>
          <a:lstStyle/>
          <a:p>
            <a:endParaRPr lang="en-US"/>
          </a:p>
        </p:txBody>
      </p:sp>
      <p:sp>
        <p:nvSpPr>
          <p:cNvPr id="65" name="Text 63"/>
          <p:cNvSpPr/>
          <p:nvPr/>
        </p:nvSpPr>
        <p:spPr>
          <a:xfrm>
            <a:off x="219456" y="4550387"/>
            <a:ext cx="70408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AU-2</a:t>
            </a:r>
            <a:endParaRPr lang="en-US" sz="850" dirty="0"/>
          </a:p>
        </p:txBody>
      </p:sp>
      <p:sp>
        <p:nvSpPr>
          <p:cNvPr id="66" name="Shape 64"/>
          <p:cNvSpPr/>
          <p:nvPr/>
        </p:nvSpPr>
        <p:spPr>
          <a:xfrm>
            <a:off x="987552" y="4532099"/>
            <a:ext cx="1645920" cy="378229"/>
          </a:xfrm>
          <a:prstGeom prst="rect">
            <a:avLst/>
          </a:prstGeom>
          <a:solidFill>
            <a:srgbClr val="EEF8F0"/>
          </a:solidFill>
          <a:ln w="6350">
            <a:solidFill>
              <a:srgbClr val="D1DDE8"/>
            </a:solidFill>
            <a:prstDash val="solid"/>
          </a:ln>
        </p:spPr>
        <p:txBody>
          <a:bodyPr/>
          <a:lstStyle/>
          <a:p>
            <a:endParaRPr lang="en-US"/>
          </a:p>
        </p:txBody>
      </p:sp>
      <p:sp>
        <p:nvSpPr>
          <p:cNvPr id="67" name="Text 65"/>
          <p:cNvSpPr/>
          <p:nvPr/>
        </p:nvSpPr>
        <p:spPr>
          <a:xfrm>
            <a:off x="1024128" y="4550387"/>
            <a:ext cx="157276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Event Logging</a:t>
            </a:r>
            <a:endParaRPr lang="en-US" sz="850" dirty="0"/>
          </a:p>
        </p:txBody>
      </p:sp>
      <p:sp>
        <p:nvSpPr>
          <p:cNvPr id="68" name="Shape 66"/>
          <p:cNvSpPr/>
          <p:nvPr/>
        </p:nvSpPr>
        <p:spPr>
          <a:xfrm>
            <a:off x="2651760" y="4532099"/>
            <a:ext cx="6080760" cy="378229"/>
          </a:xfrm>
          <a:prstGeom prst="rect">
            <a:avLst/>
          </a:prstGeom>
          <a:solidFill>
            <a:srgbClr val="EEF8F0"/>
          </a:solidFill>
          <a:ln w="6350">
            <a:solidFill>
              <a:srgbClr val="D1DDE8"/>
            </a:solidFill>
            <a:prstDash val="solid"/>
          </a:ln>
        </p:spPr>
        <p:txBody>
          <a:bodyPr/>
          <a:lstStyle/>
          <a:p>
            <a:endParaRPr lang="en-US"/>
          </a:p>
        </p:txBody>
      </p:sp>
      <p:sp>
        <p:nvSpPr>
          <p:cNvPr id="69" name="Text 67"/>
          <p:cNvSpPr/>
          <p:nvPr/>
        </p:nvSpPr>
        <p:spPr>
          <a:xfrm>
            <a:off x="2688336" y="4550387"/>
            <a:ext cx="6007608" cy="341653"/>
          </a:xfrm>
          <a:prstGeom prst="rect">
            <a:avLst/>
          </a:prstGeom>
          <a:noFill/>
          <a:ln/>
        </p:spPr>
        <p:txBody>
          <a:bodyPr wrap="square" lIns="0" tIns="0" rIns="0" bIns="0" rtlCol="0" anchor="ctr"/>
          <a:lstStyle/>
          <a:p>
            <a:pPr marL="0" indent="0">
              <a:buNone/>
            </a:pPr>
            <a:r>
              <a:rPr lang="en-US" sz="850" dirty="0">
                <a:solidFill>
                  <a:srgbClr val="1A2E44"/>
                </a:solidFill>
                <a:latin typeface="Calibri" pitchFamily="34" charset="0"/>
                <a:ea typeface="Calibri" pitchFamily="34" charset="-122"/>
                <a:cs typeface="Calibri" pitchFamily="34" charset="-120"/>
              </a:rPr>
              <a:t>IGA audit trail for all provisioning, certification, SoD, and exception events; SIEM integration for centralized audit log management</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3C5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D7D46"/>
          </a:solidFill>
          <a:ln w="12700">
            <a:solidFill>
              <a:srgbClr val="2D7D46"/>
            </a:solidFill>
            <a:prstDash val="solid"/>
          </a:ln>
        </p:spPr>
        <p:txBody>
          <a:bodyPr/>
          <a:lstStyle/>
          <a:p>
            <a:endParaRPr lang="en-US"/>
          </a:p>
        </p:txBody>
      </p:sp>
      <p:sp>
        <p:nvSpPr>
          <p:cNvPr id="3" name="Text 1"/>
          <p:cNvSpPr/>
          <p:nvPr/>
        </p:nvSpPr>
        <p:spPr>
          <a:xfrm>
            <a:off x="6858000" y="731520"/>
            <a:ext cx="2103120" cy="2560320"/>
          </a:xfrm>
          <a:prstGeom prst="rect">
            <a:avLst/>
          </a:prstGeom>
          <a:noFill/>
          <a:ln/>
        </p:spPr>
        <p:txBody>
          <a:bodyPr wrap="square" lIns="0" tIns="0" rIns="0" bIns="0" rtlCol="0" anchor="ctr"/>
          <a:lstStyle/>
          <a:p>
            <a:pPr marL="0" indent="0" algn="r">
              <a:buNone/>
            </a:pPr>
            <a:r>
              <a:rPr lang="en-US" sz="14000" b="1" dirty="0">
                <a:solidFill>
                  <a:srgbClr val="1A4A30"/>
                </a:solidFill>
                <a:latin typeface="Calibri" pitchFamily="34" charset="0"/>
                <a:ea typeface="Calibri" pitchFamily="34" charset="-122"/>
                <a:cs typeface="Calibri" pitchFamily="34" charset="-120"/>
              </a:rPr>
              <a:t>11</a:t>
            </a:r>
            <a:endParaRPr lang="en-US" sz="14000" dirty="0"/>
          </a:p>
        </p:txBody>
      </p:sp>
      <p:sp>
        <p:nvSpPr>
          <p:cNvPr id="4" name="Text 2"/>
          <p:cNvSpPr/>
          <p:nvPr/>
        </p:nvSpPr>
        <p:spPr>
          <a:xfrm>
            <a:off x="320040" y="1600200"/>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Roadmap</a:t>
            </a:r>
            <a:endParaRPr lang="en-US" sz="3000" dirty="0"/>
          </a:p>
        </p:txBody>
      </p:sp>
      <p:sp>
        <p:nvSpPr>
          <p:cNvPr id="5" name="Shape 3"/>
          <p:cNvSpPr/>
          <p:nvPr/>
        </p:nvSpPr>
        <p:spPr>
          <a:xfrm>
            <a:off x="320040" y="2468880"/>
            <a:ext cx="6217920" cy="0"/>
          </a:xfrm>
          <a:prstGeom prst="line">
            <a:avLst/>
          </a:prstGeom>
          <a:noFill/>
          <a:ln w="6350">
            <a:solidFill>
              <a:srgbClr val="8BAAC2"/>
            </a:solidFill>
            <a:prstDash val="solid"/>
          </a:ln>
        </p:spPr>
        <p:txBody>
          <a:bodyPr/>
          <a:lstStyle/>
          <a:p>
            <a:endParaRPr lang="en-US"/>
          </a:p>
        </p:txBody>
      </p:sp>
      <p:sp>
        <p:nvSpPr>
          <p:cNvPr id="6" name="Text 4"/>
          <p:cNvSpPr/>
          <p:nvPr/>
        </p:nvSpPr>
        <p:spPr>
          <a:xfrm>
            <a:off x="320040" y="2542032"/>
            <a:ext cx="6400800" cy="457200"/>
          </a:xfrm>
          <a:prstGeom prst="rect">
            <a:avLst/>
          </a:prstGeom>
          <a:noFill/>
          <a:ln/>
        </p:spPr>
        <p:txBody>
          <a:bodyPr wrap="square" lIns="0" tIns="0" rIns="0" bIns="0" rtlCol="0" anchor="ctr"/>
          <a:lstStyle/>
          <a:p>
            <a:pPr marL="0" indent="0">
              <a:buNone/>
            </a:pPr>
            <a:r>
              <a:rPr lang="en-US" sz="1400" i="1" dirty="0">
                <a:solidFill>
                  <a:srgbClr val="C9DDE8"/>
                </a:solidFill>
                <a:latin typeface="Calibri" pitchFamily="34" charset="0"/>
                <a:ea typeface="Calibri" pitchFamily="34" charset="-122"/>
                <a:cs typeface="Calibri" pitchFamily="34" charset="-120"/>
              </a:rPr>
              <a:t>4-phase IGA implementation plan</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C5E"/>
          </a:solidFill>
          <a:ln w="12700">
            <a:solidFill>
              <a:srgbClr val="1A3C5E"/>
            </a:solidFill>
            <a:prstDash val="solid"/>
          </a:ln>
        </p:spPr>
        <p:txBody>
          <a:bodyPr/>
          <a:lstStyle/>
          <a:p>
            <a:endParaRPr lang="en-US"/>
          </a:p>
        </p:txBody>
      </p:sp>
      <p:sp>
        <p:nvSpPr>
          <p:cNvPr id="3" name="Text 1"/>
          <p:cNvSpPr/>
          <p:nvPr/>
        </p:nvSpPr>
        <p:spPr>
          <a:xfrm>
            <a:off x="457200" y="0"/>
            <a:ext cx="8229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IGA Implementation Roadmap</a:t>
            </a:r>
            <a:endParaRPr lang="en-US" sz="2200" dirty="0"/>
          </a:p>
        </p:txBody>
      </p:sp>
      <p:sp>
        <p:nvSpPr>
          <p:cNvPr id="4" name="Shape 2"/>
          <p:cNvSpPr/>
          <p:nvPr/>
        </p:nvSpPr>
        <p:spPr>
          <a:xfrm>
            <a:off x="274320" y="868680"/>
            <a:ext cx="8595360" cy="274320"/>
          </a:xfrm>
          <a:prstGeom prst="rect">
            <a:avLst/>
          </a:prstGeom>
          <a:solidFill>
            <a:srgbClr val="C9DDE8"/>
          </a:solidFill>
          <a:ln w="12700">
            <a:solidFill>
              <a:srgbClr val="C9DDE8"/>
            </a:solidFill>
            <a:prstDash val="solid"/>
          </a:ln>
        </p:spPr>
        <p:txBody>
          <a:bodyPr/>
          <a:lstStyle/>
          <a:p>
            <a:endParaRPr lang="en-US"/>
          </a:p>
        </p:txBody>
      </p:sp>
      <p:sp>
        <p:nvSpPr>
          <p:cNvPr id="5" name="Shape 3"/>
          <p:cNvSpPr/>
          <p:nvPr/>
        </p:nvSpPr>
        <p:spPr>
          <a:xfrm>
            <a:off x="274320" y="868680"/>
            <a:ext cx="2148840" cy="274320"/>
          </a:xfrm>
          <a:prstGeom prst="rect">
            <a:avLst/>
          </a:prstGeom>
          <a:solidFill>
            <a:srgbClr val="E8A838"/>
          </a:solidFill>
          <a:ln w="12700">
            <a:solidFill>
              <a:srgbClr val="E8A838"/>
            </a:solidFill>
            <a:prstDash val="solid"/>
          </a:ln>
        </p:spPr>
        <p:txBody>
          <a:bodyPr/>
          <a:lstStyle/>
          <a:p>
            <a:endParaRPr lang="en-US"/>
          </a:p>
        </p:txBody>
      </p:sp>
      <p:sp>
        <p:nvSpPr>
          <p:cNvPr id="6" name="Text 4"/>
          <p:cNvSpPr/>
          <p:nvPr/>
        </p:nvSpPr>
        <p:spPr>
          <a:xfrm>
            <a:off x="274320" y="868680"/>
            <a:ext cx="214884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Months 1-3</a:t>
            </a:r>
            <a:endParaRPr lang="en-US" sz="900" dirty="0"/>
          </a:p>
        </p:txBody>
      </p:sp>
      <p:sp>
        <p:nvSpPr>
          <p:cNvPr id="7" name="Shape 5"/>
          <p:cNvSpPr/>
          <p:nvPr/>
        </p:nvSpPr>
        <p:spPr>
          <a:xfrm>
            <a:off x="2423160" y="868680"/>
            <a:ext cx="2148840" cy="274320"/>
          </a:xfrm>
          <a:prstGeom prst="rect">
            <a:avLst/>
          </a:prstGeom>
          <a:solidFill>
            <a:srgbClr val="2D7D46"/>
          </a:solidFill>
          <a:ln w="12700">
            <a:solidFill>
              <a:srgbClr val="2D7D46"/>
            </a:solidFill>
            <a:prstDash val="solid"/>
          </a:ln>
        </p:spPr>
        <p:txBody>
          <a:bodyPr/>
          <a:lstStyle/>
          <a:p>
            <a:endParaRPr lang="en-US"/>
          </a:p>
        </p:txBody>
      </p:sp>
      <p:sp>
        <p:nvSpPr>
          <p:cNvPr id="8" name="Text 6"/>
          <p:cNvSpPr/>
          <p:nvPr/>
        </p:nvSpPr>
        <p:spPr>
          <a:xfrm>
            <a:off x="2423160" y="868680"/>
            <a:ext cx="214884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Months 4-6</a:t>
            </a:r>
            <a:endParaRPr lang="en-US" sz="900" dirty="0"/>
          </a:p>
        </p:txBody>
      </p:sp>
      <p:sp>
        <p:nvSpPr>
          <p:cNvPr id="9" name="Shape 7"/>
          <p:cNvSpPr/>
          <p:nvPr/>
        </p:nvSpPr>
        <p:spPr>
          <a:xfrm>
            <a:off x="4572000" y="868680"/>
            <a:ext cx="2148840" cy="274320"/>
          </a:xfrm>
          <a:prstGeom prst="rect">
            <a:avLst/>
          </a:prstGeom>
          <a:solidFill>
            <a:srgbClr val="1A3C5E"/>
          </a:solidFill>
          <a:ln w="12700">
            <a:solidFill>
              <a:srgbClr val="1A3C5E"/>
            </a:solidFill>
            <a:prstDash val="solid"/>
          </a:ln>
        </p:spPr>
        <p:txBody>
          <a:bodyPr/>
          <a:lstStyle/>
          <a:p>
            <a:endParaRPr lang="en-US"/>
          </a:p>
        </p:txBody>
      </p:sp>
      <p:sp>
        <p:nvSpPr>
          <p:cNvPr id="10" name="Text 8"/>
          <p:cNvSpPr/>
          <p:nvPr/>
        </p:nvSpPr>
        <p:spPr>
          <a:xfrm>
            <a:off x="4572000" y="868680"/>
            <a:ext cx="214884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Months 7-12</a:t>
            </a:r>
            <a:endParaRPr lang="en-US" sz="900" dirty="0"/>
          </a:p>
        </p:txBody>
      </p:sp>
      <p:sp>
        <p:nvSpPr>
          <p:cNvPr id="11" name="Shape 9"/>
          <p:cNvSpPr/>
          <p:nvPr/>
        </p:nvSpPr>
        <p:spPr>
          <a:xfrm>
            <a:off x="6720840" y="868680"/>
            <a:ext cx="2148840" cy="274320"/>
          </a:xfrm>
          <a:prstGeom prst="rect">
            <a:avLst/>
          </a:prstGeom>
          <a:solidFill>
            <a:srgbClr val="6B21A8"/>
          </a:solidFill>
          <a:ln w="12700">
            <a:solidFill>
              <a:srgbClr val="6B21A8"/>
            </a:solidFill>
            <a:prstDash val="solid"/>
          </a:ln>
        </p:spPr>
        <p:txBody>
          <a:bodyPr/>
          <a:lstStyle/>
          <a:p>
            <a:endParaRPr lang="en-US"/>
          </a:p>
        </p:txBody>
      </p:sp>
      <p:sp>
        <p:nvSpPr>
          <p:cNvPr id="12" name="Text 10"/>
          <p:cNvSpPr/>
          <p:nvPr/>
        </p:nvSpPr>
        <p:spPr>
          <a:xfrm>
            <a:off x="6720840" y="868680"/>
            <a:ext cx="214884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Months 12+</a:t>
            </a:r>
            <a:endParaRPr lang="en-US" sz="900" dirty="0"/>
          </a:p>
        </p:txBody>
      </p:sp>
      <p:sp>
        <p:nvSpPr>
          <p:cNvPr id="13" name="Shape 11"/>
          <p:cNvSpPr/>
          <p:nvPr/>
        </p:nvSpPr>
        <p:spPr>
          <a:xfrm>
            <a:off x="274320" y="1216152"/>
            <a:ext cx="2057400" cy="3657600"/>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14" name="Shape 12"/>
          <p:cNvSpPr/>
          <p:nvPr/>
        </p:nvSpPr>
        <p:spPr>
          <a:xfrm>
            <a:off x="274320" y="1216152"/>
            <a:ext cx="2057400" cy="457200"/>
          </a:xfrm>
          <a:prstGeom prst="rect">
            <a:avLst/>
          </a:prstGeom>
          <a:solidFill>
            <a:srgbClr val="E8A838"/>
          </a:solidFill>
          <a:ln w="12700">
            <a:solidFill>
              <a:srgbClr val="E8A838"/>
            </a:solidFill>
            <a:prstDash val="solid"/>
          </a:ln>
        </p:spPr>
        <p:txBody>
          <a:bodyPr/>
          <a:lstStyle/>
          <a:p>
            <a:endParaRPr lang="en-US"/>
          </a:p>
        </p:txBody>
      </p:sp>
      <p:sp>
        <p:nvSpPr>
          <p:cNvPr id="15" name="Text 13"/>
          <p:cNvSpPr/>
          <p:nvPr/>
        </p:nvSpPr>
        <p:spPr>
          <a:xfrm>
            <a:off x="347472" y="1216152"/>
            <a:ext cx="594360" cy="4572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Phase 1</a:t>
            </a:r>
            <a:endParaRPr lang="en-US" sz="1100" dirty="0"/>
          </a:p>
        </p:txBody>
      </p:sp>
      <p:sp>
        <p:nvSpPr>
          <p:cNvPr id="16" name="Text 14"/>
          <p:cNvSpPr/>
          <p:nvPr/>
        </p:nvSpPr>
        <p:spPr>
          <a:xfrm>
            <a:off x="932688" y="1216152"/>
            <a:ext cx="1325880" cy="457200"/>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Foundation</a:t>
            </a:r>
            <a:endParaRPr lang="en-US" sz="1000" dirty="0"/>
          </a:p>
        </p:txBody>
      </p:sp>
      <p:sp>
        <p:nvSpPr>
          <p:cNvPr id="17" name="Text 15"/>
          <p:cNvSpPr/>
          <p:nvPr/>
        </p:nvSpPr>
        <p:spPr>
          <a:xfrm>
            <a:off x="365760" y="1746504"/>
            <a:ext cx="1874520" cy="530352"/>
          </a:xfrm>
          <a:prstGeom prst="rect">
            <a:avLst/>
          </a:prstGeom>
          <a:noFill/>
          <a:ln/>
        </p:spPr>
        <p:txBody>
          <a:bodyPr wrap="square" lIns="0" tIns="0" rIns="0" bIns="0" rtlCol="0" anchor="ctr"/>
          <a:lstStyle/>
          <a:p>
            <a:pPr marL="0" indent="0">
              <a:buNone/>
            </a:pPr>
            <a:r>
              <a:rPr lang="en-US" sz="950" b="1" dirty="0">
                <a:solidFill>
                  <a:srgbClr val="E8A83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IGA platform deployment</a:t>
            </a:r>
            <a:endParaRPr lang="en-US" sz="950" dirty="0"/>
          </a:p>
        </p:txBody>
      </p:sp>
      <p:sp>
        <p:nvSpPr>
          <p:cNvPr id="18" name="Text 16"/>
          <p:cNvSpPr/>
          <p:nvPr/>
        </p:nvSpPr>
        <p:spPr>
          <a:xfrm>
            <a:off x="365760" y="2322576"/>
            <a:ext cx="1874520" cy="530352"/>
          </a:xfrm>
          <a:prstGeom prst="rect">
            <a:avLst/>
          </a:prstGeom>
          <a:noFill/>
          <a:ln/>
        </p:spPr>
        <p:txBody>
          <a:bodyPr wrap="square" lIns="0" tIns="0" rIns="0" bIns="0" rtlCol="0" anchor="ctr"/>
          <a:lstStyle/>
          <a:p>
            <a:pPr marL="0" indent="0">
              <a:buNone/>
            </a:pPr>
            <a:r>
              <a:rPr lang="en-US" sz="950" b="1" dirty="0">
                <a:solidFill>
                  <a:srgbClr val="E8A83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HRMS integration (JML automation)</a:t>
            </a:r>
            <a:endParaRPr lang="en-US" sz="950" dirty="0"/>
          </a:p>
        </p:txBody>
      </p:sp>
      <p:sp>
        <p:nvSpPr>
          <p:cNvPr id="19" name="Text 17"/>
          <p:cNvSpPr/>
          <p:nvPr/>
        </p:nvSpPr>
        <p:spPr>
          <a:xfrm>
            <a:off x="365760" y="2898648"/>
            <a:ext cx="1874520" cy="530352"/>
          </a:xfrm>
          <a:prstGeom prst="rect">
            <a:avLst/>
          </a:prstGeom>
          <a:noFill/>
          <a:ln/>
        </p:spPr>
        <p:txBody>
          <a:bodyPr wrap="square" lIns="0" tIns="0" rIns="0" bIns="0" rtlCol="0" anchor="ctr"/>
          <a:lstStyle/>
          <a:p>
            <a:pPr marL="0" indent="0">
              <a:buNone/>
            </a:pPr>
            <a:r>
              <a:rPr lang="en-US" sz="950" b="1" dirty="0">
                <a:solidFill>
                  <a:srgbClr val="E8A83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AD + cloud IdP connector</a:t>
            </a:r>
            <a:endParaRPr lang="en-US" sz="950" dirty="0"/>
          </a:p>
        </p:txBody>
      </p:sp>
      <p:sp>
        <p:nvSpPr>
          <p:cNvPr id="20" name="Text 18"/>
          <p:cNvSpPr/>
          <p:nvPr/>
        </p:nvSpPr>
        <p:spPr>
          <a:xfrm>
            <a:off x="365760" y="3474720"/>
            <a:ext cx="1874520" cy="530352"/>
          </a:xfrm>
          <a:prstGeom prst="rect">
            <a:avLst/>
          </a:prstGeom>
          <a:noFill/>
          <a:ln/>
        </p:spPr>
        <p:txBody>
          <a:bodyPr wrap="square" lIns="0" tIns="0" rIns="0" bIns="0" rtlCol="0" anchor="ctr"/>
          <a:lstStyle/>
          <a:p>
            <a:pPr marL="0" indent="0">
              <a:buNone/>
            </a:pPr>
            <a:r>
              <a:rPr lang="en-US" sz="950" b="1" dirty="0">
                <a:solidFill>
                  <a:srgbClr val="E8A83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Orphaned account remediation</a:t>
            </a:r>
            <a:endParaRPr lang="en-US" sz="950" dirty="0"/>
          </a:p>
        </p:txBody>
      </p:sp>
      <p:sp>
        <p:nvSpPr>
          <p:cNvPr id="21" name="Text 19"/>
          <p:cNvSpPr/>
          <p:nvPr/>
        </p:nvSpPr>
        <p:spPr>
          <a:xfrm>
            <a:off x="365760" y="4050792"/>
            <a:ext cx="1874520" cy="530352"/>
          </a:xfrm>
          <a:prstGeom prst="rect">
            <a:avLst/>
          </a:prstGeom>
          <a:noFill/>
          <a:ln/>
        </p:spPr>
        <p:txBody>
          <a:bodyPr wrap="square" lIns="0" tIns="0" rIns="0" bIns="0" rtlCol="0" anchor="ctr"/>
          <a:lstStyle/>
          <a:p>
            <a:pPr marL="0" indent="0">
              <a:buNone/>
            </a:pPr>
            <a:r>
              <a:rPr lang="en-US" sz="950" b="1" dirty="0">
                <a:solidFill>
                  <a:srgbClr val="E8A83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Initial role catalog (top 50 roles)</a:t>
            </a:r>
            <a:endParaRPr lang="en-US" sz="950" dirty="0"/>
          </a:p>
        </p:txBody>
      </p:sp>
      <p:sp>
        <p:nvSpPr>
          <p:cNvPr id="22" name="Shape 20"/>
          <p:cNvSpPr/>
          <p:nvPr/>
        </p:nvSpPr>
        <p:spPr>
          <a:xfrm>
            <a:off x="2423160" y="1216152"/>
            <a:ext cx="2057400" cy="3657600"/>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23" name="Shape 21"/>
          <p:cNvSpPr/>
          <p:nvPr/>
        </p:nvSpPr>
        <p:spPr>
          <a:xfrm>
            <a:off x="2423160" y="1216152"/>
            <a:ext cx="2057400" cy="457200"/>
          </a:xfrm>
          <a:prstGeom prst="rect">
            <a:avLst/>
          </a:prstGeom>
          <a:solidFill>
            <a:srgbClr val="2D7D46"/>
          </a:solidFill>
          <a:ln w="12700">
            <a:solidFill>
              <a:srgbClr val="2D7D46"/>
            </a:solidFill>
            <a:prstDash val="solid"/>
          </a:ln>
        </p:spPr>
        <p:txBody>
          <a:bodyPr/>
          <a:lstStyle/>
          <a:p>
            <a:endParaRPr lang="en-US"/>
          </a:p>
        </p:txBody>
      </p:sp>
      <p:sp>
        <p:nvSpPr>
          <p:cNvPr id="24" name="Text 22"/>
          <p:cNvSpPr/>
          <p:nvPr/>
        </p:nvSpPr>
        <p:spPr>
          <a:xfrm>
            <a:off x="2496312" y="1216152"/>
            <a:ext cx="594360" cy="4572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Phase 2</a:t>
            </a:r>
            <a:endParaRPr lang="en-US" sz="1100" dirty="0"/>
          </a:p>
        </p:txBody>
      </p:sp>
      <p:sp>
        <p:nvSpPr>
          <p:cNvPr id="25" name="Text 23"/>
          <p:cNvSpPr/>
          <p:nvPr/>
        </p:nvSpPr>
        <p:spPr>
          <a:xfrm>
            <a:off x="3081528" y="1216152"/>
            <a:ext cx="1325880" cy="457200"/>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Governance</a:t>
            </a:r>
            <a:endParaRPr lang="en-US" sz="1000" dirty="0"/>
          </a:p>
        </p:txBody>
      </p:sp>
      <p:sp>
        <p:nvSpPr>
          <p:cNvPr id="26" name="Text 24"/>
          <p:cNvSpPr/>
          <p:nvPr/>
        </p:nvSpPr>
        <p:spPr>
          <a:xfrm>
            <a:off x="2514600" y="1746504"/>
            <a:ext cx="1874520" cy="530352"/>
          </a:xfrm>
          <a:prstGeom prst="rect">
            <a:avLst/>
          </a:prstGeom>
          <a:noFill/>
          <a:ln/>
        </p:spPr>
        <p:txBody>
          <a:bodyPr wrap="square" lIns="0" tIns="0" rIns="0" bIns="0" rtlCol="0" anchor="ctr"/>
          <a:lstStyle/>
          <a:p>
            <a:pPr marL="0" indent="0">
              <a:buNone/>
            </a:pPr>
            <a:r>
              <a:rPr lang="en-US" sz="950" b="1" dirty="0">
                <a:solidFill>
                  <a:srgbClr val="2D7D4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First access certification campaign</a:t>
            </a:r>
            <a:endParaRPr lang="en-US" sz="950" dirty="0"/>
          </a:p>
        </p:txBody>
      </p:sp>
      <p:sp>
        <p:nvSpPr>
          <p:cNvPr id="27" name="Text 25"/>
          <p:cNvSpPr/>
          <p:nvPr/>
        </p:nvSpPr>
        <p:spPr>
          <a:xfrm>
            <a:off x="2514600" y="2322576"/>
            <a:ext cx="1874520" cy="530352"/>
          </a:xfrm>
          <a:prstGeom prst="rect">
            <a:avLst/>
          </a:prstGeom>
          <a:noFill/>
          <a:ln/>
        </p:spPr>
        <p:txBody>
          <a:bodyPr wrap="square" lIns="0" tIns="0" rIns="0" bIns="0" rtlCol="0" anchor="ctr"/>
          <a:lstStyle/>
          <a:p>
            <a:pPr marL="0" indent="0">
              <a:buNone/>
            </a:pPr>
            <a:r>
              <a:rPr lang="en-US" sz="950" b="1" dirty="0">
                <a:solidFill>
                  <a:srgbClr val="2D7D4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SoD rule library for critical apps</a:t>
            </a:r>
            <a:endParaRPr lang="en-US" sz="950" dirty="0"/>
          </a:p>
        </p:txBody>
      </p:sp>
      <p:sp>
        <p:nvSpPr>
          <p:cNvPr id="28" name="Text 26"/>
          <p:cNvSpPr/>
          <p:nvPr/>
        </p:nvSpPr>
        <p:spPr>
          <a:xfrm>
            <a:off x="2514600" y="2898648"/>
            <a:ext cx="1874520" cy="530352"/>
          </a:xfrm>
          <a:prstGeom prst="rect">
            <a:avLst/>
          </a:prstGeom>
          <a:noFill/>
          <a:ln/>
        </p:spPr>
        <p:txBody>
          <a:bodyPr wrap="square" lIns="0" tIns="0" rIns="0" bIns="0" rtlCol="0" anchor="ctr"/>
          <a:lstStyle/>
          <a:p>
            <a:pPr marL="0" indent="0">
              <a:buNone/>
            </a:pPr>
            <a:r>
              <a:rPr lang="en-US" sz="950" b="1" dirty="0">
                <a:solidFill>
                  <a:srgbClr val="2D7D4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SCIM provisioning for top 20 SaaS</a:t>
            </a:r>
            <a:endParaRPr lang="en-US" sz="950" dirty="0"/>
          </a:p>
        </p:txBody>
      </p:sp>
      <p:sp>
        <p:nvSpPr>
          <p:cNvPr id="29" name="Text 27"/>
          <p:cNvSpPr/>
          <p:nvPr/>
        </p:nvSpPr>
        <p:spPr>
          <a:xfrm>
            <a:off x="2514600" y="3474720"/>
            <a:ext cx="1874520" cy="530352"/>
          </a:xfrm>
          <a:prstGeom prst="rect">
            <a:avLst/>
          </a:prstGeom>
          <a:noFill/>
          <a:ln/>
        </p:spPr>
        <p:txBody>
          <a:bodyPr wrap="square" lIns="0" tIns="0" rIns="0" bIns="0" rtlCol="0" anchor="ctr"/>
          <a:lstStyle/>
          <a:p>
            <a:pPr marL="0" indent="0">
              <a:buNone/>
            </a:pPr>
            <a:r>
              <a:rPr lang="en-US" sz="950" b="1" dirty="0">
                <a:solidFill>
                  <a:srgbClr val="2D7D4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Self-service access request portal</a:t>
            </a:r>
            <a:endParaRPr lang="en-US" sz="950" dirty="0"/>
          </a:p>
        </p:txBody>
      </p:sp>
      <p:sp>
        <p:nvSpPr>
          <p:cNvPr id="30" name="Text 28"/>
          <p:cNvSpPr/>
          <p:nvPr/>
        </p:nvSpPr>
        <p:spPr>
          <a:xfrm>
            <a:off x="2514600" y="4050792"/>
            <a:ext cx="1874520" cy="530352"/>
          </a:xfrm>
          <a:prstGeom prst="rect">
            <a:avLst/>
          </a:prstGeom>
          <a:noFill/>
          <a:ln/>
        </p:spPr>
        <p:txBody>
          <a:bodyPr wrap="square" lIns="0" tIns="0" rIns="0" bIns="0" rtlCol="0" anchor="ctr"/>
          <a:lstStyle/>
          <a:p>
            <a:pPr marL="0" indent="0">
              <a:buNone/>
            </a:pPr>
            <a:r>
              <a:rPr lang="en-US" sz="950" b="1" dirty="0">
                <a:solidFill>
                  <a:srgbClr val="2D7D46"/>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Reconciliation and drift detection</a:t>
            </a:r>
            <a:endParaRPr lang="en-US" sz="950" dirty="0"/>
          </a:p>
        </p:txBody>
      </p:sp>
      <p:sp>
        <p:nvSpPr>
          <p:cNvPr id="31" name="Shape 29"/>
          <p:cNvSpPr/>
          <p:nvPr/>
        </p:nvSpPr>
        <p:spPr>
          <a:xfrm>
            <a:off x="4572000" y="1216152"/>
            <a:ext cx="2057400" cy="3657600"/>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32" name="Shape 30"/>
          <p:cNvSpPr/>
          <p:nvPr/>
        </p:nvSpPr>
        <p:spPr>
          <a:xfrm>
            <a:off x="4572000" y="1216152"/>
            <a:ext cx="2057400" cy="457200"/>
          </a:xfrm>
          <a:prstGeom prst="rect">
            <a:avLst/>
          </a:prstGeom>
          <a:solidFill>
            <a:srgbClr val="1A3C5E"/>
          </a:solidFill>
          <a:ln w="12700">
            <a:solidFill>
              <a:srgbClr val="1A3C5E"/>
            </a:solidFill>
            <a:prstDash val="solid"/>
          </a:ln>
        </p:spPr>
        <p:txBody>
          <a:bodyPr/>
          <a:lstStyle/>
          <a:p>
            <a:endParaRPr lang="en-US"/>
          </a:p>
        </p:txBody>
      </p:sp>
      <p:sp>
        <p:nvSpPr>
          <p:cNvPr id="33" name="Text 31"/>
          <p:cNvSpPr/>
          <p:nvPr/>
        </p:nvSpPr>
        <p:spPr>
          <a:xfrm>
            <a:off x="4645152" y="1216152"/>
            <a:ext cx="594360" cy="4572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Phase 3</a:t>
            </a:r>
            <a:endParaRPr lang="en-US" sz="1100" dirty="0"/>
          </a:p>
        </p:txBody>
      </p:sp>
      <p:sp>
        <p:nvSpPr>
          <p:cNvPr id="34" name="Text 32"/>
          <p:cNvSpPr/>
          <p:nvPr/>
        </p:nvSpPr>
        <p:spPr>
          <a:xfrm>
            <a:off x="5230368" y="1216152"/>
            <a:ext cx="1325880" cy="457200"/>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Advanced</a:t>
            </a:r>
            <a:endParaRPr lang="en-US" sz="1000" dirty="0"/>
          </a:p>
        </p:txBody>
      </p:sp>
      <p:sp>
        <p:nvSpPr>
          <p:cNvPr id="35" name="Text 33"/>
          <p:cNvSpPr/>
          <p:nvPr/>
        </p:nvSpPr>
        <p:spPr>
          <a:xfrm>
            <a:off x="4663440" y="1746504"/>
            <a:ext cx="1874520" cy="530352"/>
          </a:xfrm>
          <a:prstGeom prst="rect">
            <a:avLst/>
          </a:prstGeom>
          <a:noFill/>
          <a:ln/>
        </p:spPr>
        <p:txBody>
          <a:bodyPr wrap="square" lIns="0" tIns="0" rIns="0" bIns="0" rtlCol="0" anchor="ctr"/>
          <a:lstStyle/>
          <a:p>
            <a:pPr marL="0" indent="0">
              <a:buNone/>
            </a:pPr>
            <a:r>
              <a:rPr lang="en-US" sz="950" b="1" dirty="0">
                <a:solidFill>
                  <a:srgbClr val="1A3C5E"/>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Privileged access governance (IGA+PAM)</a:t>
            </a:r>
            <a:endParaRPr lang="en-US" sz="950" dirty="0"/>
          </a:p>
        </p:txBody>
      </p:sp>
      <p:sp>
        <p:nvSpPr>
          <p:cNvPr id="36" name="Text 34"/>
          <p:cNvSpPr/>
          <p:nvPr/>
        </p:nvSpPr>
        <p:spPr>
          <a:xfrm>
            <a:off x="4663440" y="2322576"/>
            <a:ext cx="1874520" cy="530352"/>
          </a:xfrm>
          <a:prstGeom prst="rect">
            <a:avLst/>
          </a:prstGeom>
          <a:noFill/>
          <a:ln/>
        </p:spPr>
        <p:txBody>
          <a:bodyPr wrap="square" lIns="0" tIns="0" rIns="0" bIns="0" rtlCol="0" anchor="ctr"/>
          <a:lstStyle/>
          <a:p>
            <a:pPr marL="0" indent="0">
              <a:buNone/>
            </a:pPr>
            <a:r>
              <a:rPr lang="en-US" sz="950" b="1" dirty="0">
                <a:solidFill>
                  <a:srgbClr val="1A3C5E"/>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Cloud entitlement governance (CIEM)</a:t>
            </a:r>
            <a:endParaRPr lang="en-US" sz="950" dirty="0"/>
          </a:p>
        </p:txBody>
      </p:sp>
      <p:sp>
        <p:nvSpPr>
          <p:cNvPr id="37" name="Text 35"/>
          <p:cNvSpPr/>
          <p:nvPr/>
        </p:nvSpPr>
        <p:spPr>
          <a:xfrm>
            <a:off x="4663440" y="2898648"/>
            <a:ext cx="1874520" cy="530352"/>
          </a:xfrm>
          <a:prstGeom prst="rect">
            <a:avLst/>
          </a:prstGeom>
          <a:noFill/>
          <a:ln/>
        </p:spPr>
        <p:txBody>
          <a:bodyPr wrap="square" lIns="0" tIns="0" rIns="0" bIns="0" rtlCol="0" anchor="ctr"/>
          <a:lstStyle/>
          <a:p>
            <a:pPr marL="0" indent="0">
              <a:buNone/>
            </a:pPr>
            <a:r>
              <a:rPr lang="en-US" sz="950" b="1" dirty="0">
                <a:solidFill>
                  <a:srgbClr val="1A3C5E"/>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Service account inventory + governance</a:t>
            </a:r>
            <a:endParaRPr lang="en-US" sz="950" dirty="0"/>
          </a:p>
        </p:txBody>
      </p:sp>
      <p:sp>
        <p:nvSpPr>
          <p:cNvPr id="38" name="Text 36"/>
          <p:cNvSpPr/>
          <p:nvPr/>
        </p:nvSpPr>
        <p:spPr>
          <a:xfrm>
            <a:off x="4663440" y="3474720"/>
            <a:ext cx="1874520" cy="530352"/>
          </a:xfrm>
          <a:prstGeom prst="rect">
            <a:avLst/>
          </a:prstGeom>
          <a:noFill/>
          <a:ln/>
        </p:spPr>
        <p:txBody>
          <a:bodyPr wrap="square" lIns="0" tIns="0" rIns="0" bIns="0" rtlCol="0" anchor="ctr"/>
          <a:lstStyle/>
          <a:p>
            <a:pPr marL="0" indent="0">
              <a:buNone/>
            </a:pPr>
            <a:r>
              <a:rPr lang="en-US" sz="950" b="1" dirty="0">
                <a:solidFill>
                  <a:srgbClr val="1A3C5E"/>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Identity analytics and risk scoring</a:t>
            </a:r>
            <a:endParaRPr lang="en-US" sz="950" dirty="0"/>
          </a:p>
        </p:txBody>
      </p:sp>
      <p:sp>
        <p:nvSpPr>
          <p:cNvPr id="39" name="Text 37"/>
          <p:cNvSpPr/>
          <p:nvPr/>
        </p:nvSpPr>
        <p:spPr>
          <a:xfrm>
            <a:off x="4663440" y="4050792"/>
            <a:ext cx="1874520" cy="530352"/>
          </a:xfrm>
          <a:prstGeom prst="rect">
            <a:avLst/>
          </a:prstGeom>
          <a:noFill/>
          <a:ln/>
        </p:spPr>
        <p:txBody>
          <a:bodyPr wrap="square" lIns="0" tIns="0" rIns="0" bIns="0" rtlCol="0" anchor="ctr"/>
          <a:lstStyle/>
          <a:p>
            <a:pPr marL="0" indent="0">
              <a:buNone/>
            </a:pPr>
            <a:r>
              <a:rPr lang="en-US" sz="950" b="1" dirty="0">
                <a:solidFill>
                  <a:srgbClr val="1A3C5E"/>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Cross-application SoD rules</a:t>
            </a:r>
            <a:endParaRPr lang="en-US" sz="950" dirty="0"/>
          </a:p>
        </p:txBody>
      </p:sp>
      <p:sp>
        <p:nvSpPr>
          <p:cNvPr id="40" name="Shape 38"/>
          <p:cNvSpPr/>
          <p:nvPr/>
        </p:nvSpPr>
        <p:spPr>
          <a:xfrm>
            <a:off x="6720840" y="1216152"/>
            <a:ext cx="2057400" cy="3657600"/>
          </a:xfrm>
          <a:prstGeom prst="rect">
            <a:avLst/>
          </a:prstGeom>
          <a:solidFill>
            <a:srgbClr val="FFFFFF"/>
          </a:solidFill>
          <a:ln w="12700">
            <a:solidFill>
              <a:srgbClr val="C9DDE8"/>
            </a:solidFill>
            <a:prstDash val="solid"/>
          </a:ln>
          <a:effectLst>
            <a:outerShdw blurRad="63500" dist="25400" dir="8100000" algn="bl" rotWithShape="0">
              <a:srgbClr val="000000">
                <a:alpha val="12000"/>
              </a:srgbClr>
            </a:outerShdw>
          </a:effectLst>
        </p:spPr>
        <p:txBody>
          <a:bodyPr/>
          <a:lstStyle/>
          <a:p>
            <a:endParaRPr lang="en-US"/>
          </a:p>
        </p:txBody>
      </p:sp>
      <p:sp>
        <p:nvSpPr>
          <p:cNvPr id="41" name="Shape 39"/>
          <p:cNvSpPr/>
          <p:nvPr/>
        </p:nvSpPr>
        <p:spPr>
          <a:xfrm>
            <a:off x="6720840" y="1216152"/>
            <a:ext cx="2057400" cy="457200"/>
          </a:xfrm>
          <a:prstGeom prst="rect">
            <a:avLst/>
          </a:prstGeom>
          <a:solidFill>
            <a:srgbClr val="6B21A8"/>
          </a:solidFill>
          <a:ln w="12700">
            <a:solidFill>
              <a:srgbClr val="6B21A8"/>
            </a:solidFill>
            <a:prstDash val="solid"/>
          </a:ln>
        </p:spPr>
        <p:txBody>
          <a:bodyPr/>
          <a:lstStyle/>
          <a:p>
            <a:endParaRPr lang="en-US"/>
          </a:p>
        </p:txBody>
      </p:sp>
      <p:sp>
        <p:nvSpPr>
          <p:cNvPr id="42" name="Text 40"/>
          <p:cNvSpPr/>
          <p:nvPr/>
        </p:nvSpPr>
        <p:spPr>
          <a:xfrm>
            <a:off x="6793992" y="1216152"/>
            <a:ext cx="594360" cy="4572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Phase 4</a:t>
            </a:r>
            <a:endParaRPr lang="en-US" sz="1100" dirty="0"/>
          </a:p>
        </p:txBody>
      </p:sp>
      <p:sp>
        <p:nvSpPr>
          <p:cNvPr id="43" name="Text 41"/>
          <p:cNvSpPr/>
          <p:nvPr/>
        </p:nvSpPr>
        <p:spPr>
          <a:xfrm>
            <a:off x="7379208" y="1216152"/>
            <a:ext cx="1325880" cy="457200"/>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Maturity</a:t>
            </a:r>
            <a:endParaRPr lang="en-US" sz="1000" dirty="0"/>
          </a:p>
        </p:txBody>
      </p:sp>
      <p:sp>
        <p:nvSpPr>
          <p:cNvPr id="44" name="Text 42"/>
          <p:cNvSpPr/>
          <p:nvPr/>
        </p:nvSpPr>
        <p:spPr>
          <a:xfrm>
            <a:off x="6812280" y="1746504"/>
            <a:ext cx="1874520" cy="530352"/>
          </a:xfrm>
          <a:prstGeom prst="rect">
            <a:avLst/>
          </a:prstGeom>
          <a:noFill/>
          <a:ln/>
        </p:spPr>
        <p:txBody>
          <a:bodyPr wrap="square" lIns="0" tIns="0" rIns="0" bIns="0" rtlCol="0" anchor="ctr"/>
          <a:lstStyle/>
          <a:p>
            <a:pPr marL="0" indent="0">
              <a:buNone/>
            </a:pPr>
            <a:r>
              <a:rPr lang="en-US" sz="950" b="1" dirty="0">
                <a:solidFill>
                  <a:srgbClr val="6B21A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Zero standing privilege (all JIT)</a:t>
            </a:r>
            <a:endParaRPr lang="en-US" sz="950" dirty="0"/>
          </a:p>
        </p:txBody>
      </p:sp>
      <p:sp>
        <p:nvSpPr>
          <p:cNvPr id="45" name="Text 43"/>
          <p:cNvSpPr/>
          <p:nvPr/>
        </p:nvSpPr>
        <p:spPr>
          <a:xfrm>
            <a:off x="6812280" y="2322576"/>
            <a:ext cx="1874520" cy="530352"/>
          </a:xfrm>
          <a:prstGeom prst="rect">
            <a:avLst/>
          </a:prstGeom>
          <a:noFill/>
          <a:ln/>
        </p:spPr>
        <p:txBody>
          <a:bodyPr wrap="square" lIns="0" tIns="0" rIns="0" bIns="0" rtlCol="0" anchor="ctr"/>
          <a:lstStyle/>
          <a:p>
            <a:pPr marL="0" indent="0">
              <a:buNone/>
            </a:pPr>
            <a:r>
              <a:rPr lang="en-US" sz="950" b="1" dirty="0">
                <a:solidFill>
                  <a:srgbClr val="6B21A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AI auto-certification (70%+ rate)</a:t>
            </a:r>
            <a:endParaRPr lang="en-US" sz="950" dirty="0"/>
          </a:p>
        </p:txBody>
      </p:sp>
      <p:sp>
        <p:nvSpPr>
          <p:cNvPr id="46" name="Text 44"/>
          <p:cNvSpPr/>
          <p:nvPr/>
        </p:nvSpPr>
        <p:spPr>
          <a:xfrm>
            <a:off x="6812280" y="2898648"/>
            <a:ext cx="1874520" cy="530352"/>
          </a:xfrm>
          <a:prstGeom prst="rect">
            <a:avLst/>
          </a:prstGeom>
          <a:noFill/>
          <a:ln/>
        </p:spPr>
        <p:txBody>
          <a:bodyPr wrap="square" lIns="0" tIns="0" rIns="0" bIns="0" rtlCol="0" anchor="ctr"/>
          <a:lstStyle/>
          <a:p>
            <a:pPr marL="0" indent="0">
              <a:buNone/>
            </a:pPr>
            <a:r>
              <a:rPr lang="en-US" sz="950" b="1" dirty="0">
                <a:solidFill>
                  <a:srgbClr val="6B21A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Continuous compliance dashboards</a:t>
            </a:r>
            <a:endParaRPr lang="en-US" sz="950" dirty="0"/>
          </a:p>
        </p:txBody>
      </p:sp>
      <p:sp>
        <p:nvSpPr>
          <p:cNvPr id="47" name="Text 45"/>
          <p:cNvSpPr/>
          <p:nvPr/>
        </p:nvSpPr>
        <p:spPr>
          <a:xfrm>
            <a:off x="6812280" y="3474720"/>
            <a:ext cx="1874520" cy="530352"/>
          </a:xfrm>
          <a:prstGeom prst="rect">
            <a:avLst/>
          </a:prstGeom>
          <a:noFill/>
          <a:ln/>
        </p:spPr>
        <p:txBody>
          <a:bodyPr wrap="square" lIns="0" tIns="0" rIns="0" bIns="0" rtlCol="0" anchor="ctr"/>
          <a:lstStyle/>
          <a:p>
            <a:pPr marL="0" indent="0">
              <a:buNone/>
            </a:pPr>
            <a:r>
              <a:rPr lang="en-US" sz="950" b="1" dirty="0">
                <a:solidFill>
                  <a:srgbClr val="6B21A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Unified IGA+PAM+CIEM posture</a:t>
            </a:r>
            <a:endParaRPr lang="en-US" sz="950" dirty="0"/>
          </a:p>
        </p:txBody>
      </p:sp>
      <p:sp>
        <p:nvSpPr>
          <p:cNvPr id="48" name="Text 46"/>
          <p:cNvSpPr/>
          <p:nvPr/>
        </p:nvSpPr>
        <p:spPr>
          <a:xfrm>
            <a:off x="6812280" y="4050792"/>
            <a:ext cx="1874520" cy="530352"/>
          </a:xfrm>
          <a:prstGeom prst="rect">
            <a:avLst/>
          </a:prstGeom>
          <a:noFill/>
          <a:ln/>
        </p:spPr>
        <p:txBody>
          <a:bodyPr wrap="square" lIns="0" tIns="0" rIns="0" bIns="0" rtlCol="0" anchor="ctr"/>
          <a:lstStyle/>
          <a:p>
            <a:pPr marL="0" indent="0">
              <a:buNone/>
            </a:pPr>
            <a:r>
              <a:rPr lang="en-US" sz="950" b="1" dirty="0">
                <a:solidFill>
                  <a:srgbClr val="6B21A8"/>
                </a:solidFill>
                <a:latin typeface="Calibri" pitchFamily="34" charset="0"/>
                <a:ea typeface="Calibri" pitchFamily="34" charset="-122"/>
                <a:cs typeface="Calibri" pitchFamily="34" charset="-120"/>
              </a:rPr>
              <a:t>✓ </a:t>
            </a:r>
            <a:r>
              <a:rPr lang="en-US" sz="950" dirty="0">
                <a:solidFill>
                  <a:srgbClr val="4B6076"/>
                </a:solidFill>
                <a:latin typeface="Calibri" pitchFamily="34" charset="0"/>
                <a:ea typeface="Calibri" pitchFamily="34" charset="-122"/>
                <a:cs typeface="Calibri" pitchFamily="34" charset="-120"/>
              </a:rPr>
              <a:t>Red team identity exercise</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A3C5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D7D46"/>
          </a:solidFill>
          <a:ln w="12700">
            <a:solidFill>
              <a:srgbClr val="2D7D46"/>
            </a:solidFill>
            <a:prstDash val="solid"/>
          </a:ln>
        </p:spPr>
        <p:txBody>
          <a:bodyPr/>
          <a:lstStyle/>
          <a:p>
            <a:endParaRPr lang="en-US"/>
          </a:p>
        </p:txBody>
      </p:sp>
      <p:sp>
        <p:nvSpPr>
          <p:cNvPr id="3" name="Shape 1"/>
          <p:cNvSpPr/>
          <p:nvPr/>
        </p:nvSpPr>
        <p:spPr>
          <a:xfrm>
            <a:off x="0" y="73152"/>
            <a:ext cx="9144000" cy="36576"/>
          </a:xfrm>
          <a:prstGeom prst="rect">
            <a:avLst/>
          </a:prstGeom>
          <a:solidFill>
            <a:srgbClr val="E8A838"/>
          </a:solidFill>
          <a:ln w="12700">
            <a:solidFill>
              <a:srgbClr val="E8A838"/>
            </a:solidFill>
            <a:prstDash val="solid"/>
          </a:ln>
        </p:spPr>
        <p:txBody>
          <a:bodyPr/>
          <a:lstStyle/>
          <a:p>
            <a:endParaRPr lang="en-US"/>
          </a:p>
        </p:txBody>
      </p:sp>
      <p:sp>
        <p:nvSpPr>
          <p:cNvPr id="4" name="Text 2"/>
          <p:cNvSpPr/>
          <p:nvPr/>
        </p:nvSpPr>
        <p:spPr>
          <a:xfrm>
            <a:off x="548640" y="502920"/>
            <a:ext cx="804672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Key Takeaways</a:t>
            </a:r>
            <a:endParaRPr lang="en-US" sz="2800" dirty="0"/>
          </a:p>
        </p:txBody>
      </p:sp>
      <p:sp>
        <p:nvSpPr>
          <p:cNvPr id="5" name="Shape 3"/>
          <p:cNvSpPr/>
          <p:nvPr/>
        </p:nvSpPr>
        <p:spPr>
          <a:xfrm>
            <a:off x="548640" y="1097280"/>
            <a:ext cx="8046720" cy="0"/>
          </a:xfrm>
          <a:prstGeom prst="line">
            <a:avLst/>
          </a:prstGeom>
          <a:noFill/>
          <a:ln w="25400">
            <a:solidFill>
              <a:srgbClr val="2D7D46"/>
            </a:solidFill>
            <a:prstDash val="solid"/>
          </a:ln>
        </p:spPr>
        <p:txBody>
          <a:bodyPr/>
          <a:lstStyle/>
          <a:p>
            <a:endParaRPr lang="en-US"/>
          </a:p>
        </p:txBody>
      </p:sp>
      <p:sp>
        <p:nvSpPr>
          <p:cNvPr id="6" name="Shape 4"/>
          <p:cNvSpPr/>
          <p:nvPr/>
        </p:nvSpPr>
        <p:spPr>
          <a:xfrm>
            <a:off x="548640" y="1234440"/>
            <a:ext cx="502920" cy="502920"/>
          </a:xfrm>
          <a:prstGeom prst="rect">
            <a:avLst/>
          </a:prstGeom>
          <a:solidFill>
            <a:srgbClr val="2D7D46"/>
          </a:solidFill>
          <a:ln w="12700">
            <a:solidFill>
              <a:srgbClr val="2D7D46"/>
            </a:solidFill>
            <a:prstDash val="solid"/>
          </a:ln>
        </p:spPr>
        <p:txBody>
          <a:bodyPr/>
          <a:lstStyle/>
          <a:p>
            <a:endParaRPr lang="en-US"/>
          </a:p>
        </p:txBody>
      </p:sp>
      <p:sp>
        <p:nvSpPr>
          <p:cNvPr id="7" name="Text 5"/>
          <p:cNvSpPr/>
          <p:nvPr/>
        </p:nvSpPr>
        <p:spPr>
          <a:xfrm>
            <a:off x="548640" y="12344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170432" y="1271016"/>
            <a:ext cx="7406640" cy="457200"/>
          </a:xfrm>
          <a:prstGeom prst="rect">
            <a:avLst/>
          </a:prstGeom>
          <a:noFill/>
          <a:ln/>
        </p:spPr>
        <p:txBody>
          <a:bodyPr wrap="square" lIns="0" tIns="0" rIns="0" bIns="0" rtlCol="0" anchor="ctr"/>
          <a:lstStyle/>
          <a:p>
            <a:pPr marL="0" indent="0">
              <a:buNone/>
            </a:pPr>
            <a:r>
              <a:rPr lang="en-US" sz="1250" dirty="0">
                <a:solidFill>
                  <a:srgbClr val="C9DDE8"/>
                </a:solidFill>
                <a:latin typeface="Calibri" pitchFamily="34" charset="0"/>
                <a:ea typeface="Calibri" pitchFamily="34" charset="-122"/>
                <a:cs typeface="Calibri" pitchFamily="34" charset="-120"/>
              </a:rPr>
              <a:t>IGA is a security control, not just a compliance tool. Excessive and orphaned entitlements are the adversary's attack surface after initial compromise. IGA reduces blast radius.</a:t>
            </a:r>
            <a:endParaRPr lang="en-US" sz="1250" dirty="0"/>
          </a:p>
        </p:txBody>
      </p:sp>
      <p:sp>
        <p:nvSpPr>
          <p:cNvPr id="9" name="Shape 7"/>
          <p:cNvSpPr/>
          <p:nvPr/>
        </p:nvSpPr>
        <p:spPr>
          <a:xfrm>
            <a:off x="548640" y="1984248"/>
            <a:ext cx="502920" cy="502920"/>
          </a:xfrm>
          <a:prstGeom prst="rect">
            <a:avLst/>
          </a:prstGeom>
          <a:solidFill>
            <a:srgbClr val="2D7D46"/>
          </a:solidFill>
          <a:ln w="12700">
            <a:solidFill>
              <a:srgbClr val="2D7D46"/>
            </a:solidFill>
            <a:prstDash val="solid"/>
          </a:ln>
        </p:spPr>
        <p:txBody>
          <a:bodyPr/>
          <a:lstStyle/>
          <a:p>
            <a:endParaRPr lang="en-US"/>
          </a:p>
        </p:txBody>
      </p:sp>
      <p:sp>
        <p:nvSpPr>
          <p:cNvPr id="10" name="Text 8"/>
          <p:cNvSpPr/>
          <p:nvPr/>
        </p:nvSpPr>
        <p:spPr>
          <a:xfrm>
            <a:off x="548640" y="198424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1170432" y="2020824"/>
            <a:ext cx="7406640" cy="457200"/>
          </a:xfrm>
          <a:prstGeom prst="rect">
            <a:avLst/>
          </a:prstGeom>
          <a:noFill/>
          <a:ln/>
        </p:spPr>
        <p:txBody>
          <a:bodyPr wrap="square" lIns="0" tIns="0" rIns="0" bIns="0" rtlCol="0" anchor="ctr"/>
          <a:lstStyle/>
          <a:p>
            <a:pPr marL="0" indent="0">
              <a:buNone/>
            </a:pPr>
            <a:r>
              <a:rPr lang="en-US" sz="1250" dirty="0">
                <a:solidFill>
                  <a:srgbClr val="C9DDE8"/>
                </a:solidFill>
                <a:latin typeface="Calibri" pitchFamily="34" charset="0"/>
                <a:ea typeface="Calibri" pitchFamily="34" charset="-122"/>
                <a:cs typeface="Calibri" pitchFamily="34" charset="-120"/>
              </a:rPr>
              <a:t>Automate the Joiner-Mover-Leaver lifecycle. Manual offboarding creates windows where terminated accounts remain active. Same-day automated deprovisioning via HRMS-IGA integration eliminates this gap.</a:t>
            </a:r>
            <a:endParaRPr lang="en-US" sz="1250" dirty="0"/>
          </a:p>
        </p:txBody>
      </p:sp>
      <p:sp>
        <p:nvSpPr>
          <p:cNvPr id="12" name="Shape 10"/>
          <p:cNvSpPr/>
          <p:nvPr/>
        </p:nvSpPr>
        <p:spPr>
          <a:xfrm>
            <a:off x="548640" y="2734056"/>
            <a:ext cx="502920" cy="502920"/>
          </a:xfrm>
          <a:prstGeom prst="rect">
            <a:avLst/>
          </a:prstGeom>
          <a:solidFill>
            <a:srgbClr val="2D7D46"/>
          </a:solidFill>
          <a:ln w="12700">
            <a:solidFill>
              <a:srgbClr val="2D7D46"/>
            </a:solidFill>
            <a:prstDash val="solid"/>
          </a:ln>
        </p:spPr>
        <p:txBody>
          <a:bodyPr/>
          <a:lstStyle/>
          <a:p>
            <a:endParaRPr lang="en-US"/>
          </a:p>
        </p:txBody>
      </p:sp>
      <p:sp>
        <p:nvSpPr>
          <p:cNvPr id="13" name="Text 11"/>
          <p:cNvSpPr/>
          <p:nvPr/>
        </p:nvSpPr>
        <p:spPr>
          <a:xfrm>
            <a:off x="548640" y="2734056"/>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1170432" y="2770632"/>
            <a:ext cx="7406640" cy="457200"/>
          </a:xfrm>
          <a:prstGeom prst="rect">
            <a:avLst/>
          </a:prstGeom>
          <a:noFill/>
          <a:ln/>
        </p:spPr>
        <p:txBody>
          <a:bodyPr wrap="square" lIns="0" tIns="0" rIns="0" bIns="0" rtlCol="0" anchor="ctr"/>
          <a:lstStyle/>
          <a:p>
            <a:pPr marL="0" indent="0">
              <a:buNone/>
            </a:pPr>
            <a:r>
              <a:rPr lang="en-US" sz="1250" dirty="0">
                <a:solidFill>
                  <a:srgbClr val="C9DDE8"/>
                </a:solidFill>
                <a:latin typeface="Calibri" pitchFamily="34" charset="0"/>
                <a:ea typeface="Calibri" pitchFamily="34" charset="-122"/>
                <a:cs typeface="Calibri" pitchFamily="34" charset="-120"/>
              </a:rPr>
              <a:t>Separation of Duties requires the business to define the rules. IT cannot build an effective SoD program without active ownership from Finance, Procurement, and HR process owners.</a:t>
            </a:r>
            <a:endParaRPr lang="en-US" sz="1250" dirty="0"/>
          </a:p>
        </p:txBody>
      </p:sp>
      <p:sp>
        <p:nvSpPr>
          <p:cNvPr id="15" name="Shape 13"/>
          <p:cNvSpPr/>
          <p:nvPr/>
        </p:nvSpPr>
        <p:spPr>
          <a:xfrm>
            <a:off x="548640" y="3483864"/>
            <a:ext cx="502920" cy="502920"/>
          </a:xfrm>
          <a:prstGeom prst="rect">
            <a:avLst/>
          </a:prstGeom>
          <a:solidFill>
            <a:srgbClr val="2D7D46"/>
          </a:solidFill>
          <a:ln w="12700">
            <a:solidFill>
              <a:srgbClr val="2D7D46"/>
            </a:solidFill>
            <a:prstDash val="solid"/>
          </a:ln>
        </p:spPr>
        <p:txBody>
          <a:bodyPr/>
          <a:lstStyle/>
          <a:p>
            <a:endParaRPr lang="en-US"/>
          </a:p>
        </p:txBody>
      </p:sp>
      <p:sp>
        <p:nvSpPr>
          <p:cNvPr id="16" name="Text 14"/>
          <p:cNvSpPr/>
          <p:nvPr/>
        </p:nvSpPr>
        <p:spPr>
          <a:xfrm>
            <a:off x="548640" y="3483864"/>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7" name="Text 15"/>
          <p:cNvSpPr/>
          <p:nvPr/>
        </p:nvSpPr>
        <p:spPr>
          <a:xfrm>
            <a:off x="1170432" y="3520440"/>
            <a:ext cx="7406640" cy="457200"/>
          </a:xfrm>
          <a:prstGeom prst="rect">
            <a:avLst/>
          </a:prstGeom>
          <a:noFill/>
          <a:ln/>
        </p:spPr>
        <p:txBody>
          <a:bodyPr wrap="square" lIns="0" tIns="0" rIns="0" bIns="0" rtlCol="0" anchor="ctr"/>
          <a:lstStyle/>
          <a:p>
            <a:pPr marL="0" indent="0">
              <a:buNone/>
            </a:pPr>
            <a:r>
              <a:rPr lang="en-US" sz="1250" dirty="0">
                <a:solidFill>
                  <a:srgbClr val="C9DDE8"/>
                </a:solidFill>
                <a:latin typeface="Calibri" pitchFamily="34" charset="0"/>
                <a:ea typeface="Calibri" pitchFamily="34" charset="-122"/>
                <a:cs typeface="Calibri" pitchFamily="34" charset="-120"/>
              </a:rPr>
              <a:t>Access certification must have consequences. Auto-revocation on non-response is what turns certification into a security control rather than an annual compliance checkbox.</a:t>
            </a:r>
            <a:endParaRPr lang="en-US" sz="1250" dirty="0"/>
          </a:p>
        </p:txBody>
      </p:sp>
      <p:sp>
        <p:nvSpPr>
          <p:cNvPr id="18" name="Shape 16"/>
          <p:cNvSpPr/>
          <p:nvPr/>
        </p:nvSpPr>
        <p:spPr>
          <a:xfrm>
            <a:off x="548640" y="4233672"/>
            <a:ext cx="502920" cy="502920"/>
          </a:xfrm>
          <a:prstGeom prst="rect">
            <a:avLst/>
          </a:prstGeom>
          <a:solidFill>
            <a:srgbClr val="2D7D46"/>
          </a:solidFill>
          <a:ln w="12700">
            <a:solidFill>
              <a:srgbClr val="2D7D46"/>
            </a:solidFill>
            <a:prstDash val="solid"/>
          </a:ln>
        </p:spPr>
        <p:txBody>
          <a:bodyPr/>
          <a:lstStyle/>
          <a:p>
            <a:endParaRPr lang="en-US"/>
          </a:p>
        </p:txBody>
      </p:sp>
      <p:sp>
        <p:nvSpPr>
          <p:cNvPr id="19" name="Text 17"/>
          <p:cNvSpPr/>
          <p:nvPr/>
        </p:nvSpPr>
        <p:spPr>
          <a:xfrm>
            <a:off x="548640" y="423367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0" name="Text 18"/>
          <p:cNvSpPr/>
          <p:nvPr/>
        </p:nvSpPr>
        <p:spPr>
          <a:xfrm>
            <a:off x="1170432" y="4270248"/>
            <a:ext cx="7406640" cy="457200"/>
          </a:xfrm>
          <a:prstGeom prst="rect">
            <a:avLst/>
          </a:prstGeom>
          <a:noFill/>
          <a:ln/>
        </p:spPr>
        <p:txBody>
          <a:bodyPr wrap="square" lIns="0" tIns="0" rIns="0" bIns="0" rtlCol="0" anchor="ctr"/>
          <a:lstStyle/>
          <a:p>
            <a:pPr marL="0" indent="0">
              <a:buNone/>
            </a:pPr>
            <a:r>
              <a:rPr lang="en-US" sz="1250" dirty="0">
                <a:solidFill>
                  <a:srgbClr val="C9DDE8"/>
                </a:solidFill>
                <a:latin typeface="Calibri" pitchFamily="34" charset="0"/>
                <a:ea typeface="Calibri" pitchFamily="34" charset="-122"/>
                <a:cs typeface="Calibri" pitchFamily="34" charset="-120"/>
              </a:rPr>
              <a:t>Cloud machine identities are the new governance frontier. CIEM extends IGA governance to the non-human identities that now outnumber human users in most cloud environments.</a:t>
            </a:r>
            <a:endParaRPr lang="en-US" sz="1250" dirty="0"/>
          </a:p>
        </p:txBody>
      </p:sp>
      <p:sp>
        <p:nvSpPr>
          <p:cNvPr id="21" name="Shape 19"/>
          <p:cNvSpPr/>
          <p:nvPr/>
        </p:nvSpPr>
        <p:spPr>
          <a:xfrm>
            <a:off x="0" y="4869180"/>
            <a:ext cx="9144000" cy="274320"/>
          </a:xfrm>
          <a:prstGeom prst="rect">
            <a:avLst/>
          </a:prstGeom>
          <a:solidFill>
            <a:srgbClr val="0A2840"/>
          </a:solidFill>
          <a:ln w="12700">
            <a:solidFill>
              <a:srgbClr val="0A2840"/>
            </a:solidFill>
            <a:prstDash val="solid"/>
          </a:ln>
        </p:spPr>
        <p:txBody>
          <a:bodyPr/>
          <a:lstStyle/>
          <a:p>
            <a:endParaRPr lang="en-US"/>
          </a:p>
        </p:txBody>
      </p:sp>
      <p:sp>
        <p:nvSpPr>
          <p:cNvPr id="22" name="Text 20"/>
          <p:cNvSpPr/>
          <p:nvPr/>
        </p:nvSpPr>
        <p:spPr>
          <a:xfrm>
            <a:off x="274320" y="4873752"/>
            <a:ext cx="8595360" cy="256032"/>
          </a:xfrm>
          <a:prstGeom prst="rect">
            <a:avLst/>
          </a:prstGeom>
          <a:noFill/>
          <a:ln/>
        </p:spPr>
        <p:txBody>
          <a:bodyPr wrap="square" lIns="0" tIns="0" rIns="0" bIns="0" rtlCol="0" anchor="ctr"/>
          <a:lstStyle/>
          <a:p>
            <a:pPr marL="0" indent="0" algn="ctr">
              <a:buNone/>
            </a:pPr>
            <a:r>
              <a:rPr lang="en-US" sz="900" dirty="0">
                <a:solidFill>
                  <a:srgbClr val="8BAAC2"/>
                </a:solidFill>
                <a:latin typeface="Calibri" pitchFamily="34" charset="0"/>
                <a:ea typeface="Calibri" pitchFamily="34" charset="-122"/>
                <a:cs typeface="Calibri" pitchFamily="34" charset="-120"/>
              </a:rPr>
              <a:t>Identity Governance &amp; Administration Security Architecture Reference  |  Version 1.0  |  March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5113</Words>
  <Application>Microsoft Macintosh PowerPoint</Application>
  <PresentationFormat>On-screen Show (16:9)</PresentationFormat>
  <Paragraphs>637</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Identity Governance &amp; Administration — Security Architecture Reference</dc:title>
  <dc:subject>IGA Architecture</dc:subject>
  <dc:creator>Eran Shpigelman</dc:creator>
  <cp:keywords/>
  <dc:description/>
  <cp:lastModifiedBy>Eran Shpigelman</cp:lastModifiedBy>
  <cp:revision>3</cp:revision>
  <dcterms:created xsi:type="dcterms:W3CDTF">2026-03-04T22:28:19Z</dcterms:created>
  <dcterms:modified xsi:type="dcterms:W3CDTF">2026-03-05T03:26:35Z</dcterms:modified>
  <cp:category/>
</cp:coreProperties>
</file>