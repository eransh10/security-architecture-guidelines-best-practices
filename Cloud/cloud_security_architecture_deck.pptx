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2286000"/>
            <a:ext cx="9034272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18288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18288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8288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828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AWS  ·  Azure  ·  GCP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" y="162763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Reference  |  March 2026  |  Eran Shpigelman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5262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 ·  Workload Identity  ·  Private-by-Default  ·  Policy-as-Code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7498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26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15179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Security Architecture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2860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Security 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62656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62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305409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Security Architecture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730752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30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38221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Domains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658368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658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48272" y="74980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Zero Trust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426464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426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48272" y="151790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for Cloud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194560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48272" y="22860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 Mapping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2962656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962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48272" y="305409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3730752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730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48272" y="382219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· Attack Paths · Metrics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565C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Imperatives  ·  Core Principles  ·  Shared Responsibility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 Cloud Security Imperatives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685800"/>
            <a:ext cx="4297680" cy="19659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  <a:effectLst>
            <a:outerShdw sx="100000" sy="100000" kx="0" ky="0" algn="bl" rotWithShape="0" blurRad="50800" dist="25400" dir="2700000">
              <a:srgbClr val="88888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685800"/>
            <a:ext cx="429768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85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the Perimeter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96012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implicit trust inside cloud boundaries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114300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workloads use managed/workload identities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132588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JIT privilege with zero standing access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150876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MFA + Conditional Access everywhere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685800"/>
            <a:ext cx="4297680" cy="19659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  <a:effectLst>
            <a:outerShdw sx="100000" sy="100000" kx="0" ky="0" algn="bl" rotWithShape="0" blurRad="50800" dist="25400" dir="27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685800"/>
            <a:ext cx="4297680" cy="25603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685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Default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96012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services via private endpoints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64608" y="114300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public IPs on compute or storage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64608" y="132588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segmentation with least-privilege egress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64608" y="150876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VPC Service Controls / PrivateLink / PSC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788920"/>
            <a:ext cx="4297680" cy="19659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  <a:effectLst>
            <a:outerShdw sx="100000" sy="100000" kx="0" ky="0" algn="bl" rotWithShape="0" blurRad="50800" dist="25400" dir="2700000">
              <a:srgbClr val="88888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788920"/>
            <a:ext cx="4297680" cy="2560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788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Everything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06324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Customer-managed keys (CMK) for all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" y="324612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rotation automated (annual minimum)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342900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Secrets via dedicated vaults — never env vars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" y="361188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TLS 1.2+ in transit; at-rest encryption enforced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788920"/>
            <a:ext cx="4297680" cy="19659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  <a:effectLst>
            <a:outerShdw sx="100000" sy="100000" kx="0" ky="0" algn="bl" rotWithShape="0" blurRad="50800" dist="25400" dir="2700000">
              <a:srgbClr val="88888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788920"/>
            <a:ext cx="4297680" cy="25603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788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Govern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06324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CSPM enabled across all cloud accounts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4608" y="324612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Policy-as-Code enforces guardrails at deploy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64608" y="342900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SIEM with cloud-native logs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608" y="361188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trails immutable and cross-account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Security Principles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11704320" cy="10515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58368"/>
            <a:ext cx="54864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" y="95097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950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7498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Private-by-default networking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060704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 accessed through private endpoints. Public exposure minimized and justified through documented exception processes.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83080"/>
            <a:ext cx="11704320" cy="10515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83080"/>
            <a:ext cx="54864" cy="10515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" y="207568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874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instead of static credentials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185416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identities use federated workload identity and short-lived tokens. No long-lived credentials stored in code, environment variables, or container images.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2907792"/>
            <a:ext cx="11704320" cy="10515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907792"/>
            <a:ext cx="54864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" y="32004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3200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9992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for humans and workloads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31012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identity — human or machine — holds only the permissions required. Access Analyzer, SCPs, and Org Policies enforce this continuously.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4032504"/>
            <a:ext cx="11704320" cy="10515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032504"/>
            <a:ext cx="54864" cy="10515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" y="43251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325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1239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for sensitive 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4348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sensitive data encrypted at rest and in transit. Customer-managed keys used where regulatory, operational, or separation-of-duty requirements apply.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5157216"/>
            <a:ext cx="11704320" cy="10515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5157216"/>
            <a:ext cx="54864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" y="544982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54498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52486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and automated response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5559552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CSPM, runtime detection, and centralized SIEM always on. Automated remediation for common misconfigurations. Security controls measured, not assumed.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685800"/>
            <a:ext cx="1828800" cy="274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685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685800"/>
            <a:ext cx="1828800" cy="274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685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685800"/>
            <a:ext cx="1691640" cy="274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685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685800"/>
            <a:ext cx="1691640" cy="274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685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685800"/>
            <a:ext cx="1691640" cy="274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685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987552"/>
            <a:ext cx="182880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98755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0" y="987552"/>
            <a:ext cx="1828800" cy="502920"/>
          </a:xfrm>
          <a:prstGeom prst="rect">
            <a:avLst/>
          </a:prstGeom>
          <a:solidFill>
            <a:srgbClr val="C62828">
              <a:alpha val="13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98755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0" y="987552"/>
            <a:ext cx="169164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95344" y="9875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only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32120" y="987552"/>
            <a:ext cx="169164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86984" y="9875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only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987552"/>
            <a:ext cx="169164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78624" y="9875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only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1536192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" y="153619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11680" y="1536192"/>
            <a:ext cx="1828800" cy="502920"/>
          </a:xfrm>
          <a:prstGeom prst="rect">
            <a:avLst/>
          </a:prstGeom>
          <a:solidFill>
            <a:srgbClr val="C62828">
              <a:alpha val="13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66544" y="153619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1536192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95344" y="153619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primitives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32120" y="1536192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6984" y="153619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primitives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23760" y="1536192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78624" y="153619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primitives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" y="2084832"/>
            <a:ext cx="182880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" y="208483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Workload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11680" y="2084832"/>
            <a:ext cx="1828800" cy="502920"/>
          </a:xfrm>
          <a:prstGeom prst="rect">
            <a:avLst/>
          </a:prstGeom>
          <a:solidFill>
            <a:srgbClr val="C62828">
              <a:alpha val="13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66544" y="208483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2084832"/>
            <a:ext cx="169164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95344" y="208483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32120" y="2084832"/>
            <a:ext cx="169164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6984" y="208483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23760" y="2084832"/>
            <a:ext cx="169164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78624" y="208483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82880" y="2633472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63347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Controls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011680" y="2633472"/>
            <a:ext cx="1828800" cy="502920"/>
          </a:xfrm>
          <a:prstGeom prst="rect">
            <a:avLst/>
          </a:prstGeom>
          <a:solidFill>
            <a:srgbClr val="F4A261">
              <a:alpha val="13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66544" y="263347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config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40480" y="2633472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95344" y="263347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infra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532120" y="2633472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86984" y="263347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infra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223760" y="2633472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78624" y="263347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infra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82880" y="3182112"/>
            <a:ext cx="182880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" y="318211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Container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011680" y="3182112"/>
            <a:ext cx="1828800" cy="502920"/>
          </a:xfrm>
          <a:prstGeom prst="rect">
            <a:avLst/>
          </a:prstGeom>
          <a:solidFill>
            <a:srgbClr val="F4A261">
              <a:alpha val="13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66544" y="318211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(IaaS)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840480" y="3182112"/>
            <a:ext cx="169164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95344" y="318211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PaaS/SaaS: shared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532120" y="3182112"/>
            <a:ext cx="169164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86984" y="318211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PaaS/SaaS: shared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223760" y="3182112"/>
            <a:ext cx="169164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78624" y="318211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PaaS/SaaS: shared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82880" y="3730752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" y="373075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Compute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011680" y="3730752"/>
            <a:ext cx="1828800" cy="502920"/>
          </a:xfrm>
          <a:prstGeom prst="rect">
            <a:avLst/>
          </a:prstGeom>
          <a:solidFill>
            <a:srgbClr val="2E7D32">
              <a:alpha val="13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66544" y="3730752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840480" y="3730752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95344" y="37307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532120" y="3730752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86984" y="37307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223760" y="3730752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78624" y="3730752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182880" y="464058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Customer-owned (Red)  ·  Shared (Amber)  ·  Provider-owned (Green)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99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Security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 ·  Network  ·  Data  ·  Detection  ·  Governance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Identity &amp; Access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67512"/>
            <a:ext cx="2807208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67512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Guardrails (SCPs)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005840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0584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SCPs restrict max permissions — not grants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444752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444752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regions outside approved list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1883664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883664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IAM actions that create root credentials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322576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322576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 on sensitive actions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761488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761488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OU level via Control Tower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27248" y="667512"/>
            <a:ext cx="2807208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667512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(IRSA)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27248" y="1005840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100584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IRSA: bind IAM role to K8s ServiceAccount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27248" y="1444752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6976" y="1444752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 Roles for containerized workloads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27248" y="1883664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36976" y="1883664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Profiles for EC2 (avoid long-term keys)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27248" y="2322576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36976" y="2322576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credentials — workloads receive short-lived tokens via STS or OIDC federation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27248" y="2761488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6976" y="2761488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rotation via Secrets Manager for remaining service accounts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62472" y="667512"/>
            <a:ext cx="2807208" cy="29260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667512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Enforcement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62472" y="1005840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00584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Boundaries cap role max permissions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62472" y="1444752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444752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Analyzer detects overly-permissive roles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1883664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883664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aws:RequestedRegion + aws:PrincipalAccount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62472" y="2322576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2322576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Access Advisor shows unused permissions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62472" y="2761488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761488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standing privileged access via JIT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2880" y="464058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controls: SCPs (deny-first guardrails) · Permission Boundaries · IRSA · Access Analyzer · JIT elevation via aws-vault or Vault AWS secrets engine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Network Security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85800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85800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7315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" y="9601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separate subnets: public (ALB only), private (compute), isolated (data). No public IPs on EC2/RDS.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746504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746504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VPC Endpoints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" y="20208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VPC endpoints for critical services such as S3, DynamoDB, Secrets Manager, KMS, and ECR. Traffic stays on the AWS network. PrivateLink for cross-account inter-service comms.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807208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807208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8529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" y="308152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Stateful. Allow-list only — no 0.0.0.0/0 ingress. Least-privilege source: security group reference over CIDR. No 0/0 egress.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3867912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867912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" y="39136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" y="4142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second layer. Block known malicious CIDRs. Deny all by default; allow only required egress ports.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685800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685800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01184" y="7315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 + Shield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01184" y="9601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on ALBs and CloudFront. Managed rule groups (OWASP, AWS Managed Core). Shield Advanced for DDoS on public endpoints.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746504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746504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4901184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Flow Logs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01184" y="20208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 all VPCs. Ship to CloudWatch Logs or S3. Feed into Security Hub / SIEM for east-west anomaly detection.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807208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807208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901184" y="28529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Gateway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01184" y="308152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for multi-account connectivity. Route tables per attachment — segment prod/non-prod/shared services.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867912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867912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39136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Egress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01184" y="4142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for outbound-only; no inbound. Restrict egress to required FQDNs via inspection VPC (e.g., AWS Network Firewall).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Data Protection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71323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0467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04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859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(KMS CMKs)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2252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Customer-managed keys (CMKs) for all S3, EBS, RDS, DynamoDB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15544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policies: deny kms:* without aws:PrincipalOrgID condition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18836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key rotation enabled (annual); asymmetric keys for signing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2128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CloudHSM for FIPS 140-2 Level 3 hardware key storage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71323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80467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04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960" y="859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Governance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2252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 Public Access enforced at account + bucket level (SCP)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15544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 Object Ownership: BucketOwnerEnforced (disable ACLs)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18836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 Bucket Policy: deny s3:PutObject without SSE-KMS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22128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 Versioning + MFA Delete on sensitive buckets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281635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90779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077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29626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328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Secrets Manager: automatic rotation with Lambda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" y="36576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store credentials in environment variables or code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39867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Cross-account access via resource policies (not role sharing)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43159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 Store for non-sensitive config (Standard tier)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81635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90779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9077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29626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 &amp; DLP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328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Macie: S3 discovery of PII, PHI, PCI data — auto-classify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92040" y="36576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 sensitive findings via EventBridge → Lambda response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92040" y="39867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CloudTrail data events on sensitive S3 buckets always 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92040" y="43159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 Inventory + Athena for compliance reporting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Detection &amp; Response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85800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85800"/>
            <a:ext cx="4297680" cy="2743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685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98755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events on all accounts. Data events on sensitive S3/Lambda. Organization trail centralized in security account. Integrity validation enabled.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020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Tampering detection · Compliance audit trail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685800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685800"/>
            <a:ext cx="429768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685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98755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threat detection: crypto mining, C2 comms, compromised credentials, unusual API calls. S3 Protection, EKS Runtime Protection enabled. Findings → Security Hub.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2020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T1078.004 · T1530 · T1190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245059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450592"/>
            <a:ext cx="429768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275234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findings from GuardDuty, Inspector, Macie, Config, IAM Access Analyzer. CIS AWS Foundations Benchmark and AWS FSBP enabled. Custom actions via EventBridge.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3785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CSPM posture scoring · Cross-account aggregation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245059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450592"/>
            <a:ext cx="4297680" cy="2743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275234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Rules: enforce encryption, public access block, MFA deletion, VPC flow logs enabled. Conformance Packs for CIS, NIST, PCI DSS. Remediation via SSM Automation.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3785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Policy-as-Code enforcement · Auto-remediation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73075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730752"/>
            <a:ext cx="4297680" cy="274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730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03250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alarms on root activity, console logins without MFA, Security Group changes. Log groups for all Lambda, EKS, CloudTrail.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50657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UEBA baselines · Real-time alerting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373075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730752"/>
            <a:ext cx="429768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730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403250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CVE scanning: EC2, Lambda, ECR container images. Risk score prioritization. Integration with Security Hub for consolidated vulnerability view.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50657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Vuln management · Container scanning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Governance &amp; CSPM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85800"/>
            <a:ext cx="8686800" cy="79552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85800"/>
            <a:ext cx="54864" cy="7955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7315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024128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0241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45920" y="749808"/>
            <a:ext cx="7086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with pre-built guardrails. Baseline SCPs, IAM Identity Center SSO, centralized logging account, audit account. Mandatory: Disallow root API keys, Disallow public S3.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1545336"/>
            <a:ext cx="86868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545336"/>
            <a:ext cx="54864" cy="7955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Control Policies (SCPs)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883664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8836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Org-level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45920" y="1609344"/>
            <a:ext cx="7086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guardrails. Cannot be overridden by account admins. Critical: Deny us-east-1/us-west-2 bypass; deny disabling GuardDuty/CloudTrail; deny internet IGW on non-allowed accounts.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404872"/>
            <a:ext cx="8686800" cy="79552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404872"/>
            <a:ext cx="54864" cy="7955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4505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 Conformance Packs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432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Account-level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45920" y="2468880"/>
            <a:ext cx="7086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AWS Foundations v1.4, NIST SP 800-53 Rev 5, PCI DSS v3.2.1 built-in packs. Custom rules via Lambda. Auto-remediation with SSM Automation documents.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264408"/>
            <a:ext cx="86868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264408"/>
            <a:ext cx="54864" cy="79552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3101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Tags &amp; Cost Governance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602736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0F4C75">
              <a:alpha val="20000"/>
            </a:srgbClr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0273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45920" y="3328416"/>
            <a:ext cx="7086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policies enforced via Organizations. Required tags: owner, env, classification, cost-center. AWS Cost Anomaly Detection on tagged resources for rogue/compromised spend.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4123944"/>
            <a:ext cx="8686800" cy="79552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4123944"/>
            <a:ext cx="54864" cy="79552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169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Resiliency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462272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4285F4">
              <a:alpha val="20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622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645920" y="4187952"/>
            <a:ext cx="7086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 with backup plans per classification. Cross-region backup for critical data. Backup Vault Lock (WORM) for ransomware protection. Test restores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78D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Security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 ·  Network  ·  Data  ·  Detection  ·  Governance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Identity &amp; Access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67512"/>
            <a:ext cx="2807208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67512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005840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0584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System-assigned: 1:1 with resource, auto-deleted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444752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444752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User-assigned: reusable across multiple resources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1883664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883664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stored — token from IMDS endpoint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322576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322576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VMs, AKS, App Service, Logic Apps, Functions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761488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761488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via RBAC on target resource, not broad subscription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27248" y="667512"/>
            <a:ext cx="2807208" cy="29260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667512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PIM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27248" y="1005840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100584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PIM: JIT elevation for privileged roles (max 8h)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27248" y="1444752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6976" y="1444752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+ justification for Global Admin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27248" y="1883664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36976" y="1883664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reviews for permanent role assignments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27248" y="2322576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36976" y="2322576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Access: require MFA + compliant device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27248" y="2761488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6976" y="2761488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CAE: continuous access evaluation on sign-in risk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62472" y="667512"/>
            <a:ext cx="2807208" cy="2926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667512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Federation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62472" y="1005840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00584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GitHub Actions / K8s / GCP service accounts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62472" y="1444752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444752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secrets stored in external systems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1883664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883664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registration + federated credential configuration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62472" y="2322576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2322576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issuer/subject to specific org/repo/branch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62472" y="2761488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761488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monitor token issuance in sign-in logs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2880" y="464058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controls: Managed Identities · PIM with JIT · Conditional Access · CAE · Workload Identity Federation · Access Reviews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Network Security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85800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85800"/>
            <a:ext cx="54864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7315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Hub-Spoke VNet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" y="9601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VNet with Azure Firewall, VPN/ExpressRoute, DNS. Spoke VNets peered to hub. Prod/non-prod/shared spokes. No direct spoke-to-spoke without hub inspection.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746504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746504"/>
            <a:ext cx="54864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" y="20208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PaaS (Storage, Key Vault, SQL, Service Bus) via Private Endpoint. Disable public network access after PE creation. DNS override via Private DNS Zones.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807208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807208"/>
            <a:ext cx="54864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8529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 + ASG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" y="308152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NSGs on subnet level, not NIC. Application Security Groups for workload-aware rules. Deny all inbound default; explicit allow-list. Service Tags for Azure service CIDRs.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3867912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867912"/>
            <a:ext cx="54864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" y="39136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Firewall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" y="4142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FQDN filtering for outbound traffic. Threat Intelligence feed blocks known malicious IPs. DNAT rules for inbound (prefer Application Gateway). Premium tier for TLS inspection.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685800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685800"/>
            <a:ext cx="54864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7" name="Text 25"/>
          <p:cNvSpPr/>
          <p:nvPr/>
        </p:nvSpPr>
        <p:spPr>
          <a:xfrm>
            <a:off x="4901184" y="7315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Gateway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01184" y="9601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v2 in Prevention mode on all public-facing apps. OWASP 3.2 ruleset. Custom rules for bot protection. End-to-end TLS. No direct public IPs on backend VMs.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746504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746504"/>
            <a:ext cx="54864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1" name="Text 29"/>
          <p:cNvSpPr/>
          <p:nvPr/>
        </p:nvSpPr>
        <p:spPr>
          <a:xfrm>
            <a:off x="4901184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Bastion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01184" y="20208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RDP/SSH without exposing public ports. No jump servers with public IPs. Integrate with Entra ID for MFA-protected admin access. Premium tier for native client.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807208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807208"/>
            <a:ext cx="54864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5" name="Text 33"/>
          <p:cNvSpPr/>
          <p:nvPr/>
        </p:nvSpPr>
        <p:spPr>
          <a:xfrm>
            <a:off x="4901184" y="28529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01184" y="308152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Network Protection on all public VIPs. Standard tier adaptive tuning. Alerts to Azure Monitor. Cost protection included with Standard plan.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867912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867912"/>
            <a:ext cx="54864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39136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Watcher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01184" y="4142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 Flow Logs to Storage + Traffic Analytics. Connection troubleshooting. Packet capture for incident investigation. Flow logs feed Sentinel analytics.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Protection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71323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0467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04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859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(CMK)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2252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HSM for FIPS 140-2 Level 3 (production workloads)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15544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Storage, SQL, ADE encryption use customer-managed keys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18836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rotation policies: 90-day alert, auto-rotation for supported services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2128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Vault Firewall: restrict access to VNet + private endpoint only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71323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80467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04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960" y="859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Security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2252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Account public access: Disabled (enforced via Azure Policy)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15544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Transfer Required: TLS 1.2 minimum enforced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18836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Blob versioning + soft delete (30 days) + immutability policies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22128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service encryption with CMK for all accounts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281635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90779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077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29626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 (DLP)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328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data discovery: classify PII, PHI, PCI across Azure storage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" y="36576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DLP policies: prevent sharing of sensitive data via Teams/Email/Cloud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39867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Information Protection labels enforced across M365 and Azure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43159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Manager for regulatory tracking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81635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90779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9077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29626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Storage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328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Detects: malware upload, anomalous access, suspicious data ops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92040" y="36576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Alerts integrated into Defender for Cloud + Sentinel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92040" y="39867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On-upload malware scanning (Defender for Storage Plan 2)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92040" y="43159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Activity baseline per storage account — alerts on deviations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Detection &amp; Response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85800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85800"/>
            <a:ext cx="4297680" cy="2743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685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 for Cloud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98755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+ CWPP. Secure Score measures posture. Defender Plans: Servers, Containers, App Service, SQL, Storage, Key Vault. Attack path analysis identifies exploitable chains.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020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CSPM posture · CWPP runtime · Multi-cloud (AWS, GCP)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685800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685800"/>
            <a:ext cx="4297680" cy="2743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685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98755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SIEM + SOAR. Connectors for Entra ID, M365, Defender, AWS, GCP. Analytics rules with MITRE ATT&amp;CK tagging. Playbooks (Logic Apps) for automated response.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2020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SIEM · SOAR · TI integration · UEBA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245059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450592"/>
            <a:ext cx="4297680" cy="274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Protection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75234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Conditional Access. User risk (compromised credentials, impossible travel) and sign-in risk signals. Policy: require MFA on medium risk; block on high. Feed to Sentinel.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3785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T1078 · T1098 · Credential compromise detection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245059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450592"/>
            <a:ext cx="429768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Endpoint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75234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for Windows/Linux/macOS. Threat &amp; Vulnerability Management. Attack surface reduction rules. Integration with Sentinel and Defender for Cloud. Unified SecOps platform.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3785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Endpoint detection · Vuln management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73075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730752"/>
            <a:ext cx="4297680" cy="2743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730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+ Diagnostics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03250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plane audit: all subscription activities. Diagnostic settings on all resources → Log Analytics workspace. Retention: 90 days minimum; archive to Storage.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50657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Audit trail · Compliance logging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373075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730752"/>
            <a:ext cx="429768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730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 Audit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403250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audit log for M365 and Azure. Audit Premium for 1-year retention + advanced queries. Integrate with Sentinel for correlation. Required for compliance frameworks.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50657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M365 audit · Long-term retention · Compliance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Governance &amp; Policy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85800"/>
            <a:ext cx="8686800" cy="79552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85800"/>
            <a:ext cx="54864" cy="7955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731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Groups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024128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0241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Org-level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28800" y="749808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Hierarchy: Root MG → Platform (Connectivity, Identity, Management) → Landing Zones → Sandboxes. Apply policies and RBAC at MG level for inheritance. CAF Landing Zone structure.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1545336"/>
            <a:ext cx="86868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545336"/>
            <a:ext cx="54864" cy="7955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5910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883664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8836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0" y="1609344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DeployIfNotExists for auto-remediation; Deny for guardrails. Built-in initiatives: CIS Azure Foundations, NIST SP 800-53 R5, ISO 27001. Custom policies in JSON/Bicep via Repos.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404872"/>
            <a:ext cx="8686800" cy="79552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404872"/>
            <a:ext cx="54864" cy="79552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/ Bicep IaC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0F4C75">
              <a:alpha val="20000"/>
            </a:srgbClr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432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28800" y="246888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Landing Zone Bicep modules for repeatable deployments. All infra via IaC — no manual resource creation in production. PR review + policy scan in CI/CD before apply.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264408"/>
            <a:ext cx="86868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264408"/>
            <a:ext cx="54864" cy="7955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310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Locks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602736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027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28800" y="3328416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CanNotDelete on production resource groups. Prevents accidental deletion. ReadOnly where applicable. Managed via Blueprints assignment. Review locks quarterly.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4123944"/>
            <a:ext cx="8686800" cy="79552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4123944"/>
            <a:ext cx="54864" cy="79552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1696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+ Compliance Mgmt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462272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4285F4">
              <a:alpha val="20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622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828800" y="41879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 budgets with alerts at 80%/100% threshold. Compliance dashboard in Defender for Cloud. Regulatory Compliance: PCI DSS, HIPAA, ISO 27001 built-in assessments.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4285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Security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 ·  Network  ·  Data  ·  Detection  ·  Governance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Identity &amp; Access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67512"/>
            <a:ext cx="2807208" cy="2926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67512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Federation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005840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0584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AWS, Azure, GitHub, K8s without keys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444752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444752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mappings: restrict to specific repos/subjects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1883664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883664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 service account via short-lived tokens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322576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322576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Token Creator role scoped narrowly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761488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761488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iam.serviceaccounts.actAs in Cloud Audit Logs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27248" y="667512"/>
            <a:ext cx="2807208" cy="29260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667512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Best Practices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27248" y="1005840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100584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Resource-level bindings over project-level where possible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27248" y="1444752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6976" y="1444752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Restriction Constraint (iam.allowedPolicyMemberDomains)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27248" y="1883664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36976" y="1883664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account keys — use Workload Identity or metadata server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27248" y="2322576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36976" y="2322576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IAM bindings reviewed via Policy Analyzer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27248" y="2761488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6976" y="2761488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access via IAM Recommender or BeyondCorp tools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62472" y="667512"/>
            <a:ext cx="2807208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667512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Policy Constraints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62472" y="1005840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00584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compute.requireShieldedVm — enforce Secure Boot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62472" y="1444752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444752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compute.skipDefaultNetworkCreation — no default VPC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1883664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883664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iam.disableServiceAccountKeyCreation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62472" y="2322576"/>
            <a:ext cx="28072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2322576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constraints/storage.uniformBucketLevelAccess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62472" y="2761488"/>
            <a:ext cx="2807208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761488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constraints/gcp.resourceLocations — geo-restriction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2880" y="464058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controls: Workload Identity Federation · Org Policy Constraints · No service account keys · Domain Restriction · Policy Analyzer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Network Security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85800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85800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7315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" y="9601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VPC for org-wide network governance. No default VPC (Org Policy). Separate VPCs per environment with private Google access. No external IPs unless explicitly required.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746504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746504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Service Controls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" y="20208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 prevention for BigQuery, GCS, Spanner. Define perimeter around sensitive projects. Ingress/Egress rules control cross-perimeter access. Audit perimeter violations in Cloud Logging.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807208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807208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8529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Firewall Rules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" y="308152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Organization-level rules override project rules. DENY all ingress default. Allow-list specific ports per workload tier. Firewall Insights identifies unused/overly-permissive rules.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3867912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867912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" y="39136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Service Connect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" y="4142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Google APIs privately (PSC endpoint). Internal load balancing for service mesh. No public IP traversal. DNS peering to private.googleapis.com and restricted.googleapis.com.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685800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685800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Text 25"/>
          <p:cNvSpPr/>
          <p:nvPr/>
        </p:nvSpPr>
        <p:spPr>
          <a:xfrm>
            <a:off x="4901184" y="7315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Armor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01184" y="9601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protection for Layer 7 DDoS. Preconfigured WAF rules (OWASP). Custom rules: rate limiting, geo-restriction, IP allow/deny lists. Security policies on Cloud Load Balancers.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746504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746504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Text 29"/>
          <p:cNvSpPr/>
          <p:nvPr/>
        </p:nvSpPr>
        <p:spPr>
          <a:xfrm>
            <a:off x="4901184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01184" y="20208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Outbound-only internet access for private VMs. No inbound connections through NAT. Log all NAT translations to Cloud Logging. Separate NAT per environment.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807208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807208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5" name="Text 33"/>
          <p:cNvSpPr/>
          <p:nvPr/>
        </p:nvSpPr>
        <p:spPr>
          <a:xfrm>
            <a:off x="4901184" y="28529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Identity-Aware Proxy (IAP)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01184" y="308152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application access without VPN. Entra/Google identity authentication + context-aware access policies. Replace bastion hosts. BeyondCorp Enterprise integration.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867912"/>
            <a:ext cx="4297680" cy="100584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867912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39136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01184" y="4142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Networks-powered network threat detection. Out-of-band (no inline latency). Detects: malware, exploits, C2 comms, lateral movement. Alerts to Security Command Center.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Protection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71323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0467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04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859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KMS / CMEK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2252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CMEK for GCS, BigQuery, Pub/Sub, Cloud SQL, GKE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15544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HSM for FIPS 140-2 Level 3 keys (hardware-backed)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18836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Autokey: automatic CMEK provisioning per resource (preview)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2128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rotation: 90-day for symmetric, annual for asymmetric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71323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80467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04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960" y="859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2252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Versioned secrets with CMEK encryption at rest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15544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 access via Workload Identity (no service account keys)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18836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 replication: automatic or user-managed per region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22128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Audit: secretmanager.versions.access in Cloud Audit Logs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281635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90779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077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29626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DLP / Sensitive Data Svc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328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150+ built-in infoTypes: PII, PCI, PHI, government IDs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" y="36576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De-identification: tokenization, masking, bucketing, date shift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39867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 GCS, BigQuery, Datastore; send findings to SCC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43159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DLP recommendations in Security Command Center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816352"/>
            <a:ext cx="429768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90779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9077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29626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Assured Workloads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328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Jurisdiction controls: restrict data to specific regions/operators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92040" y="36576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frameworks: FedRAMP High, ITAR, HIPAA, CJIS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92040" y="39867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Controls package: CMEK + restricted services + personnel controls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92040" y="43159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 folder with enforced constraints and audit regime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Detection &amp; Response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85800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85800"/>
            <a:ext cx="4297680" cy="274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685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Command Center (SCC)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98755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+ CWPP for GCP. Threat detection: Event Threat Detection (ETD), Container Threat Detection (CTD), Virtual Machine Threat Detection (VMTD). Premium for compliance reports.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020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CSPM posture · ETD threat intel · Compliance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685800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685800"/>
            <a:ext cx="4297680" cy="2743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685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Chronicle SIEM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98755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Google-native SIEM built on UDM. Petabyte-scale ingestion. YARA-L rules for detection. Threat Intelligence from VirusTotal + Google TI. SOAR via Chronicle SOAR (Siemplify).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2020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SIEM · TI integration · SOAR · Retroactive detection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245059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450592"/>
            <a:ext cx="4297680" cy="2743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Logs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75234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Activity (always on), Data Access (enable per service), System Events, Policy Denied. Export to Cloud Storage + BigQuery via Log Sinks. Aggregated export from Org sink.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3785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Compliance audit · Forensic investigation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245059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450592"/>
            <a:ext cx="429768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Threat Detection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75234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Cloud Logging streams in near-real-time. Detects: crypto mining, data exfiltration, brute force, C2 activity, malware, IAM anomalies. Findings exported to SCC.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3785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T1530 · T1537 · T1078.004 · T1136.003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73075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730752"/>
            <a:ext cx="4297680" cy="274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730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Threat Detection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03250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kernel-level detection for GKE. Detects: reverse shell, unexpected binary execution, malicious scripts. Zero-overhead: runs in GKE control plane, not node agent.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50657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GKE runtime · Kernel-level detection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3730752"/>
            <a:ext cx="4297680" cy="16002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730752"/>
            <a:ext cx="429768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730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403250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Analysis (Artifact Registry CVE scanning). VM OS inventory + patch gap. Web Security Scanner for App Engine and GCE web apps. Findings to SCC.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50657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Container CVE · VM patching · Web app scanning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Governance &amp; CSPM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685800"/>
            <a:ext cx="8686800" cy="79552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85800"/>
            <a:ext cx="54864" cy="79552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731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Hierarchy + Folders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02412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4285F4">
              <a:alpha val="20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0241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Org-level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749808"/>
            <a:ext cx="6812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→ Folders (prod, non-prod, shared, sandbox) → Projects. IAM and Org Policy inherited down hierarchy. Label policy enforced: env, owner, classification, cost-center.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1545336"/>
            <a:ext cx="86868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545336"/>
            <a:ext cx="54864" cy="7955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5910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Policy Service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883664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88366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20240" y="1609344"/>
            <a:ext cx="6812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enforcement at Org/Folder/Project. Critical: disable SA key creation, restrict resource locations, require Shielded VMs, deny internet access without approval, uniform bucket access.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404872"/>
            <a:ext cx="8686800" cy="79552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404872"/>
            <a:ext cx="54864" cy="79552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Command Center Premium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0F4C75">
              <a:alpha val="20000"/>
            </a:srgbClr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432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20240" y="2468880"/>
            <a:ext cx="6812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+ compliance: CIS GCP Foundations, PCI DSS, HIPAA, ISO 27001 assessments. Continuous posture monitoring. Risk dashboard. SLO-style security score per project.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264408"/>
            <a:ext cx="86868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264408"/>
            <a:ext cx="54864" cy="7955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310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/ Recommender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602736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0273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20240" y="3328416"/>
            <a:ext cx="6812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Recommender: remove unused role bindings automatically. Role Recommender: right-size to predefined roles. Firewall Insights: remove unused/shadowed firewall rules.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4123944"/>
            <a:ext cx="8686800" cy="79552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4123944"/>
            <a:ext cx="54864" cy="7955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1696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Deployment via Config Sync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462272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6227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/ GitOps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920240" y="4187952"/>
            <a:ext cx="6812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for Kubernetes config (Anthos Config Management / Config Sync). Terraform for GCP resources with Terraform Validator (gcloud Policy Library). All changes via PR + CI/CD.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F4C75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Domains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Identity  ·  Service ZT  ·  Dynamic Secrets  ·  DSPM  ·  Runtime Detection  ·  Supply Chain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Identity Governance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11704320" cy="274320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58368"/>
            <a:ext cx="54864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658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Machine identities outnumber human users in cloud environments and frequently have excessive privileges.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384048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Discovery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298448"/>
            <a:ext cx="3840480" cy="11704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32588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registry of all service accounts, IAM roles, and workload identities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2532888"/>
            <a:ext cx="3840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56032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discovery of stale or unused identities (IAM Access Advisor, GCP Policy Analyzer)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3767328"/>
            <a:ext cx="3840480" cy="11704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79476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 all machine identities with owning service and team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5001768"/>
            <a:ext cx="3840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502920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 unmanaged or shadow identities via CSPM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60520" y="1005840"/>
            <a:ext cx="3840480" cy="274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Governance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1298448"/>
            <a:ext cx="3840480" cy="11704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132588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Short-lived credentials via STS role assumption or OIDC federation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60520" y="2532888"/>
            <a:ext cx="3840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256032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rotation for any remaining static credentials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60520" y="3767328"/>
            <a:ext cx="3840480" cy="11704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0248" y="379476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and revoke unused roles on a defined schedule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60520" y="5001768"/>
            <a:ext cx="3840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0248" y="502920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 least-privilege via Permission Boundaries and Org Policy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138160" y="1005840"/>
            <a:ext cx="384048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298448"/>
            <a:ext cx="3840480" cy="11704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132588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 on new static credentials issued outside approved process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38160" y="2532888"/>
            <a:ext cx="3840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256032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IAM Access Analyzer: detect privilege escalation paths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138160" y="3767328"/>
            <a:ext cx="3840480" cy="11704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379476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for credential usage from unexpected regions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138160" y="5001768"/>
            <a:ext cx="3840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7888" y="5029200"/>
            <a:ext cx="3611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GuardDuty / Defender CSPM policy violation alerts for machine identities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2880" y="4640580"/>
            <a:ext cx="1170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Machine identities governed with the same rigor as human identities — inventoried, scoped, rotated, and monitored.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Service-to-Service Zero Trust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11704320" cy="274320"/>
          </a:xfrm>
          <a:prstGeom prst="rect">
            <a:avLst/>
          </a:prstGeom>
          <a:solidFill>
            <a:srgbClr val="F4A261">
              <a:alpha val="20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58368"/>
            <a:ext cx="54864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658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Traditional network segmentation does not authenticate east-west service communication. Any compromised service has implicit trust.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5760720" cy="292608"/>
          </a:xfrm>
          <a:prstGeom prst="rect">
            <a:avLst/>
          </a:prstGeom>
          <a:solidFill>
            <a:srgbClr val="0F4C75">
              <a:alpha val="70000"/>
            </a:srgbClr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5156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Plane: SPIFFE/SPIRE  ·  Istiod  ·  Certificate Authority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1344168"/>
            <a:ext cx="274320" cy="320040"/>
          </a:xfrm>
          <a:prstGeom prst="rect">
            <a:avLst/>
          </a:prstGeom>
          <a:solidFill>
            <a:srgbClr val="0F4C75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709928"/>
            <a:ext cx="3200400" cy="123444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09928"/>
            <a:ext cx="320040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09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039112"/>
            <a:ext cx="30175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SPIFFE ID: spiffe://example/svc-a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SVID cert from SPIRE agent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sidecar proxy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20440" y="2148840"/>
            <a:ext cx="237744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8745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 ·  AuthZ Policy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0440" y="2194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auth + encrypted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policy enforced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0" y="1709928"/>
            <a:ext cx="3200400" cy="1234440"/>
          </a:xfrm>
          <a:prstGeom prst="rect">
            <a:avLst/>
          </a:prstGeom>
          <a:solidFill>
            <a:srgbClr val="4285F4">
              <a:alpha val="12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709928"/>
            <a:ext cx="3200400" cy="274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709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039112"/>
            <a:ext cx="30175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SPIFFE ID: spiffe://example/svc-b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SVID cert verified by Envoy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AuthorizationPolicy enforced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200400"/>
            <a:ext cx="11704320" cy="237744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004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37360" y="3200400"/>
            <a:ext cx="9966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or Linkerd service mesh  ·  SPIFFE/SPIRE workload identity  ·  Envoy proxy enforcement  ·  AWS App Mesh  ·  Azure Service Mesh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3547872"/>
            <a:ext cx="5669280" cy="237744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4787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38039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Mutual TLS authentication between all services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096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Identity-based authorization policies (deny-by-default)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 7 traffic inspection and observability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3547872"/>
            <a:ext cx="5669280" cy="2377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54787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Note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38039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Assess control plane reliability, cert lifecycle, and team expertise before mandating mesh across all workloads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0" y="4096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Phased adoption starting with high-risk services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Secrets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11704320" cy="274320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58368"/>
            <a:ext cx="54864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658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Static credentials embedded in applications increase breach impact. A single leaked secret exposes the entire lifetime of a service.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3474720" cy="146304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24128"/>
            <a:ext cx="34747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24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Workload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353312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/ Workload Identity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stored credentials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1719072"/>
            <a:ext cx="438912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3" name="Shape 11"/>
          <p:cNvSpPr/>
          <p:nvPr/>
        </p:nvSpPr>
        <p:spPr>
          <a:xfrm>
            <a:off x="4023360" y="1024128"/>
            <a:ext cx="3474720" cy="1463040"/>
          </a:xfrm>
          <a:prstGeom prst="rect">
            <a:avLst/>
          </a:prstGeom>
          <a:solidFill>
            <a:srgbClr val="0F4C75">
              <a:alpha val="12000"/>
            </a:srgbClr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024128"/>
            <a:ext cx="3474720" cy="274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024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Vault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1353312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Secret Manager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43800" y="1719072"/>
            <a:ext cx="438912" cy="3657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120" y="1024128"/>
            <a:ext cx="3474720" cy="1463040"/>
          </a:xfrm>
          <a:prstGeom prst="rect">
            <a:avLst/>
          </a:prstGeom>
          <a:solidFill>
            <a:srgbClr val="4285F4">
              <a:alpha val="12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1024128"/>
            <a:ext cx="3474720" cy="274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1024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Resource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09560" y="1353312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2624328"/>
            <a:ext cx="11704320" cy="237744"/>
          </a:xfrm>
          <a:prstGeom prst="rect">
            <a:avLst/>
          </a:prstGeom>
          <a:solidFill>
            <a:srgbClr val="2E7D32">
              <a:alpha val="12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62432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lifecycle: dynamically issued at runtime  ·  TTL enforced (minutes to hours)  ·  automatically rotated or expired  ·  never stored in code or environment variables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2990088"/>
            <a:ext cx="2834640" cy="2560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9900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Controls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264408"/>
            <a:ext cx="283464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64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Secrets Manager: auto-rotation via Lambda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82880" y="3630168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30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STS AssumeRole for temporary credentials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2880" y="3995928"/>
            <a:ext cx="283464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9959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Secrets Operator for Kubernetes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36392" y="2990088"/>
            <a:ext cx="2834640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27832" y="29900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Controls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36392" y="3264408"/>
            <a:ext cx="283464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27832" y="3264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Vault: managed references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36392" y="3630168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27832" y="3630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Identity eliminates stored secrets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136392" y="3995928"/>
            <a:ext cx="283464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39959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 Identity / Workload Identity for AKS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089904" y="2990088"/>
            <a:ext cx="2834640" cy="2560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1344" y="29900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Controls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89904" y="3264408"/>
            <a:ext cx="283464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3264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 Manager with versioning + CMEK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89904" y="3630168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1344" y="3630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Workload Identity for GKE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89904" y="3995928"/>
            <a:ext cx="283464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81344" y="39959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HashiCorp Vault GCP auth method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9043416" y="2990088"/>
            <a:ext cx="2834640" cy="256032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34856" y="29900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Pattern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043416" y="3264408"/>
            <a:ext cx="283464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34856" y="3264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Secrets Operator (ESO)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043416" y="3630168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34856" y="3630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Vault Agent Injector (sidecar)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043416" y="3995928"/>
            <a:ext cx="2834640" cy="34747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34856" y="39959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CSI Secret Store driver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Posture Management (DSPM)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11704320" cy="274320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58368"/>
            <a:ext cx="54864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658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Sensitive data (PII, PCI, PHI) is scattered across cloud storage, databases, and data lakes — often without visibility or consistent classification.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384048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298448"/>
            <a:ext cx="38404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29844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scanning of all data stores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258568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25856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S3, GCS, Azure Blob, BigQuery, RDS, Cosmos DB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3218688"/>
            <a:ext cx="38404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21868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Identifies data location, type, and ownership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4178808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417880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Shadow data stores detected via API enumeration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60520" y="1005840"/>
            <a:ext cx="3840480" cy="274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Classify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1298448"/>
            <a:ext cx="38404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129844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PII: names, SSNs, email, addresses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60520" y="2258568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225856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PCI: card numbers, PAN data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60520" y="3218688"/>
            <a:ext cx="38404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0248" y="321868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PHI: health records, diagnosis data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60520" y="4178808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0248" y="417880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Machine learning classifiers + regex patterns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38160" y="1005840"/>
            <a:ext cx="3840480" cy="274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Monitor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1298448"/>
            <a:ext cx="38404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129844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monitoring of encryption status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38160" y="2258568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225856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 exposed or publicly accessible data stores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38160" y="3218688"/>
            <a:ext cx="38404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321868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 on access policy changes on sensitive data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38160" y="4178808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7888" y="417880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Remediation workflows triggered via CSPM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5212080"/>
            <a:ext cx="11704320" cy="2560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5212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1560" y="5212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Macie (S3 PII/PHI discovery)  ·  Microsoft Purview (multi-cloud data governance)  ·  Google Cloud DLP (API + inline scanning)  ·  Wiz DSPM  ·  Varonis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Threat Detection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11704320" cy="274320"/>
          </a:xfrm>
          <a:prstGeom prst="rect">
            <a:avLst/>
          </a:prstGeom>
          <a:solidFill>
            <a:srgbClr val="F4A261">
              <a:alpha val="20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58368"/>
            <a:ext cx="54864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658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Log-based monitoring detects attacks minutes to hours after compromise. Runtime detection identifies malicious behavior inside running workloads.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987552"/>
            <a:ext cx="11704320" cy="226771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987552"/>
            <a:ext cx="54864" cy="226771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0" name="Shape 8"/>
          <p:cNvSpPr/>
          <p:nvPr/>
        </p:nvSpPr>
        <p:spPr>
          <a:xfrm>
            <a:off x="237744" y="987552"/>
            <a:ext cx="11649456" cy="274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Detection (Post-Execution)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" y="130759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calls, CloudTrail events, Kubernetes audit logs analyzed for suspicious patterns after execution.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" y="164592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Anomalous API call sequences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" y="1975104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Failed auth attempts (credential stuffing)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35624" y="164592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 creation in unexpected regions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35624" y="1975104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exfiltration via abnormal API volume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" y="2359152"/>
            <a:ext cx="116494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35915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CloudTrail + GuardDuty  ·  Azure Diagnostic Logs + Sentinel  ·  Cloud Audit Logs + Chronicle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7744" y="2615184"/>
            <a:ext cx="11649456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706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latency: minutes (log ingestion)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270662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Compliance audit trail, behavioral baselines, post-incident forensics.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3364992"/>
            <a:ext cx="11704320" cy="226771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364992"/>
            <a:ext cx="54864" cy="226771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Shape 22"/>
          <p:cNvSpPr/>
          <p:nvPr/>
        </p:nvSpPr>
        <p:spPr>
          <a:xfrm>
            <a:off x="237744" y="3364992"/>
            <a:ext cx="11649456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336499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/ Runtime Detection (In-Execution)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" y="36850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eBPF-based or kernel module agents detect malicious syscalls inside running containers and VMs.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" y="402336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Crypto-mining process 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" y="4352544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 escape via kernel exploits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35624" y="402336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Unexpected binary execution in container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35624" y="4352544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Reverse shell and C2 communication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7744" y="4736592"/>
            <a:ext cx="116494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473659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Falco (CNCF, eBPF/kernel)  ·  AWS GuardDuty Runtime Monitoring  ·  Microsoft Defender for Containers  ·  Sysdig Secure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7744" y="4992624"/>
            <a:ext cx="11649456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50840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latency: seconds (syscall level)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508406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Threats detected during execution rather than after log ingestion.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Supply Chain Security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11704320" cy="274320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58368"/>
            <a:ext cx="54864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658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Compromise of build pipelines can introduce malicious artifacts into production. Once deployed, tampered images are difficult to detect.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2148840" cy="1481328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1005840"/>
            <a:ext cx="21488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0058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1316736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commits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68296" y="1645920"/>
            <a:ext cx="164592" cy="27432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551176" y="1005840"/>
            <a:ext cx="2148840" cy="1481328"/>
          </a:xfrm>
          <a:prstGeom prst="rect">
            <a:avLst/>
          </a:prstGeom>
          <a:solidFill>
            <a:srgbClr val="0F4C75">
              <a:alpha val="12000"/>
            </a:srgbClr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1176" y="1005840"/>
            <a:ext cx="2148840" cy="256032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51176" y="10058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42616" y="1316736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build env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Hermetic builds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18304" y="1645920"/>
            <a:ext cx="164592" cy="27432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8" name="Shape 16"/>
          <p:cNvSpPr/>
          <p:nvPr/>
        </p:nvSpPr>
        <p:spPr>
          <a:xfrm>
            <a:off x="4901184" y="1005840"/>
            <a:ext cx="2148840" cy="1481328"/>
          </a:xfrm>
          <a:prstGeom prst="rect">
            <a:avLst/>
          </a:prstGeom>
          <a:solidFill>
            <a:srgbClr val="4285F4">
              <a:alpha val="12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01184" y="1005840"/>
            <a:ext cx="2148840" cy="2560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0058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Artifact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92624" y="1316736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 / Sigstore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identity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signing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68312" y="1645920"/>
            <a:ext cx="164592" cy="27432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3" name="Shape 21"/>
          <p:cNvSpPr/>
          <p:nvPr/>
        </p:nvSpPr>
        <p:spPr>
          <a:xfrm>
            <a:off x="7251192" y="1005840"/>
            <a:ext cx="2148840" cy="1481328"/>
          </a:xfrm>
          <a:prstGeom prst="rect">
            <a:avLst/>
          </a:prstGeom>
          <a:solidFill>
            <a:srgbClr val="FF9900">
              <a:alpha val="12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51192" y="1005840"/>
            <a:ext cx="2148840" cy="2560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10058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42632" y="1316736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scanning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gate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attached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418320" y="1645920"/>
            <a:ext cx="164592" cy="27432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8" name="Shape 26"/>
          <p:cNvSpPr/>
          <p:nvPr/>
        </p:nvSpPr>
        <p:spPr>
          <a:xfrm>
            <a:off x="9601200" y="1005840"/>
            <a:ext cx="2148840" cy="1481328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1005840"/>
            <a:ext cx="21488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0" y="10058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92640" y="1316736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controller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verified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level checked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2633472"/>
            <a:ext cx="11704320" cy="237744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633472"/>
            <a:ext cx="11521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Maturity: Level 1 (provenance) → Level 2 (hosted build) → Level 3 (hardened build, verified sources)  ·  Target: Level 3 for production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2980944"/>
            <a:ext cx="384048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980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" y="3236976"/>
            <a:ext cx="3840480" cy="3657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2369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Signed container images verified at deployment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" y="3621024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6210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SBOM generated per build artifact (CycloneDX / SPDX)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82880" y="4005072"/>
            <a:ext cx="3840480" cy="3657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005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Dependency vulnerability scanning in CI (Dependabot, Trivy, Grype)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2880" y="4389120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Admission controller rejects unsigned or failed images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160520" y="2980944"/>
            <a:ext cx="3840480" cy="23774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51960" y="2980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Tools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60520" y="3236976"/>
            <a:ext cx="3840480" cy="3657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51960" y="32369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SLSA framework (supply chain levels)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60520" y="3621024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51960" y="36210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Sigstore / Cosign (keyless signing via OIDC)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160520" y="4005072"/>
            <a:ext cx="3840480" cy="3657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4005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in-toto (artifact attestation)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160520" y="4389120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5196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Signer  ·  GitHub Artifact Attestation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138160" y="2980944"/>
            <a:ext cx="384048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0" y="2980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38160" y="3236976"/>
            <a:ext cx="3840480" cy="3657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32369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artifact traceable to a trusted, reproducible build pipeline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138160" y="3621024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0" y="36210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Tampered or unverified images blocked at deploy time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138160" y="4005072"/>
            <a:ext cx="3840480" cy="36576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0" y="4005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chain of custody from source commit to running container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F4C75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Zero Trust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Identity  ·  Workload Identity  ·  Private Connectivity  ·  Policy-as-Code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Zero Trust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685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85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71323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Identity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94183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IdP (Entra ID / Okta) federates to AWS IAM Identity Center, GCP Workload Identity, Azure AD. Consistent MFA + Conditional Access policies.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176479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99339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(AWS), Managed Identity (Azure), Workload Identity Federation (GCP). No long-lived credentials anywhere. Token exchange at workload level.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2788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281635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Connectivity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04495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(AWS), Private Endpoints (Azure), PSC (GCP). Cross-cloud via transit (Aviatrix/AWS TGW). No cloud-to-cloud over public internet.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3840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" y="386791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409651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SCPs (AWS), Azure Policy (Azure), Org Policies (GCP). Centralized policy repo (Terraform / OPA Conftest). CI/CD validation before any deployment.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667512"/>
            <a:ext cx="4206240" cy="2743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6675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Security Stack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987552"/>
            <a:ext cx="4206240" cy="58521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09728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0972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06440" y="1078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 / Prisma Cloud / Defender for Cloud (multi-cloud)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627632"/>
            <a:ext cx="42062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73736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7373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17190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/ Chronicle / Splunk — unified log ingestion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267712"/>
            <a:ext cx="4206240" cy="58521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237744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3774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06440" y="23591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 (multi-cloud) or per-cloud native vaults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2907792"/>
            <a:ext cx="42062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01752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01752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/ GitOps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06440" y="2999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OPA Conftest / Checkov for policy validation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3547872"/>
            <a:ext cx="4206240" cy="58521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365760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6576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/ SSO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06440" y="36393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/ Okta federates to all 3 cloud IAM systems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4187952"/>
            <a:ext cx="42062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429768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2976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PoP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06440" y="42793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Aviatrix / Transit Gateway / ExpressRoute/Direct Connect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Identity &amp; Logging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667512"/>
            <a:ext cx="8686800" cy="25603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751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Federation 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987552"/>
            <a:ext cx="164592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8755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IdP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(Entra ID / Okta)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987552"/>
            <a:ext cx="1508760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98755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Center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74520" y="1325880"/>
            <a:ext cx="59436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011680" y="9326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206240" y="987552"/>
            <a:ext cx="1508760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98755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74520" y="1325880"/>
            <a:ext cx="233172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749040" y="9326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943600" y="987552"/>
            <a:ext cx="1508760" cy="6858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98755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 Fed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74520" y="1325880"/>
            <a:ext cx="40690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86400" y="9326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680960" y="987552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(IRSA / MI / WIF)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680960" y="987552"/>
            <a:ext cx="1097280" cy="685800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1920240"/>
            <a:ext cx="8686800" cy="25603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1920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 Architecture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2221992"/>
            <a:ext cx="1920240" cy="548640"/>
          </a:xfrm>
          <a:prstGeom prst="rect">
            <a:avLst/>
          </a:prstGeom>
          <a:solidFill>
            <a:srgbClr val="FF9900">
              <a:alpha val="13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+ Config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188720" y="2770632"/>
            <a:ext cx="0" cy="32004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67712" y="2221992"/>
            <a:ext cx="1920240" cy="548640"/>
          </a:xfrm>
          <a:prstGeom prst="rect">
            <a:avLst/>
          </a:prstGeom>
          <a:solidFill>
            <a:srgbClr val="0078D4">
              <a:alpha val="13000"/>
            </a:srgbClr>
          </a:solidFill>
          <a:ln w="1016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+ Sentinel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27832" y="2770632"/>
            <a:ext cx="0" cy="32004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06824" y="2221992"/>
            <a:ext cx="1920240" cy="548640"/>
          </a:xfrm>
          <a:prstGeom prst="rect">
            <a:avLst/>
          </a:prstGeom>
          <a:solidFill>
            <a:srgbClr val="4285F4">
              <a:alpha val="13000"/>
            </a:srgbClr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Logs + SCC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66944" y="2770632"/>
            <a:ext cx="0" cy="32004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45936" y="2221992"/>
            <a:ext cx="1920240" cy="548640"/>
          </a:xfrm>
          <a:prstGeom prst="rect">
            <a:avLst/>
          </a:prstGeom>
          <a:solidFill>
            <a:srgbClr val="37474F">
              <a:alpha val="13000"/>
            </a:srgbClr>
          </a:solidFill>
          <a:ln w="10160">
            <a:solidFill>
              <a:srgbClr val="3747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+ Network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06056" y="2770632"/>
            <a:ext cx="0" cy="32004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3090672"/>
            <a:ext cx="7223760" cy="530352"/>
          </a:xfrm>
          <a:prstGeom prst="rect">
            <a:avLst/>
          </a:prstGeom>
          <a:solidFill>
            <a:srgbClr val="C62828">
              <a:alpha val="13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3090672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SIEM  (Sentinel  /  Chronicle  /  Splunk Cloud)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26280" y="3621024"/>
            <a:ext cx="0" cy="292608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0" y="3913632"/>
            <a:ext cx="3931920" cy="438912"/>
          </a:xfrm>
          <a:prstGeom prst="rect">
            <a:avLst/>
          </a:prstGeom>
          <a:solidFill>
            <a:srgbClr val="2E7D32">
              <a:alpha val="13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391363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 /  Detection Engineering  /  Incident Response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6282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for Cloud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Cloud-specific adversary techniques and mitigations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for Cloud — Key Techniques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658368"/>
            <a:ext cx="91440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" y="658368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658368"/>
            <a:ext cx="164592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658368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658368"/>
            <a:ext cx="118872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9776" y="65836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658368"/>
            <a:ext cx="411480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68496" y="658368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46720" y="658368"/>
            <a:ext cx="91440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658368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914400"/>
            <a:ext cx="9144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914400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T1078.004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97280" y="914400"/>
            <a:ext cx="16459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91440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Accts: Cloud Accts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0" y="914400"/>
            <a:ext cx="11887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79776" y="91440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 / Persistence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31920" y="914400"/>
            <a:ext cx="41148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68496" y="914400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everywhere; anomalous API call detection; AWS CloudTrail + GuardDuty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46720" y="914400"/>
            <a:ext cx="9144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914400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AWS/Azure/GCP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1426464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" y="1426464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T1530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97280" y="1426464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856" y="1426464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Cloud Storage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0" y="1426464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79776" y="1426464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31920" y="1426464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68496" y="1426464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Service Controls; S3 Block Public Access; private endpoints only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46720" y="1426464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83296" y="1426464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AWS/Azure/GCP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" y="1938528"/>
            <a:ext cx="9144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" y="193852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T1537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97280" y="1938528"/>
            <a:ext cx="16459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33856" y="193852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Cloud Account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0" y="1938528"/>
            <a:ext cx="11887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79776" y="1938528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31920" y="1938528"/>
            <a:ext cx="41148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68496" y="1938528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policies: deny cross-account without PrincipalOrgID condition; DLP monitoring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046720" y="1938528"/>
            <a:ext cx="9144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83296" y="193852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AWS/Azure/GCP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82880" y="2450592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" y="245059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T1098.001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97280" y="2450592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33856" y="245059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Cloud Credentials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0" y="2450592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79776" y="2450592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931920" y="2450592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68496" y="2450592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key creation blocked (Org Policy); Access Analyzer; regular key audit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046720" y="2450592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83296" y="245059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AWS/Azure/GCP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82880" y="2962656"/>
            <a:ext cx="9144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456" y="2962656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T1190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097280" y="2962656"/>
            <a:ext cx="16459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33856" y="296265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Public-Facing App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43200" y="2962656"/>
            <a:ext cx="11887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79776" y="2962656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931920" y="2962656"/>
            <a:ext cx="41148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68496" y="2962656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(AWS WAF / Azure WAF / Cloud Armor); private-by-default; Inspector/Defender scanning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046720" y="2962656"/>
            <a:ext cx="9144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962656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AWS/Azure/GCP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82880" y="3474720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9456" y="3474720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T1552.005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097280" y="3474720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33856" y="347472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Instance Metadata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743200" y="3474720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79776" y="347472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Access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931920" y="3474720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968496" y="3474720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IMDSv2 required (AWS); block IMDS from containers; SSRF protections in WAF rules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046720" y="3474720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83296" y="3474720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AWS/Azure/GCP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82880" y="3986784"/>
            <a:ext cx="9144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9456" y="3986784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T1136.003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097280" y="3986784"/>
            <a:ext cx="16459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33856" y="3986784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Account Creation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743200" y="3986784"/>
            <a:ext cx="11887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79776" y="3986784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931920" y="3986784"/>
            <a:ext cx="41148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968496" y="3986784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SCPs: deny IAM user creation; alert on CreateUser/CreateServiceAccount events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046720" y="3986784"/>
            <a:ext cx="91440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83296" y="3986784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AWS/Azure/GCP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182880" y="4498848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9456" y="44988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T1580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097280" y="449884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33856" y="44988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Discovery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2743200" y="4498848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79776" y="4498848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931920" y="4498848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968496" y="4498848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Describe/List without session conditions; AWS Access Analyzer unused access; GuardDuty recon alerts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8046720" y="4498848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083296" y="44988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AWS/Azure/GCP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E7D3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 Mapping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mapping to AWS  ·  Azure  ·  GCP native services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 Rev 5 — Cloud Control Mapping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658368"/>
            <a:ext cx="64008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" y="65836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658368"/>
            <a:ext cx="123444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658368"/>
            <a:ext cx="1161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658368"/>
            <a:ext cx="242316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658368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658368"/>
            <a:ext cx="242316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658368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658368"/>
            <a:ext cx="242316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658368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914400"/>
            <a:ext cx="64008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914400"/>
            <a:ext cx="5669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22960" y="914400"/>
            <a:ext cx="123444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914400"/>
            <a:ext cx="1161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Mgmt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057400" y="914400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93976" y="914400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Identity Center + Access Analyzer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480560" y="914400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17136" y="914400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PIM access reviews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903720" y="914400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0296" y="914400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Recommender + Policy Analyzer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82880" y="1330452"/>
            <a:ext cx="640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" y="1330452"/>
            <a:ext cx="5669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22960" y="1330452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1330452"/>
            <a:ext cx="1161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Enforcement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057400" y="1330452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93976" y="1330452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SCPs + Permission Boundaries + S3 Bucket Policies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80560" y="1330452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1330452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RBAC + Conditional Access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903720" y="1330452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0296" y="1330452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Conditions + VPC Service Controls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880" y="1746504"/>
            <a:ext cx="64008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" y="1746504"/>
            <a:ext cx="5669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AC-17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22960" y="1746504"/>
            <a:ext cx="123444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" y="1746504"/>
            <a:ext cx="1161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057400" y="1746504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93976" y="1746504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Session Manager (no SSH/RDP)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80560" y="1746504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17136" y="1746504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Bastion + IAP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903720" y="1746504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0296" y="1746504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 Tunneling + BeyondCorp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" y="2162556"/>
            <a:ext cx="640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" y="2162556"/>
            <a:ext cx="5669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AU-2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22960" y="2162556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" y="2162556"/>
            <a:ext cx="1161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Logging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057400" y="2162556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93976" y="2162556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(org trail) + VPC Flow Logs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480560" y="2162556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17136" y="2162556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 + NSG Flow Logs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903720" y="2162556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0296" y="2162556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Logs + VPC Flow Logs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82880" y="2578608"/>
            <a:ext cx="64008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456" y="2578608"/>
            <a:ext cx="5669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AU-9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22960" y="2578608"/>
            <a:ext cx="123444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" y="2578608"/>
            <a:ext cx="1161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Protection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057400" y="2578608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93976" y="2578608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log validation + S3 Object Lock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480560" y="2578608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17136" y="2578608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storage + Sentinel retention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903720" y="2578608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40296" y="2578608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lock + Assured Workloads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2880" y="2994660"/>
            <a:ext cx="640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9456" y="2994660"/>
            <a:ext cx="5669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IA-5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22960" y="2994660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9536" y="2994660"/>
            <a:ext cx="1161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Management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057400" y="2994660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093976" y="2994660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+ no IAM user keys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480560" y="2994660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17136" y="2994660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+ managed identity (no secrets)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903720" y="2994660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40296" y="2994660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 + no SA keys (Org Policy)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82880" y="3410712"/>
            <a:ext cx="64008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9456" y="3410712"/>
            <a:ext cx="5669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SC-7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822960" y="3410712"/>
            <a:ext cx="123444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9536" y="3410712"/>
            <a:ext cx="1161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Protection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057400" y="3410712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093976" y="3410712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Security Groups + NACLs + WAF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480560" y="3410712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17136" y="3410712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 + Azure Firewall + Application Gateway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903720" y="3410712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40296" y="3410712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Firewall + Cloud Armor + Cloud IDS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82880" y="3826764"/>
            <a:ext cx="640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9456" y="3826764"/>
            <a:ext cx="5669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SC-8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822960" y="3826764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9536" y="3826764"/>
            <a:ext cx="1161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Integrity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2057400" y="3826764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093976" y="3826764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min on all endpoints; enforce-HTTPS S3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480560" y="3826764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17136" y="3826764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min version policy on App Service + Storage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903720" y="3826764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940296" y="3826764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enforced via Org Policy + load balancer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182880" y="4242816"/>
            <a:ext cx="64008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19456" y="4242816"/>
            <a:ext cx="5669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SC-28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822960" y="4242816"/>
            <a:ext cx="123444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9536" y="4242816"/>
            <a:ext cx="1161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At-Rest Protection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2057400" y="4242816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093976" y="4242816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CMKs on all EBS/S3/RDS/DynamoDB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4480560" y="4242816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17136" y="4242816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CMK on all storage and SQL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6903720" y="4242816"/>
            <a:ext cx="2423160" cy="39319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40296" y="4242816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KMS CMEK on GCS/BigQuery/Spanner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182880" y="4658868"/>
            <a:ext cx="640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" y="4658868"/>
            <a:ext cx="5669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SI-3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822960" y="4658868"/>
            <a:ext cx="1234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59536" y="4658868"/>
            <a:ext cx="11612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Code Prot.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057400" y="4658868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093976" y="4658868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+ Inspector + Macie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4480560" y="4658868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517136" y="4658868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Plans (all workloads)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6903720" y="4658868"/>
            <a:ext cx="2423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40296" y="4658868"/>
            <a:ext cx="23500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ETD + CTD + Artifact Registry scanning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4A26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approach: 0–30 days  ·  30–90 days  ·  90–180 days  ·  180 days+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658368"/>
            <a:ext cx="4297680" cy="202996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658368"/>
            <a:ext cx="429768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658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658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30 days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00584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CloudTrail / Activity Log / Cloud Audit Logs (all accounts)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33502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GuardDuty / Defender for Cloud / SCC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166420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 public access on all storage accounts (policy + manual)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199339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 MFA for all human identities — no exceptions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32257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Rotate or disable all long-lived IAM keys and SA keys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658368"/>
            <a:ext cx="4297680" cy="202996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658368"/>
            <a:ext cx="4297680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658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658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90 days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Migrate to Managed Identity / IRSA / Workload Identity Federation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92040" y="133502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private endpoints for all PaaS services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166420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CSPM (Wiz or native: Security Hub / Defender / SCC)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199339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CMEK for all data stores (KMS / Key Vault / Cloud KMS)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232257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Establish centralized SIEM ingestion with all cloud log sources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2798064"/>
            <a:ext cx="4297680" cy="202996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798064"/>
            <a:ext cx="4297680" cy="320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7980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27980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– 180 days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14553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SCPs / Azure Policy / Org Policy guardrail baseline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" y="34747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PIM / JIT elevation for all privileged roles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380390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 IaC (Terraform) with policy-as-code scanning (Checkov)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413308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Conduct first cloud penetration test per provider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0040" y="446227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 remediation for critical Config Rule violations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798064"/>
            <a:ext cx="4297680" cy="202996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798064"/>
            <a:ext cx="429768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7980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27980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days+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14553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multi-cloud SIEM with detection-as-code (YARA-L / KQL)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92040" y="34747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VPC Service Controls perimeter (GCP) + cross-account isolation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92040" y="380390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 maturity: right-size all roles to least privilege via recommenders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92040" y="413308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compliance: CIS Benchmark scheduled reporting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92040" y="446227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 team exercises: cloud-specific attack scenarios (MITRE ATT&amp;CK Cloud)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F4C75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 ·  Attack Paths  ·  Metrics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16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Governance  ·  Attack Path Analysis  ·  Operational Security Metrics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Architecture  |  Eran Shpigelman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874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and LLM Governance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11704320" cy="274320"/>
          </a:xfrm>
          <a:prstGeom prst="rect">
            <a:avLst/>
          </a:prstGeom>
          <a:solidFill>
            <a:srgbClr val="0F4C75">
              <a:alpha val="12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introduce new attack surfaces not covered by traditional cloud security controls. LLM applications require a dedicated security layer.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374904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298448"/>
            <a:ext cx="3749040" cy="1170432"/>
          </a:xfrm>
          <a:prstGeom prst="rect">
            <a:avLst/>
          </a:prstGeom>
          <a:solidFill>
            <a:srgbClr val="C62828">
              <a:alpha val="8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35331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159105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user input hijacks model behavior or bypasses guardrails. Indirect injection via external content retrieved by the model.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2532888"/>
            <a:ext cx="3749040" cy="1170432"/>
          </a:xfrm>
          <a:prstGeom prst="rect">
            <a:avLst/>
          </a:prstGeom>
          <a:solidFill>
            <a:srgbClr val="C62828">
              <a:alpha val="8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5877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Leakage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282549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data, context window, or retrieved documents contain PII, credentials, or proprietary data returned to unauthorized users.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3767328"/>
            <a:ext cx="3749040" cy="1170432"/>
          </a:xfrm>
          <a:prstGeom prst="rect">
            <a:avLst/>
          </a:prstGeom>
          <a:solidFill>
            <a:srgbClr val="C62828">
              <a:alpha val="8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82219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Supply Chain Manipulation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" y="405993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model weights or fine-tuning data. Dependency compromise in AI libraries or vector stores.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5001768"/>
            <a:ext cx="3749040" cy="1170432"/>
          </a:xfrm>
          <a:prstGeom prst="rect">
            <a:avLst/>
          </a:prstGeom>
          <a:solidFill>
            <a:srgbClr val="C62828">
              <a:alpha val="8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505663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 Risk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" y="529437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with tool access (file system, APIs, databases) can perform destructive actions if authorization boundaries are not enforced.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0520" y="1005840"/>
            <a:ext cx="3749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1005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60520" y="1298448"/>
            <a:ext cx="3749040" cy="1170432"/>
          </a:xfrm>
          <a:prstGeom prst="rect">
            <a:avLst/>
          </a:prstGeom>
          <a:solidFill>
            <a:srgbClr val="1565C0">
              <a:alpha val="8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0248" y="135331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API Access Control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70248" y="159105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 on model inference endpoints. Audit logs for all inference requests. Rate limiting and token quotas per identity.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60520" y="2532888"/>
            <a:ext cx="3749040" cy="1170432"/>
          </a:xfrm>
          <a:prstGeom prst="rect">
            <a:avLst/>
          </a:prstGeom>
          <a:solidFill>
            <a:srgbClr val="1565C0">
              <a:alpha val="8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0248" y="25877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Filtering and Output Monitoring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70248" y="282549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validation: detect injection patterns. Output scanning for PII, credentials, code. Guardrails enforced at inference layer.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60520" y="3767328"/>
            <a:ext cx="3749040" cy="1170432"/>
          </a:xfrm>
          <a:prstGeom prst="rect">
            <a:avLst/>
          </a:prstGeom>
          <a:solidFill>
            <a:srgbClr val="1565C0">
              <a:alpha val="8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0248" y="382219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 Team Testing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70248" y="405993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 testing (jailbreaks, role-play attacks). MITRE ATLAS technique library. Automated regression suite pre-deployment.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60520" y="5001768"/>
            <a:ext cx="3749040" cy="1170432"/>
          </a:xfrm>
          <a:prstGeom prst="rect">
            <a:avLst/>
          </a:prstGeom>
          <a:solidFill>
            <a:srgbClr val="1565C0">
              <a:alpha val="8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0248" y="505663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for AI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70248" y="529437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lineage and access audit. Sensitive data excluded from training datasets. DSPM scanning applied to AI data pipelines.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38160" y="1005840"/>
            <a:ext cx="3840480" cy="256032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1005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38160" y="1298448"/>
            <a:ext cx="3840480" cy="11704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13533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LLM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29600" y="1591056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LLM01-LLM10: prompt injection, insecure output, training data poisoning, model DoS, excessive agency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138160" y="2532888"/>
            <a:ext cx="3840480" cy="11704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25877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229600" y="2825496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Govern, Map, Measure, Manage: organizational risk framework for AI system lifecycle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138160" y="3767328"/>
            <a:ext cx="3840480" cy="11704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38221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29600" y="4059936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ML threat matrix: reconnaissance through impact techniques targeting AI systems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138160" y="5001768"/>
            <a:ext cx="3840480" cy="1170432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5056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29600" y="5294376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management system standard: governance, risk, and lifecycle management for AI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Attack Path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11704320" cy="274320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58368"/>
            <a:ext cx="54864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658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Security misconfigurations create hidden attack chains. Individual findings look low-risk; graph analysis reveals exploitable paths to critical data.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1920240" cy="1371600"/>
          </a:xfrm>
          <a:prstGeom prst="rect">
            <a:avLst/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192024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335024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key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67128" y="1627632"/>
            <a:ext cx="402336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Shape 11"/>
          <p:cNvSpPr/>
          <p:nvPr/>
        </p:nvSpPr>
        <p:spPr>
          <a:xfrm>
            <a:off x="2587752" y="1005840"/>
            <a:ext cx="1920240" cy="137160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005840"/>
            <a:ext cx="192024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79192" y="1335024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API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IMDSv1 abuse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26280" y="1627632"/>
            <a:ext cx="402336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Shape 16"/>
          <p:cNvSpPr/>
          <p:nvPr/>
        </p:nvSpPr>
        <p:spPr>
          <a:xfrm>
            <a:off x="4946904" y="1005840"/>
            <a:ext cx="1920240" cy="137160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46904" y="1005840"/>
            <a:ext cx="192024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6904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38344" y="1335024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PassRole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AssumeRole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perms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85432" y="1627632"/>
            <a:ext cx="402336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Shape 21"/>
          <p:cNvSpPr/>
          <p:nvPr/>
        </p:nvSpPr>
        <p:spPr>
          <a:xfrm>
            <a:off x="7306056" y="1005840"/>
            <a:ext cx="1920240" cy="1371600"/>
          </a:xfrm>
          <a:prstGeom prst="rect">
            <a:avLst/>
          </a:prstGeom>
          <a:solidFill>
            <a:srgbClr val="0F4C75">
              <a:alpha val="15000"/>
            </a:srgbClr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6056" y="1005840"/>
            <a:ext cx="1920240" cy="274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06056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97496" y="1335024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chains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gaps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244584" y="1627632"/>
            <a:ext cx="402336" cy="27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Shape 26"/>
          <p:cNvSpPr/>
          <p:nvPr/>
        </p:nvSpPr>
        <p:spPr>
          <a:xfrm>
            <a:off x="9665208" y="1005840"/>
            <a:ext cx="1920240" cy="1371600"/>
          </a:xfrm>
          <a:prstGeom prst="rect">
            <a:avLst/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65208" y="1005840"/>
            <a:ext cx="192024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65208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56648" y="1335024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copy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dump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2514600"/>
            <a:ext cx="11704320" cy="256032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51460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Graph-based analysis across identities, resources, and permissions — revealing exploitable chains invisible to individual finding scanners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2862072"/>
            <a:ext cx="38404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862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3136392"/>
            <a:ext cx="384048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136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Privilege escalation path detection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3538728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5387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Cross-account lateral movement mapping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" y="3941064"/>
            <a:ext cx="384048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9410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 relationship and trust analysis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2880" y="434340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343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asset blast radius estimation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2880" y="4745736"/>
            <a:ext cx="384048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457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Misconfiguration attack chain visualization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60520" y="2862072"/>
            <a:ext cx="3840480" cy="2560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51960" y="2862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60520" y="3136392"/>
            <a:ext cx="384048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51960" y="3136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Wiz Security Graph (cloud-native CNAPP)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160520" y="3538728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35387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Defender attack path analysis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60520" y="3941064"/>
            <a:ext cx="384048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51960" y="39410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BloodHound Enterprise (identity attack paths)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160520" y="434340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51960" y="4343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IAM Access Analyzer (AWS privilege escalation)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160520" y="4745736"/>
            <a:ext cx="384048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51960" y="47457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Orca Security attack surface coverage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138160" y="2862072"/>
            <a:ext cx="38404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0" y="2862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138160" y="3136392"/>
            <a:ext cx="384048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0" y="3136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team focuses remediation on paths that matter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138160" y="3538728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0" y="35387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prioritization based on exploitability, not CVSS score alone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138160" y="3941064"/>
            <a:ext cx="384048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29600" y="39410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Cloud-specific attack scenarios validated before production deploy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138160" y="434340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0" y="4343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monitoring for new paths introduced by infra changes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Security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must produce measurable outcomes. These metrics provide objective measurement of cloud security maturity.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2880" y="932688"/>
            <a:ext cx="51206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207008"/>
            <a:ext cx="3474720" cy="21945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070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0" y="1207008"/>
            <a:ext cx="1554480" cy="21945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2070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444752"/>
            <a:ext cx="347472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444752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using workload identity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0" y="1444752"/>
            <a:ext cx="155448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14447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1865376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86537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accounts with MFA enforced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0" y="1865376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86537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2286000"/>
            <a:ext cx="347472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with wildcard (*) in production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2286000"/>
            <a:ext cx="155448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22860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2706624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706624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revoke departed user access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0" y="2706624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12464" y="270662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hours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932688"/>
            <a:ext cx="512064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9326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Response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1207008"/>
            <a:ext cx="3474720" cy="21945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2070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601200" y="1207008"/>
            <a:ext cx="1554480" cy="21945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74352" y="12070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1444752"/>
            <a:ext cx="347472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1444752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CSPM findings unresolved &gt; 7 days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601200" y="1444752"/>
            <a:ext cx="155448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56064" y="14447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26480" y="1865376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186537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 (MTTD) incidents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601200" y="1865376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56064" y="186537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hour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26480" y="2286000"/>
            <a:ext cx="347472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2286000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respond (MTTR) critical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601200" y="2286000"/>
            <a:ext cx="155448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56064" y="22860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hours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26480" y="2706624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2706624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coverage all accounts + regions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601200" y="2706624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56064" y="270662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82880" y="3090672"/>
            <a:ext cx="5120640" cy="256032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0906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" y="3364992"/>
            <a:ext cx="3474720" cy="21945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" y="33649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0" y="3364992"/>
            <a:ext cx="1554480" cy="21945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30752" y="3364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82880" y="3602736"/>
            <a:ext cx="347472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360273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storage buckets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57600" y="3602736"/>
            <a:ext cx="155448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12464" y="360273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82880" y="4023360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4023360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stores without encryption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57600" y="4023360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12464" y="402336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82880" y="4443984"/>
            <a:ext cx="347472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032" y="4443984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found in code repositories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0" y="4443984"/>
            <a:ext cx="155448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12464" y="444398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82880" y="4864608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6032" y="4864608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DSPM scan coverage production stores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657600" y="4864608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12464" y="48646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126480" y="3090672"/>
            <a:ext cx="51206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0" y="30906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Build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26480" y="3364992"/>
            <a:ext cx="3474720" cy="21945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99632" y="33649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601200" y="3364992"/>
            <a:ext cx="1554480" cy="21945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674352" y="3364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126480" y="3602736"/>
            <a:ext cx="347472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99632" y="360273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pipelines meeting SLSA Level 3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9601200" y="3602736"/>
            <a:ext cx="155448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656064" y="360273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target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126480" y="4023360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99632" y="4023360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signature verification at deploy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601200" y="4023360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656064" y="402336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126480" y="4443984"/>
            <a:ext cx="347472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199632" y="4443984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changes scanned before merge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601200" y="4443984"/>
            <a:ext cx="1554480" cy="402336"/>
          </a:xfrm>
          <a:prstGeom prst="rect">
            <a:avLst/>
          </a:prstGeom>
          <a:solidFill>
            <a:srgbClr val="F5F6FA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656064" y="444398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126480" y="4864608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99632" y="4864608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generated per production service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601200" y="4864608"/>
            <a:ext cx="1554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656064" y="48646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182880" y="4741164"/>
            <a:ext cx="1170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without named owners and remediation SLAs are decorative. Assign ownership per metric and integrate into quarterly security reviews.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2194560"/>
            <a:ext cx="9034272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the new perimeter.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identity, JIT access, and Conditional Access eliminate the implicit trust model.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default — always.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endpoints, no public IPs, network segmentation. Public internet access requires explicit justification.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208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encryption everywhere.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494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keys on all data stores. Secrets never in environment variables.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5511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enforces guardrails.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79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SCPs, Azure Policy, and Org Policies prevent misconfigurations before they reach production.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0815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at cloud-native scale.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3101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GuardDuty, Defender for Cloud, SCC — always on, centralized, feeding a unified SIEM.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841248"/>
            <a:ext cx="4251960" cy="256032"/>
          </a:xfrm>
          <a:prstGeom prst="rect">
            <a:avLst/>
          </a:prstGeom>
          <a:solidFill>
            <a:srgbClr val="1565C0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8412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Referenced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SP 800-53 Rev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MITRE ATT&amp;CK for Cloud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87452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CIS Benchmarks (AWS/Azure/GCP)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24028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Security Hub FSBP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6060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CAF Security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97180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GCP Security Foundations Blueprint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33756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AI RMF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70332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SLSA Supply Chain Framework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6863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Eran Shpigelman  ·  eransh10@gmail.com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 Architecture Best Practices</dc:title>
  <dc:subject>AWS, Azure, GCP Security Architecture Reference</dc:subject>
  <dc:creator>Eran Shpigelman</dc:creator>
  <cp:lastModifiedBy>Eran Shpigelman</cp:lastModifiedBy>
  <cp:revision>1</cp:revision>
  <dcterms:created xsi:type="dcterms:W3CDTF">2026-03-11T02:21:58Z</dcterms:created>
  <dcterms:modified xsi:type="dcterms:W3CDTF">2026-03-11T02:21:58Z</dcterms:modified>
</cp:coreProperties>
</file>