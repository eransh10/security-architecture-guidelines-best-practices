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821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PAM as a critical security discipline addressing privileged credential abuse, which is involved in most major breaches. Set context: this deck covers architecture, Zero Trust integration, MITRE ATT&amp;CK mappings, and tooling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agenda. Emphasize this is a technical reference, not a sales pitch. Cover each area with enough depth for architects to make tooling and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01: Executive Summary. Transition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privileged credential abuse is the most common high-impact attack vector. PAM is not optional for any organization with compliance requirements or critical infrastructure. Stats from Forrester, IBM, Verizon DBIR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02: Core PAM Concepts. Transition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concept in 30 seconds. The key insight: ZSP + JIT together mean there are NO persistent privileged accounts. An attacker who steals a credential gets nothing if there is no standing access to steal. This is the foundational design principle.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03: Reference Architecture. Transition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overview: All privileged access flows through the PAM Core Platform — never directly to target resources. The Credential Vault holds all secrets. PSM records sessions. JIT/ZSP Engine grants time-boxed access. PEDM handles endpoint privilege elevation. Secrets Management covers service-account and API key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04: Zero Trust Integration. Transition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Trust and PAM are complementary, not competing. PAM IS the access control layer that enforces Zero Trust for privileged users. Key integration: PAM sessions should be validated by the Zero Trust Policy Engine on every request, not just at session initiation. Cite NIST SP 800-207 section 2.1.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05: MITRE ATT&amp;CK Mapping. Transition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top privileged access techniques in MITRE ATT&amp;CK. Emphasize Pass the Hash (T1550.002) and Pass the Ticket (T1550.003) are the most frequently observed in ransomware kill chains. PAM mitigations map to: vaulting (reduces exposed credentials), PEDM (limits local admin), PSM (detects anomalous session behavior), JIT (no standing access to steal).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06: Deployment Patterns. Transition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main patterns. Most enterprises are hybrid: on-prem PAM for legacy, SaaS for new workloads, cloud-native tools for IaaS/PaaS. Key design decision: where does the vault sit relative to your network boundary? For regulated industries, the on-prem model keeps credentials under your control. SaaS reduces ops cost dramatically but requires outbound connectivity and trust in the vendor's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07: Vendor Landscape. Transition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Gartner Magic Quadrant 2023-2024: CyberArk and BeyondTrust are Leaders. Delinea is a Challenger. HashiCorp Vault is not a traditional PAM but essential for DevSecOps secrets. Entra PIM is not a standalone PAM but is required for Microsoft cloud environments. Teleport is gaining traction in cloud-native shops that want certificate-based access without a traditional vault.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08: NIST Control Mapping. Transition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SP 800-53 Rev 5 controls directly addressed by PAM. AC-6 (Least Privilege) and AC-2 (Account Management) are the core controls. Note: PAM does not satisfy these controls alone — it is a key technical control within a broader program that also includes policy, governance, and operational procedures. AC-17 and IA-2(1) are often flagged in FedRAMP and DoD assessments as requiring explicit PAM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09: Implementation Roadmap. Transition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Realistic timeline: Phase 1 (discovery + foundation) typically takes 3 months and reveals far more privileged accounts than expected — average enterprise has 3-5x more privileged accounts than IT believes. Don't skip Phase 1. Phase 3 (JIT/ZSP) is the biggest change-management challenge — it affects developer and admin workflows significantly.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Leave audience with the mental model: PAM = eliminating standing privilege. The attacker's job gets exponentially harder when there are no static admin credentials to steal. Every PAM control reduces dwell time and blast radius. Questions to anticipate: 'How long does a PAM deployment take?' — 6-12 months for Phase 1-2. 'What's the ROI?' — Reduced breach likelihood and compliance evidence avoids audit findings that can cost more than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Management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05840" cy="457200"/>
          </a:xfrm>
          <a:prstGeom prst="rect">
            <a:avLst/>
          </a:prstGeom>
          <a:solidFill>
            <a:srgbClr val="E8A020"/>
          </a:solidFill>
          <a:ln/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37360" y="21488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Reference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8046720" cy="0"/>
          </a:xfrm>
          <a:prstGeom prst="line">
            <a:avLst/>
          </a:prstGeom>
          <a:noFill/>
          <a:ln w="12700">
            <a:solidFill>
              <a:srgbClr val="8A9C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800-53 Rev 5  |  NIST SP 800-207 (Zero Trust)  |  MITRE ATT&amp;CK Enterprise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Eran Shpigelman  |  Version 1.0  |  March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9509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Problem Statement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609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PAM Concepts &amp; Terminology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231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2677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Architecture &amp; Components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889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Integration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547872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584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Techniques &amp; Mitigations (MITRE ATT&amp;CK)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9240" y="9509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Patterns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572768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1609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Vendor Landscape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231136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231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22677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800-53 Control Mapping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889504"/>
            <a:ext cx="411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2889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9240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73152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0" b="1" dirty="0">
                <a:solidFill>
                  <a:srgbClr val="2C3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32004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2468880"/>
            <a:ext cx="6217920" cy="0"/>
          </a:xfrm>
          <a:prstGeom prst="line">
            <a:avLst/>
          </a:prstGeom>
          <a:noFill/>
          <a:ln w="6350">
            <a:solidFill>
              <a:srgbClr val="8A9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542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PAM is the highest-priority security control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56032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involve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credential abuse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Forrester Research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154680" y="822960"/>
            <a:ext cx="256032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54680" y="868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15468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campaigns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4680" y="2103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X-Force 2024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89320" y="822960"/>
            <a:ext cx="256032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89320" y="868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$4.88M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98932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breach (2024)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103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Data Breach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25146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PAM Is Non-Negotiable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850392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90779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accounts operate with elevated trust. Compromise of a single admin credential can enable enterprise-wide lateral movement, data exfiltration, and persistent backdoors.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338328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don't break in — they log in. Once a privileged credential is captured (via phishing, keylogging, or LSASS dump), conventional perimeter defenses provide no protection.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" y="3858768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enforces Zero Standing Privileges (ZSP), Just-In-Time (JIT) access, session recording, and credential vaulting — reducing the attack surface from always-on to never-unless-needed.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4334256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is a required control in PCI DSS 4.0 (Req 8.2, 8.6), HIPAA, SOX ITGC, and maps directly to NIST SP 800-53 AC-2, AC-6, IA-2.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73152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0" b="1" dirty="0">
                <a:solidFill>
                  <a:srgbClr val="2C3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32004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PAM Concepts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2468880"/>
            <a:ext cx="6217920" cy="0"/>
          </a:xfrm>
          <a:prstGeom prst="line">
            <a:avLst/>
          </a:prstGeom>
          <a:noFill/>
          <a:ln w="6350">
            <a:solidFill>
              <a:srgbClr val="8A9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542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principles: ZSP, JIT, vaulting, PSM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PAM Concepts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6517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86868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1615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only the minimum access rights required for a task. No user or service should have more permissions than needed.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72968" y="8686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72968" y="868680"/>
            <a:ext cx="26517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86868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Standing Privileges (ZSP)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64408" y="121615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elevated access. Privileged rights are granted only when needed (JIT) and revoked immediately after.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71616" y="8686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71616" y="868680"/>
            <a:ext cx="26517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44768" y="86868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(JIT) Access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63056" y="121615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sessions are provisioned on-demand with a defined TTL (e.g., 4 hours). Eliminates always-on admin accounts.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26517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88036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Vaulting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22783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and SSH keys are stored encrypted in a vault. Credentials are rotated automatically and never revealed in plaintext.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72968" y="28803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72968" y="2880360"/>
            <a:ext cx="26517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46120" y="288036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Session Mgmt (PSM)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64408" y="322783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privileged sessions are proxied, recorded, and can be terminated in real-time. Provides full audit trail for forensics.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71616" y="28803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71616" y="2880360"/>
            <a:ext cx="26517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44768" y="288036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63056" y="322783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Machine-to-machine credentials (API keys, service account passwords) are managed programmatically, not hardcoded in config files.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73152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0" b="1" dirty="0">
                <a:solidFill>
                  <a:srgbClr val="2C3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32004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2468880"/>
            <a:ext cx="6217920" cy="0"/>
          </a:xfrm>
          <a:prstGeom prst="line">
            <a:avLst/>
          </a:prstGeom>
          <a:noFill/>
          <a:ln w="6350">
            <a:solidFill>
              <a:srgbClr val="8A9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542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data flows, and design decisions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Reference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8778240" cy="4160520"/>
          </a:xfrm>
          <a:prstGeom prst="rect">
            <a:avLst/>
          </a:prstGeom>
          <a:solidFill>
            <a:srgbClr val="F0F4FA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USERS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CC7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Admin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75688" y="146304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CC7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75688" y="1463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Admin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39896" y="146304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CC7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39896" y="1463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Admin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04104" y="146304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CC7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04104" y="1463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68312" y="146304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CC7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68312" y="1463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CI-CD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938528"/>
            <a:ext cx="0" cy="256032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5840" y="2212848"/>
            <a:ext cx="7132320" cy="914400"/>
          </a:xfrm>
          <a:prstGeom prst="rect">
            <a:avLst/>
          </a:prstGeom>
          <a:solidFill>
            <a:srgbClr val="1E2761"/>
          </a:solidFill>
          <a:ln w="25400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22128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CORE PLATFORM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15568" y="2523744"/>
            <a:ext cx="1261872" cy="502920"/>
          </a:xfrm>
          <a:prstGeom prst="rect">
            <a:avLst/>
          </a:prstGeom>
          <a:solidFill>
            <a:srgbClr val="0F1A45"/>
          </a:solidFill>
          <a:ln w="12700">
            <a:solidFill>
              <a:srgbClr val="8A9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15568" y="2523744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Vault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05456" y="2523744"/>
            <a:ext cx="1261872" cy="502920"/>
          </a:xfrm>
          <a:prstGeom prst="rect">
            <a:avLst/>
          </a:prstGeom>
          <a:solidFill>
            <a:srgbClr val="0F1A45"/>
          </a:solidFill>
          <a:ln w="12700">
            <a:solidFill>
              <a:srgbClr val="8A9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05456" y="2523744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Proxy (PSM)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95344" y="2523744"/>
            <a:ext cx="1261872" cy="502920"/>
          </a:xfrm>
          <a:prstGeom prst="rect">
            <a:avLst/>
          </a:prstGeom>
          <a:solidFill>
            <a:srgbClr val="0F1A45"/>
          </a:solidFill>
          <a:ln w="12700">
            <a:solidFill>
              <a:srgbClr val="8A9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95344" y="2523744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/ ZSP Engine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85232" y="2523744"/>
            <a:ext cx="1261872" cy="502920"/>
          </a:xfrm>
          <a:prstGeom prst="rect">
            <a:avLst/>
          </a:prstGeom>
          <a:solidFill>
            <a:srgbClr val="0F1A45"/>
          </a:solidFill>
          <a:ln w="12700">
            <a:solidFill>
              <a:srgbClr val="8A9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85232" y="2523744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PEDM / Sudo Mgmt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75120" y="2523744"/>
            <a:ext cx="1261872" cy="502920"/>
          </a:xfrm>
          <a:prstGeom prst="rect">
            <a:avLst/>
          </a:prstGeom>
          <a:solidFill>
            <a:srgbClr val="0F1A45"/>
          </a:solidFill>
          <a:ln w="12700">
            <a:solidFill>
              <a:srgbClr val="8A9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5120" y="2523744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Mgmt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3145536"/>
            <a:ext cx="0" cy="256032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3419856"/>
            <a:ext cx="8595360" cy="502920"/>
          </a:xfrm>
          <a:prstGeom prst="rect">
            <a:avLst/>
          </a:prstGeom>
          <a:solidFill>
            <a:srgbClr val="E8EFF9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341985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RESOURCES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402336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CC7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4023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75688" y="402336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CC7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075688" y="4023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Unix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39896" y="402336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CC7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739896" y="4023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 / Azure / GCP)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04104" y="402336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CC7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04104" y="4023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68312" y="402336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CC7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068312" y="4023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73152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0" b="1" dirty="0">
                <a:solidFill>
                  <a:srgbClr val="2C3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32004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Integration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2468880"/>
            <a:ext cx="6217920" cy="0"/>
          </a:xfrm>
          <a:prstGeom prst="line">
            <a:avLst/>
          </a:prstGeom>
          <a:noFill/>
          <a:ln w="6350">
            <a:solidFill>
              <a:srgbClr val="8A9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542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PAM operationalizes NIST SP 800-207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&amp; PAM Integration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800-207 Pillars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73152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2252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Trust, Always Verify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51790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privileged session requires MFA + device health check, even for internal users.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73152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1396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Breach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43230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post-compromise: session recording, behavioral analytics, break-glass alerting.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73152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30540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Access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34670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ZSP eliminates standing admin accounts. JIT grants scoped, time-boxed access only.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931920"/>
            <a:ext cx="73152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9684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Explicitly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26110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context evaluation: user identity, device posture, location, risk score per request.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↔ Zero Trust Integration Points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188720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12070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Vault → Identity Provider: JIT access tickets issued via SAML/OIDC, federating with the Zero Trust Policy Engine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956816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197510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Proxy → SIEM: PSM streams session metadata to SIEM/UEBA in real-time for anomaly detection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724912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2743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PEDM → Endpoint Detection: Privilege elevation events correlated with EDR telemetry to detect pass-the-hash attacks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493008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351129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Vault → Service Mesh: Workload identities in Kubernetes/service mesh authenticated via short-lived vault tokens (not static keys)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4261104"/>
            <a:ext cx="4023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42793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Risk Score → Adaptive MFA: Risk-based step-up auth triggered when session deviates from baseline (time, location, target)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73152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0" b="1" dirty="0">
                <a:solidFill>
                  <a:srgbClr val="2C3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32004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2468880"/>
            <a:ext cx="6217920" cy="0"/>
          </a:xfrm>
          <a:prstGeom prst="line">
            <a:avLst/>
          </a:prstGeom>
          <a:noFill/>
          <a:ln w="6350">
            <a:solidFill>
              <a:srgbClr val="8A9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542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techniques and PAM mitigations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ATT&amp;CK: Privileged Access Techniques &amp; PAM Mitigations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" cy="462280"/>
          </a:xfrm>
          <a:prstGeom prst="rect">
            <a:avLst/>
          </a:prstGeom>
          <a:solidFill>
            <a:srgbClr val="1E2761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65176" y="768096"/>
            <a:ext cx="79552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ID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15568" y="749808"/>
            <a:ext cx="1645920" cy="462280"/>
          </a:xfrm>
          <a:prstGeom prst="rect">
            <a:avLst/>
          </a:prstGeom>
          <a:solidFill>
            <a:srgbClr val="1E2761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52144" y="768096"/>
            <a:ext cx="157276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Name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79776" y="749808"/>
            <a:ext cx="2514600" cy="462280"/>
          </a:xfrm>
          <a:prstGeom prst="rect">
            <a:avLst/>
          </a:prstGeom>
          <a:solidFill>
            <a:srgbClr val="1E2761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16352" y="76809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Attacker Uses 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12664" y="749808"/>
            <a:ext cx="2514600" cy="462280"/>
          </a:xfrm>
          <a:prstGeom prst="rect">
            <a:avLst/>
          </a:prstGeom>
          <a:solidFill>
            <a:srgbClr val="1E2761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49240" y="76809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Mitigation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212088"/>
            <a:ext cx="86868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" y="1230376"/>
            <a:ext cx="79552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T1078.002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15568" y="1212088"/>
            <a:ext cx="164592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52144" y="1230376"/>
            <a:ext cx="157276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Accounts: Domain Accounts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79776" y="1212088"/>
            <a:ext cx="251460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16352" y="123037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uses stolen domain admin credentials for lateral movement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12664" y="1212088"/>
            <a:ext cx="251460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49240" y="123037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vaulting + JIT; no standing domain admin accounts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1674368"/>
            <a:ext cx="86868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5176" y="1692656"/>
            <a:ext cx="79552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T1550.002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15568" y="1674368"/>
            <a:ext cx="164592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52144" y="1692656"/>
            <a:ext cx="157276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Hash (PtH)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79776" y="1674368"/>
            <a:ext cx="251460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816352" y="169265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NTLM hash captured from memory used to authenticate without the plaintext password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12664" y="1674368"/>
            <a:ext cx="251460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49240" y="169265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PEDM reduces local admin accounts; Credential Guard; PSM detects PtH patterns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136648"/>
            <a:ext cx="86868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5176" y="2154936"/>
            <a:ext cx="79552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T1550.003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115568" y="2136648"/>
            <a:ext cx="164592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52144" y="2154936"/>
            <a:ext cx="157276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Ticket (PtT)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79776" y="2136648"/>
            <a:ext cx="251460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816352" y="215493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Kerberos TGT/service tickets stolen and reused (Golden/Silver Ticket attacks)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12664" y="2136648"/>
            <a:ext cx="251460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49240" y="215493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unconstrained Kerberos delegation; monitor for anomalous TGT issuance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2598928"/>
            <a:ext cx="86868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5176" y="2617216"/>
            <a:ext cx="79552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T1003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115568" y="2598928"/>
            <a:ext cx="164592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52144" y="2617216"/>
            <a:ext cx="157276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Credential Dumping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79776" y="2598928"/>
            <a:ext cx="251460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816352" y="261721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LSASS memory dumped to extract hashed/plaintext credentials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312664" y="2598928"/>
            <a:ext cx="251460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349240" y="261721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Guard; PSM alerts on LSASS access; rotate credentials after detection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3061208"/>
            <a:ext cx="86868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65176" y="3079496"/>
            <a:ext cx="79552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T1134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115568" y="3061208"/>
            <a:ext cx="164592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152144" y="3079496"/>
            <a:ext cx="157276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Manipulation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79776" y="3061208"/>
            <a:ext cx="251460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816352" y="307949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duplicates or impersonates high-priv tokens (e.g., SYSTEM)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312664" y="3061208"/>
            <a:ext cx="251460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349240" y="307949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SeImpersonatePrivilege; PEDM policy denies token duplication outside approved paths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28600" y="3523488"/>
            <a:ext cx="86868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65176" y="3541776"/>
            <a:ext cx="79552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T1548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115568" y="3523488"/>
            <a:ext cx="164592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152144" y="3541776"/>
            <a:ext cx="157276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Elevation Control Mechanism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79776" y="3523488"/>
            <a:ext cx="251460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816352" y="354177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bypass, sudo abuse, SUID exploitation to gain root/SYSTEM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312664" y="3523488"/>
            <a:ext cx="251460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349240" y="354177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PEDM enforces application allow-listing and sudo policy; audit elevation events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28600" y="3985768"/>
            <a:ext cx="86868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65176" y="4004056"/>
            <a:ext cx="79552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T1098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115568" y="3985768"/>
            <a:ext cx="164592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152144" y="4004056"/>
            <a:ext cx="157276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Manipulation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779776" y="3985768"/>
            <a:ext cx="251460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816352" y="400405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created by adding accounts or modifying group membership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312664" y="3985768"/>
            <a:ext cx="2514600" cy="462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349240" y="400405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reconciliation in PAM vault; alert on unauthorized privileged group changes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28600" y="4448048"/>
            <a:ext cx="86868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65176" y="4466336"/>
            <a:ext cx="79552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T1555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1115568" y="4448048"/>
            <a:ext cx="164592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152144" y="4466336"/>
            <a:ext cx="157276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from Password Stores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779776" y="4448048"/>
            <a:ext cx="251460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816352" y="446633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extracted from browser stores, Windows Credential Manager, vaults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312664" y="4448048"/>
            <a:ext cx="2514600" cy="462280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349240" y="4466336"/>
            <a:ext cx="2441448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no plaintext cred storage; vault-only credential access policy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73152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0" b="1" dirty="0">
                <a:solidFill>
                  <a:srgbClr val="2C3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32004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Patterns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2468880"/>
            <a:ext cx="6217920" cy="0"/>
          </a:xfrm>
          <a:prstGeom prst="line">
            <a:avLst/>
          </a:prstGeom>
          <a:noFill/>
          <a:ln w="6350">
            <a:solidFill>
              <a:srgbClr val="8A9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542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On-prem, SaaS, and cloud-native architectures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Deployment Patterns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15768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715768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1752" y="804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(Vault-Centric)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48840" y="868680"/>
            <a:ext cx="685800" cy="2560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48840" y="8686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8328" y="129844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vault servers (HA pair) hosted in DMZ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87452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vault in secondary datacenter via replication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245059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(Credential Provider Machine) per network segment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" y="302666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Vendors: CyberArk PAS, BeyondTrust Password Safe On-Prem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" y="360273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regulated industries requiring data residency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36392" y="804672"/>
            <a:ext cx="2715768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36392" y="804672"/>
            <a:ext cx="2715768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9544" y="804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/ Privilege Cloud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56632" y="868680"/>
            <a:ext cx="6858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56632" y="8686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46120" y="129844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hosted by vendor; CPM Connector deployed on-prem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187452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 to manage; faster deployment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245059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Outbound-only connector eliminates inbound firewall rules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302666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Vendors: CyberArk Privilege Cloud, Delinea Cloud, BeyondTrust Cloud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46120" y="360273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cloud-first organizations; reduce ops burden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44184" y="804672"/>
            <a:ext cx="2715768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44184" y="804672"/>
            <a:ext cx="2715768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17336" y="804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(CSPM + JIT IAM)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64424" y="868680"/>
            <a:ext cx="68580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64424" y="8686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53912" y="129844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Entra PIM for Azure RBAC and AAD role elevation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53912" y="187452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Identity Center + AWS SSO for cross-account access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53912" y="245059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 for secrets in Kubernetes / CI/CD pipelines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53912" y="302666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Teleport for server, DB, and k8s access via short-lived certs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53912" y="360273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cloud-native environments with no on-prem footprint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73152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0" b="1" dirty="0">
                <a:solidFill>
                  <a:srgbClr val="2C3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32004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Landscape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2468880"/>
            <a:ext cx="6217920" cy="0"/>
          </a:xfrm>
          <a:prstGeom prst="line">
            <a:avLst/>
          </a:prstGeom>
          <a:noFill/>
          <a:ln w="6350">
            <a:solidFill>
              <a:srgbClr val="8A9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542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CyberArk, BeyondTrust, Delinea, HashiCorp, Entra, Teleport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Tool Landscape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2743200" cy="3657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804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859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Leader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207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Self-Hosted + Privilege Cloud (SaaS)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vaulting + PSM capabilities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Privilege Manager (EPM) for PEDM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2112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Conjur / Secrets Hub for DevSecOps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 enterprise, compliance-heavy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08960" y="804672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08960" y="804672"/>
            <a:ext cx="2743200" cy="365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82112" y="804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BeyondTrust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859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Leader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0" y="1207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Safe (vaulting + PSM)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Management for Endpoints (PEDM)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0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Support &amp; Remote Access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2112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Unix/Linux privilege mgmt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mixed Windows + Unix environments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804672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35040" y="804672"/>
            <a:ext cx="2743200" cy="365760"/>
          </a:xfrm>
          <a:prstGeom prst="rect">
            <a:avLst/>
          </a:prstGeom>
          <a:solidFill>
            <a:srgbClr val="009A44"/>
          </a:solidFill>
          <a:ln w="12700">
            <a:solidFill>
              <a:srgbClr val="009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08192" y="804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Delinea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0" y="859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26480" y="1207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Server (vault) + Privilege Manager (PEDM)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Manager for session recording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Secrets Vault for CI/CD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2112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licensing vs. CyberArk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mid-market, budget-conscious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" y="2889504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82880" y="2889504"/>
            <a:ext cx="274320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56032" y="28895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920240" y="2944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 &amp; dynamic credentials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3593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DB/cloud creds via leases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38953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/ SSH certificate authority built-in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1970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Kubernetes-native: Vault Agent Injector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4498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DevOps, multi-cloud secrets mgmt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08960" y="2889504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108960" y="2889504"/>
            <a:ext cx="2743200" cy="3657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182112" y="28895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Entra PIM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46320" y="2944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IAM Add-on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004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elevation for Azure AD/M365 roles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00400" y="3593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Time-bound, approval-based access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00400" y="38953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Reviews for role certification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00400" y="41970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Conditional Access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00400" y="4498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Microsoft-centric cloud environments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35040" y="2889504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035040" y="2889504"/>
            <a:ext cx="2743200" cy="365760"/>
          </a:xfrm>
          <a:prstGeom prst="rect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108192" y="28895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Teleport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772400" y="2944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/ SaaS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2648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Certificate-based access (no passwords)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26480" y="3593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SSH, Kubernetes, DB, Desktop access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126480" y="38953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VPN required; cloud-native design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26480" y="41970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certified; FIPS 140-2 mode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126480" y="4498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cloud-native, k8s-heavy environments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73152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0" b="1" dirty="0">
                <a:solidFill>
                  <a:srgbClr val="2C3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32004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Control Mapping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2468880"/>
            <a:ext cx="6217920" cy="0"/>
          </a:xfrm>
          <a:prstGeom prst="line">
            <a:avLst/>
          </a:prstGeom>
          <a:noFill/>
          <a:ln w="6350">
            <a:solidFill>
              <a:srgbClr val="8A9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542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800-53 Rev 5 controls satisfied by PAM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800-53 Rev 5 — Control Mapping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777240" cy="416052"/>
          </a:xfrm>
          <a:prstGeom prst="rect">
            <a:avLst/>
          </a:prstGeom>
          <a:solidFill>
            <a:srgbClr val="1E2761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19456" y="768096"/>
            <a:ext cx="7040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7552" y="749808"/>
            <a:ext cx="1691640" cy="416052"/>
          </a:xfrm>
          <a:prstGeom prst="rect">
            <a:avLst/>
          </a:prstGeom>
          <a:solidFill>
            <a:srgbClr val="1E2761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768096"/>
            <a:ext cx="16184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Name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06624" y="749808"/>
            <a:ext cx="6080760" cy="416052"/>
          </a:xfrm>
          <a:prstGeom prst="rect">
            <a:avLst/>
          </a:prstGeom>
          <a:solidFill>
            <a:srgbClr val="1E2761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768096"/>
            <a:ext cx="60076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Implementation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165860"/>
            <a:ext cx="7772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9456" y="1184148"/>
            <a:ext cx="7040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87552" y="1165860"/>
            <a:ext cx="16916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4128" y="1184148"/>
            <a:ext cx="16184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06624" y="1165860"/>
            <a:ext cx="608076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0" y="1184148"/>
            <a:ext cx="60076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vaulting; automated provisioning/deprovisioning of privileged accounts; PAM as authoritative system of record for all admin accounts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1581912"/>
            <a:ext cx="777240" cy="416052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9456" y="1600200"/>
            <a:ext cx="7040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87552" y="1581912"/>
            <a:ext cx="1691640" cy="416052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24128" y="1600200"/>
            <a:ext cx="16184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Enforcement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06624" y="1581912"/>
            <a:ext cx="6080760" cy="416052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0" y="1600200"/>
            <a:ext cx="60076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 enforces access decisions; all privileged sessions validated against vault policy before connection established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1997964"/>
            <a:ext cx="7772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9456" y="2016252"/>
            <a:ext cx="7040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87552" y="1997964"/>
            <a:ext cx="16916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24128" y="2016252"/>
            <a:ext cx="16184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06624" y="1997964"/>
            <a:ext cx="608076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0" y="2016252"/>
            <a:ext cx="60076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workflow requires dual-approval for break-glass access; no single admin has unchecked access to production systems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2414016"/>
            <a:ext cx="777240" cy="416052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19456" y="2432304"/>
            <a:ext cx="7040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AC-6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87552" y="2414016"/>
            <a:ext cx="1691640" cy="416052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24128" y="2432304"/>
            <a:ext cx="16184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06624" y="2414016"/>
            <a:ext cx="6080760" cy="416052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0" y="2432304"/>
            <a:ext cx="60076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JIT/ZSP eliminates standing privileges; PEDM grants minimum elevation required; scope-limited service account credentials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2880" y="2830068"/>
            <a:ext cx="7772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19456" y="2848356"/>
            <a:ext cx="7040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AC-17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87552" y="2830068"/>
            <a:ext cx="16916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24128" y="2848356"/>
            <a:ext cx="16184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06624" y="2830068"/>
            <a:ext cx="608076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0" y="2848356"/>
            <a:ext cx="60076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 proxies all remote privileged sessions (RDP, SSH, HTTPS); full session recording stored in vault audit logs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82880" y="3246120"/>
            <a:ext cx="777240" cy="416052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19456" y="3264408"/>
            <a:ext cx="7040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IA-2(1)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87552" y="3246120"/>
            <a:ext cx="1691640" cy="416052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24128" y="3264408"/>
            <a:ext cx="16184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for Privileged Accounts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06624" y="3246120"/>
            <a:ext cx="6080760" cy="416052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0" y="3264408"/>
            <a:ext cx="60076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MFA on all vault authentication; FIDO2/hardware token required for domain admin vaulted accounts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82880" y="3662172"/>
            <a:ext cx="7772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19456" y="3680460"/>
            <a:ext cx="7040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AU-2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87552" y="3662172"/>
            <a:ext cx="16916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24128" y="3680460"/>
            <a:ext cx="16184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Logging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06624" y="3662172"/>
            <a:ext cx="608076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743200" y="3680460"/>
            <a:ext cx="60076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generates immutable audit trail for all privileged session events, credential check-out/in, and policy changes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82880" y="4078224"/>
            <a:ext cx="777240" cy="416052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19456" y="4096512"/>
            <a:ext cx="7040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AU-9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87552" y="4078224"/>
            <a:ext cx="1691640" cy="416052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24128" y="4096512"/>
            <a:ext cx="16184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Protection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06624" y="4078224"/>
            <a:ext cx="6080760" cy="416052"/>
          </a:xfrm>
          <a:prstGeom prst="rect">
            <a:avLst/>
          </a:prstGeom>
          <a:solidFill>
            <a:srgbClr val="EEF3FB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743200" y="4096512"/>
            <a:ext cx="60076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audit logs stored in tamper-evident, append-only store; SIEM integration for real-time alerting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82880" y="4494276"/>
            <a:ext cx="7772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19456" y="4512564"/>
            <a:ext cx="7040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AU-12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87552" y="4494276"/>
            <a:ext cx="169164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024128" y="4512564"/>
            <a:ext cx="161848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 Generation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706624" y="4494276"/>
            <a:ext cx="6080760" cy="4160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743200" y="4512564"/>
            <a:ext cx="600760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PAM components (vault, CPM, PSM, PEDM) generate SIEM-compatible log streams; log retention per policy (e.g., 1-7 years)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73152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0" b="1" dirty="0">
                <a:solidFill>
                  <a:srgbClr val="2C3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32004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2468880"/>
            <a:ext cx="6217920" cy="0"/>
          </a:xfrm>
          <a:prstGeom prst="line">
            <a:avLst/>
          </a:prstGeom>
          <a:noFill/>
          <a:ln w="6350">
            <a:solidFill>
              <a:srgbClr val="8A9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542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deployment plan from foundation to maturity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9260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148840" cy="2926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868680"/>
            <a:ext cx="21488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868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4-6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868680"/>
            <a:ext cx="2148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868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7-12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20840" y="868680"/>
            <a:ext cx="21488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20840" y="8686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12+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234440"/>
            <a:ext cx="20574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234440"/>
            <a:ext cx="2057400" cy="457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12344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176479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account discovery &amp; inventory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33172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platform deployment (PoC/pilot)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89864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domain admin &amp; local admin creds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46557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Break-glass process &amp; emergency access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03250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SIEM integration for audit logs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23160" y="1234440"/>
            <a:ext cx="20574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423160" y="1234440"/>
            <a:ext cx="20574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496312" y="12344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81528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Controls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14600" y="176479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session recording (PSM) for all RDP/SSH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14600" y="233172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CPM for automatic password rotation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14600" y="289864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service accounts and API keys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14600" y="346557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AD/LDAP for account sync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14600" y="403250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enforcement on all vault logins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1234440"/>
            <a:ext cx="20574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1234440"/>
            <a:ext cx="20574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45152" y="12344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176479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JIT access &amp; ZSP policy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63440" y="233172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PEDM to endpoints (remove local admin)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63440" y="289864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cloud IAM roles (AWS, Azure, GCP)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63440" y="346557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secrets management (HashiCorp/Conjur)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63440" y="403250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 analytics integration (UEBA)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20840" y="1234440"/>
            <a:ext cx="20574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720840" y="1234440"/>
            <a:ext cx="20574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93992" y="12344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79208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12280" y="176479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policy engine integration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12280" y="233172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access reviews &amp; cert campaigns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12280" y="289864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analytics: ML on session data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812280" y="346557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compliance reporting (PCI, SOX)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12280" y="403250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testing of PAM controls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127101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credential abuse is in the attack path of most serious breaches. PAM directly eliminates the most exploited attack vector.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984248"/>
            <a:ext cx="50292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0432" y="202082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Standing Privileges (ZSP) + JIT is the goal state. Eliminate always-on admin accounts — they are liabilities, not assets.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50292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277063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privileged sessions must be proxied, recorded, and reviewable. This is your forensic record and your compliance evidence.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50292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70432" y="3520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is not a product — it's a program. Tooling alone without policy, process, and governance will fail within 12 months.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50292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70432" y="42702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discovery. You have more privileged accounts than you think. Phase 1 is always a revealing exercise.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Security Architecture Reference  |  Version 1.0  |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2761</Words>
  <Application>Microsoft Macintosh PowerPoint</Application>
  <PresentationFormat>On-screen Show (16:9)</PresentationFormat>
  <Paragraphs>339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Privileged Access Management — Security Architecture Reference</dc:title>
  <dc:subject>PAM Architecture</dc:subject>
  <dc:creator>Eran Shpigelman</dc:creator>
  <cp:keywords/>
  <dc:description/>
  <cp:lastModifiedBy>Eran Shpigelman</cp:lastModifiedBy>
  <cp:revision>2</cp:revision>
  <dcterms:created xsi:type="dcterms:W3CDTF">2026-03-04T21:23:28Z</dcterms:created>
  <dcterms:modified xsi:type="dcterms:W3CDTF">2026-03-04T21:34:40Z</dcterms:modified>
  <cp:category/>
</cp:coreProperties>
</file>